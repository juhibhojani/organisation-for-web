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86" r:id="rId3"/>
    <p:sldId id="682" r:id="rId4"/>
    <p:sldId id="684" r:id="rId5"/>
    <p:sldId id="685" r:id="rId6"/>
    <p:sldId id="686" r:id="rId7"/>
    <p:sldId id="668" r:id="rId8"/>
    <p:sldId id="687" r:id="rId9"/>
    <p:sldId id="688" r:id="rId10"/>
    <p:sldId id="666" r:id="rId11"/>
    <p:sldId id="667" r:id="rId12"/>
    <p:sldId id="674" r:id="rId13"/>
    <p:sldId id="670" r:id="rId14"/>
    <p:sldId id="672" r:id="rId15"/>
    <p:sldId id="693" r:id="rId16"/>
    <p:sldId id="694" r:id="rId17"/>
    <p:sldId id="695" r:id="rId18"/>
    <p:sldId id="673" r:id="rId19"/>
    <p:sldId id="675" r:id="rId20"/>
    <p:sldId id="676" r:id="rId21"/>
    <p:sldId id="677" r:id="rId22"/>
    <p:sldId id="678" r:id="rId23"/>
    <p:sldId id="679" r:id="rId24"/>
    <p:sldId id="680" r:id="rId25"/>
    <p:sldId id="683" r:id="rId26"/>
    <p:sldId id="6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3"/>
    <p:restoredTop sz="94658"/>
  </p:normalViewPr>
  <p:slideViewPr>
    <p:cSldViewPr snapToGrid="0">
      <p:cViewPr varScale="1">
        <p:scale>
          <a:sx n="85" d="100"/>
          <a:sy n="85" d="100"/>
        </p:scale>
        <p:origin x="1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lear Sans Medium" panose="020B0603030202020304" charset="0"/>
                <a:cs typeface="Clear Sans Medium" panose="020B060303020202030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lear Sans" panose="020B0503030202020304" charset="0"/>
                <a:cs typeface="Clear Sans" panose="020B0503030202020304" charset="0"/>
              </a:defRPr>
            </a:lvl1pPr>
            <a:lvl2pPr>
              <a:defRPr>
                <a:latin typeface="Clear Sans" panose="020B0503030202020304" charset="0"/>
                <a:cs typeface="Clear Sans" panose="020B0503030202020304" charset="0"/>
              </a:defRPr>
            </a:lvl2pPr>
            <a:lvl3pPr>
              <a:defRPr>
                <a:latin typeface="Clear Sans" panose="020B0503030202020304" charset="0"/>
                <a:cs typeface="Clear Sans" panose="020B0503030202020304" charset="0"/>
              </a:defRPr>
            </a:lvl3pPr>
            <a:lvl4pPr>
              <a:defRPr>
                <a:latin typeface="Clear Sans" panose="020B0503030202020304" charset="0"/>
                <a:cs typeface="Clear Sans" panose="020B0503030202020304" charset="0"/>
              </a:defRPr>
            </a:lvl4pPr>
            <a:lvl5pPr>
              <a:defRPr>
                <a:latin typeface="Clear Sans" panose="020B0503030202020304" charset="0"/>
                <a:cs typeface="Clear Sans" panose="020B0503030202020304" charset="0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5420" y="365125"/>
            <a:ext cx="1176718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" y="1825625"/>
            <a:ext cx="11767185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287DA-3483-7341-A759-304977B94CA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514A1-538E-254F-8A9C-010D441CDF8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lear Sans Medium" panose="020B0603030202020304" charset="0"/>
          <a:ea typeface="+mj-ea"/>
          <a:cs typeface="Clear Sans Medium" panose="020B06030302020203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lear Sans" panose="020B0503030202020304" charset="0"/>
          <a:ea typeface="+mn-ea"/>
          <a:cs typeface="Clear Sans" panose="020B050303020202030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lear Sans" panose="020B0503030202020304" charset="0"/>
          <a:ea typeface="+mn-ea"/>
          <a:cs typeface="Clear Sans" panose="020B050303020202030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lear Sans" panose="020B0503030202020304" charset="0"/>
          <a:ea typeface="+mn-ea"/>
          <a:cs typeface="Clear Sans" panose="020B050303020202030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lear Sans" panose="020B0503030202020304" charset="0"/>
          <a:ea typeface="+mn-ea"/>
          <a:cs typeface="Clear Sans" panose="020B050303020202030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lear Sans" panose="020B0503030202020304" charset="0"/>
          <a:ea typeface="+mn-ea"/>
          <a:cs typeface="Clear Sans" panose="020B05030302020203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hub.com/0xallam/Direct-Preference-Optimization" TargetMode="External"/><Relationship Id="rId2" Type="http://schemas.openxmlformats.org/officeDocument/2006/relationships/hyperlink" Target="https://huggingface.co/docs/trl/main/en/online_dpo_trainer" TargetMode="External"/><Relationship Id="rId1" Type="http://schemas.openxmlformats.org/officeDocument/2006/relationships/hyperlink" Target="https://www.tylerromero.com/posts/2024-04-dp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879" y="5389939"/>
            <a:ext cx="1022971" cy="1022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ELL8299 · AIL861</a:t>
            </a:r>
            <a:br>
              <a:rPr lang="en-US"/>
            </a:br>
            <a:br>
              <a:rPr lang="en-US"/>
            </a:br>
            <a:r>
              <a:rPr lang="en-US"/>
              <a:t>Gaurav Pandey</a:t>
            </a:r>
            <a:endParaRPr lang="en-US"/>
          </a:p>
          <a:p>
            <a:r>
              <a:rPr lang="en-US"/>
              <a:t>Senior Research Scientist, IBM Research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/>
              <a:t>Advances in Large Language Models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PPO/GRPO for LLM alignment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Collect human preferences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Learn a reward model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Train the policy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  <m:r>
                        <a:rPr lang="en-US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Optionally</a:t>
                </a:r>
                <a:endParaRPr lang="en-US" dirty="0"/>
              </a:p>
              <a:p>
                <a:pPr lvl="1"/>
                <a:r>
                  <a:rPr lang="en-US" dirty="0"/>
                  <a:t>Also learn the value function </a:t>
                </a:r>
                <a:endParaRPr lang="en-US" dirty="0"/>
              </a:p>
              <a:p>
                <a:r>
                  <a:rPr lang="en-US" b="1" dirty="0"/>
                  <a:t>Question</a:t>
                </a:r>
                <a:r>
                  <a:rPr lang="en-US" dirty="0"/>
                  <a:t>: Why do we need this intermediate step of learning reward model?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292" b="-62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go beyond PPO/GRPO?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Rollouts are expensive.</a:t>
            </a:r>
            <a:endParaRPr lang="en-US" dirty="0"/>
          </a:p>
          <a:p>
            <a:r>
              <a:rPr lang="en-US" dirty="0"/>
              <a:t>Reward Models add bias (trained separately).</a:t>
            </a:r>
            <a:endParaRPr lang="en-US" dirty="0"/>
          </a:p>
          <a:p>
            <a:r>
              <a:rPr lang="en-US" dirty="0"/>
              <a:t>Training loop = Complex RL pipeline.</a:t>
            </a:r>
            <a:endParaRPr lang="en-US" dirty="0"/>
          </a:p>
          <a:p>
            <a:r>
              <a:rPr lang="en-IN" dirty="0"/>
              <a:t>Desire: </a:t>
            </a:r>
            <a:r>
              <a:rPr lang="en-IN" b="1" dirty="0"/>
              <a:t>direct optimization on preference pairs (chosen vs rejected responses).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learning without rewards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1988192" y="2298358"/>
            <a:ext cx="808841" cy="1180070"/>
            <a:chOff x="1802840" y="2248931"/>
            <a:chExt cx="808841" cy="1180070"/>
          </a:xfrm>
        </p:grpSpPr>
        <p:sp>
          <p:nvSpPr>
            <p:cNvPr id="6" name="Rounded Rectangle 5"/>
            <p:cNvSpPr/>
            <p:nvPr/>
          </p:nvSpPr>
          <p:spPr>
            <a:xfrm>
              <a:off x="1802840" y="2248931"/>
              <a:ext cx="808841" cy="11800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961840" y="2557849"/>
                  <a:ext cx="427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1840" y="2557849"/>
                  <a:ext cx="427040" cy="369332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556054" y="2051223"/>
            <a:ext cx="907695" cy="1427205"/>
            <a:chOff x="556054" y="2001795"/>
            <a:chExt cx="907695" cy="1427205"/>
          </a:xfrm>
        </p:grpSpPr>
        <p:sp>
          <p:nvSpPr>
            <p:cNvPr id="5" name="Rounded Rectangle 4"/>
            <p:cNvSpPr/>
            <p:nvPr/>
          </p:nvSpPr>
          <p:spPr>
            <a:xfrm>
              <a:off x="654908" y="2248931"/>
              <a:ext cx="808841" cy="118006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813908" y="2557849"/>
                  <a:ext cx="4908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908" y="2557849"/>
                  <a:ext cx="490840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/>
            <p:cNvSpPr txBox="1"/>
            <p:nvPr/>
          </p:nvSpPr>
          <p:spPr>
            <a:xfrm>
              <a:off x="556054" y="200179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509224" y="2703727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224" y="2703727"/>
                <a:ext cx="399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16" t="-144" r="129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/>
              <p:cNvSpPr/>
              <p:nvPr/>
            </p:nvSpPr>
            <p:spPr>
              <a:xfrm>
                <a:off x="648419" y="1729947"/>
                <a:ext cx="2032997" cy="50594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19" y="1729947"/>
                <a:ext cx="2032997" cy="505942"/>
              </a:xfrm>
              <a:prstGeom prst="roundRect">
                <a:avLst/>
              </a:prstGeom>
              <a:blipFill rotWithShape="1">
                <a:blip r:embed="rId4"/>
                <a:stretch>
                  <a:fillRect l="-473" t="-1924" r="-447" b="-187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riped Right Arrow 13"/>
          <p:cNvSpPr/>
          <p:nvPr/>
        </p:nvSpPr>
        <p:spPr>
          <a:xfrm>
            <a:off x="3415629" y="2332336"/>
            <a:ext cx="704335" cy="345989"/>
          </a:xfrm>
          <a:prstGeom prst="striped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370904" y="2895766"/>
            <a:ext cx="1134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</a:t>
            </a:r>
            <a:endParaRPr lang="en-US" dirty="0"/>
          </a:p>
          <a:p>
            <a:r>
              <a:rPr lang="en-US" dirty="0"/>
              <a:t>Likelihood</a:t>
            </a:r>
            <a:endParaRPr lang="en-US" dirty="0"/>
          </a:p>
        </p:txBody>
      </p:sp>
      <p:pic>
        <p:nvPicPr>
          <p:cNvPr id="17" name="Picture 16" descr="A black and white diagram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445" y="1677426"/>
            <a:ext cx="3083010" cy="15415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29996" y="3325343"/>
            <a:ext cx="153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Reward Model</a:t>
            </a:r>
            <a:endParaRPr lang="en-US" dirty="0"/>
          </a:p>
        </p:txBody>
      </p:sp>
      <p:sp>
        <p:nvSpPr>
          <p:cNvPr id="19" name="Striped Right Arrow 18"/>
          <p:cNvSpPr/>
          <p:nvPr/>
        </p:nvSpPr>
        <p:spPr>
          <a:xfrm>
            <a:off x="7973936" y="2357738"/>
            <a:ext cx="704335" cy="345989"/>
          </a:xfrm>
          <a:prstGeom prst="striped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lack and white diagram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996" y="1836523"/>
            <a:ext cx="3083010" cy="15415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11146" y="3325343"/>
            <a:ext cx="11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Policy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684966" y="3172765"/>
            <a:ext cx="125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PPO/GRPO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1908692" y="4696768"/>
            <a:ext cx="808841" cy="1180070"/>
            <a:chOff x="1802840" y="2248931"/>
            <a:chExt cx="808841" cy="1180070"/>
          </a:xfrm>
        </p:grpSpPr>
        <p:sp>
          <p:nvSpPr>
            <p:cNvPr id="25" name="Rounded Rectangle 24"/>
            <p:cNvSpPr/>
            <p:nvPr/>
          </p:nvSpPr>
          <p:spPr>
            <a:xfrm>
              <a:off x="1802840" y="2248931"/>
              <a:ext cx="808841" cy="118007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961840" y="2557849"/>
                  <a:ext cx="427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1840" y="2557849"/>
                  <a:ext cx="427040" cy="369332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/>
          <p:cNvGrpSpPr/>
          <p:nvPr/>
        </p:nvGrpSpPr>
        <p:grpSpPr>
          <a:xfrm>
            <a:off x="476554" y="4449633"/>
            <a:ext cx="907695" cy="1427205"/>
            <a:chOff x="556054" y="2001795"/>
            <a:chExt cx="907695" cy="1427205"/>
          </a:xfrm>
        </p:grpSpPr>
        <p:sp>
          <p:nvSpPr>
            <p:cNvPr id="28" name="Rounded Rectangle 27"/>
            <p:cNvSpPr/>
            <p:nvPr/>
          </p:nvSpPr>
          <p:spPr>
            <a:xfrm>
              <a:off x="654908" y="2248931"/>
              <a:ext cx="808841" cy="118006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813908" y="2557849"/>
                  <a:ext cx="4908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908" y="2557849"/>
                  <a:ext cx="490840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/>
            <p:cNvSpPr txBox="1"/>
            <p:nvPr/>
          </p:nvSpPr>
          <p:spPr>
            <a:xfrm>
              <a:off x="556054" y="200179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429724" y="5102137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724" y="5102137"/>
                <a:ext cx="399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85" t="-148" r="98" b="8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ounded Rectangle 31"/>
              <p:cNvSpPr/>
              <p:nvPr/>
            </p:nvSpPr>
            <p:spPr>
              <a:xfrm>
                <a:off x="568919" y="4128357"/>
                <a:ext cx="2032997" cy="505942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Rounded 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19" y="4128357"/>
                <a:ext cx="2032997" cy="505942"/>
              </a:xfrm>
              <a:prstGeom prst="roundRect">
                <a:avLst/>
              </a:prstGeom>
              <a:blipFill rotWithShape="1">
                <a:blip r:embed="rId4"/>
                <a:stretch>
                  <a:fillRect l="-498" t="-1927" r="-453" b="-1869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triped Right Arrow 32"/>
          <p:cNvSpPr/>
          <p:nvPr/>
        </p:nvSpPr>
        <p:spPr>
          <a:xfrm>
            <a:off x="3336129" y="4730746"/>
            <a:ext cx="704335" cy="345989"/>
          </a:xfrm>
          <a:prstGeom prst="striped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291404" y="5294176"/>
            <a:ext cx="1134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</a:t>
            </a:r>
            <a:endParaRPr lang="en-US" dirty="0"/>
          </a:p>
          <a:p>
            <a:r>
              <a:rPr lang="en-US" dirty="0"/>
              <a:t>Likelihood</a:t>
            </a:r>
            <a:endParaRPr lang="en-US" dirty="0"/>
          </a:p>
        </p:txBody>
      </p:sp>
      <p:pic>
        <p:nvPicPr>
          <p:cNvPr id="35" name="Picture 34" descr="A black and white diagram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551" y="4082355"/>
            <a:ext cx="3083010" cy="154150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32701" y="5571175"/>
            <a:ext cx="11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Policy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8550876" y="4831492"/>
            <a:ext cx="891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DPO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/>
      <p:bldP spid="19" grpId="0" animBg="1"/>
      <p:bldP spid="22" grpId="0"/>
      <p:bldP spid="23" grpId="0"/>
      <p:bldP spid="31" grpId="0"/>
      <p:bldP spid="32" grpId="0" animBg="1"/>
      <p:bldP spid="33" grpId="0" animBg="1"/>
      <p:bldP spid="34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Desirable scenario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batch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prompt</m:t>
                        </m:r>
                        <m:r>
                          <a:rPr lang="en-US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>
                              <a:glow rad="228600">
                                <a:schemeClr val="accent6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preferred</m:t>
                        </m:r>
                        <m:r>
                          <a:rPr lang="en-US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rejected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r>
                  <a:rPr lang="en-US" dirty="0"/>
                  <a:t>Instead of sampling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and training via RL:</a:t>
                </a:r>
                <a:endParaRPr lang="en-US" dirty="0"/>
              </a:p>
              <a:p>
                <a:pPr lvl="1"/>
                <a:r>
                  <a:rPr lang="en-US" dirty="0"/>
                  <a:t>Train directly on human preferences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Optimize policy so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r>
                  <a:rPr lang="en-US" dirty="0"/>
                  <a:t>‘Somehow’ incorporate the KL term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29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optimization problems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Assume that the policy &amp; reward model can be arbitrary</a:t>
                </a:r>
                <a:endParaRPr lang="en-US" dirty="0"/>
              </a:p>
              <a:p>
                <a:r>
                  <a:rPr lang="en-US" dirty="0"/>
                  <a:t>Learn a reward model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Train the policy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323652" y="5077610"/>
                <a:ext cx="72577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accent2">
                        <a:lumMod val="50000"/>
                      </a:schemeClr>
                    </a:solidFill>
                  </a:rPr>
                  <a:t>Primary idea of DPO: </a:t>
                </a: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Cut out the middle-man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52" y="5077610"/>
                <a:ext cx="7257756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3" t="-29" r="-10798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Cutting out the middle man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Express the optimium reward model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/>
                  <a:t> as a function of the optimum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/>
              </a:p>
              <a:p>
                <a:pPr lvl="1"/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Derive </a:t>
                </a:r>
                <a:r>
                  <a:rPr lang="en-US" sz="2400" dirty="0" err="1">
                    <a:solidFill>
                      <a:schemeClr val="accent5">
                        <a:lumMod val="75000"/>
                      </a:schemeClr>
                    </a:solidFill>
                  </a:rPr>
                  <a:t>Lagrangian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 for the policy objective.</a:t>
                </a:r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Set the partial derivative with respect to the policy to 0.</a:t>
                </a:r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endParaRPr lang="en-US" sz="2800" dirty="0"/>
              </a:p>
              <a:p>
                <a:r>
                  <a:rPr lang="en-US" sz="2800" dirty="0"/>
                  <a:t>Plug it back in the reward model optimization objective.</a:t>
                </a:r>
                <a:endParaRPr lang="en-US" sz="2800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Lagrangian</a:t>
            </a:r>
            <a:r>
              <a:rPr lang="en-IN" dirty="0"/>
              <a:t> for the policy objective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fixed prompt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(.|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(.|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endParaRPr lang="en-US" b="0" i="1" smtClean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ym typeface="+mn-ea"/>
                  </a:rPr>
                  <a:t>subject to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parametric policy &amp;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reality, the policy will be parametrized as a language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Idea: Let’s parameterize the reward function in terms of the policy parameters.</a:t>
                </a:r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Next, train these parameterized reward function directly on human-preferences.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3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reward 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Given a pair of human preferences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Reward of the positive output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Reward of the negative output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Training objective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DPO objective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58190" y="2140585"/>
                <a:ext cx="1060450" cy="37401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" y="2140585"/>
                <a:ext cx="1060450" cy="374015"/>
              </a:xfrm>
              <a:prstGeom prst="rect">
                <a:avLst/>
              </a:prstGeom>
              <a:blipFill rotWithShape="1">
                <a:blip r:embed="rId1"/>
                <a:stretch>
                  <a:fillRect l="-898" t="-2547" r="-898" b="-2547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44220" y="3668395"/>
                <a:ext cx="1061085" cy="3708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20" y="3668395"/>
                <a:ext cx="1061085" cy="370840"/>
              </a:xfrm>
              <a:prstGeom prst="rect">
                <a:avLst/>
              </a:prstGeom>
              <a:blipFill rotWithShape="1">
                <a:blip r:embed="rId2"/>
                <a:stretch>
                  <a:fillRect l="-898" t="-2568" r="-898" b="-2568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3087445" y="1798002"/>
                <a:ext cx="1269157" cy="1020502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Current</a:t>
                </a:r>
                <a:endParaRPr lang="en-US" dirty="0"/>
              </a:p>
              <a:p>
                <a:pPr algn="ctr"/>
                <a:r>
                  <a:rPr lang="en-US" dirty="0"/>
                  <a:t>Policy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445" y="1798002"/>
                <a:ext cx="1269157" cy="1020502"/>
              </a:xfrm>
              <a:prstGeom prst="roundRect">
                <a:avLst/>
              </a:prstGeom>
              <a:blipFill rotWithShape="1">
                <a:blip r:embed="rId3"/>
                <a:stretch>
                  <a:fillRect l="-506" t="-653" r="-461" b="-586"/>
                </a:stretch>
              </a:blipFill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3087445" y="3625328"/>
                <a:ext cx="1269157" cy="1020502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Base</a:t>
                </a:r>
                <a:endParaRPr lang="en-US" dirty="0"/>
              </a:p>
              <a:p>
                <a:pPr algn="ctr"/>
                <a:r>
                  <a:rPr lang="en-US" dirty="0"/>
                  <a:t>Policy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445" y="3625328"/>
                <a:ext cx="1269157" cy="1020502"/>
              </a:xfrm>
              <a:prstGeom prst="roundRect">
                <a:avLst/>
              </a:prstGeom>
              <a:blipFill rotWithShape="1">
                <a:blip r:embed="rId4"/>
                <a:stretch>
                  <a:fillRect l="-506" t="-633" r="-461" b="-606"/>
                </a:stretch>
              </a:blipFill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4" idx="3"/>
            <a:endCxn id="6" idx="1"/>
          </p:cNvCxnSpPr>
          <p:nvPr/>
        </p:nvCxnSpPr>
        <p:spPr>
          <a:xfrm flipV="1">
            <a:off x="1818923" y="2308293"/>
            <a:ext cx="1268730" cy="1968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  <a:endCxn id="7" idx="1"/>
          </p:cNvCxnSpPr>
          <p:nvPr/>
        </p:nvCxnSpPr>
        <p:spPr>
          <a:xfrm>
            <a:off x="1818923" y="2327978"/>
            <a:ext cx="1268730" cy="180784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 flipV="1">
            <a:off x="1805014" y="2308069"/>
            <a:ext cx="1282065" cy="154559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1"/>
          </p:cNvCxnSpPr>
          <p:nvPr/>
        </p:nvCxnSpPr>
        <p:spPr>
          <a:xfrm>
            <a:off x="1805014" y="3853659"/>
            <a:ext cx="1282065" cy="28194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/>
          <p:cNvSpPr/>
          <p:nvPr/>
        </p:nvSpPr>
        <p:spPr>
          <a:xfrm rot="5400000">
            <a:off x="1230445" y="4074247"/>
            <a:ext cx="282555" cy="1226372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3944" y="5011278"/>
            <a:ext cx="2033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Human Preferences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585460" y="1946910"/>
                <a:ext cx="2779395" cy="66992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460" y="1946910"/>
                <a:ext cx="2779395" cy="669925"/>
              </a:xfrm>
              <a:prstGeom prst="rect">
                <a:avLst/>
              </a:prstGeom>
              <a:blipFill rotWithShape="1">
                <a:blip r:embed="rId5"/>
                <a:stretch>
                  <a:fillRect l="-343" t="-1422" r="-343" b="-1422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638800" y="3786505"/>
                <a:ext cx="2592705" cy="66992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786505"/>
                <a:ext cx="2592705" cy="669925"/>
              </a:xfrm>
              <a:prstGeom prst="rect">
                <a:avLst/>
              </a:prstGeom>
              <a:blipFill rotWithShape="1">
                <a:blip r:embed="rId6"/>
                <a:stretch>
                  <a:fillRect l="-367" t="-1422" r="-367" b="-1422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7" idx="3"/>
            <a:endCxn id="22" idx="1"/>
          </p:cNvCxnSpPr>
          <p:nvPr/>
        </p:nvCxnSpPr>
        <p:spPr>
          <a:xfrm flipV="1">
            <a:off x="4356602" y="2282014"/>
            <a:ext cx="1228725" cy="18535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3"/>
            <a:endCxn id="23" idx="1"/>
          </p:cNvCxnSpPr>
          <p:nvPr/>
        </p:nvCxnSpPr>
        <p:spPr>
          <a:xfrm>
            <a:off x="4356602" y="2308253"/>
            <a:ext cx="1282065" cy="1813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6" idx="3"/>
            <a:endCxn id="22" idx="1"/>
          </p:cNvCxnSpPr>
          <p:nvPr/>
        </p:nvCxnSpPr>
        <p:spPr>
          <a:xfrm flipV="1">
            <a:off x="4356602" y="2282218"/>
            <a:ext cx="1228725" cy="260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3"/>
            <a:endCxn id="23" idx="1"/>
          </p:cNvCxnSpPr>
          <p:nvPr/>
        </p:nvCxnSpPr>
        <p:spPr>
          <a:xfrm flipV="1">
            <a:off x="4356602" y="4121609"/>
            <a:ext cx="1282065" cy="139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2" idx="3"/>
            <a:endCxn id="36" idx="1"/>
          </p:cNvCxnSpPr>
          <p:nvPr/>
        </p:nvCxnSpPr>
        <p:spPr>
          <a:xfrm>
            <a:off x="8364855" y="2282190"/>
            <a:ext cx="783590" cy="9290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3" idx="3"/>
            <a:endCxn id="36" idx="1"/>
          </p:cNvCxnSpPr>
          <p:nvPr/>
        </p:nvCxnSpPr>
        <p:spPr>
          <a:xfrm flipV="1">
            <a:off x="8231505" y="3211195"/>
            <a:ext cx="916940" cy="9105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148445" y="3023870"/>
                <a:ext cx="2797175" cy="37401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))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445" y="3023870"/>
                <a:ext cx="2797175" cy="374015"/>
              </a:xfrm>
              <a:prstGeom prst="rect">
                <a:avLst/>
              </a:prstGeom>
              <a:blipFill rotWithShape="1">
                <a:blip r:embed="rId7"/>
                <a:stretch>
                  <a:fillRect l="-341" t="-2547" r="-341" b="-2547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implicit KL divergence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a positive output,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should be high (enough)</a:t>
                </a:r>
                <a:endParaRPr lang="en-US" dirty="0"/>
              </a:p>
              <a:p>
                <a:r>
                  <a:rPr lang="en-US" dirty="0"/>
                  <a:t>If the reference model already assigned high probability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(say, 0.8)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will have to be relatively higher (say 0.9)</a:t>
                </a:r>
                <a:endParaRPr lang="en-US" dirty="0"/>
              </a:p>
              <a:p>
                <a:r>
                  <a:rPr lang="en-US" dirty="0"/>
                  <a:t>If the reference model assigned low probability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(say, 0.1)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will be relatively higher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(say, 0.11)</a:t>
                </a:r>
                <a:endParaRPr lang="en-US" dirty="0"/>
              </a:p>
              <a:p>
                <a:pPr lvl="1"/>
                <a:r>
                  <a:rPr lang="en-US" dirty="0"/>
                  <a:t>In absolute terms, it might still be low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the RLHF objective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 </m:t>
                          </m:r>
                          <m:limLow>
                            <m:limLow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32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𝐾𝐿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  <m:r>
                        <a:rPr lang="en-US" sz="32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Higher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more the model stays close to the reference policy.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Interpreting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the DPO objective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ref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ref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chemeClr val="accent5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It appears</a:t>
                </a:r>
                <a:endParaRPr lang="en-US" dirty="0"/>
              </a:p>
              <a:p>
                <a:pPr lvl="1"/>
                <a:r>
                  <a:rPr lang="en-US" dirty="0"/>
                  <a:t>Higher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more the model attempts to increase the gap between the reward of +</a:t>
                </a:r>
                <a:r>
                  <a:rPr lang="en-US" dirty="0" err="1"/>
                  <a:t>ve</a:t>
                </a:r>
                <a:r>
                  <a:rPr lang="en-US" dirty="0"/>
                  <a:t> and –</a:t>
                </a:r>
                <a:r>
                  <a:rPr lang="en-US" dirty="0" err="1"/>
                  <a:t>ve</a:t>
                </a:r>
                <a:r>
                  <a:rPr lang="en-US" dirty="0"/>
                  <a:t> outputs.</a:t>
                </a:r>
                <a:endParaRPr lang="en-US" dirty="0"/>
              </a:p>
              <a:p>
                <a:pPr lvl="1"/>
                <a:r>
                  <a:rPr lang="en-US" dirty="0"/>
                  <a:t>It is not true, though.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higher beta lead to a more contrastive policy?</a:t>
            </a:r>
            <a:endParaRPr lang="en-US" dirty="0"/>
          </a:p>
        </p:txBody>
      </p:sp>
      <p:pic>
        <p:nvPicPr>
          <p:cNvPr id="5" name="Content Placeholder 4" descr="A graph of a function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5661" y="1989588"/>
            <a:ext cx="6299200" cy="40132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636475" y="1989588"/>
                <a:ext cx="4016997" cy="313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difference in implicit reward.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increases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Gradient for the implicit reward </a:t>
                </a:r>
                <a:endParaRPr lang="en-US" dirty="0"/>
              </a:p>
              <a:p>
                <a:pPr lvl="1"/>
                <a:r>
                  <a:rPr lang="en-US" dirty="0"/>
                  <a:t>difference increases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Policy becomes more contrastive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Until the saturation point.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After that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Gradient for the implicit reward </a:t>
                </a:r>
                <a:endParaRPr lang="en-US" dirty="0"/>
              </a:p>
              <a:p>
                <a:pPr lvl="1"/>
                <a:r>
                  <a:rPr lang="en-US" dirty="0"/>
                  <a:t>difference decreases.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Policy becomes less contrastive.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475" y="1989588"/>
                <a:ext cx="4016997" cy="3139321"/>
              </a:xfrm>
              <a:prstGeom prst="rect">
                <a:avLst/>
              </a:prstGeom>
              <a:blipFill rotWithShape="1">
                <a:blip r:embed="rId2"/>
                <a:stretch>
                  <a:fillRect l="-15" t="-4" r="-548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as the KL-strength knob</a:t>
                </a:r>
                <a:endParaRPr lang="en-US" dirty="0"/>
              </a:p>
              <a:p>
                <a:pPr lvl="1"/>
                <a:r>
                  <a:rPr lang="en-US" dirty="0"/>
                  <a:t>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Lesser drift</a:t>
                </a:r>
                <a:endParaRPr lang="en-US" dirty="0"/>
              </a:p>
              <a:p>
                <a:pPr lvl="1"/>
                <a:r>
                  <a:rPr lang="en-US" dirty="0"/>
                  <a:t>Lower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More drift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Typical starting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Tune by watching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held-out pairwise accuracy</a:t>
                </a:r>
                <a:endParaRPr lang="en-US" dirty="0"/>
              </a:p>
              <a:p>
                <a:pPr lvl="1"/>
                <a:r>
                  <a:rPr lang="en-US" dirty="0"/>
                  <a:t>If KL runs high,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KL is low, 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PPO vs DPO – Reward/Preference hacking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PPO </a:t>
            </a:r>
            <a:endParaRPr lang="en-US" dirty="0"/>
          </a:p>
          <a:p>
            <a:r>
              <a:rPr lang="en-US" dirty="0"/>
              <a:t>Problem- Model finds adversarial shortcuts to inflate RM scores</a:t>
            </a:r>
            <a:endParaRPr lang="en-US" dirty="0"/>
          </a:p>
          <a:p>
            <a:r>
              <a:rPr lang="en-US" dirty="0"/>
              <a:t>Solution </a:t>
            </a:r>
            <a:endParaRPr lang="en-US" dirty="0"/>
          </a:p>
          <a:p>
            <a:pPr lvl="1"/>
            <a:r>
              <a:rPr lang="en-US" dirty="0" err="1"/>
              <a:t>Ensembling</a:t>
            </a:r>
            <a:r>
              <a:rPr lang="en-US" dirty="0"/>
              <a:t> reward models</a:t>
            </a:r>
            <a:endParaRPr lang="en-US" dirty="0"/>
          </a:p>
          <a:p>
            <a:pPr lvl="1"/>
            <a:r>
              <a:rPr lang="en-US" dirty="0"/>
              <a:t>Enforcing diversity in output space.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DPO</a:t>
            </a:r>
            <a:endParaRPr lang="en-US" dirty="0"/>
          </a:p>
          <a:p>
            <a:r>
              <a:rPr lang="en-US" dirty="0"/>
              <a:t>Problem – Model captures unimportant differences between the preferences</a:t>
            </a:r>
            <a:endParaRPr lang="en-US" dirty="0"/>
          </a:p>
          <a:p>
            <a:r>
              <a:rPr lang="en-US" dirty="0"/>
              <a:t>Solution</a:t>
            </a:r>
            <a:endParaRPr lang="en-US" dirty="0"/>
          </a:p>
          <a:p>
            <a:pPr lvl="1"/>
            <a:r>
              <a:rPr lang="en-US" dirty="0"/>
              <a:t>Curate hard, diverse preference pairs – not easy to hack</a:t>
            </a:r>
            <a:endParaRPr lang="en-US" dirty="0"/>
          </a:p>
          <a:p>
            <a:pPr lvl="1"/>
            <a:r>
              <a:rPr lang="en-US" dirty="0"/>
              <a:t>Add SFT loss on +</a:t>
            </a:r>
            <a:r>
              <a:rPr lang="en-US" dirty="0" err="1"/>
              <a:t>ve</a:t>
            </a:r>
            <a:r>
              <a:rPr lang="en-US" dirty="0"/>
              <a:t> preference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DPO biased?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noFill/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ref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ref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DPO biased?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25226" y="1830401"/>
                <a:ext cx="5939959" cy="928056"/>
              </a:xfrm>
              <a:noFill/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5226" y="1830401"/>
                <a:ext cx="5939959" cy="928056"/>
              </a:xfrm>
              <a:blipFill rotWithShape="1">
                <a:blip r:embed="rId1"/>
                <a:stretch>
                  <a:fillRect l="-7" t="-36" r="9" b="-20307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4830184" y="2269864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 rot="5400000">
            <a:off x="5426635" y="2144675"/>
            <a:ext cx="399228" cy="1592131"/>
          </a:xfrm>
          <a:prstGeom prst="righ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60893" y="3063241"/>
            <a:ext cx="53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26187" y="3028437"/>
            <a:ext cx="53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US" dirty="0"/>
          </a:p>
        </p:txBody>
      </p:sp>
      <p:sp>
        <p:nvSpPr>
          <p:cNvPr id="8" name="Right Brace 7"/>
          <p:cNvSpPr/>
          <p:nvPr/>
        </p:nvSpPr>
        <p:spPr>
          <a:xfrm rot="5400000">
            <a:off x="7805865" y="2097305"/>
            <a:ext cx="399228" cy="1592131"/>
          </a:xfrm>
          <a:prstGeom prst="rightBrace">
            <a:avLst>
              <a:gd name="adj1" fmla="val 808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77223" y="2259876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197788" y="2194560"/>
                <a:ext cx="1708866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788" y="2194560"/>
                <a:ext cx="1708866" cy="391582"/>
              </a:xfrm>
              <a:prstGeom prst="rect">
                <a:avLst/>
              </a:prstGeom>
              <a:blipFill rotWithShape="1">
                <a:blip r:embed="rId2"/>
                <a:stretch>
                  <a:fillRect l="-26" r="-10671" b="10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918089" y="3076687"/>
                <a:ext cx="2480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089" y="3076687"/>
                <a:ext cx="248003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" t="-30" r="-22230" b="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879590" y="3571732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DPO biased?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12646" y="3543414"/>
                <a:ext cx="5965120" cy="898430"/>
              </a:xfrm>
              <a:noFill/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2646" y="3543414"/>
                <a:ext cx="5965120" cy="898430"/>
              </a:xfrm>
              <a:blipFill rotWithShape="1">
                <a:blip r:embed="rId1"/>
                <a:stretch>
                  <a:fillRect l="-9" t="-13" r="7" b="-2130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/>
          <p:cNvSpPr/>
          <p:nvPr/>
        </p:nvSpPr>
        <p:spPr>
          <a:xfrm rot="16200000">
            <a:off x="5476042" y="2488445"/>
            <a:ext cx="399228" cy="1592131"/>
          </a:xfrm>
          <a:prstGeom prst="righ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 rot="16200000">
            <a:off x="7744904" y="2477547"/>
            <a:ext cx="399228" cy="1592131"/>
          </a:xfrm>
          <a:prstGeom prst="rightBrace">
            <a:avLst>
              <a:gd name="adj1" fmla="val 808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48453" y="3546353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64122" y="2704666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703907" y="270019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025666" y="3288334"/>
                <a:ext cx="1534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666" y="3288334"/>
                <a:ext cx="153458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82" r="-7021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08038" y="2033195"/>
            <a:ext cx="261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the beginning of training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398495" y="4896354"/>
                <a:ext cx="78175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After few steps of training,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will increase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decrease</a:t>
                </a:r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495" y="4896354"/>
                <a:ext cx="781752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" t="-136" r="-10239" b="7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DPO biased?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increases, there is no issue</a:t>
                </a:r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decreases, where does the probability go?</a:t>
                </a:r>
                <a:endParaRPr lang="en-US" dirty="0"/>
              </a:p>
              <a:p>
                <a:pPr lvl="1"/>
                <a:r>
                  <a:rPr lang="en-US" dirty="0"/>
                  <a:t>Ideally, it should go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Most often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/>
                  <a:t> &amp; others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  <a:endParaRPr lang="en-US" dirty="0"/>
              </a:p>
              <a:p>
                <a:r>
                  <a:rPr lang="en-US" dirty="0"/>
                  <a:t>After training, you might end up with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Unfortunately, this is quite common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06" b="-106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3717765" y="4550677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/>
              <p:cNvSpPr txBox="1"/>
              <p:nvPr/>
            </p:nvSpPr>
            <p:spPr bwMode="auto">
              <a:xfrm>
                <a:off x="1950821" y="4522359"/>
                <a:ext cx="5965120" cy="8984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func>
                                    <m:func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𝑟𝑒𝑓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0821" y="4522359"/>
                <a:ext cx="5965120" cy="898430"/>
              </a:xfrm>
              <a:prstGeom prst="rect">
                <a:avLst/>
              </a:prstGeom>
              <a:blipFill rotWithShape="1">
                <a:blip r:embed="rId2"/>
                <a:stretch>
                  <a:fillRect l="-2" t="-58" r="1" b="-1733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/>
          <p:cNvSpPr/>
          <p:nvPr/>
        </p:nvSpPr>
        <p:spPr>
          <a:xfrm rot="16200000">
            <a:off x="4314217" y="3467390"/>
            <a:ext cx="399228" cy="1592131"/>
          </a:xfrm>
          <a:prstGeom prst="righ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/>
          <p:cNvSpPr/>
          <p:nvPr/>
        </p:nvSpPr>
        <p:spPr>
          <a:xfrm rot="16200000">
            <a:off x="6583079" y="3456492"/>
            <a:ext cx="399228" cy="1592131"/>
          </a:xfrm>
          <a:prstGeom prst="rightBrace">
            <a:avLst>
              <a:gd name="adj1" fmla="val 808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986628" y="4525298"/>
            <a:ext cx="1592131" cy="408790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202297" y="368361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542082" y="3679136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7863841" y="4267279"/>
                <a:ext cx="17109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1" y="4267279"/>
                <a:ext cx="171091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21" r="-8746" b="1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7978944" y="4755072"/>
                <a:ext cx="2480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𝑡ℎ𝑒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944" y="4755072"/>
                <a:ext cx="248003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" t="-52" r="-22229" b="1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deal with out-of-distribution bias in DPO?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Solution: Online DPO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Open Problem: How to deal with out-of-distribution bias in offline DPO? </a:t>
            </a:r>
            <a:endParaRPr lang="en-US" dirty="0"/>
          </a:p>
        </p:txBody>
      </p:sp>
      <p:pic>
        <p:nvPicPr>
          <p:cNvPr id="6" name="Picture 5" descr="A diagram of a robo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576" y="2275915"/>
            <a:ext cx="7881993" cy="2909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14739" y="5897890"/>
            <a:ext cx="39324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Credit: Direct Language Model Alignment from Online AI Feedback</a:t>
            </a:r>
            <a:endParaRPr lang="en-US" sz="1100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8170918" y="1664873"/>
            <a:ext cx="3714919" cy="3165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If the probability of a certain OOD output increases</a:t>
            </a:r>
            <a:endParaRPr lang="en-US" sz="1800" dirty="0"/>
          </a:p>
          <a:p>
            <a:pPr lvl="1"/>
            <a:r>
              <a:rPr lang="en-US" sz="1400" dirty="0"/>
              <a:t>It gets sampled in online DPO</a:t>
            </a:r>
            <a:endParaRPr lang="en-US" sz="1400" dirty="0"/>
          </a:p>
          <a:p>
            <a:pPr lvl="1"/>
            <a:r>
              <a:rPr lang="en-US" sz="1400" dirty="0"/>
              <a:t>Gets a low reward</a:t>
            </a:r>
            <a:endParaRPr lang="en-US" sz="1400" dirty="0"/>
          </a:p>
          <a:p>
            <a:pPr lvl="1"/>
            <a:r>
              <a:rPr lang="en-US" sz="1400" dirty="0"/>
              <a:t>Its probability decreases</a:t>
            </a:r>
            <a:endParaRPr lang="en-US" sz="1400" dirty="0"/>
          </a:p>
          <a:p>
            <a:r>
              <a:rPr lang="en-US" sz="1800" dirty="0"/>
              <a:t>Resampling should be done frequently to prevent OOD bias</a:t>
            </a:r>
            <a:endParaRPr lang="en-US" sz="18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Comparison: Offline vs Online DPO</a:t>
            </a:r>
            <a:endParaRPr lang="en-US" dirty="0"/>
          </a:p>
        </p:txBody>
      </p:sp>
      <p:pic>
        <p:nvPicPr>
          <p:cNvPr id="5" name="Content Placeholder 4" descr="A table with numbers and percentages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43504" y="1677358"/>
            <a:ext cx="4751702" cy="4351337"/>
          </a:xfrm>
        </p:spPr>
      </p:pic>
      <p:sp>
        <p:nvSpPr>
          <p:cNvPr id="6" name="TextBox 5"/>
          <p:cNvSpPr txBox="1"/>
          <p:nvPr/>
        </p:nvSpPr>
        <p:spPr>
          <a:xfrm>
            <a:off x="6314739" y="5897890"/>
            <a:ext cx="39324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Credit: Direct Language Model Alignment from Online AI Feedback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DPO can learn the policy directly from human/AI preferences</a:t>
            </a:r>
            <a:endParaRPr lang="en-US" dirty="0"/>
          </a:p>
          <a:p>
            <a:pPr lvl="1"/>
            <a:r>
              <a:rPr lang="en-US" dirty="0"/>
              <a:t>No reward model or value function needed</a:t>
            </a:r>
            <a:endParaRPr lang="en-US" dirty="0"/>
          </a:p>
          <a:p>
            <a:r>
              <a:rPr lang="en-US" dirty="0"/>
              <a:t>Can capture unimportant differences between the preferences</a:t>
            </a:r>
            <a:endParaRPr lang="en-US" dirty="0"/>
          </a:p>
          <a:p>
            <a:r>
              <a:rPr lang="en-US" dirty="0"/>
              <a:t>Can be biased towards OOD samples</a:t>
            </a:r>
            <a:endParaRPr lang="en-US" dirty="0"/>
          </a:p>
          <a:p>
            <a:r>
              <a:rPr lang="en-US" dirty="0"/>
              <a:t>To prevent bias</a:t>
            </a:r>
            <a:endParaRPr lang="en-US" dirty="0"/>
          </a:p>
          <a:p>
            <a:pPr lvl="1"/>
            <a:r>
              <a:rPr lang="en-US" dirty="0"/>
              <a:t>A reward model can be trained</a:t>
            </a:r>
            <a:endParaRPr lang="en-US" dirty="0"/>
          </a:p>
          <a:p>
            <a:pPr lvl="1"/>
            <a:r>
              <a:rPr lang="en-US" dirty="0"/>
              <a:t>Outputs can be sampled frequently from the policy and ranked using the reward model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Direct Preference Optimization: Your Language Model is Secretly a Reward Model</a:t>
            </a:r>
            <a:endParaRPr lang="en-IN" b="1" dirty="0"/>
          </a:p>
          <a:p>
            <a:r>
              <a:rPr lang="en-IN" b="1" dirty="0"/>
              <a:t>Direct Preference Optimization Explained In-depth - </a:t>
            </a:r>
            <a:r>
              <a:rPr lang="en-IN" b="1" dirty="0">
                <a:hlinkClick r:id="rId1"/>
              </a:rPr>
              <a:t>https://www.tylerromero.com/posts/2024-04-dpo</a:t>
            </a:r>
            <a:endParaRPr lang="en-IN" b="1" dirty="0"/>
          </a:p>
          <a:p>
            <a:r>
              <a:rPr lang="en-IN" b="1" dirty="0"/>
              <a:t>Direct Language Model Alignment from Online AI Feedback</a:t>
            </a:r>
            <a:endParaRPr lang="en-IN" b="1" dirty="0"/>
          </a:p>
          <a:p>
            <a:r>
              <a:rPr lang="en-IN" b="1" dirty="0">
                <a:hlinkClick r:id="rId2"/>
              </a:rPr>
              <a:t>https://huggingface.co/docs/trl/main/en/online_dpo_trainer</a:t>
            </a:r>
            <a:endParaRPr lang="en-IN" b="1" dirty="0"/>
          </a:p>
          <a:p>
            <a:r>
              <a:rPr lang="en-IN" b="1" dirty="0"/>
              <a:t>DPO from scratch - </a:t>
            </a:r>
            <a:r>
              <a:rPr lang="en-IN" b="1" dirty="0">
                <a:hlinkClick r:id="rId3"/>
              </a:rPr>
              <a:t>https://github.com/0xallam/Direct-Preference-Optimization</a:t>
            </a:r>
            <a:endParaRPr lang="en-US" b="1" dirty="0"/>
          </a:p>
          <a:p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7111</Words>
  <Application>WPS Presentation</Application>
  <PresentationFormat>Widescreen</PresentationFormat>
  <Paragraphs>307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52" baseType="lpstr">
      <vt:lpstr>Arial</vt:lpstr>
      <vt:lpstr>SimSun</vt:lpstr>
      <vt:lpstr>Wingdings</vt:lpstr>
      <vt:lpstr>Aptos Display</vt:lpstr>
      <vt:lpstr>Clear Sans Thin</vt:lpstr>
      <vt:lpstr>Aptos Display</vt:lpstr>
      <vt:lpstr>Comfortaa Light</vt:lpstr>
      <vt:lpstr>Cambria Math</vt:lpstr>
      <vt:lpstr>DejaVu Math TeX Gyre</vt:lpstr>
      <vt:lpstr>Microsoft YaHei</vt:lpstr>
      <vt:lpstr>Droid Sans Fallback</vt:lpstr>
      <vt:lpstr>Arial Unicode MS</vt:lpstr>
      <vt:lpstr>Calibri</vt:lpstr>
      <vt:lpstr>Aptos</vt:lpstr>
      <vt:lpstr>OpenSymbol</vt:lpstr>
      <vt:lpstr>Andale Mono</vt:lpstr>
      <vt:lpstr>Andika</vt:lpstr>
      <vt:lpstr>Arial Black</vt:lpstr>
      <vt:lpstr>Arimo</vt:lpstr>
      <vt:lpstr>Asana Math</vt:lpstr>
      <vt:lpstr>Berenis ADF Pro</vt:lpstr>
      <vt:lpstr>Clear Sans</vt:lpstr>
      <vt:lpstr>Clean</vt:lpstr>
      <vt:lpstr>Clear Sans Light</vt:lpstr>
      <vt:lpstr>ClearlyU</vt:lpstr>
      <vt:lpstr>Clear Sans Medium</vt:lpstr>
      <vt:lpstr>Office Theme</vt:lpstr>
      <vt:lpstr>Advances in Large Language Models ELL8299 · AIL861</vt:lpstr>
      <vt:lpstr>PPO/GRPO for LLM alignment</vt:lpstr>
      <vt:lpstr>Why go beyond PPO/GRPO?</vt:lpstr>
      <vt:lpstr>Policy learning without rewards</vt:lpstr>
      <vt:lpstr>Desirable scenario</vt:lpstr>
      <vt:lpstr>The two optimization problems</vt:lpstr>
      <vt:lpstr>Cutting out the middle man</vt:lpstr>
      <vt:lpstr>Lagrangian for the policy objective</vt:lpstr>
      <vt:lpstr>The parametric policy &amp; reward </vt:lpstr>
      <vt:lpstr>Training the reward function</vt:lpstr>
      <vt:lpstr>The DPO objective</vt:lpstr>
      <vt:lpstr>The implicit KL divergence</vt:lpstr>
      <vt:lpstr>Interpreting  in the RLHF objective</vt:lpstr>
      <vt:lpstr>Interpreting  in the DPO objective</vt:lpstr>
      <vt:lpstr>Does higher beta lead to a more contrastive policy?</vt:lpstr>
      <vt:lpstr>Practical tip</vt:lpstr>
      <vt:lpstr>PPO vs DPO – Reward/Preference hacking</vt:lpstr>
      <vt:lpstr>Why is DPO biased?</vt:lpstr>
      <vt:lpstr>Why is DPO biased?</vt:lpstr>
      <vt:lpstr>Why is DPO biased?</vt:lpstr>
      <vt:lpstr>Why is DPO biased?</vt:lpstr>
      <vt:lpstr>How to deal with out-of-distribution bias in DPO?</vt:lpstr>
      <vt:lpstr>Performance Comparison: Offline vs Online DPO</vt:lpstr>
      <vt:lpstr>Main Takeaways</vt:lpstr>
      <vt:lpstr>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Pandey</dc:creator>
  <cp:lastModifiedBy>soumen</cp:lastModifiedBy>
  <cp:revision>13</cp:revision>
  <dcterms:created xsi:type="dcterms:W3CDTF">2026-03-13T08:41:15Z</dcterms:created>
  <dcterms:modified xsi:type="dcterms:W3CDTF">2026-03-13T08:41:15Z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