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693" r:id="rId3"/>
    <p:sldId id="649" r:id="rId4"/>
    <p:sldId id="703" r:id="rId5"/>
    <p:sldId id="677" r:id="rId6"/>
    <p:sldId id="694" r:id="rId7"/>
    <p:sldId id="704" r:id="rId8"/>
    <p:sldId id="650" r:id="rId9"/>
    <p:sldId id="651" r:id="rId11"/>
    <p:sldId id="652" r:id="rId12"/>
    <p:sldId id="653" r:id="rId13"/>
    <p:sldId id="739" r:id="rId14"/>
    <p:sldId id="656" r:id="rId15"/>
    <p:sldId id="695" r:id="rId16"/>
    <p:sldId id="740" r:id="rId17"/>
    <p:sldId id="696" r:id="rId18"/>
    <p:sldId id="705" r:id="rId19"/>
    <p:sldId id="659" r:id="rId20"/>
    <p:sldId id="660" r:id="rId21"/>
    <p:sldId id="662" r:id="rId22"/>
    <p:sldId id="663" r:id="rId23"/>
    <p:sldId id="701" r:id="rId24"/>
    <p:sldId id="707" r:id="rId25"/>
    <p:sldId id="708" r:id="rId26"/>
    <p:sldId id="702" r:id="rId27"/>
    <p:sldId id="710" r:id="rId28"/>
    <p:sldId id="709" r:id="rId29"/>
    <p:sldId id="711" r:id="rId30"/>
    <p:sldId id="706" r:id="rId31"/>
    <p:sldId id="668" r:id="rId32"/>
    <p:sldId id="669" r:id="rId33"/>
    <p:sldId id="768" r:id="rId34"/>
    <p:sldId id="697" r:id="rId35"/>
    <p:sldId id="698" r:id="rId36"/>
    <p:sldId id="714" r:id="rId37"/>
    <p:sldId id="670" r:id="rId38"/>
    <p:sldId id="712" r:id="rId39"/>
    <p:sldId id="680" r:id="rId40"/>
    <p:sldId id="676" r:id="rId41"/>
    <p:sldId id="678" r:id="rId42"/>
    <p:sldId id="71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63CAA5-CFC1-4896-9A38-25641500CDCF}">
          <p14:sldIdLst>
            <p14:sldId id="693"/>
            <p14:sldId id="649"/>
            <p14:sldId id="703"/>
            <p14:sldId id="677"/>
            <p14:sldId id="694"/>
            <p14:sldId id="704"/>
            <p14:sldId id="650"/>
            <p14:sldId id="651"/>
            <p14:sldId id="652"/>
            <p14:sldId id="739"/>
            <p14:sldId id="656"/>
            <p14:sldId id="695"/>
            <p14:sldId id="740"/>
            <p14:sldId id="696"/>
            <p14:sldId id="705"/>
            <p14:sldId id="659"/>
            <p14:sldId id="660"/>
            <p14:sldId id="662"/>
            <p14:sldId id="663"/>
            <p14:sldId id="701"/>
            <p14:sldId id="707"/>
            <p14:sldId id="708"/>
            <p14:sldId id="702"/>
            <p14:sldId id="710"/>
            <p14:sldId id="709"/>
            <p14:sldId id="711"/>
            <p14:sldId id="706"/>
            <p14:sldId id="668"/>
            <p14:sldId id="669"/>
            <p14:sldId id="697"/>
            <p14:sldId id="698"/>
            <p14:sldId id="714"/>
            <p14:sldId id="670"/>
            <p14:sldId id="712"/>
            <p14:sldId id="680"/>
            <p14:sldId id="676"/>
            <p14:sldId id="678"/>
            <p14:sldId id="713"/>
            <p14:sldId id="653"/>
            <p14:sldId id="7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29" autoAdjust="0"/>
    <p:restoredTop sz="94645"/>
  </p:normalViewPr>
  <p:slideViewPr>
    <p:cSldViewPr snapToGrid="0" showGuides="1">
      <p:cViewPr varScale="1">
        <p:scale>
          <a:sx n="101" d="100"/>
          <a:sy n="101" d="100"/>
        </p:scale>
        <p:origin x="224" y="1192"/>
      </p:cViewPr>
      <p:guideLst>
        <p:guide orient="horz" pos="2520"/>
        <p:guide pos="597"/>
        <p:guide pos="6766"/>
        <p:guide orient="horz" pos="3381"/>
        <p:guide pos="11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02719-461B-4F82-93C5-57B4583A0AE9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F11A3-5556-448D-B4AF-A186AE24052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DD956-8DD1-4712-B259-3593B02F3338}" type="slidenum">
              <a:rPr lang="en-IN"/>
            </a:fld>
            <a:endParaRPr lang="en-IN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031C9E-3200-47A5-BB56-B709C2FCD541}" type="slidenum">
              <a:rPr lang="en-IN"/>
            </a:fld>
            <a:endParaRPr lang="en-IN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98326-3654-475C-B366-15B4AF75F7C8}" type="slidenum">
              <a:rPr lang="en-IN"/>
            </a:fld>
            <a:endParaRPr lang="en-IN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D3C3BE-6B28-4F77-9BC1-36B585999499}" type="slidenum">
              <a:rPr lang="en-IN"/>
            </a:fld>
            <a:endParaRPr lang="en-IN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502C4-42E8-49E5-82F8-7C913190E775}" type="slidenum">
              <a:rPr lang="en-IN"/>
            </a:fld>
            <a:endParaRPr lang="en-IN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E5809-FE59-43E9-81AE-2BBC87D1BAF7}" type="slidenum">
              <a:rPr lang="en-IN"/>
            </a:fld>
            <a:endParaRPr lang="en-IN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957E9-77A8-4507-8FE3-DCE89B0FBE2F}" type="slidenum">
              <a:rPr lang="en-IN"/>
            </a:fld>
            <a:endParaRPr lang="en-IN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37BE7-9AB5-4154-9CBF-7369B0B62339}" type="slidenum">
              <a:rPr lang="en-IN"/>
            </a:fld>
            <a:endParaRPr lang="en-IN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4C49C-9E72-4217-A6A5-3C8AF3F4E478}" type="slidenum">
              <a:rPr lang="en-IN"/>
            </a:fld>
            <a:endParaRPr lang="en-IN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05A166-174A-49B9-A1F4-DF4C701D773D}" type="slidenum">
              <a:rPr lang="en-IN"/>
            </a:fld>
            <a:endParaRPr lang="en-IN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hyperlink" Target="https://en.wikipedia.org/wiki/Kullback&#8211;Leibler_divergence" TargetMode="Externa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5.pn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2.png"/><Relationship Id="rId7" Type="http://schemas.openxmlformats.org/officeDocument/2006/relationships/image" Target="../media/image61.png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0.png"/><Relationship Id="rId7" Type="http://schemas.openxmlformats.org/officeDocument/2006/relationships/image" Target="../media/image79.png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7.pn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8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png"/><Relationship Id="rId8" Type="http://schemas.openxmlformats.org/officeDocument/2006/relationships/image" Target="../media/image96.png"/><Relationship Id="rId7" Type="http://schemas.openxmlformats.org/officeDocument/2006/relationships/image" Target="../media/image95.png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04.png"/><Relationship Id="rId15" Type="http://schemas.openxmlformats.org/officeDocument/2006/relationships/image" Target="../media/image103.png"/><Relationship Id="rId14" Type="http://schemas.openxmlformats.org/officeDocument/2006/relationships/image" Target="../media/image102.png"/><Relationship Id="rId13" Type="http://schemas.openxmlformats.org/officeDocument/2006/relationships/image" Target="../media/image101.png"/><Relationship Id="rId12" Type="http://schemas.openxmlformats.org/officeDocument/2006/relationships/image" Target="../media/image100.png"/><Relationship Id="rId11" Type="http://schemas.openxmlformats.org/officeDocument/2006/relationships/image" Target="../media/image99.png"/><Relationship Id="rId10" Type="http://schemas.openxmlformats.org/officeDocument/2006/relationships/image" Target="../media/image98.png"/><Relationship Id="rId1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514" y="4136449"/>
            <a:ext cx="1022971" cy="1022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0" y="360924"/>
            <a:ext cx="12192000" cy="2243022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j-ea"/>
                <a:cs typeface="+mj-cs"/>
              </a:rPr>
              <a:t>Alignment of Language Models – 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solidFill>
                  <a:srgbClr val="000000"/>
                </a:solidFill>
                <a:latin typeface="Aptos Display"/>
              </a:rPr>
              <a:t>Reward Maximization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j-ea"/>
              <a:cs typeface="+mj-cs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2314296" y="2824506"/>
            <a:ext cx="7563408" cy="1091382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Advances in Large Language Models</a:t>
            </a:r>
            <a:br>
              <a:rPr lang="en-US" sz="2400" dirty="0"/>
            </a:b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ELL8299 · AIL861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extBox 6"/>
          <p:cNvSpPr txBox="1">
            <a:spLocks noChangeArrowheads="1"/>
          </p:cNvSpPr>
          <p:nvPr/>
        </p:nvSpPr>
        <p:spPr bwMode="auto">
          <a:xfrm>
            <a:off x="3890962" y="5379981"/>
            <a:ext cx="44100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 Display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 Display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 Display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FF"/>
                </a:solidFill>
                <a:latin typeface="Aptos Display"/>
              </a:rPr>
              <a:t>Gaurav Pandey</a:t>
            </a:r>
            <a:endParaRPr lang="en-US" altLang="en-US" sz="2000" dirty="0">
              <a:solidFill>
                <a:srgbClr val="0000FF"/>
              </a:solidFill>
              <a:latin typeface="Aptos Display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FF"/>
                </a:solidFill>
                <a:latin typeface="Aptos Display"/>
              </a:rPr>
              <a:t>Senior Research Scientist, IBM Research</a:t>
            </a:r>
            <a:endParaRPr lang="en-US" altLang="en-US" sz="2000" dirty="0">
              <a:solidFill>
                <a:srgbClr val="0000FF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25" y="1808163"/>
            <a:ext cx="11307763" cy="4351337"/>
          </a:xfrm>
        </p:spPr>
        <p:txBody>
          <a:bodyPr/>
          <a:lstStyle/>
          <a:p>
            <a:r>
              <a:rPr lang="en-US" dirty="0"/>
              <a:t>Best-of-N policy</a:t>
            </a:r>
            <a:endParaRPr lang="en-US" dirty="0"/>
          </a:p>
          <a:p>
            <a:r>
              <a:rPr lang="en-US" dirty="0"/>
              <a:t>Reward Maximization Objective Formulation</a:t>
            </a:r>
            <a:endParaRPr lang="en-US" dirty="0"/>
          </a:p>
          <a:p>
            <a:r>
              <a:rPr lang="en-US" dirty="0"/>
              <a:t>Vanilla Policy Gradient</a:t>
            </a:r>
            <a:endParaRPr lang="en-US" dirty="0"/>
          </a:p>
          <a:p>
            <a:pPr lvl="1"/>
            <a:r>
              <a:rPr lang="en-US" dirty="0"/>
              <a:t>The REINFORCE gradient estimator</a:t>
            </a:r>
            <a:endParaRPr lang="en-US" dirty="0"/>
          </a:p>
          <a:p>
            <a:pPr lvl="1"/>
            <a:r>
              <a:rPr lang="en-US" dirty="0"/>
              <a:t>The problem of high variance - Baseline subtraction</a:t>
            </a:r>
            <a:endParaRPr lang="en-US" dirty="0"/>
          </a:p>
          <a:p>
            <a:pPr lvl="1"/>
            <a:r>
              <a:rPr lang="en-US" dirty="0"/>
              <a:t>Final algorithm</a:t>
            </a:r>
            <a:endParaRPr lang="en-US" dirty="0"/>
          </a:p>
          <a:p>
            <a:r>
              <a:rPr lang="en-US" dirty="0"/>
              <a:t>Towards Actor/Critic methods</a:t>
            </a:r>
            <a:endParaRPr lang="en-US" dirty="0"/>
          </a:p>
          <a:p>
            <a:pPr lvl="1"/>
            <a:r>
              <a:rPr lang="en-US" dirty="0"/>
              <a:t>The problem of credit assignment</a:t>
            </a:r>
            <a:endParaRPr lang="en-US" dirty="0"/>
          </a:p>
          <a:p>
            <a:pPr lvl="1"/>
            <a:r>
              <a:rPr lang="en-US" dirty="0"/>
              <a:t>Q-functions, Value functions and advantage</a:t>
            </a:r>
            <a:endParaRPr lang="en-US" dirty="0"/>
          </a:p>
          <a:p>
            <a:pPr lvl="1"/>
            <a:r>
              <a:rPr lang="en-US" dirty="0"/>
              <a:t>Estimating the value function and advantage</a:t>
            </a:r>
            <a:endParaRPr lang="en-US" dirty="0"/>
          </a:p>
          <a:p>
            <a:pPr lvl="1"/>
            <a:r>
              <a:rPr lang="en-US" dirty="0"/>
              <a:t>Actor-Critic Family of algorithms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41325" y="258763"/>
            <a:ext cx="11307763" cy="1325562"/>
          </a:xfrm>
        </p:spPr>
        <p:txBody>
          <a:bodyPr/>
          <a:lstStyle/>
          <a:p>
            <a:r>
              <a:rPr lang="en-US" dirty="0"/>
              <a:t>Reward Maximization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25" y="1808163"/>
            <a:ext cx="11307763" cy="4351337"/>
          </a:xfrm>
        </p:spPr>
        <p:txBody>
          <a:bodyPr/>
          <a:lstStyle/>
          <a:p>
            <a:r>
              <a:rPr lang="en-US" dirty="0"/>
              <a:t>Best-of-N policy</a:t>
            </a:r>
            <a:endParaRPr lang="en-US" dirty="0"/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Reward Maximization Objective Formulation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Vanilla Policy Gradient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REINFORCE gradient estimator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problem of high variance - Baseline subtraction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Final algorithm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Towards Actor/Critic methods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problem of credit assignment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Q-functions, Value functions and advantage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Estimating the value function and advantage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Final algorithm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41325" y="258763"/>
            <a:ext cx="11307763" cy="1325562"/>
          </a:xfrm>
        </p:spPr>
        <p:txBody>
          <a:bodyPr/>
          <a:lstStyle/>
          <a:p>
            <a:r>
              <a:rPr lang="en-US" dirty="0"/>
              <a:t>Reward Maximization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Best-of-N policy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Given</a:t>
                </a:r>
                <a:endParaRPr lang="en-US" dirty="0"/>
              </a:p>
              <a:p>
                <a:r>
                  <a:rPr lang="en-US" dirty="0"/>
                  <a:t>Base policy or reference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 </a:t>
                </a:r>
                <a:endParaRPr lang="en-US" dirty="0"/>
              </a:p>
              <a:p>
                <a:pPr lvl="1"/>
                <a:r>
                  <a:rPr lang="en-US" dirty="0"/>
                  <a:t>Often, an instruction tuned LM that serves as the starting point of alignment</a:t>
                </a:r>
                <a:endParaRPr lang="en-US" dirty="0"/>
              </a:p>
              <a:p>
                <a:r>
                  <a:rPr lang="en-US" dirty="0"/>
                  <a:t>Reward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Aim – To generate outputs with high reward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br>
                  <a:rPr lang="en-US" b="1" dirty="0"/>
                </a:br>
                <a:r>
                  <a:rPr lang="en-US" b="1" dirty="0"/>
                  <a:t>Solution</a:t>
                </a:r>
                <a:endParaRPr lang="en-US" b="1" dirty="0"/>
              </a:p>
              <a:p>
                <a:r>
                  <a:rPr lang="en-US" dirty="0"/>
                  <a:t>Sample multiple outputs from the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Score each output using the reward model</a:t>
                </a:r>
                <a:endParaRPr lang="en-US" dirty="0"/>
              </a:p>
              <a:p>
                <a:r>
                  <a:rPr lang="en-US" dirty="0"/>
                  <a:t>Return the output with the highest reward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Best-of-n policy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2251881" y="2889749"/>
                <a:ext cx="1433015" cy="103723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Ref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sz="18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ref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881" y="2889749"/>
                <a:ext cx="1433015" cy="1037230"/>
              </a:xfrm>
              <a:prstGeom prst="roundRect">
                <a:avLst/>
              </a:prstGeom>
              <a:blipFill rotWithShape="1">
                <a:blip r:embed="rId1"/>
                <a:stretch>
                  <a:fillRect l="-455" t="-660" r="-399" b="-599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02396" y="3146754"/>
            <a:ext cx="1154162" cy="523220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Prompt: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Write a poem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6" name="Straight Arrow Connector 5"/>
          <p:cNvCxnSpPr>
            <a:stCxn id="5" idx="3"/>
            <a:endCxn id="4" idx="1"/>
          </p:cNvCxnSpPr>
          <p:nvPr/>
        </p:nvCxnSpPr>
        <p:spPr>
          <a:xfrm>
            <a:off x="1756558" y="3408364"/>
            <a:ext cx="4953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3742" y="2193686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Poem 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23742" y="2786281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Poem 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38993" y="3965619"/>
            <a:ext cx="727763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Poem 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702874" y="3234355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10"/>
              <p:cNvSpPr/>
              <p:nvPr/>
            </p:nvSpPr>
            <p:spPr>
              <a:xfrm>
                <a:off x="5641250" y="2928389"/>
                <a:ext cx="1433015" cy="1037230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Reward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Model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250" y="2928389"/>
                <a:ext cx="1433015" cy="1037230"/>
              </a:xfrm>
              <a:prstGeom prst="roundRect">
                <a:avLst/>
              </a:prstGeom>
              <a:blipFill rotWithShape="1">
                <a:blip r:embed="rId2"/>
                <a:stretch>
                  <a:fillRect l="-481" t="-651" r="-418" b="-608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7" idx="3"/>
          </p:cNvCxnSpPr>
          <p:nvPr/>
        </p:nvCxnSpPr>
        <p:spPr>
          <a:xfrm>
            <a:off x="5054712" y="2347575"/>
            <a:ext cx="567916" cy="84601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11" idx="1"/>
          </p:cNvCxnSpPr>
          <p:nvPr/>
        </p:nvCxnSpPr>
        <p:spPr>
          <a:xfrm>
            <a:off x="5054712" y="2940170"/>
            <a:ext cx="586538" cy="506834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3"/>
          </p:cNvCxnSpPr>
          <p:nvPr/>
        </p:nvCxnSpPr>
        <p:spPr>
          <a:xfrm flipV="1">
            <a:off x="5066756" y="3712202"/>
            <a:ext cx="586538" cy="40730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7694489" y="2193686"/>
                <a:ext cx="718979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</m:t>
                          </m:r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489" y="2193686"/>
                <a:ext cx="718979" cy="324384"/>
              </a:xfrm>
              <a:prstGeom prst="rect">
                <a:avLst/>
              </a:prstGeom>
              <a:blipFill rotWithShape="1">
                <a:blip r:embed="rId3"/>
                <a:stretch>
                  <a:fillRect l="-1352" t="-3058" r="-9048" b="-2845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694488" y="2786281"/>
                <a:ext cx="718979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</m:t>
                          </m:r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488" y="2786281"/>
                <a:ext cx="718979" cy="324384"/>
              </a:xfrm>
              <a:prstGeom prst="rect">
                <a:avLst/>
              </a:prstGeom>
              <a:blipFill rotWithShape="1">
                <a:blip r:embed="rId4"/>
                <a:stretch>
                  <a:fillRect l="-1352" t="-3102" r="-9048" b="-2802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7707238" y="3965619"/>
                <a:ext cx="720775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𝑝𝑜𝑒𝑚𝑛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238" y="3965619"/>
                <a:ext cx="720775" cy="324384"/>
              </a:xfrm>
              <a:prstGeom prst="rect">
                <a:avLst/>
              </a:prstGeom>
              <a:blipFill rotWithShape="1">
                <a:blip r:embed="rId5"/>
                <a:stretch>
                  <a:fillRect l="-1355" t="-2950" r="-9298" b="-2758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8067625" y="3234355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5" idx="1"/>
          </p:cNvCxnSpPr>
          <p:nvPr/>
        </p:nvCxnSpPr>
        <p:spPr>
          <a:xfrm flipV="1">
            <a:off x="7074265" y="2355878"/>
            <a:ext cx="620224" cy="9169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" idx="3"/>
            <a:endCxn id="16" idx="1"/>
          </p:cNvCxnSpPr>
          <p:nvPr/>
        </p:nvCxnSpPr>
        <p:spPr>
          <a:xfrm flipV="1">
            <a:off x="7074265" y="2948473"/>
            <a:ext cx="620223" cy="4985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7" idx="1"/>
          </p:cNvCxnSpPr>
          <p:nvPr/>
        </p:nvCxnSpPr>
        <p:spPr>
          <a:xfrm>
            <a:off x="7110484" y="3741781"/>
            <a:ext cx="596754" cy="3860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7" idx="1"/>
          </p:cNvCxnSpPr>
          <p:nvPr/>
        </p:nvCxnSpPr>
        <p:spPr>
          <a:xfrm flipV="1">
            <a:off x="3684896" y="2347575"/>
            <a:ext cx="638846" cy="7991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" idx="3"/>
            <a:endCxn id="8" idx="1"/>
          </p:cNvCxnSpPr>
          <p:nvPr/>
        </p:nvCxnSpPr>
        <p:spPr>
          <a:xfrm flipV="1">
            <a:off x="3684896" y="2940170"/>
            <a:ext cx="638846" cy="4681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9" idx="1"/>
          </p:cNvCxnSpPr>
          <p:nvPr/>
        </p:nvCxnSpPr>
        <p:spPr>
          <a:xfrm>
            <a:off x="3692521" y="3676416"/>
            <a:ext cx="646472" cy="4430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48330" y="2030095"/>
            <a:ext cx="1028065" cy="306705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Samples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6" name="Right Brace 25"/>
          <p:cNvSpPr/>
          <p:nvPr/>
        </p:nvSpPr>
        <p:spPr>
          <a:xfrm>
            <a:off x="8512629" y="2029939"/>
            <a:ext cx="870857" cy="2260064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9454752" y="2836805"/>
            <a:ext cx="1898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Pick the one with</a:t>
            </a:r>
            <a:endParaRPr lang="en-US" dirty="0"/>
          </a:p>
          <a:p>
            <a:r>
              <a:rPr lang="en-US" dirty="0"/>
              <a:t>the highest reward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300371" y="4555645"/>
            <a:ext cx="61084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Challenge: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dirty="0"/>
              <a:t>Too expensive during inference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Can’t get better iteratively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Reward Model may not be available during inference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Verifiable rewards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25" y="1808163"/>
            <a:ext cx="11307763" cy="4351337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Best-of-N policy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/>
              <a:t>Reward Maximization Objective Formulation</a:t>
            </a:r>
            <a:endParaRPr lang="en-US" dirty="0"/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Vanilla Policy Gradient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REINFORCE gradient estimator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problem of high variance - Baseline subtraction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Final algorithm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Towards Actor/Critic methods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problem of credit assignment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Q-functions, Value functions and advantage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Estimating the value function and advantage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Final algorithm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41325" y="258763"/>
            <a:ext cx="11307763" cy="1325562"/>
          </a:xfrm>
        </p:spPr>
        <p:txBody>
          <a:bodyPr/>
          <a:lstStyle/>
          <a:p>
            <a:r>
              <a:rPr lang="en-US" dirty="0"/>
              <a:t>Reward Maximization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reward-maximization objective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Given</a:t>
                </a:r>
                <a:endParaRPr lang="en-US" dirty="0"/>
              </a:p>
              <a:p>
                <a:r>
                  <a:rPr lang="en-US" dirty="0"/>
                  <a:t>Base policy or reference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 </a:t>
                </a:r>
                <a:endParaRPr lang="en-US" dirty="0"/>
              </a:p>
              <a:p>
                <a:pPr lvl="1"/>
                <a:r>
                  <a:rPr lang="en-US" dirty="0"/>
                  <a:t>Often, an instruction tuned LM that serves as the starting point of alignment</a:t>
                </a:r>
                <a:endParaRPr lang="en-US" dirty="0"/>
              </a:p>
              <a:p>
                <a:r>
                  <a:rPr lang="en-US" dirty="0"/>
                  <a:t>Reward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Aim</a:t>
                </a:r>
                <a:endParaRPr lang="en-US" dirty="0"/>
              </a:p>
              <a:p>
                <a:r>
                  <a:rPr lang="en-US" dirty="0"/>
                  <a:t>To find a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/>
              </a:p>
              <a:p>
                <a:pPr lvl="1"/>
                <a:r>
                  <a:rPr lang="en-US" dirty="0"/>
                  <a:t>That generates outputs with high reward.</a:t>
                </a:r>
                <a:endParaRPr lang="en-US" dirty="0"/>
              </a:p>
              <a:p>
                <a:pPr lvl="1"/>
                <a:r>
                  <a:rPr lang="en-US" dirty="0"/>
                  <a:t>That stays close to the reference policy.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care about closeness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Reward Models are not perfect. </a:t>
                </a:r>
                <a:endParaRPr lang="en-US" dirty="0"/>
              </a:p>
              <a:p>
                <a:r>
                  <a:rPr lang="en-US" dirty="0"/>
                  <a:t>They have been trained to score only selected natural language outputs.</a:t>
                </a:r>
                <a:endParaRPr lang="en-US" dirty="0"/>
              </a:p>
              <a:p>
                <a:r>
                  <a:rPr lang="en-US" dirty="0"/>
                  <a:t>The policy can hack (overfit to) the reward model – generate outputs with high reward but meaningless</a:t>
                </a:r>
                <a:endParaRPr lang="en-US" dirty="0"/>
              </a:p>
              <a:p>
                <a:r>
                  <a:rPr lang="en-US" dirty="0"/>
                  <a:t>An input can have multiple correct outputs (Write a poem?)</a:t>
                </a:r>
                <a:endParaRPr lang="en-US" dirty="0"/>
              </a:p>
              <a:p>
                <a:pPr lvl="1"/>
                <a:r>
                  <a:rPr lang="en-US" dirty="0"/>
                  <a:t>Reward maximization can collapse the probability to 1 outputs</a:t>
                </a:r>
                <a:endParaRPr lang="en-US" dirty="0"/>
              </a:p>
              <a:p>
                <a:pPr lvl="1"/>
                <a:r>
                  <a:rPr lang="en-US" dirty="0"/>
                  <a:t>Staying close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lang="en-US" dirty="0"/>
                  <a:t> can preserve diversity (achieved by pre-training)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Formulating the objective – Reward Maximization part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29735"/>
                <a:ext cx="10515600" cy="2287905"/>
              </a:xfrm>
            </p:spPr>
            <p:txBody>
              <a:bodyPr/>
              <a:lstStyle/>
              <a:p>
                <a:r>
                  <a:rPr lang="en-US" dirty="0"/>
                  <a:t>What does it mean for a policy to have high reward?</a:t>
                </a:r>
                <a:endParaRPr lang="en-US" dirty="0"/>
              </a:p>
              <a:p>
                <a:r>
                  <a:rPr lang="en-US" dirty="0"/>
                  <a:t>Train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𝜃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𝜋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𝜃</m:t>
                            </m:r>
                          </m:sub>
                        </m:s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is maximized</a:t>
                </a:r>
                <a:endParaRPr lang="en-US" dirty="0"/>
              </a:p>
              <a:p>
                <a:r>
                  <a:rPr lang="en-US" dirty="0"/>
                  <a:t>Approximate with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⋯,</m:t>
                    </m:r>
                    <m:sSub>
                      <m:sSub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~</m:t>
                    </m:r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sub>
                    </m:sSub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en-US" dirty="0"/>
                  <a:t>, want to maximize </a:t>
                </a:r>
                <a14:m>
                  <m:oMath xmlns:m="http://schemas.openxmlformats.org/officeDocument/2006/math">
                    <m:box>
                      <m:boxPr>
                        <m:noBreak m:val="on"/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naryPr>
                          <m:sub>
                            <m:r>
                              <a:rPr lang="en-US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  <m:r>
                                  <a:rPr lang="en-US" i="1" dirty="0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box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29735"/>
                <a:ext cx="10515600" cy="2287905"/>
              </a:xfrm>
              <a:blipFill rotWithShape="1">
                <a:blip r:embed="rId1"/>
                <a:stretch>
                  <a:fillRect t="-36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2251881" y="2656670"/>
                <a:ext cx="1433015" cy="103723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881" y="2656670"/>
                <a:ext cx="1433015" cy="1037230"/>
              </a:xfrm>
              <a:prstGeom prst="roundRect">
                <a:avLst/>
              </a:prstGeom>
              <a:blipFill rotWithShape="1">
                <a:blip r:embed="rId2"/>
                <a:stretch>
                  <a:fillRect l="-455" t="-657" r="-399" b="-602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13055" y="2913380"/>
            <a:ext cx="1443990" cy="521970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Prompt: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Write a poem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>
            <a:stCxn id="5" idx="3"/>
            <a:endCxn id="4" idx="1"/>
          </p:cNvCxnSpPr>
          <p:nvPr/>
        </p:nvCxnSpPr>
        <p:spPr>
          <a:xfrm>
            <a:off x="1757193" y="3174650"/>
            <a:ext cx="494665" cy="12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23742" y="1960607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Poem 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23742" y="2553202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Poem 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38993" y="3732540"/>
            <a:ext cx="727763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Poem 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4702874" y="3001276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ounded Rectangle 14"/>
              <p:cNvSpPr/>
              <p:nvPr/>
            </p:nvSpPr>
            <p:spPr>
              <a:xfrm>
                <a:off x="5641250" y="2695310"/>
                <a:ext cx="1433015" cy="103723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Reward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Model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250" y="2695310"/>
                <a:ext cx="1433015" cy="1037230"/>
              </a:xfrm>
              <a:prstGeom prst="roundRect">
                <a:avLst/>
              </a:prstGeom>
              <a:blipFill rotWithShape="1">
                <a:blip r:embed="rId3"/>
                <a:stretch>
                  <a:fillRect l="-481" t="-648" r="-418" b="-611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8" idx="3"/>
          </p:cNvCxnSpPr>
          <p:nvPr/>
        </p:nvCxnSpPr>
        <p:spPr>
          <a:xfrm>
            <a:off x="5054712" y="2114496"/>
            <a:ext cx="567916" cy="84601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3"/>
            <a:endCxn id="15" idx="1"/>
          </p:cNvCxnSpPr>
          <p:nvPr/>
        </p:nvCxnSpPr>
        <p:spPr>
          <a:xfrm>
            <a:off x="5054712" y="2707091"/>
            <a:ext cx="586538" cy="506834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</p:cNvCxnSpPr>
          <p:nvPr/>
        </p:nvCxnSpPr>
        <p:spPr>
          <a:xfrm flipV="1">
            <a:off x="5066756" y="3479123"/>
            <a:ext cx="586538" cy="40730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694489" y="1960607"/>
                <a:ext cx="718979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</m:t>
                          </m:r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489" y="1960607"/>
                <a:ext cx="718979" cy="324384"/>
              </a:xfrm>
              <a:prstGeom prst="rect">
                <a:avLst/>
              </a:prstGeom>
              <a:blipFill rotWithShape="1">
                <a:blip r:embed="rId4"/>
                <a:stretch>
                  <a:fillRect l="-1352" t="-3048" r="-9048" b="-2856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7694488" y="2553202"/>
                <a:ext cx="718979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</m:t>
                          </m:r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488" y="2553202"/>
                <a:ext cx="718979" cy="324384"/>
              </a:xfrm>
              <a:prstGeom prst="rect">
                <a:avLst/>
              </a:prstGeom>
              <a:blipFill rotWithShape="1">
                <a:blip r:embed="rId5"/>
                <a:stretch>
                  <a:fillRect l="-1352" t="-3091" r="-9048" b="-2813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7707238" y="3732540"/>
                <a:ext cx="720775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𝑝𝑜𝑒𝑚𝑛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238" y="3732540"/>
                <a:ext cx="720775" cy="324384"/>
              </a:xfrm>
              <a:prstGeom prst="rect">
                <a:avLst/>
              </a:prstGeom>
              <a:blipFill rotWithShape="1">
                <a:blip r:embed="rId6"/>
                <a:stretch>
                  <a:fillRect l="-1355" t="-2939" r="-9298" b="-2769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8067625" y="3001276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2" idx="1"/>
          </p:cNvCxnSpPr>
          <p:nvPr/>
        </p:nvCxnSpPr>
        <p:spPr>
          <a:xfrm flipV="1">
            <a:off x="7074265" y="2122799"/>
            <a:ext cx="620224" cy="9169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5" idx="3"/>
            <a:endCxn id="23" idx="1"/>
          </p:cNvCxnSpPr>
          <p:nvPr/>
        </p:nvCxnSpPr>
        <p:spPr>
          <a:xfrm flipV="1">
            <a:off x="7074265" y="2715394"/>
            <a:ext cx="620223" cy="4985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4" idx="1"/>
          </p:cNvCxnSpPr>
          <p:nvPr/>
        </p:nvCxnSpPr>
        <p:spPr>
          <a:xfrm>
            <a:off x="7110484" y="3508702"/>
            <a:ext cx="596754" cy="3860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8" idx="1"/>
          </p:cNvCxnSpPr>
          <p:nvPr/>
        </p:nvCxnSpPr>
        <p:spPr>
          <a:xfrm flipV="1">
            <a:off x="3684896" y="2114496"/>
            <a:ext cx="638846" cy="7991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4" idx="3"/>
            <a:endCxn id="9" idx="1"/>
          </p:cNvCxnSpPr>
          <p:nvPr/>
        </p:nvCxnSpPr>
        <p:spPr>
          <a:xfrm flipV="1">
            <a:off x="3684896" y="2707091"/>
            <a:ext cx="638846" cy="4681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0" idx="1"/>
          </p:cNvCxnSpPr>
          <p:nvPr/>
        </p:nvCxnSpPr>
        <p:spPr>
          <a:xfrm>
            <a:off x="3692521" y="3443337"/>
            <a:ext cx="646472" cy="4430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ight Brace 37"/>
          <p:cNvSpPr/>
          <p:nvPr/>
        </p:nvSpPr>
        <p:spPr>
          <a:xfrm>
            <a:off x="8543499" y="1960607"/>
            <a:ext cx="559558" cy="209631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77545" y="2616827"/>
            <a:ext cx="2115403" cy="119888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The average of these numbers needs to be high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53080" y="1797050"/>
            <a:ext cx="1123315" cy="306705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Samples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Formulating the objective – closeness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327910"/>
              </a:xfrm>
            </p:spPr>
            <p:txBody>
              <a:bodyPr/>
              <a:lstStyle/>
              <a:p>
                <a:r>
                  <a:rPr lang="en-US" dirty="0"/>
                  <a:t>How do we capture closeness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KL</m:t>
                    </m:r>
                    <m:d>
                      <m:d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𝜋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𝜃</m:t>
                            </m:r>
                          </m:sub>
                        </m:s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  <m:r>
                          <a:rPr kumimoji="0" lang="en-US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DejaVu Math TeX Gyre" panose="02000503000000000000" charset="0"/>
                            <a:ea typeface="+mn-ea"/>
                            <a:cs typeface="DejaVu Math TeX Gyre" panose="02000503000000000000" charset="0"/>
                          </a:rPr>
                          <m:t>∥</m:t>
                        </m:r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b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ref</m:t>
                            </m:r>
                          </m:sub>
                        </m:s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</m:d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𝜋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𝜃</m:t>
                            </m:r>
                          </m:sub>
                        </m:s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DejaVu Math TeX Gyre" panose="02000503000000000000" charset="0"/>
                            <a:ea typeface="+mn-ea"/>
                            <a:cs typeface="DejaVu Math TeX Gyre" panose="02000503000000000000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kumimoji="0" lang="en-US" b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+mn-ea"/>
                                <a:cs typeface="DejaVu Math TeX Gyre" panose="02000503000000000000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b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+mn-ea"/>
                                <a:cs typeface="DejaVu Math TeX Gyre" panose="02000503000000000000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DejaVu Math TeX Gyre" panose="02000503000000000000" charset="0"/>
                                    <a:ea typeface="+mn-ea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|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0" lang="en-US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ref</m:t>
                                    </m:r>
                                  </m:sub>
                                </m:sSub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|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kumimoji="0" lang="en-US" b="0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DejaVu Math TeX Gyre" panose="02000503000000000000" charset="0"/>
                    <a:ea typeface="+mn-ea"/>
                    <a:cs typeface="DejaVu Math TeX Gyre" panose="02000503000000000000" charset="0"/>
                  </a:rPr>
                  <a:t> </a:t>
                </a:r>
                <a:r>
                  <a:rPr kumimoji="0" lang="en-US" b="0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… “klr”</a:t>
                </a:r>
                <a:endParaRPr kumimoji="0" lang="en-US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DejaVu Math TeX Gyre" panose="02000503000000000000" charset="0"/>
                  <a:ea typeface="+mn-ea"/>
                  <a:cs typeface="DejaVu Math TeX Gyre" panose="02000503000000000000" charset="0"/>
                </a:endParaRPr>
              </a:p>
              <a:p>
                <a:r>
                  <a:rPr lang="en-US" dirty="0"/>
                  <a:t>Train </a:t>
                </a:r>
                <a14:m>
                  <m:oMath xmlns:m="http://schemas.openxmlformats.org/officeDocument/2006/math"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lang="en-US" dirty="0"/>
                  <a:t> to drive this down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327910"/>
              </a:xfrm>
              <a:blipFill rotWithShape="1">
                <a:blip r:embed="rId2"/>
                <a:stretch>
                  <a:fillRect t="-3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54185" y="4415432"/>
            <a:ext cx="11166472" cy="2096317"/>
            <a:chOff x="-155662" y="2456571"/>
            <a:chExt cx="11166472" cy="209631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Rounded Rectangle 4"/>
                <p:cNvSpPr/>
                <p:nvPr/>
              </p:nvSpPr>
              <p:spPr>
                <a:xfrm>
                  <a:off x="1869743" y="3152634"/>
                  <a:ext cx="1433015" cy="1037230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 Display"/>
                      <a:ea typeface="+mn-ea"/>
                      <a:cs typeface="+mn-cs"/>
                    </a:rPr>
                    <a:t>Policy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5" name="Rounded 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743" y="3152634"/>
                  <a:ext cx="1433015" cy="1037230"/>
                </a:xfrm>
                <a:prstGeom prst="roundRect">
                  <a:avLst/>
                </a:prstGeom>
                <a:blipFill rotWithShape="1">
                  <a:blip r:embed="rId3"/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/>
            <p:cNvSpPr txBox="1"/>
            <p:nvPr/>
          </p:nvSpPr>
          <p:spPr>
            <a:xfrm>
              <a:off x="-155662" y="3409706"/>
              <a:ext cx="1530350" cy="521970"/>
            </a:xfrm>
            <a:prstGeom prst="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rPr>
                <a:t>Prompt: 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rPr>
                <a:t>Write a poem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cxnSp>
          <p:nvCxnSpPr>
            <p:cNvPr id="7" name="Straight Arrow Connector 6"/>
            <p:cNvCxnSpPr>
              <a:stCxn id="6" idx="3"/>
              <a:endCxn id="5" idx="1"/>
            </p:cNvCxnSpPr>
            <p:nvPr/>
          </p:nvCxnSpPr>
          <p:spPr>
            <a:xfrm>
              <a:off x="1374420" y="3670614"/>
              <a:ext cx="495300" cy="127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941604" y="2456571"/>
              <a:ext cx="730970" cy="307777"/>
            </a:xfrm>
            <a:prstGeom prst="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rPr>
                <a:t>Poem 1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41604" y="3049166"/>
              <a:ext cx="730970" cy="307777"/>
            </a:xfrm>
            <a:prstGeom prst="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rPr>
                <a:t>Poem 2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56855" y="4228504"/>
              <a:ext cx="727763" cy="307777"/>
            </a:xfrm>
            <a:prstGeom prst="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rPr>
                <a:t>Poem n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4320736" y="3497240"/>
              <a:ext cx="0" cy="554831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ounded Rectangle 11"/>
                <p:cNvSpPr/>
                <p:nvPr/>
              </p:nvSpPr>
              <p:spPr>
                <a:xfrm>
                  <a:off x="5164368" y="3191266"/>
                  <a:ext cx="1583055" cy="1036955"/>
                </a:xfrm>
                <a:prstGeom prst="round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 Display"/>
                      <a:ea typeface="+mn-ea"/>
                      <a:cs typeface="+mn-cs"/>
                    </a:rPr>
                    <a:t>Reference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 Display"/>
                      <a:ea typeface="+mn-ea"/>
                      <a:cs typeface="+mn-cs"/>
                    </a:rPr>
                    <a:t>Policy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𝜋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𝑟𝑒𝑓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2" name="Rounded 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4368" y="3191266"/>
                  <a:ext cx="1583055" cy="1036955"/>
                </a:xfrm>
                <a:prstGeom prst="roundRect">
                  <a:avLst/>
                </a:prstGeom>
                <a:blipFill rotWithShape="1">
                  <a:blip r:embed="rId4"/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>
              <a:stCxn id="8" idx="3"/>
            </p:cNvCxnSpPr>
            <p:nvPr/>
          </p:nvCxnSpPr>
          <p:spPr>
            <a:xfrm>
              <a:off x="4672574" y="2610460"/>
              <a:ext cx="567916" cy="846012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3"/>
              <a:endCxn id="12" idx="1"/>
            </p:cNvCxnSpPr>
            <p:nvPr/>
          </p:nvCxnSpPr>
          <p:spPr>
            <a:xfrm>
              <a:off x="4672574" y="3203690"/>
              <a:ext cx="491490" cy="506095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0" idx="3"/>
            </p:cNvCxnSpPr>
            <p:nvPr/>
          </p:nvCxnSpPr>
          <p:spPr>
            <a:xfrm flipV="1">
              <a:off x="4684618" y="3975087"/>
              <a:ext cx="586538" cy="40730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234606" y="2456571"/>
                  <a:ext cx="874470" cy="324384"/>
                </a:xfrm>
                <a:prstGeom prst="rect">
                  <a:avLst/>
                </a:prstGeom>
                <a:noFill/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𝑘𝑙𝑟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𝑝𝑜𝑒𝑚</m:t>
                            </m:r>
                            <m:r>
                              <a:rPr kumimoji="0" lang="en-US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4606" y="2456571"/>
                  <a:ext cx="874470" cy="324384"/>
                </a:xfrm>
                <a:prstGeom prst="rect">
                  <a:avLst/>
                </a:prstGeom>
                <a:blipFill rotWithShape="1">
                  <a:blip r:embed="rId5"/>
                </a:blipFill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7234605" y="3049166"/>
                  <a:ext cx="874470" cy="324384"/>
                </a:xfrm>
                <a:prstGeom prst="rect">
                  <a:avLst/>
                </a:prstGeom>
                <a:noFill/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𝑘𝑙𝑟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𝑝𝑜𝑒𝑚</m:t>
                            </m:r>
                            <m:r>
                              <a:rPr kumimoji="0" lang="en-US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4605" y="3049166"/>
                  <a:ext cx="874470" cy="324384"/>
                </a:xfrm>
                <a:prstGeom prst="rect">
                  <a:avLst/>
                </a:prstGeom>
                <a:blipFill rotWithShape="1">
                  <a:blip r:embed="rId6"/>
                </a:blipFill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7247355" y="4228504"/>
                  <a:ext cx="876266" cy="324384"/>
                </a:xfrm>
                <a:prstGeom prst="rect">
                  <a:avLst/>
                </a:prstGeom>
                <a:noFill/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𝑘𝑙𝑟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𝑝𝑜𝑒𝑚𝑛</m:t>
                            </m:r>
                          </m:sub>
                        </m:sSub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7355" y="4228504"/>
                  <a:ext cx="876266" cy="324384"/>
                </a:xfrm>
                <a:prstGeom prst="rect">
                  <a:avLst/>
                </a:prstGeom>
                <a:blipFill rotWithShape="1">
                  <a:blip r:embed="rId7"/>
                </a:blipFill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/>
            <p:cNvCxnSpPr/>
            <p:nvPr/>
          </p:nvCxnSpPr>
          <p:spPr>
            <a:xfrm>
              <a:off x="7685487" y="3497240"/>
              <a:ext cx="0" cy="554831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endCxn id="16" idx="1"/>
            </p:cNvCxnSpPr>
            <p:nvPr/>
          </p:nvCxnSpPr>
          <p:spPr>
            <a:xfrm flipV="1">
              <a:off x="6692127" y="2618763"/>
              <a:ext cx="542479" cy="91697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2" idx="3"/>
              <a:endCxn id="17" idx="1"/>
            </p:cNvCxnSpPr>
            <p:nvPr/>
          </p:nvCxnSpPr>
          <p:spPr>
            <a:xfrm flipV="1">
              <a:off x="6747372" y="3212049"/>
              <a:ext cx="487045" cy="49784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endCxn id="18" idx="1"/>
            </p:cNvCxnSpPr>
            <p:nvPr/>
          </p:nvCxnSpPr>
          <p:spPr>
            <a:xfrm>
              <a:off x="6728346" y="4004666"/>
              <a:ext cx="519009" cy="38603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endCxn id="8" idx="1"/>
            </p:cNvCxnSpPr>
            <p:nvPr/>
          </p:nvCxnSpPr>
          <p:spPr>
            <a:xfrm flipV="1">
              <a:off x="3302758" y="2610460"/>
              <a:ext cx="638846" cy="79917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5" idx="3"/>
              <a:endCxn id="9" idx="1"/>
            </p:cNvCxnSpPr>
            <p:nvPr/>
          </p:nvCxnSpPr>
          <p:spPr>
            <a:xfrm flipV="1">
              <a:off x="3302758" y="3203055"/>
              <a:ext cx="638846" cy="46819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endCxn id="10" idx="1"/>
            </p:cNvCxnSpPr>
            <p:nvPr/>
          </p:nvCxnSpPr>
          <p:spPr>
            <a:xfrm>
              <a:off x="3310383" y="3939301"/>
              <a:ext cx="646472" cy="4430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ight Brace 25"/>
            <p:cNvSpPr/>
            <p:nvPr/>
          </p:nvSpPr>
          <p:spPr>
            <a:xfrm>
              <a:off x="8161361" y="2456571"/>
              <a:ext cx="559558" cy="2096317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95407" y="3112791"/>
              <a:ext cx="2115403" cy="92333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rPr>
                <a:t>The average of these numbers needs to be low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hlinkClick r:id="rId1" action="ppaction://hlinkfile"/>
              </a:rPr>
              <a:t>KL divergence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en-US"/>
                  <a:t>For simplicity, between two multinomial distributions given by </a:t>
                </a:r>
                <a14:m>
                  <m:oMath xmlns:m="http://schemas.openxmlformats.org/officeDocument/2006/math">
                    <m:r>
                      <a:rPr lang="en-US" b="1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𝒑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: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𝒒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: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i="1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KL</m:t>
                      </m:r>
                      <m:d>
                        <m:d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∥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e>
                      </m:nary>
                      <m:r>
                        <a:rPr lang="en-US" b="0" i="1" smtClean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~</m:t>
                          </m:r>
                          <m:r>
                            <a:rPr lang="en-US" b="1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𝒑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US" b="0" i="1" smtClean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 xmlns:m="http://schemas.openxmlformats.org/officeDocument/2006/math">
                    <m:r>
                      <a:rPr 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</m:oMath>
                </a14:m>
                <a:r>
                  <a:rPr lang="en-US"/>
                  <a:t> 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i="1" smtClean="0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/>
                  <a:t> and positive otherwise, not symmetric</a:t>
                </a:r>
                <a:endParaRPr lang="en-US" b="0" i="1" smtClean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en-US"/>
                  <a:t>Can be rewritten as</a:t>
                </a:r>
                <a:br>
                  <a:rPr lang="en-US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nary>
                        </m:e>
                      </m:d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en-US" b="0" i="1" smtClean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en-US"/>
                  <a:t>R.v. generated by </a:t>
                </a:r>
                <a14:m>
                  <m:oMath xmlns:m="http://schemas.openxmlformats.org/officeDocument/2006/math">
                    <m:r>
                      <a:rPr lang="en-US" b="1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𝒑</m:t>
                    </m:r>
                  </m:oMath>
                </a14:m>
                <a:r>
                  <a:rPr lang="en-US"/>
                  <a:t>, encoded with knowledge of </a:t>
                </a:r>
                <a14:m>
                  <m:oMath xmlns:m="http://schemas.openxmlformats.org/officeDocument/2006/math">
                    <m:r>
                      <a:rPr lang="en-US" b="1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𝒑</m:t>
                    </m:r>
                  </m:oMath>
                </a14:m>
                <a:r>
                  <a:rPr lang="en-US"/>
                  <a:t>, gives shortest code</a:t>
                </a:r>
                <a:endParaRPr lang="en-US"/>
              </a:p>
              <a:p>
                <a:r>
                  <a:rPr lang="en-US"/>
                  <a:t>Code created using a difference reference distribution </a:t>
                </a:r>
                <a14:m>
                  <m:oMath xmlns:m="http://schemas.openxmlformats.org/officeDocument/2006/math">
                    <m:r>
                      <a:rPr lang="en-US" b="1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𝒒</m:t>
                    </m:r>
                  </m:oMath>
                </a14:m>
                <a:r>
                  <a:rPr lang="en-US"/>
                  <a:t> is worse</a:t>
                </a:r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75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ular Callout 4"/>
              <p:cNvSpPr/>
              <p:nvPr/>
            </p:nvSpPr>
            <p:spPr>
              <a:xfrm>
                <a:off x="9083675" y="3526790"/>
                <a:ext cx="2686685" cy="741680"/>
              </a:xfrm>
              <a:prstGeom prst="wedgeRectCallout">
                <a:avLst>
                  <a:gd name="adj1" fmla="val -50428"/>
                  <a:gd name="adj2" fmla="val 102397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r>
                  <a:rPr lang="en-US"/>
                  <a:t>Shannon entropy of </a:t>
                </a:r>
                <a14:m>
                  <m:oMath xmlns:m="http://schemas.openxmlformats.org/officeDocument/2006/math">
                    <m:r>
                      <a:rPr lang="en-US" b="1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𝒑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5" name="Rectangular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675" y="3526790"/>
                <a:ext cx="2686685" cy="741680"/>
              </a:xfrm>
              <a:prstGeom prst="wedgeRectCallout">
                <a:avLst>
                  <a:gd name="adj1" fmla="val -50428"/>
                  <a:gd name="adj2" fmla="val 102397"/>
                </a:avLst>
              </a:prstGeom>
              <a:blipFill rotWithShape="1">
                <a:blip r:embed="rId3"/>
                <a:stretch>
                  <a:fillRect l="-1276" t="-685" r="-165" b="-54110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the objective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1940025" y="3317507"/>
                <a:ext cx="1433015" cy="103723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025" y="3317507"/>
                <a:ext cx="1433015" cy="1037230"/>
              </a:xfrm>
              <a:prstGeom prst="roundRect">
                <a:avLst/>
              </a:prstGeom>
              <a:blipFill rotWithShape="1">
                <a:blip r:embed="rId1"/>
                <a:stretch>
                  <a:fillRect l="-361" t="-516" r="-316" b="-438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90540" y="3574512"/>
            <a:ext cx="1154162" cy="523220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Prompt: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Write a poem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>
            <a:stCxn id="6" idx="3"/>
            <a:endCxn id="5" idx="1"/>
          </p:cNvCxnSpPr>
          <p:nvPr/>
        </p:nvCxnSpPr>
        <p:spPr>
          <a:xfrm>
            <a:off x="1444702" y="3836122"/>
            <a:ext cx="4953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11886" y="2621444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Poem 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11886" y="3214039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Poem 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7137" y="4393377"/>
            <a:ext cx="727763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Poem 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391018" y="3662113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11"/>
              <p:cNvSpPr/>
              <p:nvPr/>
            </p:nvSpPr>
            <p:spPr>
              <a:xfrm>
                <a:off x="5738495" y="4432935"/>
                <a:ext cx="1512570" cy="1036955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Reference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Policy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𝑟𝑒𝑓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495" y="4432935"/>
                <a:ext cx="1512570" cy="1036955"/>
              </a:xfrm>
              <a:prstGeom prst="roundRect">
                <a:avLst/>
              </a:prstGeom>
              <a:blipFill rotWithShape="1">
                <a:blip r:embed="rId2"/>
                <a:stretch>
                  <a:fillRect l="-420" t="-612" r="-420" b="-612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8" idx="3"/>
          </p:cNvCxnSpPr>
          <p:nvPr/>
        </p:nvCxnSpPr>
        <p:spPr>
          <a:xfrm flipV="1">
            <a:off x="4742856" y="2287217"/>
            <a:ext cx="1032147" cy="48811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3"/>
            <a:endCxn id="12" idx="1"/>
          </p:cNvCxnSpPr>
          <p:nvPr/>
        </p:nvCxnSpPr>
        <p:spPr>
          <a:xfrm>
            <a:off x="4742856" y="3367928"/>
            <a:ext cx="995680" cy="158369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3"/>
          </p:cNvCxnSpPr>
          <p:nvPr/>
        </p:nvCxnSpPr>
        <p:spPr>
          <a:xfrm flipV="1">
            <a:off x="4754900" y="2830987"/>
            <a:ext cx="995928" cy="171627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714278" y="3698517"/>
                <a:ext cx="874470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𝑘𝑙𝑟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</m:t>
                          </m:r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278" y="3698517"/>
                <a:ext cx="874470" cy="324384"/>
              </a:xfrm>
              <a:prstGeom prst="rect">
                <a:avLst/>
              </a:prstGeom>
              <a:blipFill rotWithShape="1">
                <a:blip r:embed="rId3"/>
                <a:stretch>
                  <a:fillRect l="-1123" t="-3022" r="-11285" b="-2882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7714277" y="4291112"/>
                <a:ext cx="874470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𝑘𝑙𝑟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</m:t>
                          </m:r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277" y="4291112"/>
                <a:ext cx="874470" cy="324384"/>
              </a:xfrm>
              <a:prstGeom prst="rect">
                <a:avLst/>
              </a:prstGeom>
              <a:blipFill rotWithShape="1">
                <a:blip r:embed="rId4"/>
                <a:stretch>
                  <a:fillRect l="-1123" t="-3065" r="-11285" b="-2839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7727027" y="5470450"/>
                <a:ext cx="876266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𝑘𝑙𝑟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𝑝𝑜𝑒𝑚𝑛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027" y="5470450"/>
                <a:ext cx="876266" cy="324384"/>
              </a:xfrm>
              <a:prstGeom prst="rect">
                <a:avLst/>
              </a:prstGeom>
              <a:blipFill rotWithShape="1">
                <a:blip r:embed="rId5"/>
                <a:stretch>
                  <a:fillRect l="-1127" t="-3109" r="-11486" b="-2795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8165159" y="4739186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6" idx="1"/>
          </p:cNvCxnSpPr>
          <p:nvPr/>
        </p:nvCxnSpPr>
        <p:spPr>
          <a:xfrm flipV="1">
            <a:off x="7171799" y="3860709"/>
            <a:ext cx="542479" cy="9169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3"/>
            <a:endCxn id="17" idx="1"/>
          </p:cNvCxnSpPr>
          <p:nvPr/>
        </p:nvCxnSpPr>
        <p:spPr>
          <a:xfrm flipV="1">
            <a:off x="7251174" y="4453995"/>
            <a:ext cx="462915" cy="4978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8" idx="1"/>
          </p:cNvCxnSpPr>
          <p:nvPr/>
        </p:nvCxnSpPr>
        <p:spPr>
          <a:xfrm>
            <a:off x="7208018" y="5246612"/>
            <a:ext cx="519009" cy="3860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8" idx="1"/>
          </p:cNvCxnSpPr>
          <p:nvPr/>
        </p:nvCxnSpPr>
        <p:spPr>
          <a:xfrm flipV="1">
            <a:off x="3373040" y="2775333"/>
            <a:ext cx="638846" cy="7991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5" idx="3"/>
            <a:endCxn id="9" idx="1"/>
          </p:cNvCxnSpPr>
          <p:nvPr/>
        </p:nvCxnSpPr>
        <p:spPr>
          <a:xfrm flipV="1">
            <a:off x="3373040" y="3367928"/>
            <a:ext cx="638846" cy="4681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0" idx="1"/>
          </p:cNvCxnSpPr>
          <p:nvPr/>
        </p:nvCxnSpPr>
        <p:spPr>
          <a:xfrm>
            <a:off x="3380665" y="4104174"/>
            <a:ext cx="646472" cy="4430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/>
          <p:cNvSpPr/>
          <p:nvPr/>
        </p:nvSpPr>
        <p:spPr>
          <a:xfrm>
            <a:off x="8641033" y="3698517"/>
            <a:ext cx="559558" cy="209631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69730" y="4393565"/>
            <a:ext cx="1509395" cy="64516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Average KL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ounded Rectangle 37"/>
              <p:cNvSpPr/>
              <p:nvPr/>
            </p:nvSpPr>
            <p:spPr>
              <a:xfrm>
                <a:off x="5778075" y="2019274"/>
                <a:ext cx="1433015" cy="103723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Reward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Model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8" name="Rounded 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075" y="2019274"/>
                <a:ext cx="1433015" cy="1037230"/>
              </a:xfrm>
              <a:prstGeom prst="roundRect">
                <a:avLst/>
              </a:prstGeom>
              <a:blipFill rotWithShape="1">
                <a:blip r:embed="rId6"/>
                <a:stretch>
                  <a:fillRect l="-458" t="-671" r="-441" b="-588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7831314" y="1284571"/>
                <a:ext cx="718979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</m:t>
                          </m:r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14" y="1284571"/>
                <a:ext cx="718979" cy="324384"/>
              </a:xfrm>
              <a:prstGeom prst="rect">
                <a:avLst/>
              </a:prstGeom>
              <a:blipFill rotWithShape="1">
                <a:blip r:embed="rId7"/>
                <a:stretch>
                  <a:fillRect l="-1394" t="-3122" r="-9006" b="-2782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7831313" y="1877166"/>
                <a:ext cx="718979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</m:t>
                          </m:r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13" y="1877166"/>
                <a:ext cx="718979" cy="324384"/>
              </a:xfrm>
              <a:prstGeom prst="rect">
                <a:avLst/>
              </a:prstGeom>
              <a:blipFill rotWithShape="1">
                <a:blip r:embed="rId8"/>
                <a:stretch>
                  <a:fillRect l="-1393" t="-2969" r="-9006" b="-2935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7844063" y="3056504"/>
                <a:ext cx="720775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𝑝𝑜𝑒𝑚𝑛</m:t>
                          </m:r>
                        </m:sub>
                      </m:sSub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063" y="3056504"/>
                <a:ext cx="720775" cy="324384"/>
              </a:xfrm>
              <a:prstGeom prst="rect">
                <a:avLst/>
              </a:prstGeom>
              <a:blipFill rotWithShape="1">
                <a:blip r:embed="rId9"/>
                <a:stretch>
                  <a:fillRect l="-1397" t="-3013" r="-9256" b="-2891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/>
          <p:cNvCxnSpPr/>
          <p:nvPr/>
        </p:nvCxnSpPr>
        <p:spPr>
          <a:xfrm>
            <a:off x="8204450" y="2325240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39" idx="1"/>
          </p:cNvCxnSpPr>
          <p:nvPr/>
        </p:nvCxnSpPr>
        <p:spPr>
          <a:xfrm flipV="1">
            <a:off x="7211090" y="1446763"/>
            <a:ext cx="620224" cy="9169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8" idx="3"/>
            <a:endCxn id="40" idx="1"/>
          </p:cNvCxnSpPr>
          <p:nvPr/>
        </p:nvCxnSpPr>
        <p:spPr>
          <a:xfrm flipV="1">
            <a:off x="7211090" y="2039358"/>
            <a:ext cx="620223" cy="4985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1" idx="1"/>
          </p:cNvCxnSpPr>
          <p:nvPr/>
        </p:nvCxnSpPr>
        <p:spPr>
          <a:xfrm>
            <a:off x="7247309" y="2832666"/>
            <a:ext cx="596754" cy="3860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ight Brace 45"/>
          <p:cNvSpPr/>
          <p:nvPr/>
        </p:nvSpPr>
        <p:spPr>
          <a:xfrm>
            <a:off x="8680324" y="1284571"/>
            <a:ext cx="559558" cy="209631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64015" y="2134235"/>
            <a:ext cx="1498600" cy="64516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Average reward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52" name="Straight Arrow Connector 51"/>
          <p:cNvCxnSpPr>
            <a:stCxn id="9" idx="3"/>
            <a:endCxn id="38" idx="1"/>
          </p:cNvCxnSpPr>
          <p:nvPr/>
        </p:nvCxnSpPr>
        <p:spPr>
          <a:xfrm flipV="1">
            <a:off x="4742856" y="2537889"/>
            <a:ext cx="1035219" cy="83003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8" idx="3"/>
          </p:cNvCxnSpPr>
          <p:nvPr/>
        </p:nvCxnSpPr>
        <p:spPr>
          <a:xfrm>
            <a:off x="4742856" y="2775333"/>
            <a:ext cx="993360" cy="198147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0" idx="3"/>
          </p:cNvCxnSpPr>
          <p:nvPr/>
        </p:nvCxnSpPr>
        <p:spPr>
          <a:xfrm>
            <a:off x="4754900" y="4547266"/>
            <a:ext cx="989873" cy="699346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Brace 56"/>
          <p:cNvSpPr/>
          <p:nvPr/>
        </p:nvSpPr>
        <p:spPr>
          <a:xfrm>
            <a:off x="10699846" y="2537889"/>
            <a:ext cx="504966" cy="19154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541201" y="3310770"/>
            <a:ext cx="1153393" cy="369332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Difference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/>
              <p:cNvSpPr txBox="1"/>
              <p:nvPr/>
            </p:nvSpPr>
            <p:spPr>
              <a:xfrm>
                <a:off x="9252585" y="5254625"/>
                <a:ext cx="177736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Multiply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𝛽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2585" y="5254625"/>
                <a:ext cx="1777365" cy="36830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Regularized reward maximization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Maximize the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𝜋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𝜃</m:t>
                            </m:r>
                          </m:sub>
                        </m:s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Minimize the KL divergence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𝜋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𝜃</m:t>
                            </m:r>
                          </m:sub>
                        </m:s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DejaVu Math TeX Gyre" panose="02000503000000000000" charset="0"/>
                            <a:ea typeface="+mn-ea"/>
                            <a:cs typeface="DejaVu Math TeX Gyre" panose="02000503000000000000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kumimoji="0" lang="en-US" b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+mn-ea"/>
                                <a:cs typeface="DejaVu Math TeX Gyre" panose="02000503000000000000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b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+mn-ea"/>
                                <a:cs typeface="DejaVu Math TeX Gyre" panose="02000503000000000000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DejaVu Math TeX Gyre" panose="02000503000000000000" charset="0"/>
                                    <a:ea typeface="+mn-ea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|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0" lang="en-US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ref</m:t>
                                    </m:r>
                                  </m:sub>
                                </m:sSub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|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Add a scaling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&amp; combine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</m:e>
                            <m:sub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sub>
                          </m:s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kumimoji="0" lang="en-US" b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DejaVu Math TeX Gyre" panose="02000503000000000000" charset="0"/>
                                  <a:ea typeface="+mn-ea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b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DejaVu Math TeX Gyre" panose="02000503000000000000" charset="0"/>
                                  <a:ea typeface="+mn-ea"/>
                                  <a:cs typeface="DejaVu Math TeX Gyre" panose="02000503000000000000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kumimoji="0" lang="en-US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DejaVu Math TeX Gyre" panose="02000503000000000000" charset="0"/>
                                      <a:ea typeface="+mn-ea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0" lang="en-US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kumimoji="0" lang="en-US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kumimoji="0" lang="en-US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(</m:t>
                                  </m:r>
                                  <m:r>
                                    <a:rPr kumimoji="0" lang="en-US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  <m:r>
                                    <a:rPr kumimoji="0" lang="en-US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|</m:t>
                                  </m:r>
                                  <m:r>
                                    <a:rPr kumimoji="0" lang="en-US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US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0" lang="en-US" b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ref</m:t>
                                      </m:r>
                                    </m:sub>
                                  </m:sSub>
                                  <m:r>
                                    <a:rPr kumimoji="0" lang="en-US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(</m:t>
                                  </m:r>
                                  <m:r>
                                    <a:rPr kumimoji="0" lang="en-US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  <m:r>
                                    <a:rPr kumimoji="0" lang="en-US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|</m:t>
                                  </m:r>
                                  <m:r>
                                    <a:rPr kumimoji="0" lang="en-US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US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 rotWithShape="1">
                <a:blip r:embed="rId1"/>
                <a:stretch>
                  <a:fillRect t="-161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p>
                <a:r>
                  <a:rPr lang="en-US"/>
                  <a:t>Why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KL</m:t>
                    </m:r>
                    <m:d>
                      <m:d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/>
                  <a:t> and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KL</m:t>
                    </m:r>
                    <m:d>
                      <m:d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t="-671" b="2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en-US"/>
                  <a:t>Leads to the “forward”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𝜋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𝜃</m:t>
                            </m:r>
                          </m:sub>
                        </m:s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func>
                          <m:funcPr>
                            <m:ctrlPr>
                              <a:rPr kumimoji="0" lang="en-US" b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+mn-ea"/>
                                <a:cs typeface="DejaVu Math TeX Gyre" panose="02000503000000000000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b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+mn-ea"/>
                                <a:cs typeface="DejaVu Math TeX Gyre" panose="02000503000000000000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DejaVu Math TeX Gyre" panose="02000503000000000000" charset="0"/>
                                    <a:ea typeface="+mn-ea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|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0" lang="en-US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ref</m:t>
                                    </m:r>
                                  </m:sub>
                                </m:sSub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|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US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US"/>
                  <a:t> which can be estimated by sampling from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sub>
                    </m:sSub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r>
                  <a:rPr lang="en-US"/>
                  <a:t>“Reverse”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KL</m:t>
                    </m:r>
                    <m:d>
                      <m:dPr>
                        <m:ctrlP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ref</m:t>
                            </m:r>
                          </m:sub>
                        </m:sSub>
                        <m:r>
                          <a:rPr lang="en-US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  <m:r>
                          <a:rPr lang="en-US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  <m:t>|</m:t>
                        </m:r>
                        <m: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  <m:r>
                          <a:rPr lang="en-US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  <m:t>)∥</m:t>
                        </m:r>
                        <m:sSub>
                          <m:sSubPr>
                            <m:ctrlPr>
                              <a:rPr lang="en-US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𝜋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  <m:r>
                          <a:rPr lang="en-US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  <m:r>
                          <a:rPr lang="en-US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  <m:t>|</m:t>
                        </m:r>
                        <m: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  <m:r>
                          <a:rPr lang="en-US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/>
                  <a:t> will need samples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ref</m:t>
                        </m:r>
                      </m:sub>
                    </m:sSub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endParaRPr lang="en-US"/>
              </a:p>
              <a:p>
                <a:r>
                  <a:rPr lang="en-US"/>
                  <a:t>Forward KL penalizes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/>
                  <a:t> if it emphasizes regions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ref</m:t>
                        </m:r>
                      </m:sub>
                    </m:sSub>
                  </m:oMath>
                </a14:m>
                <a:r>
                  <a:rPr lang="en-US"/>
                  <a:t> is small</a:t>
                </a:r>
                <a:endParaRPr lang="en-US"/>
              </a:p>
              <a:p>
                <a:r>
                  <a:rPr lang="en-US"/>
                  <a:t>Reverse KL can be satisfied by ensuring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ref</m:t>
                        </m:r>
                      </m:sub>
                    </m:sSub>
                  </m:oMath>
                </a14:m>
                <a:r>
                  <a:rPr lang="en-US"/>
                  <a:t> has mass wherever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/>
                  <a:t> has mass;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/>
                  <a:t> can ignore large support regions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ref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89788" y="-266618"/>
            <a:ext cx="11307763" cy="1325562"/>
          </a:xfrm>
        </p:spPr>
        <p:txBody>
          <a:bodyPr/>
          <a:lstStyle/>
          <a:p>
            <a:r>
              <a:rPr lang="en-US" dirty="0"/>
              <a:t>The regularized reward maximization objective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1813361" y="3066553"/>
                <a:ext cx="1433015" cy="103723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361" y="3066553"/>
                <a:ext cx="1433015" cy="1037230"/>
              </a:xfrm>
              <a:prstGeom prst="roundRect">
                <a:avLst/>
              </a:prstGeom>
              <a:blipFill rotWithShape="1">
                <a:blip r:embed="rId1"/>
                <a:stretch>
                  <a:fillRect l="-341" t="-503" r="-292" b="-450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63876" y="3323558"/>
            <a:ext cx="1154162" cy="523220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Prompt: </a:t>
            </a:r>
            <a:endParaRPr lang="en-US" sz="1400" dirty="0"/>
          </a:p>
          <a:p>
            <a:pPr algn="ctr"/>
            <a:r>
              <a:rPr lang="en-US" sz="1400" dirty="0"/>
              <a:t>Write a poem</a:t>
            </a:r>
            <a:endParaRPr lang="en-US" sz="1400" dirty="0"/>
          </a:p>
        </p:txBody>
      </p:sp>
      <p:cxnSp>
        <p:nvCxnSpPr>
          <p:cNvPr id="7" name="Straight Arrow Connector 6"/>
          <p:cNvCxnSpPr>
            <a:stCxn id="6" idx="3"/>
            <a:endCxn id="5" idx="1"/>
          </p:cNvCxnSpPr>
          <p:nvPr/>
        </p:nvCxnSpPr>
        <p:spPr>
          <a:xfrm>
            <a:off x="1318038" y="3585168"/>
            <a:ext cx="4953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85222" y="2370490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1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885222" y="2963085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2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900473" y="4142423"/>
            <a:ext cx="727763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n</a:t>
            </a:r>
            <a:endParaRPr lang="en-US" sz="1400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4264354" y="3411159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11"/>
              <p:cNvSpPr/>
              <p:nvPr/>
            </p:nvSpPr>
            <p:spPr>
              <a:xfrm>
                <a:off x="5597372" y="4036782"/>
                <a:ext cx="1550110" cy="1344906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Reference</a:t>
                </a:r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Model</a:t>
                </a:r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372" y="4036782"/>
                <a:ext cx="1550110" cy="1344906"/>
              </a:xfrm>
              <a:prstGeom prst="roundRect">
                <a:avLst/>
              </a:prstGeom>
              <a:blipFill rotWithShape="1">
                <a:blip r:embed="rId2"/>
                <a:stretch>
                  <a:fillRect l="-441" t="-479" r="-10574" b="-467"/>
                </a:stretch>
              </a:blip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8" idx="3"/>
          </p:cNvCxnSpPr>
          <p:nvPr/>
        </p:nvCxnSpPr>
        <p:spPr>
          <a:xfrm flipV="1">
            <a:off x="4616192" y="2036263"/>
            <a:ext cx="1032147" cy="48811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3"/>
            <a:endCxn id="12" idx="1"/>
          </p:cNvCxnSpPr>
          <p:nvPr/>
        </p:nvCxnSpPr>
        <p:spPr>
          <a:xfrm>
            <a:off x="4616192" y="3116974"/>
            <a:ext cx="981180" cy="1592261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3"/>
          </p:cNvCxnSpPr>
          <p:nvPr/>
        </p:nvCxnSpPr>
        <p:spPr>
          <a:xfrm flipV="1">
            <a:off x="4628236" y="2580033"/>
            <a:ext cx="995928" cy="171627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8" idx="1"/>
          </p:cNvCxnSpPr>
          <p:nvPr/>
        </p:nvCxnSpPr>
        <p:spPr>
          <a:xfrm flipV="1">
            <a:off x="3246376" y="2524379"/>
            <a:ext cx="638846" cy="7991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3"/>
            <a:endCxn id="9" idx="1"/>
          </p:cNvCxnSpPr>
          <p:nvPr/>
        </p:nvCxnSpPr>
        <p:spPr>
          <a:xfrm flipV="1">
            <a:off x="3246376" y="3116974"/>
            <a:ext cx="638846" cy="4681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0" idx="1"/>
          </p:cNvCxnSpPr>
          <p:nvPr/>
        </p:nvCxnSpPr>
        <p:spPr>
          <a:xfrm>
            <a:off x="3254001" y="3853220"/>
            <a:ext cx="646472" cy="4430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ounded Rectangle 18"/>
              <p:cNvSpPr/>
              <p:nvPr/>
            </p:nvSpPr>
            <p:spPr>
              <a:xfrm>
                <a:off x="5651411" y="1768320"/>
                <a:ext cx="1433015" cy="103723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Reward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Model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Rounded 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411" y="1768320"/>
                <a:ext cx="1433015" cy="1037230"/>
              </a:xfrm>
              <a:prstGeom prst="roundRect">
                <a:avLst/>
              </a:prstGeom>
              <a:blipFill rotWithShape="1">
                <a:blip r:embed="rId3"/>
                <a:stretch>
                  <a:fillRect l="-481" t="-658" r="-418" b="-601"/>
                </a:stretch>
              </a:blip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9" idx="3"/>
            <a:endCxn id="19" idx="1"/>
          </p:cNvCxnSpPr>
          <p:nvPr/>
        </p:nvCxnSpPr>
        <p:spPr>
          <a:xfrm flipV="1">
            <a:off x="4616192" y="2286935"/>
            <a:ext cx="1035219" cy="83003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8" idx="3"/>
          </p:cNvCxnSpPr>
          <p:nvPr/>
        </p:nvCxnSpPr>
        <p:spPr>
          <a:xfrm>
            <a:off x="4616192" y="2524379"/>
            <a:ext cx="993360" cy="198147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3"/>
          </p:cNvCxnSpPr>
          <p:nvPr/>
        </p:nvCxnSpPr>
        <p:spPr>
          <a:xfrm>
            <a:off x="4628236" y="4296312"/>
            <a:ext cx="989873" cy="699346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 rot="5400000">
            <a:off x="10619095" y="3314236"/>
            <a:ext cx="919995" cy="36933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Average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ounded Rectangle 23"/>
              <p:cNvSpPr/>
              <p:nvPr/>
            </p:nvSpPr>
            <p:spPr>
              <a:xfrm>
                <a:off x="7639291" y="1605875"/>
                <a:ext cx="2720051" cy="748738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𝑝𝑜𝑒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𝑝𝑜𝑒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Rounded 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291" y="1605875"/>
                <a:ext cx="2720051" cy="748738"/>
              </a:xfrm>
              <a:prstGeom prst="roundRect">
                <a:avLst/>
              </a:prstGeom>
              <a:blipFill rotWithShape="1">
                <a:blip r:embed="rId4"/>
                <a:stretch>
                  <a:fillRect l="-196" t="-8560" r="-305" b="-8477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ounded Rectangle 24"/>
              <p:cNvSpPr/>
              <p:nvPr/>
            </p:nvSpPr>
            <p:spPr>
              <a:xfrm>
                <a:off x="7651168" y="2836352"/>
                <a:ext cx="2727471" cy="74873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Rounded 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168" y="2836352"/>
                <a:ext cx="2727471" cy="748737"/>
              </a:xfrm>
              <a:prstGeom prst="roundRect">
                <a:avLst/>
              </a:prstGeom>
              <a:blipFill rotWithShape="1">
                <a:blip r:embed="rId5"/>
                <a:stretch>
                  <a:fillRect l="-188" t="-8540" r="-156" b="-8497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8550276" y="3551410"/>
            <a:ext cx="2407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  <a:endParaRPr lang="en-US" dirty="0"/>
          </a:p>
          <a:p>
            <a:r>
              <a:rPr lang="en-US" dirty="0"/>
              <a:t>.</a:t>
            </a:r>
            <a:endParaRPr lang="en-US" dirty="0"/>
          </a:p>
          <a:p>
            <a:r>
              <a:rPr lang="en-US" dirty="0"/>
              <a:t>.</a:t>
            </a:r>
            <a:endParaRPr lang="en-US" dirty="0"/>
          </a:p>
        </p:txBody>
      </p:sp>
      <p:cxnSp>
        <p:nvCxnSpPr>
          <p:cNvPr id="27" name="Straight Arrow Connector 26"/>
          <p:cNvCxnSpPr>
            <a:endCxn id="24" idx="1"/>
          </p:cNvCxnSpPr>
          <p:nvPr/>
        </p:nvCxnSpPr>
        <p:spPr>
          <a:xfrm flipV="1">
            <a:off x="7084426" y="1980244"/>
            <a:ext cx="554865" cy="3066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4" idx="1"/>
          </p:cNvCxnSpPr>
          <p:nvPr/>
        </p:nvCxnSpPr>
        <p:spPr>
          <a:xfrm flipV="1">
            <a:off x="7147482" y="1980244"/>
            <a:ext cx="491809" cy="27289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25" idx="1"/>
          </p:cNvCxnSpPr>
          <p:nvPr/>
        </p:nvCxnSpPr>
        <p:spPr>
          <a:xfrm>
            <a:off x="7084426" y="2286935"/>
            <a:ext cx="566742" cy="9237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3"/>
            <a:endCxn id="34" idx="1"/>
          </p:cNvCxnSpPr>
          <p:nvPr/>
        </p:nvCxnSpPr>
        <p:spPr>
          <a:xfrm>
            <a:off x="7084426" y="2286935"/>
            <a:ext cx="485478" cy="25730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5" idx="1"/>
          </p:cNvCxnSpPr>
          <p:nvPr/>
        </p:nvCxnSpPr>
        <p:spPr>
          <a:xfrm flipV="1">
            <a:off x="7147482" y="3210721"/>
            <a:ext cx="503686" cy="14985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2" idx="3"/>
            <a:endCxn id="34" idx="1"/>
          </p:cNvCxnSpPr>
          <p:nvPr/>
        </p:nvCxnSpPr>
        <p:spPr>
          <a:xfrm>
            <a:off x="7147482" y="4709235"/>
            <a:ext cx="422422" cy="1507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ight Brace 32"/>
          <p:cNvSpPr/>
          <p:nvPr/>
        </p:nvSpPr>
        <p:spPr>
          <a:xfrm>
            <a:off x="10359342" y="1853911"/>
            <a:ext cx="523207" cy="3168521"/>
          </a:xfrm>
          <a:prstGeom prst="rightBrace">
            <a:avLst>
              <a:gd name="adj1" fmla="val 8333"/>
              <a:gd name="adj2" fmla="val 50365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ounded Rectangle 33"/>
              <p:cNvSpPr/>
              <p:nvPr/>
            </p:nvSpPr>
            <p:spPr>
              <a:xfrm>
                <a:off x="7569904" y="4485619"/>
                <a:ext cx="2768602" cy="74873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Rounded 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904" y="4485619"/>
                <a:ext cx="2768602" cy="748737"/>
              </a:xfrm>
              <a:prstGeom prst="roundRect">
                <a:avLst/>
              </a:prstGeom>
              <a:blipFill rotWithShape="1">
                <a:blip r:embed="rId6"/>
                <a:stretch>
                  <a:fillRect l="-186" t="-8563" r="-158" b="-8474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/>
          <p:cNvSpPr/>
          <p:nvPr/>
        </p:nvSpPr>
        <p:spPr>
          <a:xfrm rot="5400000">
            <a:off x="8774087" y="4258768"/>
            <a:ext cx="251332" cy="2497174"/>
          </a:xfrm>
          <a:prstGeom prst="rightBrace">
            <a:avLst>
              <a:gd name="adj1" fmla="val 8333"/>
              <a:gd name="adj2" fmla="val 47955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034728" y="5743789"/>
            <a:ext cx="1963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Regularized reward</a:t>
            </a:r>
            <a:endParaRPr lang="en-US" dirty="0"/>
          </a:p>
        </p:txBody>
      </p:sp>
      <p:sp>
        <p:nvSpPr>
          <p:cNvPr id="37" name="Right Brace 36"/>
          <p:cNvSpPr/>
          <p:nvPr/>
        </p:nvSpPr>
        <p:spPr>
          <a:xfrm rot="5400000">
            <a:off x="3463101" y="4514432"/>
            <a:ext cx="524656" cy="1253133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2361607" y="5531303"/>
            <a:ext cx="2745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 differentiable sampling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25" y="1808163"/>
            <a:ext cx="11307763" cy="4351337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Best-of-N policy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Reward Maximization Objective Formulation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/>
              <a:t>Towards Vanilla Policy Gradient</a:t>
            </a:r>
            <a:endParaRPr lang="en-US" dirty="0"/>
          </a:p>
          <a:p>
            <a:pPr lvl="1"/>
            <a:r>
              <a:rPr lang="en-US" dirty="0"/>
              <a:t>The REINFORCE gradient estimator</a:t>
            </a:r>
            <a:endParaRPr lang="en-US" dirty="0"/>
          </a:p>
          <a:p>
            <a:pPr lvl="1"/>
            <a:r>
              <a:rPr lang="en-US" dirty="0"/>
              <a:t>The problem of high variance - Baseline subtraction</a:t>
            </a:r>
            <a:endParaRPr lang="en-US" dirty="0"/>
          </a:p>
          <a:p>
            <a:pPr lvl="1"/>
            <a:r>
              <a:rPr lang="en-US" dirty="0"/>
              <a:t>Final algorithm</a:t>
            </a:r>
            <a:endParaRPr lang="en-US" dirty="0"/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Towards Actor/Critic methods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problem of credit assignment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Q-functions, Value functions and advantage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Estimating the value function and advantage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Final algorithm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41325" y="258763"/>
            <a:ext cx="11307763" cy="1325562"/>
          </a:xfrm>
        </p:spPr>
        <p:txBody>
          <a:bodyPr/>
          <a:lstStyle/>
          <a:p>
            <a:r>
              <a:rPr lang="en-US" dirty="0"/>
              <a:t>Reward Maximization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maximize the (reward) objective?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Derive the gradient of the objective.</a:t>
                </a:r>
                <a:endParaRPr lang="en-US" dirty="0"/>
              </a:p>
              <a:p>
                <a:r>
                  <a:rPr lang="en-US" dirty="0"/>
                  <a:t>Estimate the gradient  - the REINFORCE gradient estimator.</a:t>
                </a:r>
                <a:endParaRPr lang="en-US" dirty="0"/>
              </a:p>
              <a:p>
                <a:r>
                  <a:rPr lang="en-US" dirty="0"/>
                  <a:t>Train using Adam/</a:t>
                </a:r>
                <a:r>
                  <a:rPr lang="en-US" dirty="0" err="1"/>
                  <a:t>Adagrad</a:t>
                </a:r>
                <a:r>
                  <a:rPr lang="en-US" dirty="0"/>
                  <a:t> optimization algorithms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</m:e>
                            <m:sub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sub>
                          </m:s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 smtClean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i="1" smtClean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 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b="0" i="1" smtClean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How to estimate this using samples?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gradient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effectLst>
                                    <a:glow rad="228600">
                                      <a:schemeClr val="accent1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>
                                    <a:glow rad="228600">
                                      <a:schemeClr val="accent1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 smtClean="0">
                                  <a:effectLst>
                                    <a:glow rad="228600">
                                      <a:schemeClr val="accent1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is not directly an expectation</a:t>
                </a:r>
                <a:endParaRPr lang="en-US" dirty="0"/>
              </a:p>
              <a:p>
                <a:r>
                  <a:rPr lang="en-US" dirty="0"/>
                  <a:t>Exact computation of the gradient is intractable</a:t>
                </a:r>
                <a:endParaRPr lang="en-US" dirty="0"/>
              </a:p>
              <a:p>
                <a:pPr lvl="1"/>
                <a:r>
                  <a:rPr lang="en-US" dirty="0"/>
                  <a:t>Output space is too large</a:t>
                </a:r>
                <a:endParaRPr lang="en-US" dirty="0"/>
              </a:p>
              <a:p>
                <a:r>
                  <a:rPr lang="en-US" dirty="0"/>
                  <a:t>Can we approximate it using samples?</a:t>
                </a:r>
                <a:endParaRPr lang="en-US" dirty="0"/>
              </a:p>
              <a:p>
                <a:r>
                  <a:rPr lang="en-US" dirty="0"/>
                  <a:t>To be able to do that, we need an expression of the form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</m:e>
                            <m:sub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sub>
                          </m:s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How to transform the derivative to this desired form?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</a:rPr>
              <a:t>The log-derivative trick</a:t>
            </a:r>
            <a:endParaRPr lang="en-US" b="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Note that</a:t>
                </a:r>
                <a:r>
                  <a:rPr lang="en-US" b="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smtClean="0">
                  <a:latin typeface="Cambria Math" panose="02040503050406030204" pitchFamily="18" charset="0"/>
                </a:endParaRPr>
              </a:p>
              <a:p>
                <a:r>
                  <a:rPr lang="en-US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 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Replacing it in the gradient, we get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effectLst>
                                    <a:glow rad="228600">
                                      <a:schemeClr val="accent1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>
                                    <a:glow rad="228600">
                                      <a:schemeClr val="accent1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 smtClean="0">
                                  <a:effectLst>
                                    <a:glow rad="228600">
                                      <a:schemeClr val="accent1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 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b="0" i="1" smtClean="0">
                    <a:latin typeface="DejaVu Math TeX Gyre" panose="02000503000000000000" charset="0"/>
                    <a:cs typeface="DejaVu Math TeX Gyre" panose="02000503000000000000" charset="0"/>
                  </a:rPr>
                </a:br>
                <a:br>
                  <a:rPr lang="en-US" b="0" i="1" smtClean="0">
                    <a:latin typeface="DejaVu Math TeX Gyre" panose="02000503000000000000" charset="0"/>
                    <a:cs typeface="DejaVu Math TeX Gyre" panose="02000503000000000000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</m:e>
                            <m:sub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sub>
                          </m:s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 </m:t>
                          </m:r>
                          <m:r>
                            <a:rPr lang="en-US" b="0" i="1" smtClean="0">
                              <a:effectLst>
                                <a:glow rad="2286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effectLst>
                                <a:glow rad="2286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effectLst>
                                <a:glow rad="2286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effectLst>
                                <a:glow rad="2286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effectLst>
                                <a:glow rad="2286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effectLst>
                                <a:glow rad="2286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 </m:t>
                          </m:r>
                          <m:sSub>
                            <m:sSubPr>
                              <m:ctrlPr>
                                <a:rPr lang="en-US" b="0" i="1" smtClean="0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 smtClean="0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effectLst>
                                        <a:glow rad="127000">
                                          <a:srgbClr val="92D050"/>
                                        </a:glo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effectLst>
                                        <a:glow rad="127000">
                                          <a:srgbClr val="92D050"/>
                                        </a:glow>
                                      </a:effectLst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effectLst>
                                        <a:glow rad="127000">
                                          <a:srgbClr val="92D050"/>
                                        </a:glow>
                                      </a:effectLst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effectLst>
                                    <a:glow rad="127000">
                                      <a:srgbClr val="92D050"/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gradient – REINFORCE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1813361" y="3332778"/>
                <a:ext cx="1433015" cy="103723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361" y="3332778"/>
                <a:ext cx="1433015" cy="1037230"/>
              </a:xfrm>
              <a:prstGeom prst="roundRect">
                <a:avLst/>
              </a:prstGeom>
              <a:blipFill rotWithShape="1">
                <a:blip r:embed="rId1"/>
                <a:stretch>
                  <a:fillRect l="-341" t="-518" r="-292" b="-435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63876" y="3589783"/>
            <a:ext cx="1154162" cy="523220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Prompt: </a:t>
            </a:r>
            <a:endParaRPr lang="en-US" sz="1400" dirty="0"/>
          </a:p>
          <a:p>
            <a:pPr algn="ctr"/>
            <a:r>
              <a:rPr lang="en-US" sz="1400" dirty="0"/>
              <a:t>Write a poem</a:t>
            </a:r>
            <a:endParaRPr lang="en-US" sz="1400" dirty="0"/>
          </a:p>
        </p:txBody>
      </p:sp>
      <p:cxnSp>
        <p:nvCxnSpPr>
          <p:cNvPr id="6" name="Straight Arrow Connector 5"/>
          <p:cNvCxnSpPr>
            <a:stCxn id="5" idx="3"/>
            <a:endCxn id="4" idx="1"/>
          </p:cNvCxnSpPr>
          <p:nvPr/>
        </p:nvCxnSpPr>
        <p:spPr>
          <a:xfrm>
            <a:off x="1318038" y="3851393"/>
            <a:ext cx="4953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85222" y="2636715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1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885222" y="3229310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2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900473" y="4408648"/>
            <a:ext cx="727763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n</a:t>
            </a:r>
            <a:endParaRPr lang="en-US" sz="14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264354" y="3677384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10"/>
              <p:cNvSpPr/>
              <p:nvPr/>
            </p:nvSpPr>
            <p:spPr>
              <a:xfrm>
                <a:off x="5597372" y="4303007"/>
                <a:ext cx="1550110" cy="1344906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372" y="4303007"/>
                <a:ext cx="1550110" cy="1344906"/>
              </a:xfrm>
              <a:prstGeom prst="roundRect">
                <a:avLst/>
              </a:prstGeom>
              <a:blipFill rotWithShape="1">
                <a:blip r:embed="rId2"/>
                <a:stretch>
                  <a:fillRect l="-318" t="-396" r="-17620" b="-314"/>
                </a:stretch>
              </a:blipFill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7" idx="3"/>
          </p:cNvCxnSpPr>
          <p:nvPr/>
        </p:nvCxnSpPr>
        <p:spPr>
          <a:xfrm flipV="1">
            <a:off x="4616192" y="2302488"/>
            <a:ext cx="1032147" cy="48811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11" idx="1"/>
          </p:cNvCxnSpPr>
          <p:nvPr/>
        </p:nvCxnSpPr>
        <p:spPr>
          <a:xfrm>
            <a:off x="4616192" y="3383199"/>
            <a:ext cx="981180" cy="1592261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3"/>
          </p:cNvCxnSpPr>
          <p:nvPr/>
        </p:nvCxnSpPr>
        <p:spPr>
          <a:xfrm flipV="1">
            <a:off x="4628236" y="2846258"/>
            <a:ext cx="995928" cy="171627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7" idx="1"/>
          </p:cNvCxnSpPr>
          <p:nvPr/>
        </p:nvCxnSpPr>
        <p:spPr>
          <a:xfrm flipV="1">
            <a:off x="3246376" y="2790604"/>
            <a:ext cx="638846" cy="7991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" idx="3"/>
            <a:endCxn id="8" idx="1"/>
          </p:cNvCxnSpPr>
          <p:nvPr/>
        </p:nvCxnSpPr>
        <p:spPr>
          <a:xfrm flipV="1">
            <a:off x="3246376" y="3383199"/>
            <a:ext cx="638846" cy="4681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9" idx="1"/>
          </p:cNvCxnSpPr>
          <p:nvPr/>
        </p:nvCxnSpPr>
        <p:spPr>
          <a:xfrm>
            <a:off x="3254001" y="4119445"/>
            <a:ext cx="646472" cy="4430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651411" y="2034545"/>
            <a:ext cx="1433015" cy="10372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Reward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Model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>
            <a:stCxn id="8" idx="3"/>
            <a:endCxn id="26" idx="1"/>
          </p:cNvCxnSpPr>
          <p:nvPr/>
        </p:nvCxnSpPr>
        <p:spPr>
          <a:xfrm flipV="1">
            <a:off x="4616192" y="2553160"/>
            <a:ext cx="1035219" cy="83003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7" idx="3"/>
          </p:cNvCxnSpPr>
          <p:nvPr/>
        </p:nvCxnSpPr>
        <p:spPr>
          <a:xfrm>
            <a:off x="4616192" y="2790604"/>
            <a:ext cx="993360" cy="198147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9" idx="3"/>
          </p:cNvCxnSpPr>
          <p:nvPr/>
        </p:nvCxnSpPr>
        <p:spPr>
          <a:xfrm>
            <a:off x="4628236" y="4562537"/>
            <a:ext cx="989873" cy="699346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 rot="5400000">
            <a:off x="11566809" y="3352421"/>
            <a:ext cx="919995" cy="369332"/>
          </a:xfrm>
          <a:prstGeom prst="rect">
            <a:avLst/>
          </a:prstGeom>
          <a:noFill/>
          <a:ln w="158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Average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ounded Rectangle 44"/>
              <p:cNvSpPr/>
              <p:nvPr/>
            </p:nvSpPr>
            <p:spPr>
              <a:xfrm>
                <a:off x="7885352" y="2093362"/>
                <a:ext cx="3387251" cy="745478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𝑝𝑜𝑒𝑚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Rounded 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352" y="2093362"/>
                <a:ext cx="3387251" cy="745478"/>
              </a:xfrm>
              <a:prstGeom prst="roundRect">
                <a:avLst/>
              </a:prstGeom>
              <a:blipFill rotWithShape="1">
                <a:blip r:embed="rId3"/>
                <a:stretch>
                  <a:fillRect l="-148" t="-650" r="-6278" b="-62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ounded Rectangle 45"/>
              <p:cNvSpPr/>
              <p:nvPr/>
            </p:nvSpPr>
            <p:spPr>
              <a:xfrm>
                <a:off x="7885353" y="3102578"/>
                <a:ext cx="3387250" cy="618038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𝑝𝑜𝑒𝑚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6" name="Rounded 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353" y="3102578"/>
                <a:ext cx="3387250" cy="618038"/>
              </a:xfrm>
              <a:prstGeom prst="roundRect">
                <a:avLst/>
              </a:prstGeom>
              <a:blipFill rotWithShape="1">
                <a:blip r:embed="rId4"/>
                <a:stretch>
                  <a:fillRect l="-148" t="-817" r="-6090" b="-695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ounded Rectangle 46"/>
              <p:cNvSpPr/>
              <p:nvPr/>
            </p:nvSpPr>
            <p:spPr>
              <a:xfrm>
                <a:off x="7948408" y="4194887"/>
                <a:ext cx="3277472" cy="618038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𝑝𝑜𝑒𝑚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Rounded 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408" y="4194887"/>
                <a:ext cx="3277472" cy="618038"/>
              </a:xfrm>
              <a:prstGeom prst="roundRect">
                <a:avLst/>
              </a:prstGeom>
              <a:blipFill rotWithShape="1">
                <a:blip r:embed="rId5"/>
                <a:stretch>
                  <a:fillRect l="-158" t="-834" r="-9793" b="-677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>
            <a:stCxn id="26" idx="3"/>
            <a:endCxn id="45" idx="1"/>
          </p:cNvCxnSpPr>
          <p:nvPr/>
        </p:nvCxnSpPr>
        <p:spPr>
          <a:xfrm flipV="1">
            <a:off x="7084426" y="2466101"/>
            <a:ext cx="800926" cy="870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1" idx="3"/>
            <a:endCxn id="45" idx="1"/>
          </p:cNvCxnSpPr>
          <p:nvPr/>
        </p:nvCxnSpPr>
        <p:spPr>
          <a:xfrm flipV="1">
            <a:off x="7147482" y="2466101"/>
            <a:ext cx="737870" cy="25093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26" idx="3"/>
            <a:endCxn id="46" idx="1"/>
          </p:cNvCxnSpPr>
          <p:nvPr/>
        </p:nvCxnSpPr>
        <p:spPr>
          <a:xfrm>
            <a:off x="7084426" y="2553160"/>
            <a:ext cx="800927" cy="8584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6" idx="3"/>
            <a:endCxn id="47" idx="1"/>
          </p:cNvCxnSpPr>
          <p:nvPr/>
        </p:nvCxnSpPr>
        <p:spPr>
          <a:xfrm>
            <a:off x="7084426" y="2553160"/>
            <a:ext cx="863982" cy="19507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11" idx="3"/>
            <a:endCxn id="46" idx="1"/>
          </p:cNvCxnSpPr>
          <p:nvPr/>
        </p:nvCxnSpPr>
        <p:spPr>
          <a:xfrm flipV="1">
            <a:off x="7147482" y="3411597"/>
            <a:ext cx="737871" cy="15638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11" idx="3"/>
            <a:endCxn id="47" idx="1"/>
          </p:cNvCxnSpPr>
          <p:nvPr/>
        </p:nvCxnSpPr>
        <p:spPr>
          <a:xfrm flipV="1">
            <a:off x="7147482" y="4503906"/>
            <a:ext cx="800926" cy="4715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ight Brace 61"/>
          <p:cNvSpPr/>
          <p:nvPr/>
        </p:nvSpPr>
        <p:spPr>
          <a:xfrm>
            <a:off x="11225881" y="2034545"/>
            <a:ext cx="523207" cy="2778380"/>
          </a:xfrm>
          <a:prstGeom prst="rightBrace">
            <a:avLst>
              <a:gd name="adj1" fmla="val 8333"/>
              <a:gd name="adj2" fmla="val 50365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gradient – REINFORCE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Thus we get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  <m: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 </m:t>
                        </m:r>
                        <m:r>
                          <a:rPr lang="en-US" b="0" i="1" smtClean="0">
                            <a:effectLst>
                              <a:glow rad="228600">
                                <a:schemeClr val="accent5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smtClean="0">
                                <a:effectLst>
                                  <a:glow rad="228600">
                                    <a:schemeClr val="accent5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effectLst>
                                  <a:glow rad="228600">
                                    <a:schemeClr val="accent5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effectLst>
                                  <a:glow rad="228600">
                                    <a:schemeClr val="accent5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effectLst>
                                      <a:glow rad="228600">
                                        <a:schemeClr val="accent5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effectLst>
                                      <a:glow rad="228600">
                                        <a:schemeClr val="accent5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effectLst>
                                      <a:glow rad="228600">
                                        <a:schemeClr val="accent5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 </m:t>
                        </m:r>
                        <m:sSub>
                          <m:sSubPr>
                            <m:ctrlPr>
                              <a:rPr lang="en-US" b="0" i="1" smtClean="0">
                                <a:effectLst>
                                  <a:glow rad="127000">
                                    <a:srgbClr val="92D05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effectLst>
                                  <a:glow rad="127000">
                                    <a:srgbClr val="92D05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b="0" i="1" smtClean="0">
                                <a:effectLst>
                                  <a:glow rad="127000">
                                    <a:srgbClr val="92D05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func>
                          <m:funcPr>
                            <m:ctrlPr>
                              <a:rPr lang="en-US" b="0" i="1" smtClean="0">
                                <a:effectLst>
                                  <a:glow rad="127000">
                                    <a:srgbClr val="92D05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effectLst>
                                  <a:glow rad="127000">
                                    <a:srgbClr val="92D05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effectLst>
                                      <a:glow rad="127000">
                                        <a:srgbClr val="92D050"/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effectLst>
                                      <a:glow rad="127000">
                                        <a:srgbClr val="92D050"/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b="0" i="1" smtClean="0">
                                    <a:effectLst>
                                      <a:glow rad="127000">
                                        <a:srgbClr val="92D050"/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b="0" i="1" smtClean="0">
                                <a:effectLst>
                                  <a:glow rad="127000">
                                    <a:srgbClr val="92D05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effectLst>
                                      <a:glow rad="127000">
                                        <a:srgbClr val="92D050"/>
                                      </a:glow>
                                    </a:effectLst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effectLst>
                                      <a:glow rad="127000">
                                        <a:srgbClr val="92D050"/>
                                      </a:glow>
                                    </a:effectLst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effectLst>
                                      <a:glow rad="127000">
                                        <a:srgbClr val="92D050"/>
                                      </a:glow>
                                    </a:effectLst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effectLst>
                                  <a:glow rad="127000">
                                    <a:srgbClr val="92D05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effectLst>
                                  <a:glow rad="127000">
                                    <a:srgbClr val="92D050"/>
                                  </a:glow>
                                </a:effectLst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effectLst>
                                  <a:glow rad="127000">
                                    <a:srgbClr val="92D05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samples from the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estimator is very noisy – different samples  give different gradient estimates.</a:t>
                </a:r>
                <a:endParaRPr lang="en-US" dirty="0"/>
              </a:p>
              <a:p>
                <a:r>
                  <a:rPr lang="en-US" dirty="0"/>
                  <a:t>Also, we can only use each sample once (“on-policy”). After a gradient step, old samples are off-distribution.</a:t>
                </a:r>
                <a:endParaRPr lang="en-US" dirty="0"/>
              </a:p>
              <a:p>
                <a:r>
                  <a:rPr lang="en-US" dirty="0"/>
                  <a:t>A bad gradient step can destroy the policy, and you can't easily recover.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the gradient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/>
                  <a:t> be the tokens of </a:t>
                </a:r>
                <a14:m>
                  <m:oMath xmlns:m="http://schemas.openxmlformats.org/officeDocument/2006/math">
                    <m:r>
                      <a:rPr 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𝑦</m:t>
                    </m:r>
                  </m:oMath>
                </a14:m>
                <a:r>
                  <a:rPr lang="en-US"/>
                  <a:t>.</a:t>
                </a:r>
                <a:br>
                  <a:rPr lang="en-US"/>
                </a:b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effectLst>
                              <a:glow rad="127000">
                                <a:srgbClr val="FFFF00"/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effectLst>
                              <a:glow rad="127000">
                                <a:srgbClr val="FFFF00"/>
                              </a:glow>
                            </a:effectLst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effectLst>
                                  <a:glow rad="127000">
                                    <a:srgbClr val="FFFF0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>
                                  <a:glow rad="127000">
                                    <a:srgbClr val="FFFF0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effectLst>
                                  <a:glow rad="127000">
                                    <a:srgbClr val="FFFF0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effectLst>
                                  <a:glow rad="127000">
                                    <a:srgbClr val="FFFF0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effectLst>
                                  <a:glow rad="127000">
                                    <a:srgbClr val="FFFF0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i="1">
                                <a:effectLst>
                                  <a:glow rad="127000">
                                    <a:srgbClr val="FFFF00"/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=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𝑚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>
                                        <a:latin typeface="DejaVu Math TeX Gyre" panose="02000503000000000000" charset="0"/>
                                        <a:ea typeface="MS Mincho" charset="0"/>
                                        <a:cs typeface="DejaVu Math TeX Gyre" panose="02000503000000000000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DejaVu Math TeX Gyre" panose="02000503000000000000" charset="0"/>
                                        <a:ea typeface="MS Mincho" charset="0"/>
                                        <a:cs typeface="DejaVu Math TeX Gyre" panose="02000503000000000000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func>
                            <m:d>
                              <m:d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&lt;</m:t>
                                    </m:r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br>
                  <a:rPr lang="en-US" i="1">
                    <a:latin typeface="DejaVu Math TeX Gyre" panose="02000503000000000000" charset="0"/>
                    <a:cs typeface="DejaVu Math TeX Gyre" panose="02000503000000000000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b="0" i="1" smtClean="0">
                          <a:effectLst>
                            <a:glow rad="228600">
                              <a:schemeClr val="accent5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effectLst>
                                <a:glow rad="2286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>
                                <a:glow rad="2286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effectLst>
                                <a:glow rad="2286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effectLst>
                                <a:glow rad="2286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DejaVu Math TeX Gyre" panose="02000503000000000000" charset="0"/>
                                      <a:ea typeface="MS Mincho" charset="0"/>
                                      <a:cs typeface="DejaVu Math TeX Gyre" panose="02000503000000000000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DejaVu Math TeX Gyre" panose="02000503000000000000" charset="0"/>
                                      <a:ea typeface="MS Mincho" charset="0"/>
                                      <a:cs typeface="DejaVu Math TeX Gyre" panose="02000503000000000000" charset="0"/>
                                    </a:rPr>
                                    <m:t>𝜃</m:t>
                                  </m:r>
                                </m:sub>
                              </m:sSub>
                            </m:e>
                          </m:func>
                          <m:d>
                            <m:d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𝑚</m:t>
                          </m:r>
                        </m:sup>
                        <m:e>
                          <m:r>
                            <a:rPr lang="en-US" b="0" i="1" smtClean="0">
                              <a:effectLst>
                                <a:glow rad="2286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effectLst>
                                    <a:glow rad="228600">
                                      <a:schemeClr val="accent5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effectLst>
                                    <a:glow rad="228600">
                                      <a:schemeClr val="accent5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effectLst>
                                    <a:glow rad="228600">
                                      <a:schemeClr val="accent5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effectLst>
                                    <a:glow rad="228600">
                                      <a:schemeClr val="accent5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 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DejaVu Math TeX Gyre" panose="02000503000000000000" charset="0"/>
                                      <a:ea typeface="MS Mincho" charset="0"/>
                                      <a:cs typeface="DejaVu Math TeX Gyre" panose="02000503000000000000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DejaVu Math TeX Gyre" panose="02000503000000000000" charset="0"/>
                                      <a:ea typeface="MS Mincho" charset="0"/>
                                      <a:cs typeface="DejaVu Math TeX Gyre" panose="02000503000000000000" charset="0"/>
                                    </a:rPr>
                                    <m:t>𝜃</m:t>
                                  </m:r>
                                </m:sub>
                              </m:sSub>
                            </m:e>
                          </m:func>
                          <m:d>
                            <m:d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i="1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applies to all tokens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31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827201" y="5083600"/>
            <a:ext cx="3617477" cy="50496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User: Where is Taj Mahal? Assistant: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5" y="-64310"/>
            <a:ext cx="11307763" cy="1325562"/>
          </a:xfrm>
        </p:spPr>
        <p:txBody>
          <a:bodyPr/>
          <a:lstStyle/>
          <a:p>
            <a:r>
              <a:rPr lang="en-US" dirty="0"/>
              <a:t>Implementing the REINFORCE gradient estimate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4444678" y="5069951"/>
            <a:ext cx="7222603" cy="504967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5" spcCol="36000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Taj        Mahal         is                  in            Agra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/>
              <p:cNvSpPr/>
              <p:nvPr/>
            </p:nvSpPr>
            <p:spPr>
              <a:xfrm>
                <a:off x="659760" y="3782809"/>
                <a:ext cx="11089328" cy="1088409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LLM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60" y="3782809"/>
                <a:ext cx="11089328" cy="1088409"/>
              </a:xfrm>
              <a:prstGeom prst="roundRect">
                <a:avLst/>
              </a:prstGeom>
              <a:blipFill rotWithShape="1">
                <a:blip r:embed="rId1"/>
                <a:stretch>
                  <a:fillRect l="-63" t="-594" r="-54" b="-571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V="1">
            <a:off x="3861470" y="3427942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15059" y="3058610"/>
                <a:ext cx="1800429" cy="36933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𝑇𝑎𝑗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059" y="3058610"/>
                <a:ext cx="180042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50" t="-2701" r="-13123" b="-2522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V="1">
            <a:off x="5041982" y="2888409"/>
            <a:ext cx="0" cy="880751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4294777" y="2519077"/>
                <a:ext cx="2119678" cy="36933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𝑀𝑎ℎ𝑎𝑙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777" y="2519077"/>
                <a:ext cx="2119678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462" t="-2588" r="-10170" b="-2463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5528361" y="2956710"/>
                <a:ext cx="1696234" cy="36933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361" y="2956710"/>
                <a:ext cx="169623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565" t="-2620" r="-5941" b="-243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V="1">
            <a:off x="6414455" y="3411121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0063031" y="2328732"/>
                <a:ext cx="1844608" cy="36933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3031" y="2328732"/>
                <a:ext cx="184460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526" t="-2630" r="-7877" b="-242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V="1">
            <a:off x="7837681" y="2888409"/>
            <a:ext cx="0" cy="880751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7094801" y="2513398"/>
                <a:ext cx="1721112" cy="36933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801" y="2513398"/>
                <a:ext cx="172111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587" t="-2597" r="-4858" b="-2453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/>
          <p:nvPr/>
        </p:nvCxnSpPr>
        <p:spPr>
          <a:xfrm flipV="1">
            <a:off x="9541089" y="3411121"/>
            <a:ext cx="0" cy="35803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5" idx="2"/>
          </p:cNvCxnSpPr>
          <p:nvPr/>
        </p:nvCxnSpPr>
        <p:spPr>
          <a:xfrm flipV="1">
            <a:off x="10953660" y="2698064"/>
            <a:ext cx="31675" cy="109483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8696884" y="2998072"/>
                <a:ext cx="2041777" cy="36933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𝐴𝑔𝑟𝑎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84" y="2998072"/>
                <a:ext cx="2041777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494" t="-2643" r="-9228" b="-2407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Brace 44"/>
          <p:cNvSpPr/>
          <p:nvPr/>
        </p:nvSpPr>
        <p:spPr>
          <a:xfrm rot="16200000">
            <a:off x="7199981" y="-2055437"/>
            <a:ext cx="369333" cy="8287474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6256860" y="1482288"/>
            <a:ext cx="2255574" cy="4452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 &amp; backpropagate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483807" y="1811302"/>
                <a:ext cx="212494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/>
              </a:p>
              <a:p>
                <a:r>
                  <a:rPr lang="en-US" dirty="0"/>
                  <a:t>is the total reward of </a:t>
                </a:r>
                <a:endParaRPr lang="en-US" dirty="0"/>
              </a:p>
              <a:p>
                <a:r>
                  <a:rPr lang="en-US" dirty="0"/>
                  <a:t>the complete output</a:t>
                </a:r>
                <a:endParaRPr lang="en-US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07" y="1811302"/>
                <a:ext cx="2124941" cy="923330"/>
              </a:xfrm>
              <a:prstGeom prst="rect">
                <a:avLst/>
              </a:prstGeom>
              <a:blipFill rotWithShape="1">
                <a:blip r:embed="rId8"/>
                <a:stretch>
                  <a:fillRect l="-27" t="-31" r="-7911" b="3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Vanilla Policy Gradient Algorithm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Repeat until convergence</a:t>
                </a:r>
                <a:endParaRPr lang="en-US" dirty="0"/>
              </a:p>
              <a:p>
                <a:pPr lvl="1"/>
                <a:r>
                  <a:rPr lang="en-US" dirty="0"/>
                  <a:t>Sample a batch of prompts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each prompt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sample one or more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each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Compute the total reward of the output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Compute the log-probability of the output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To get the loss, multiply the reward with the negative log-probability of the output </a:t>
                </a:r>
                <a:endParaRPr lang="en-US" b="0" dirty="0"/>
              </a:p>
              <a:p>
                <a:pPr lvl="2"/>
                <a:r>
                  <a:rPr lang="en-US" dirty="0"/>
                  <a:t>For each output of the prompt</a:t>
                </a:r>
                <a:endParaRPr lang="en-US" dirty="0"/>
              </a:p>
              <a:p>
                <a:pPr lvl="2"/>
                <a:r>
                  <a:rPr lang="en-US" b="0" dirty="0"/>
                  <a:t>For each prompt in the batch</a:t>
                </a:r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  and average.</a:t>
                </a:r>
                <a:endParaRPr lang="en-US" b="0" dirty="0"/>
              </a:p>
              <a:p>
                <a:pPr lvl="1"/>
                <a:r>
                  <a:rPr lang="en-US" b="0" dirty="0"/>
                  <a:t>Backpropagate the loss to compute the gradient.</a:t>
                </a:r>
                <a:endParaRPr lang="en-US" b="0" dirty="0"/>
              </a:p>
              <a:p>
                <a:pPr lvl="1"/>
                <a:r>
                  <a:rPr lang="en-US" dirty="0"/>
                  <a:t>Use Adam or any other optimizer to update the weights.</a:t>
                </a:r>
                <a:endParaRPr lang="en-US" b="0" dirty="0"/>
              </a:p>
              <a:p>
                <a:pPr lvl="1"/>
                <a:endParaRPr lang="en-US" b="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the baseline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8320" y="1825625"/>
                <a:ext cx="11250930" cy="4351655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:r>
                  <a:rPr lang="en-US" i="1" dirty="0"/>
                  <a:t>X</a:t>
                </a:r>
                <a:r>
                  <a:rPr lang="en-US" dirty="0"/>
                  <a:t> and </a:t>
                </a:r>
                <a:r>
                  <a:rPr lang="en-US" i="1" dirty="0"/>
                  <a:t>Y</a:t>
                </a:r>
                <a:r>
                  <a:rPr lang="en-US" dirty="0"/>
                  <a:t> be random variable defined as below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95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</m:eqAr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box>
                                <m:boxPr>
                                  <m:noBreak m:val="on"/>
                                  <m:ctrlPr>
                                    <a:rPr lang="en-US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∈{−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do samples of </a:t>
                </a:r>
                <a:r>
                  <a:rPr lang="en-US" i="1" dirty="0"/>
                  <a:t>XY</a:t>
                </a:r>
                <a:r>
                  <a:rPr lang="en-US" dirty="0"/>
                  <a:t> look like?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104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variance is too high.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𝑋</m:t>
                        </m:r>
                      </m:e>
                    </m:d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100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do samples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look like?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Centering X can reduce the variance.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8320" y="1825625"/>
                <a:ext cx="11250930" cy="4351655"/>
              </a:xfrm>
              <a:blipFill rotWithShape="1">
                <a:blip r:embed="rId1"/>
                <a:stretch>
                  <a:fillRect t="-19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subtraction to reduce variance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REINFORCE gradient estimate is an average of the product of two quantities:</a:t>
                </a:r>
                <a:endParaRPr lang="en-US" dirty="0"/>
              </a:p>
              <a:p>
                <a:pPr lvl="1"/>
                <a:r>
                  <a:rPr lang="en-US" dirty="0"/>
                  <a:t>The reward of the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dirty="0"/>
                  <a:t>The gradient of the log-prob of output under the policy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By centering the reward, we can reduce the variance of the estimator.</a:t>
                </a:r>
                <a:endParaRPr lang="en-US" dirty="0"/>
              </a:p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dirty="0" smtClean="0">
                                <a:solidFill>
                                  <a:schemeClr val="accent1"/>
                                </a:solidFill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b="0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The centered REINFORCE gradient estimate is given by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𝑖</m:t>
                          </m:r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𝑛</m:t>
                          </m:r>
                        </m:sup>
                        <m:e>
                          <m:limLow>
                            <m:limLow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dirty="0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d>
                                        <m:dPr>
                                          <m:ctrlPr>
                                            <a:rPr lang="en-US" b="0" i="1" dirty="0" smtClean="0">
                                              <a:solidFill>
                                                <a:schemeClr val="accent1"/>
                                              </a:solidFill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dirty="0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dirty="0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dirty="0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dirty="0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dirty="0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i="1" dirty="0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b="0" i="1" dirty="0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dirty="0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centered</m:t>
                              </m:r>
                              <m: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 </m:t>
                              </m:r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reward</m:t>
                              </m:r>
                            </m:lim>
                          </m:limLow>
                        </m:e>
                      </m:nary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0" i="1" smtClean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Unbiased, lower variance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Gradient Algorithm (with baseline)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Repeat until convergence</a:t>
                </a:r>
                <a:endParaRPr lang="en-US" dirty="0"/>
              </a:p>
              <a:p>
                <a:pPr lvl="1"/>
                <a:r>
                  <a:rPr lang="en-US" dirty="0"/>
                  <a:t>Sample a batch of prompts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each prompt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sample one or more outputs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each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Compute the total reward of the output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Compute the log-probability of the output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Compute the average reward (per prompt or per batch) 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pPr lvl="2"/>
                <a:r>
                  <a:rPr lang="en-US" dirty="0">
                    <a:solidFill>
                      <a:schemeClr val="accent1"/>
                    </a:solidFill>
                  </a:rPr>
                  <a:t>Subtract it from the reward of each output to get baselined reward 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b="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b="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b="0" dirty="0"/>
                  <a:t>To get the loss, multiply and average the </a:t>
                </a:r>
                <a:r>
                  <a:rPr lang="en-US" b="0" dirty="0">
                    <a:solidFill>
                      <a:schemeClr val="accent1"/>
                    </a:solidFill>
                  </a:rPr>
                  <a:t>baselined</a:t>
                </a:r>
                <a:r>
                  <a:rPr lang="en-US" b="0" dirty="0"/>
                  <a:t> reward with the negative log-probability of the output </a:t>
                </a:r>
                <a:endParaRPr lang="en-US" b="0" dirty="0"/>
              </a:p>
              <a:p>
                <a:pPr lvl="1"/>
                <a:r>
                  <a:rPr lang="en-US" b="0" dirty="0"/>
                  <a:t>Backpropagate the loss to compute the gradient.</a:t>
                </a:r>
                <a:endParaRPr lang="en-US" b="0" dirty="0"/>
              </a:p>
              <a:p>
                <a:pPr lvl="1"/>
                <a:r>
                  <a:rPr lang="en-US" dirty="0"/>
                  <a:t>Use Adam or any other optimizer to update the weights.</a:t>
                </a:r>
                <a:endParaRPr lang="en-US" b="0" dirty="0"/>
              </a:p>
              <a:p>
                <a:pPr lvl="1"/>
                <a:endParaRPr lang="en-US" b="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-587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25" y="1808163"/>
            <a:ext cx="11307763" cy="4351337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Best-of-N policy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Reward Maximization Objective Formulation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Vanilla Policy Gradient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REINFORCE gradient estimator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Baseline subtraction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Final algorithm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/>
              <a:t>Towards Actor/Critic methods</a:t>
            </a:r>
            <a:endParaRPr lang="en-US" dirty="0"/>
          </a:p>
          <a:p>
            <a:pPr lvl="1"/>
            <a:r>
              <a:rPr lang="en-US" dirty="0"/>
              <a:t>The problem of credit assignment</a:t>
            </a:r>
            <a:endParaRPr lang="en-US" dirty="0"/>
          </a:p>
          <a:p>
            <a:pPr lvl="1"/>
            <a:r>
              <a:rPr lang="en-US" dirty="0"/>
              <a:t>Q-functions, Value functions and advantage</a:t>
            </a:r>
            <a:endParaRPr lang="en-US" dirty="0"/>
          </a:p>
          <a:p>
            <a:pPr lvl="1"/>
            <a:r>
              <a:rPr lang="en-US" dirty="0"/>
              <a:t>Estimating the value function and advantage</a:t>
            </a:r>
            <a:endParaRPr lang="en-US" dirty="0"/>
          </a:p>
          <a:p>
            <a:pPr lvl="1"/>
            <a:r>
              <a:rPr lang="en-US" dirty="0"/>
              <a:t>Actor-Critic Family of algorithms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41325" y="258763"/>
            <a:ext cx="11307763" cy="1325562"/>
          </a:xfrm>
        </p:spPr>
        <p:txBody>
          <a:bodyPr/>
          <a:lstStyle/>
          <a:p>
            <a:r>
              <a:rPr lang="en-US" dirty="0"/>
              <a:t>Reward Maximization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827201" y="5083600"/>
            <a:ext cx="3617477" cy="50496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User: Where is Taj Mahal? Assistant: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5" y="-64310"/>
            <a:ext cx="11307763" cy="1325562"/>
          </a:xfrm>
        </p:spPr>
        <p:txBody>
          <a:bodyPr/>
          <a:lstStyle/>
          <a:p>
            <a:r>
              <a:rPr lang="en-US" dirty="0"/>
              <a:t>The REINFORCE gradient estimate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4444678" y="5069951"/>
            <a:ext cx="7222603" cy="504967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5" spcCol="36000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Taj        Mahal         is                  in            Agra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/>
              <p:cNvSpPr/>
              <p:nvPr/>
            </p:nvSpPr>
            <p:spPr>
              <a:xfrm>
                <a:off x="659760" y="3782809"/>
                <a:ext cx="11089328" cy="1088409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LLM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60" y="3782809"/>
                <a:ext cx="11089328" cy="1088409"/>
              </a:xfrm>
              <a:prstGeom prst="roundRect">
                <a:avLst/>
              </a:prstGeom>
              <a:blipFill rotWithShape="1">
                <a:blip r:embed="rId1"/>
                <a:stretch>
                  <a:fillRect l="-63" t="-594" r="-54" b="-571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V="1">
            <a:off x="3861470" y="3427942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15059" y="3058610"/>
                <a:ext cx="1863090" cy="33972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𝑇𝑎𝑗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059" y="3058610"/>
                <a:ext cx="1863090" cy="339725"/>
              </a:xfrm>
              <a:prstGeom prst="rect">
                <a:avLst/>
              </a:prstGeom>
              <a:blipFill rotWithShape="1">
                <a:blip r:embed="rId2"/>
                <a:stretch>
                  <a:fillRect l="-532" t="-2936" r="-491" b="-267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V="1">
            <a:off x="5041982" y="2888409"/>
            <a:ext cx="0" cy="880751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4294777" y="2519077"/>
                <a:ext cx="2119678" cy="33972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𝑀𝑎ℎ𝑎𝑙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777" y="2519077"/>
                <a:ext cx="2119678" cy="339725"/>
              </a:xfrm>
              <a:prstGeom prst="rect">
                <a:avLst/>
              </a:prstGeom>
              <a:blipFill rotWithShape="1">
                <a:blip r:embed="rId3"/>
                <a:stretch>
                  <a:fillRect l="-462" t="-2813" r="-434" b="-2794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5528361" y="2956710"/>
                <a:ext cx="1673225" cy="33972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361" y="2956710"/>
                <a:ext cx="1673225" cy="339725"/>
              </a:xfrm>
              <a:prstGeom prst="rect">
                <a:avLst/>
              </a:prstGeom>
              <a:blipFill rotWithShape="1">
                <a:blip r:embed="rId4"/>
                <a:stretch>
                  <a:fillRect l="-572" t="-2848" r="-566" b="-2760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V="1">
            <a:off x="6414455" y="3411121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0063031" y="2328732"/>
                <a:ext cx="1833245" cy="33972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𝑒𝑜𝑡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3031" y="2328732"/>
                <a:ext cx="1833245" cy="339725"/>
              </a:xfrm>
              <a:prstGeom prst="rect">
                <a:avLst/>
              </a:prstGeom>
              <a:blipFill rotWithShape="1">
                <a:blip r:embed="rId5"/>
                <a:stretch>
                  <a:fillRect l="-530" t="-2859" r="-509" b="-2749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V="1">
            <a:off x="7837681" y="2888409"/>
            <a:ext cx="0" cy="880751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7094801" y="2513398"/>
                <a:ext cx="1689100" cy="33972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801" y="2513398"/>
                <a:ext cx="1689100" cy="339725"/>
              </a:xfrm>
              <a:prstGeom prst="rect">
                <a:avLst/>
              </a:prstGeom>
              <a:blipFill rotWithShape="1">
                <a:blip r:embed="rId6"/>
                <a:stretch>
                  <a:fillRect l="-598" t="-2824" r="-530" b="-2784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/>
          <p:nvPr/>
        </p:nvCxnSpPr>
        <p:spPr>
          <a:xfrm flipV="1">
            <a:off x="9541089" y="3411121"/>
            <a:ext cx="0" cy="35803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5" idx="2"/>
          </p:cNvCxnSpPr>
          <p:nvPr/>
        </p:nvCxnSpPr>
        <p:spPr>
          <a:xfrm flipV="1">
            <a:off x="10947945" y="2668219"/>
            <a:ext cx="31675" cy="109483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8696884" y="2998072"/>
                <a:ext cx="2038350" cy="33972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𝐴𝑔𝑟𝑎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84" y="2998072"/>
                <a:ext cx="2038350" cy="339725"/>
              </a:xfrm>
              <a:prstGeom prst="rect">
                <a:avLst/>
              </a:prstGeom>
              <a:blipFill rotWithShape="1">
                <a:blip r:embed="rId7"/>
                <a:stretch>
                  <a:fillRect l="-495" t="-2874" r="-440" b="-2734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Brace 44"/>
          <p:cNvSpPr/>
          <p:nvPr/>
        </p:nvSpPr>
        <p:spPr>
          <a:xfrm rot="16200000">
            <a:off x="7199981" y="-2055437"/>
            <a:ext cx="369333" cy="8287474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6256860" y="1482288"/>
            <a:ext cx="2255574" cy="4452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 &amp; backpropagate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483807" y="1811302"/>
                <a:ext cx="2273935" cy="944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/>
              </a:p>
              <a:p>
                <a:r>
                  <a:rPr lang="en-US" dirty="0"/>
                  <a:t>is the total reward of </a:t>
                </a:r>
                <a:endParaRPr lang="en-US" dirty="0"/>
              </a:p>
              <a:p>
                <a:r>
                  <a:rPr lang="en-US" dirty="0"/>
                  <a:t>the complete output</a:t>
                </a:r>
                <a:endParaRPr lang="en-US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07" y="1811302"/>
                <a:ext cx="2273935" cy="944245"/>
              </a:xfrm>
              <a:prstGeom prst="rect">
                <a:avLst/>
              </a:prstGeom>
              <a:blipFill rotWithShape="1">
                <a:blip r:embed="rId8"/>
                <a:stretch>
                  <a:fillRect l="-25" t="-30" r="-841" b="3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of credit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06595"/>
          </a:xfrm>
        </p:spPr>
        <p:txBody>
          <a:bodyPr/>
          <a:lstStyle/>
          <a:p>
            <a:r>
              <a:rPr lang="en-IN" dirty="0"/>
              <a:t>The reward of generating a token (like “Taj”) depends on how the future sequence unfolds.</a:t>
            </a:r>
            <a:endParaRPr lang="en-IN" dirty="0"/>
          </a:p>
          <a:p>
            <a:pPr lvl="1"/>
            <a:r>
              <a:rPr lang="en-IN" dirty="0"/>
              <a:t>Example: “Taj Mahal is in Paris” → negative reward.</a:t>
            </a:r>
            <a:endParaRPr lang="en-IN" dirty="0"/>
          </a:p>
          <a:p>
            <a:pPr lvl="1"/>
            <a:r>
              <a:rPr lang="en-IN" dirty="0"/>
              <a:t>Example: “Taj Mahal is in Agra” → positive reward.</a:t>
            </a:r>
            <a:endParaRPr lang="en-IN" dirty="0"/>
          </a:p>
          <a:p>
            <a:r>
              <a:rPr lang="en-IN" dirty="0"/>
              <a:t>This makes credit assignment hard: should “Taj” be encouraged or discouraged?</a:t>
            </a:r>
            <a:r>
              <a:rPr lang="en-US" dirty="0"/>
              <a:t> </a:t>
            </a:r>
            <a:endParaRPr lang="en-US" dirty="0"/>
          </a:p>
          <a:p>
            <a:r>
              <a:rPr lang="en-IN" dirty="0"/>
              <a:t>The </a:t>
            </a:r>
            <a:r>
              <a:rPr lang="en-IN" b="1" dirty="0"/>
              <a:t>Q-function</a:t>
            </a:r>
            <a:r>
              <a:rPr lang="en-IN" dirty="0"/>
              <a:t> solves this by taking the </a:t>
            </a:r>
            <a:r>
              <a:rPr lang="en-IN" b="1" dirty="0"/>
              <a:t>expected reward</a:t>
            </a:r>
            <a:r>
              <a:rPr lang="en-IN" dirty="0"/>
              <a:t> of generating “Taj” and then continuing according to the policy.</a:t>
            </a:r>
            <a:endParaRPr lang="en-IN" dirty="0"/>
          </a:p>
          <a:p>
            <a:r>
              <a:rPr lang="en-IN" dirty="0"/>
              <a:t>In other words, the Q-function averages over all possible continuations that follow “Taj,” giving a stable estimate for learning.</a:t>
            </a:r>
            <a:endParaRPr lang="en-IN" dirty="0"/>
          </a:p>
          <a:p>
            <a:r>
              <a:rPr lang="en-US" dirty="0">
                <a:solidFill>
                  <a:schemeClr val="accent1"/>
                </a:solidFill>
                <a:sym typeface="+mn-ea"/>
              </a:rPr>
              <a:t>The cumulative discounted reward at time t is also known as reward-to-go or return at time t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Summary of problems, and a way out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en-US">
                    <a:sym typeface="+mn-ea"/>
                  </a:rPr>
                  <a:t>A full “rollout” (whole sequence sample) may be needed to get any gradient signal at all.</a:t>
                </a:r>
                <a:endParaRPr lang="en-US"/>
              </a:p>
              <a:p>
                <a:r>
                  <a:rPr lang="en-US"/>
                  <a:t>Every token in the sequence gets credited/blamed for everything that happens after it.</a:t>
                </a:r>
                <a:endParaRPr lang="en-US"/>
              </a:p>
              <a:p>
                <a:r>
                  <a:rPr lang="en-US"/>
                  <a:t>The same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  <m:r>
                          <a:rPr lang="en-US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/>
                  <a:t> visited in two different rollouts can get two different suffix-sum (or full) rewards </a:t>
                </a:r>
                <a:r>
                  <a:rPr lang="en-US"/>
                  <a:t>— confusing gradient</a:t>
                </a:r>
                <a:endParaRPr lang="en-US"/>
              </a:p>
              <a:p>
                <a:pPr lvl="1"/>
                <a:r>
                  <a:rPr lang="en-US"/>
                  <a:t>Purely due to downstream stochasticity — high variance</a:t>
                </a:r>
                <a:endParaRPr lang="en-US"/>
              </a:p>
              <a:p>
                <a:pPr lvl="0"/>
                <a:r>
                  <a:rPr lang="en-US"/>
                  <a:t>Instead of a Monte-Carlo estimator of future reward, can we learn a smoother estimate</a:t>
                </a:r>
                <a:br>
                  <a:rPr lang="en-US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’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≥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𝑡</m:t>
                                  </m:r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’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 | 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?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Q-function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state s and action a, the Q function for a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is defined as below: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+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+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⋯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𝑠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+</m:t>
                          </m:r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𝛾</m:t>
                          </m:r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𝑠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𝑡</m:t>
                                  </m:r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+</m:t>
                                  </m:r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𝑠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𝑡</m:t>
                                  </m:r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+</m:t>
                                  </m:r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+</m:t>
                          </m:r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⋯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endParaRPr lang="en-IN" dirty="0"/>
              </a:p>
              <a:p>
                <a:r>
                  <a:rPr lang="en-IN" dirty="0"/>
                  <a:t>s: state (context before “Taj”)</a:t>
                </a:r>
                <a:endParaRPr lang="en-IN" dirty="0"/>
              </a:p>
              <a:p>
                <a:r>
                  <a:rPr lang="en-IN" dirty="0"/>
                  <a:t>a: action (choose token “Taj”)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/>
                  <a:t>​: reward at step t</a:t>
                </a:r>
                <a:endParaRPr lang="en-IN" dirty="0"/>
              </a:p>
              <a:p>
                <a:r>
                  <a:rPr lang="en-IN" dirty="0"/>
                  <a:t>Expectation is over all future actions sampled from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l-GR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discounting?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Rewards that you get immediately after an action should get higher weight.</a:t>
                </a:r>
                <a:endParaRPr lang="en-US" dirty="0"/>
              </a:p>
              <a:p>
                <a:r>
                  <a:rPr lang="en-US" dirty="0"/>
                  <a:t>What happens with discounting?</a:t>
                </a:r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: final reward is propagated </a:t>
                </a:r>
                <a:r>
                  <a:rPr lang="en-US" b="1" dirty="0"/>
                  <a:t>equally to all tokens</a:t>
                </a:r>
                <a:r>
                  <a:rPr lang="en-US" dirty="0"/>
                  <a:t>.</a:t>
                </a:r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: </a:t>
                </a:r>
                <a:r>
                  <a:rPr lang="en-IN" dirty="0"/>
                  <a:t>earlier tokens</a:t>
                </a:r>
                <a:r>
                  <a:rPr lang="en-US" altLang="en-IN" dirty="0"/>
                  <a:t> (farther from final reward)</a:t>
                </a:r>
                <a:r>
                  <a:rPr lang="en-IN" dirty="0"/>
                  <a:t> get </a:t>
                </a:r>
                <a:r>
                  <a:rPr lang="en-US" altLang="en-IN" b="1" dirty="0"/>
                  <a:t>less</a:t>
                </a:r>
                <a:r>
                  <a:rPr lang="en-IN" b="1" dirty="0"/>
                  <a:t> credit</a:t>
                </a:r>
                <a:endParaRPr lang="en-US" dirty="0"/>
              </a:p>
              <a:p>
                <a:r>
                  <a:rPr lang="en-US" dirty="0"/>
                  <a:t>Response generation works well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</a:t>
                </a:r>
                <a:endParaRPr lang="en-US" dirty="0"/>
              </a:p>
              <a:p>
                <a:r>
                  <a:rPr lang="en-IN" dirty="0"/>
                  <a:t>Discounting is useful mainly when there are </a:t>
                </a:r>
                <a:r>
                  <a:rPr lang="en-IN" b="1" dirty="0"/>
                  <a:t>intermediate rewards</a:t>
                </a:r>
                <a:r>
                  <a:rPr lang="en-IN" dirty="0"/>
                  <a:t> (games, robotics</a:t>
                </a:r>
                <a:r>
                  <a:rPr lang="en-US" dirty="0"/>
                  <a:t>)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Q-function for LLMs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ounded Rectangle 21"/>
              <p:cNvSpPr/>
              <p:nvPr/>
            </p:nvSpPr>
            <p:spPr>
              <a:xfrm>
                <a:off x="2048689" y="3543341"/>
                <a:ext cx="7846516" cy="10884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LLM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" name="Rounded 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689" y="3543341"/>
                <a:ext cx="7846516" cy="1088409"/>
              </a:xfrm>
              <a:prstGeom prst="roundRect">
                <a:avLst/>
              </a:prstGeom>
              <a:blipFill rotWithShape="1">
                <a:blip r:embed="rId1"/>
                <a:stretch>
                  <a:fillRect l="-83" t="-587" r="-81" b="-578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2362835" y="4911725"/>
            <a:ext cx="4904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User: Where is Taj Mahal? Assistant: Taj Mahal</a:t>
            </a:r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2224405" y="4844415"/>
            <a:ext cx="3822700" cy="50482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046470" y="4830445"/>
            <a:ext cx="1029335" cy="504825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6425073" y="3198737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ight Brace 26"/>
          <p:cNvSpPr/>
          <p:nvPr/>
        </p:nvSpPr>
        <p:spPr>
          <a:xfrm rot="5400000">
            <a:off x="4368194" y="3356548"/>
            <a:ext cx="461292" cy="465388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4389295" y="5985529"/>
                <a:ext cx="4190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295" y="5985529"/>
                <a:ext cx="41908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42" t="-5" r="39" b="1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5928823" y="2524478"/>
                <a:ext cx="8578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i="0" dirty="0">
                    <a:latin typeface="+mj-lt"/>
                  </a:rPr>
                  <a:t> is</a:t>
                </a:r>
                <a:endParaRPr lang="en-US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823" y="2524478"/>
                <a:ext cx="85786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54" t="-96" r="-2909" b="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6046311" y="2775236"/>
                <a:ext cx="705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0</a:t>
                </a:r>
                <a:endParaRPr lang="en-US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311" y="2775236"/>
                <a:ext cx="70583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7" t="-77" r="-17246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/>
          <p:nvPr/>
        </p:nvCxnSpPr>
        <p:spPr>
          <a:xfrm>
            <a:off x="8663305" y="4814040"/>
            <a:ext cx="0" cy="403741"/>
          </a:xfrm>
          <a:prstGeom prst="line">
            <a:avLst/>
          </a:prstGeom>
          <a:ln w="698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104505" y="4831244"/>
            <a:ext cx="0" cy="403741"/>
          </a:xfrm>
          <a:prstGeom prst="line">
            <a:avLst/>
          </a:prstGeom>
          <a:ln w="698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7558405" y="4848449"/>
            <a:ext cx="0" cy="403741"/>
          </a:xfrm>
          <a:prstGeom prst="line">
            <a:avLst/>
          </a:prstGeom>
          <a:ln w="698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8561705" y="3004935"/>
            <a:ext cx="0" cy="403741"/>
          </a:xfrm>
          <a:prstGeom prst="line">
            <a:avLst/>
          </a:prstGeom>
          <a:ln w="698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8002905" y="3022139"/>
            <a:ext cx="0" cy="403741"/>
          </a:xfrm>
          <a:prstGeom prst="line">
            <a:avLst/>
          </a:prstGeom>
          <a:ln w="698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7456805" y="3039344"/>
            <a:ext cx="0" cy="403741"/>
          </a:xfrm>
          <a:prstGeom prst="line">
            <a:avLst/>
          </a:prstGeom>
          <a:ln w="698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/>
              <p:cNvSpPr txBox="1"/>
              <p:nvPr/>
            </p:nvSpPr>
            <p:spPr>
              <a:xfrm>
                <a:off x="7266683" y="2636946"/>
                <a:ext cx="4205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683" y="2636946"/>
                <a:ext cx="42050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90" t="-115" r="121" b="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/>
              <p:cNvSpPr txBox="1"/>
              <p:nvPr/>
            </p:nvSpPr>
            <p:spPr>
              <a:xfrm>
                <a:off x="7792655" y="2636946"/>
                <a:ext cx="4106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655" y="2636946"/>
                <a:ext cx="41062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39" t="-115" r="-379" b="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/>
              <p:cNvSpPr txBox="1"/>
              <p:nvPr/>
            </p:nvSpPr>
            <p:spPr>
              <a:xfrm>
                <a:off x="8368964" y="2664578"/>
                <a:ext cx="4106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964" y="2664578"/>
                <a:ext cx="410625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73" t="-32" r="19" b="1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ight Brace 59"/>
          <p:cNvSpPr/>
          <p:nvPr/>
        </p:nvSpPr>
        <p:spPr>
          <a:xfrm rot="16200000">
            <a:off x="7005030" y="946505"/>
            <a:ext cx="571356" cy="297776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6708354" y="1798178"/>
                <a:ext cx="173990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Reward to go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354" y="1798178"/>
                <a:ext cx="1739900" cy="368300"/>
              </a:xfrm>
              <a:prstGeom prst="rect">
                <a:avLst/>
              </a:prstGeom>
              <a:blipFill rotWithShape="1">
                <a:blip r:embed="rId8"/>
                <a:stretch>
                  <a:fillRect l="-12" t="-134" r="12" b="1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 bldLvl="0" animBg="1"/>
      <p:bldP spid="6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827201" y="5083600"/>
            <a:ext cx="3617477" cy="50496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User: Where is Taj Mahal? Assistant: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5" y="-64310"/>
            <a:ext cx="11307763" cy="1325562"/>
          </a:xfrm>
        </p:spPr>
        <p:txBody>
          <a:bodyPr/>
          <a:lstStyle/>
          <a:p>
            <a:r>
              <a:rPr lang="en-US" dirty="0"/>
              <a:t>REINFORCE gradient estimation with Q functions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4444678" y="5069951"/>
            <a:ext cx="7222603" cy="504967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5" spcCol="36000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Taj        Mahal         is                  in            Agra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/>
              <p:cNvSpPr/>
              <p:nvPr/>
            </p:nvSpPr>
            <p:spPr>
              <a:xfrm>
                <a:off x="659760" y="3782809"/>
                <a:ext cx="11089328" cy="1088409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LLM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60" y="3782809"/>
                <a:ext cx="11089328" cy="1088409"/>
              </a:xfrm>
              <a:prstGeom prst="roundRect">
                <a:avLst/>
              </a:prstGeom>
              <a:blipFill rotWithShape="1">
                <a:blip r:embed="rId1"/>
                <a:stretch>
                  <a:fillRect l="-63" t="-594" r="-54" b="-571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V="1">
            <a:off x="3861470" y="3427942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109391" y="2965917"/>
                <a:ext cx="2879090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Taj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 b="0" smtClean="0">
                              <a:latin typeface="Cambria Math" panose="02040503050406030204" pitchFamily="18" charset="0"/>
                            </a:rPr>
                            <m:t>Taj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391" y="2965917"/>
                <a:ext cx="2879090" cy="309245"/>
              </a:xfrm>
              <a:prstGeom prst="rect">
                <a:avLst/>
              </a:prstGeom>
              <a:blipFill rotWithShape="1">
                <a:blip r:embed="rId2"/>
                <a:stretch>
                  <a:fillRect l="-350" t="-3231" r="-312" b="-2929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V="1">
            <a:off x="5116334" y="2723634"/>
            <a:ext cx="0" cy="1009308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185339" y="2354302"/>
                <a:ext cx="3373665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Mahal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 b="0" smtClean="0">
                              <a:latin typeface="Cambria Math" panose="02040503050406030204" pitchFamily="18" charset="0"/>
                            </a:rPr>
                            <m:t>Mahal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339" y="2354302"/>
                <a:ext cx="3373665" cy="309245"/>
              </a:xfrm>
              <a:prstGeom prst="rect">
                <a:avLst/>
              </a:prstGeom>
              <a:blipFill rotWithShape="1">
                <a:blip r:embed="rId3"/>
                <a:stretch>
                  <a:fillRect l="-288" t="-3196" r="-280" b="-2965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5274041" y="2956116"/>
                <a:ext cx="2539365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 b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041" y="2956116"/>
                <a:ext cx="2539365" cy="309245"/>
              </a:xfrm>
              <a:prstGeom prst="rect">
                <a:avLst/>
              </a:prstGeom>
              <a:blipFill rotWithShape="1">
                <a:blip r:embed="rId4"/>
                <a:stretch>
                  <a:fillRect l="-390" t="-3142" r="-361" b="-3018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>
            <a:endCxn id="33" idx="2"/>
          </p:cNvCxnSpPr>
          <p:nvPr/>
        </p:nvCxnSpPr>
        <p:spPr>
          <a:xfrm flipH="1" flipV="1">
            <a:off x="6544283" y="3265123"/>
            <a:ext cx="5831" cy="49123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9535822" y="2336764"/>
                <a:ext cx="2674388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eot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 b="0" smtClean="0">
                              <a:latin typeface="Cambria Math" panose="02040503050406030204" pitchFamily="18" charset="0"/>
                            </a:rPr>
                            <m:t>eot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822" y="2336764"/>
                <a:ext cx="2674388" cy="309245"/>
              </a:xfrm>
              <a:prstGeom prst="rect">
                <a:avLst/>
              </a:prstGeom>
              <a:blipFill rotWithShape="1">
                <a:blip r:embed="rId5"/>
                <a:stretch>
                  <a:fillRect l="-357" t="-3274" r="-340" b="-2886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V="1">
            <a:off x="8034451" y="2753610"/>
            <a:ext cx="0" cy="102919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6807116" y="2374402"/>
                <a:ext cx="2559846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 b="0" smtClean="0">
                              <a:latin typeface="Cambria Math" panose="02040503050406030204" pitchFamily="18" charset="0"/>
                            </a:rPr>
                            <m:t>in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116" y="2374402"/>
                <a:ext cx="2559846" cy="309245"/>
              </a:xfrm>
              <a:prstGeom prst="rect">
                <a:avLst/>
              </a:prstGeom>
              <a:blipFill rotWithShape="1">
                <a:blip r:embed="rId6"/>
                <a:stretch>
                  <a:fillRect l="-394" t="-3124" r="-369" b="-3036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/>
          <p:nvPr/>
        </p:nvCxnSpPr>
        <p:spPr>
          <a:xfrm flipV="1">
            <a:off x="9541089" y="3411121"/>
            <a:ext cx="0" cy="35803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11410484" y="2723634"/>
            <a:ext cx="31675" cy="109483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8123729" y="2962810"/>
                <a:ext cx="3145790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Agra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 b="0" smtClean="0">
                              <a:latin typeface="Cambria Math" panose="02040503050406030204" pitchFamily="18" charset="0"/>
                            </a:rPr>
                            <m:t>Agra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729" y="2962810"/>
                <a:ext cx="3145790" cy="309245"/>
              </a:xfrm>
              <a:prstGeom prst="rect">
                <a:avLst/>
              </a:prstGeom>
              <a:blipFill rotWithShape="1">
                <a:blip r:embed="rId7"/>
                <a:stretch>
                  <a:fillRect l="-308" t="-3253" r="-297" b="-2907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Brace 44"/>
          <p:cNvSpPr/>
          <p:nvPr/>
        </p:nvSpPr>
        <p:spPr>
          <a:xfrm rot="16200000">
            <a:off x="7199981" y="-2055437"/>
            <a:ext cx="369333" cy="8287474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6256860" y="1482288"/>
            <a:ext cx="2255574" cy="4452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 &amp; backpropagate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752354" y="1875099"/>
                <a:ext cx="166051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/>
              </a:p>
              <a:p>
                <a:r>
                  <a:rPr lang="en-US" dirty="0"/>
                  <a:t>is the reward of </a:t>
                </a:r>
                <a:endParaRPr lang="en-US" dirty="0"/>
              </a:p>
              <a:p>
                <a:r>
                  <a:rPr lang="en-US" dirty="0"/>
                  <a:t>the final output</a:t>
                </a:r>
                <a:endParaRPr lang="en-US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54" y="1875099"/>
                <a:ext cx="1660519" cy="923330"/>
              </a:xfrm>
              <a:prstGeom prst="rect">
                <a:avLst/>
              </a:prstGeom>
              <a:blipFill rotWithShape="1">
                <a:blip r:embed="rId8"/>
                <a:stretch>
                  <a:fillRect l="-31" t="-63" r="-6853" b="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63262" y="5684611"/>
            <a:ext cx="798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Doesn’t matter what gets generated in the future. The “reward” at token “Taj” is fixed. 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function – A baseline for the Q function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Mean-centering the Q-function can further reduce variance in the estimator.</a:t>
                </a:r>
                <a:endParaRPr lang="en-US" dirty="0"/>
              </a:p>
              <a:p>
                <a:r>
                  <a:rPr lang="en-US" dirty="0"/>
                  <a:t>The expected Q-function at a state s under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is referred to as the value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baseline subtracted Q is referred to as advantage function.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Intuitively, advantage function captures contribution of the current action over </a:t>
                </a:r>
                <a:br>
                  <a:rPr lang="en-US" dirty="0"/>
                </a:br>
                <a:r>
                  <a:rPr lang="en-US" dirty="0"/>
                  <a:t>an average action at the same state.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827201" y="5083600"/>
            <a:ext cx="3617477" cy="50496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User: Where is Taj Mahal? Assistant: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5" y="-64310"/>
            <a:ext cx="11307763" cy="1325562"/>
          </a:xfrm>
        </p:spPr>
        <p:txBody>
          <a:bodyPr/>
          <a:lstStyle/>
          <a:p>
            <a:r>
              <a:rPr lang="en-US" dirty="0"/>
              <a:t>REINFORCE with advantage functions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4444678" y="5069951"/>
            <a:ext cx="7222603" cy="504967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5" spcCol="36000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Taj        Mahal         is                  in            Agra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/>
              <p:cNvSpPr/>
              <p:nvPr/>
            </p:nvSpPr>
            <p:spPr>
              <a:xfrm>
                <a:off x="659760" y="3782809"/>
                <a:ext cx="11089328" cy="1088409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LLM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60" y="3782809"/>
                <a:ext cx="11089328" cy="1088409"/>
              </a:xfrm>
              <a:prstGeom prst="roundRect">
                <a:avLst/>
              </a:prstGeom>
              <a:blipFill rotWithShape="1">
                <a:blip r:embed="rId1"/>
                <a:stretch>
                  <a:fillRect l="-63" t="-594" r="-54" b="-571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V="1">
            <a:off x="3861470" y="3427942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327972" y="3010811"/>
                <a:ext cx="2860675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Taj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𝑇𝑎𝑗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972" y="3010811"/>
                <a:ext cx="2860675" cy="309245"/>
              </a:xfrm>
              <a:prstGeom prst="rect">
                <a:avLst/>
              </a:prstGeom>
              <a:blipFill rotWithShape="1">
                <a:blip r:embed="rId2"/>
                <a:stretch>
                  <a:fillRect l="-335" t="-3169" r="-331" b="-299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H="1" flipV="1">
            <a:off x="5213733" y="2739852"/>
            <a:ext cx="40877" cy="102896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5274041" y="2956116"/>
                <a:ext cx="2520950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041" y="2956116"/>
                <a:ext cx="2520950" cy="309245"/>
              </a:xfrm>
              <a:prstGeom prst="rect">
                <a:avLst/>
              </a:prstGeom>
              <a:blipFill rotWithShape="1">
                <a:blip r:embed="rId3"/>
                <a:stretch>
                  <a:fillRect l="-392" t="-3142" r="-363" b="-3018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>
            <a:endCxn id="33" idx="2"/>
          </p:cNvCxnSpPr>
          <p:nvPr/>
        </p:nvCxnSpPr>
        <p:spPr>
          <a:xfrm flipV="1">
            <a:off x="6534727" y="3265123"/>
            <a:ext cx="0" cy="443712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8034451" y="2753610"/>
            <a:ext cx="0" cy="102919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9541089" y="3411121"/>
            <a:ext cx="0" cy="35803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11512547" y="2720794"/>
            <a:ext cx="31675" cy="109483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8132787" y="2978388"/>
                <a:ext cx="3127375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Agra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𝐴𝑔𝑟𝑎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787" y="2978388"/>
                <a:ext cx="3127375" cy="309245"/>
              </a:xfrm>
              <a:prstGeom prst="rect">
                <a:avLst/>
              </a:prstGeom>
              <a:blipFill rotWithShape="1">
                <a:blip r:embed="rId4"/>
                <a:stretch>
                  <a:fillRect l="-316" t="-3157" r="-294" b="-3003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Brace 44"/>
          <p:cNvSpPr/>
          <p:nvPr/>
        </p:nvSpPr>
        <p:spPr>
          <a:xfrm rot="16200000">
            <a:off x="7199981" y="-2055437"/>
            <a:ext cx="369333" cy="8287474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6256860" y="1482288"/>
            <a:ext cx="2255574" cy="4452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 &amp; backpropagate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3262" y="5684611"/>
            <a:ext cx="798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Doesn’t matter what gets generated in the future. The “reward” at token “Taj” is fixed.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9"/>
              <p:cNvSpPr txBox="1"/>
              <p:nvPr/>
            </p:nvSpPr>
            <p:spPr>
              <a:xfrm>
                <a:off x="3023697" y="2382660"/>
                <a:ext cx="3365447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Mahal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𝑀𝑎ℎ𝑎𝑙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697" y="2382660"/>
                <a:ext cx="3365447" cy="309245"/>
              </a:xfrm>
              <a:prstGeom prst="rect">
                <a:avLst/>
              </a:prstGeom>
              <a:blipFill rotWithShape="1">
                <a:blip r:embed="rId5"/>
                <a:stretch>
                  <a:fillRect l="-297" t="-3125" r="-271" b="-3035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4"/>
              <p:cNvSpPr txBox="1"/>
              <p:nvPr/>
            </p:nvSpPr>
            <p:spPr>
              <a:xfrm>
                <a:off x="9342694" y="2348856"/>
                <a:ext cx="2766695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eot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𝑒𝑜𝑡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2694" y="2348856"/>
                <a:ext cx="2766695" cy="309245"/>
              </a:xfrm>
              <a:prstGeom prst="rect">
                <a:avLst/>
              </a:prstGeom>
              <a:blipFill rotWithShape="1">
                <a:blip r:embed="rId6"/>
                <a:stretch>
                  <a:fillRect l="-365" t="-3283" r="-324" b="-2878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36"/>
              <p:cNvSpPr txBox="1"/>
              <p:nvPr/>
            </p:nvSpPr>
            <p:spPr>
              <a:xfrm>
                <a:off x="6594014" y="2348856"/>
                <a:ext cx="2551849" cy="30924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b="0" i="1" dirty="0" smtClean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14" y="2348856"/>
                <a:ext cx="2551849" cy="309245"/>
              </a:xfrm>
              <a:prstGeom prst="rect">
                <a:avLst/>
              </a:prstGeom>
              <a:blipFill rotWithShape="1">
                <a:blip r:embed="rId7"/>
                <a:stretch>
                  <a:fillRect l="-380" t="-3283" r="-350" b="-2878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Q and Value functions for an LLM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Given: an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 the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Q-function for a state-action pair is estimated using a single sample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𝑄</m:t>
                      </m:r>
                      <m:d>
                        <m:d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𝑟</m:t>
                      </m:r>
                      <m:d>
                        <m:d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+</m:t>
                      </m:r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𝑟</m:t>
                      </m:r>
                      <m:d>
                        <m:d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+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+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+</m:t>
                      </m:r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⋯+</m:t>
                      </m:r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𝑟</m:t>
                      </m:r>
                      <m:d>
                        <m:d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The value function is estimated by training a neural network</a:t>
                </a:r>
                <a:endParaRPr lang="en-US" dirty="0"/>
              </a:p>
              <a:p>
                <a:pPr lvl="1"/>
                <a:r>
                  <a:rPr lang="en-US" dirty="0"/>
                  <a:t>The cumulative discounted reward for each time-step is computed.</a:t>
                </a:r>
                <a:endParaRPr lang="en-US" dirty="0"/>
              </a:p>
              <a:p>
                <a:pPr lvl="1"/>
                <a:r>
                  <a:rPr lang="en-US" dirty="0"/>
                  <a:t>MSE between predicted value and the cumulative discounted reward is minimized.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  <m:sup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𝑟</m:t>
                                      </m:r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 dirty="0"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+</m:t>
                                      </m:r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𝑟</m:t>
                                      </m:r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 dirty="0"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i="1" dirty="0">
                                                  <a:latin typeface="DejaVu Math TeX Gyre" panose="02000503000000000000" charset="0"/>
                                                  <a:cs typeface="DejaVu Math TeX Gyre" panose="02000503000000000000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+⋯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31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Value function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2453772" y="3834121"/>
            <a:ext cx="6200637" cy="1119117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LLM Policy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2781321" y="5220255"/>
                <a:ext cx="423080" cy="3411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21" y="5220255"/>
                <a:ext cx="423080" cy="341194"/>
              </a:xfrm>
              <a:prstGeom prst="roundRect">
                <a:avLst/>
              </a:prstGeom>
              <a:blipFill rotWithShape="1">
                <a:blip r:embed="rId2"/>
                <a:stretch>
                  <a:fillRect l="-1506" t="-2024" r="-1456" b="-1826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5" idx="0"/>
          </p:cNvCxnSpPr>
          <p:nvPr/>
        </p:nvCxnSpPr>
        <p:spPr>
          <a:xfrm flipV="1">
            <a:off x="2992861" y="4953238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/>
              <p:cNvSpPr/>
              <p:nvPr/>
            </p:nvSpPr>
            <p:spPr>
              <a:xfrm>
                <a:off x="3415941" y="5220255"/>
                <a:ext cx="423080" cy="3411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941" y="5220255"/>
                <a:ext cx="423080" cy="341194"/>
              </a:xfrm>
              <a:prstGeom prst="roundRect">
                <a:avLst/>
              </a:prstGeom>
              <a:blipFill rotWithShape="1">
                <a:blip r:embed="rId3"/>
                <a:stretch>
                  <a:fillRect l="-1566" t="-2024" r="-1395" b="-1826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7" idx="0"/>
          </p:cNvCxnSpPr>
          <p:nvPr/>
        </p:nvCxnSpPr>
        <p:spPr>
          <a:xfrm flipV="1">
            <a:off x="3627481" y="4953238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/>
              <p:cNvSpPr/>
              <p:nvPr/>
            </p:nvSpPr>
            <p:spPr>
              <a:xfrm>
                <a:off x="4064209" y="5220255"/>
                <a:ext cx="423080" cy="3411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209" y="5220255"/>
                <a:ext cx="423080" cy="341194"/>
              </a:xfrm>
              <a:prstGeom prst="roundRect">
                <a:avLst/>
              </a:prstGeom>
              <a:blipFill rotWithShape="1">
                <a:blip r:embed="rId4"/>
                <a:stretch>
                  <a:fillRect l="-1550" t="-2024" r="-1411" b="-1826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9" idx="0"/>
          </p:cNvCxnSpPr>
          <p:nvPr/>
        </p:nvCxnSpPr>
        <p:spPr>
          <a:xfrm flipV="1">
            <a:off x="4275749" y="4953238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10"/>
              <p:cNvSpPr/>
              <p:nvPr/>
            </p:nvSpPr>
            <p:spPr>
              <a:xfrm>
                <a:off x="4698829" y="5247551"/>
                <a:ext cx="423080" cy="3411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829" y="5247551"/>
                <a:ext cx="423080" cy="341194"/>
              </a:xfrm>
              <a:prstGeom prst="roundRect">
                <a:avLst/>
              </a:prstGeom>
              <a:blipFill rotWithShape="1">
                <a:blip r:embed="rId5"/>
                <a:stretch>
                  <a:fillRect l="-1611" t="-2021" r="-1351" b="-1829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1" idx="0"/>
          </p:cNvCxnSpPr>
          <p:nvPr/>
        </p:nvCxnSpPr>
        <p:spPr>
          <a:xfrm flipV="1">
            <a:off x="4910369" y="4980534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/>
              <p:cNvSpPr/>
              <p:nvPr/>
            </p:nvSpPr>
            <p:spPr>
              <a:xfrm>
                <a:off x="5333449" y="5233903"/>
                <a:ext cx="423080" cy="3411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449" y="5233903"/>
                <a:ext cx="423080" cy="341194"/>
              </a:xfrm>
              <a:prstGeom prst="roundRect">
                <a:avLst/>
              </a:prstGeom>
              <a:blipFill rotWithShape="1">
                <a:blip r:embed="rId6"/>
                <a:stretch>
                  <a:fillRect l="-1521" t="-1929" r="-1441" b="-1734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13" idx="0"/>
          </p:cNvCxnSpPr>
          <p:nvPr/>
        </p:nvCxnSpPr>
        <p:spPr>
          <a:xfrm flipV="1">
            <a:off x="5544989" y="4966886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ounded Rectangle 14"/>
              <p:cNvSpPr/>
              <p:nvPr/>
            </p:nvSpPr>
            <p:spPr>
              <a:xfrm>
                <a:off x="5961245" y="5220255"/>
                <a:ext cx="423080" cy="34119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245" y="5220255"/>
                <a:ext cx="423080" cy="341194"/>
              </a:xfrm>
              <a:prstGeom prst="roundRect">
                <a:avLst/>
              </a:prstGeom>
              <a:blipFill rotWithShape="1">
                <a:blip r:embed="rId7"/>
                <a:stretch>
                  <a:fillRect l="-1619" t="-2024" r="-1493" b="-1826"/>
                </a:stretch>
              </a:blip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15" idx="0"/>
          </p:cNvCxnSpPr>
          <p:nvPr/>
        </p:nvCxnSpPr>
        <p:spPr>
          <a:xfrm flipV="1">
            <a:off x="6172785" y="4953238"/>
            <a:ext cx="6824" cy="267017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ounded Rectangle 16"/>
              <p:cNvSpPr/>
              <p:nvPr/>
            </p:nvSpPr>
            <p:spPr>
              <a:xfrm>
                <a:off x="6616337" y="5233903"/>
                <a:ext cx="423080" cy="34119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Rounded 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337" y="5233903"/>
                <a:ext cx="423080" cy="341194"/>
              </a:xfrm>
              <a:prstGeom prst="roundRect">
                <a:avLst/>
              </a:prstGeom>
              <a:blipFill rotWithShape="1">
                <a:blip r:embed="rId8"/>
                <a:stretch>
                  <a:fillRect l="-1565" t="-1929" r="-1396" b="-1734"/>
                </a:stretch>
              </a:blip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17" idx="0"/>
          </p:cNvCxnSpPr>
          <p:nvPr/>
        </p:nvCxnSpPr>
        <p:spPr>
          <a:xfrm flipV="1">
            <a:off x="6827877" y="4966886"/>
            <a:ext cx="6824" cy="267017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ounded Rectangle 18"/>
              <p:cNvSpPr/>
              <p:nvPr/>
            </p:nvSpPr>
            <p:spPr>
              <a:xfrm>
                <a:off x="7244133" y="5220255"/>
                <a:ext cx="423080" cy="34119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Rounded 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133" y="5220255"/>
                <a:ext cx="423080" cy="341194"/>
              </a:xfrm>
              <a:prstGeom prst="roundRect">
                <a:avLst/>
              </a:prstGeom>
              <a:blipFill rotWithShape="1">
                <a:blip r:embed="rId9"/>
                <a:stretch>
                  <a:fillRect l="-1513" t="-2024" r="-1448" b="-1826"/>
                </a:stretch>
              </a:blip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9" idx="0"/>
          </p:cNvCxnSpPr>
          <p:nvPr/>
        </p:nvCxnSpPr>
        <p:spPr>
          <a:xfrm flipV="1">
            <a:off x="7455673" y="4953238"/>
            <a:ext cx="6824" cy="267017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ounded Rectangle 20"/>
              <p:cNvSpPr/>
              <p:nvPr/>
            </p:nvSpPr>
            <p:spPr>
              <a:xfrm>
                <a:off x="7899225" y="5233903"/>
                <a:ext cx="423080" cy="34119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Rounded 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225" y="5233903"/>
                <a:ext cx="423080" cy="341194"/>
              </a:xfrm>
              <a:prstGeom prst="roundRect">
                <a:avLst/>
              </a:prstGeom>
              <a:blipFill rotWithShape="1">
                <a:blip r:embed="rId10"/>
                <a:stretch>
                  <a:fillRect l="-1610" t="-1929" r="-1352" b="-1734"/>
                </a:stretch>
              </a:blip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>
            <a:stCxn id="21" idx="0"/>
          </p:cNvCxnSpPr>
          <p:nvPr/>
        </p:nvCxnSpPr>
        <p:spPr>
          <a:xfrm flipV="1">
            <a:off x="8110765" y="4966886"/>
            <a:ext cx="6824" cy="267017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ounded Rectangle 30"/>
              <p:cNvSpPr/>
              <p:nvPr/>
            </p:nvSpPr>
            <p:spPr>
              <a:xfrm>
                <a:off x="4494113" y="3173591"/>
                <a:ext cx="1890212" cy="3821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𝑒𝑚𝑏𝑒𝑑𝑑𝑖𝑛𝑔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Rounded 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113" y="3173591"/>
                <a:ext cx="1890212" cy="382137"/>
              </a:xfrm>
              <a:prstGeom prst="roundRect">
                <a:avLst/>
              </a:prstGeom>
              <a:blipFill rotWithShape="1">
                <a:blip r:embed="rId11"/>
                <a:stretch>
                  <a:fillRect l="-347" t="-1792" r="-5776" b="-1567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 flipV="1">
            <a:off x="5560920" y="3562552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ounded Rectangle 38"/>
              <p:cNvSpPr/>
              <p:nvPr/>
            </p:nvSpPr>
            <p:spPr>
              <a:xfrm>
                <a:off x="7141491" y="3200879"/>
                <a:ext cx="1970437" cy="3821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𝑒𝑚𝑏𝑒𝑑𝑑𝑖𝑛𝑔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9" name="Rounded 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491" y="3200879"/>
                <a:ext cx="1970437" cy="382137"/>
              </a:xfrm>
              <a:prstGeom prst="roundRect">
                <a:avLst/>
              </a:prstGeom>
              <a:blipFill rotWithShape="1">
                <a:blip r:embed="rId12"/>
                <a:stretch>
                  <a:fillRect l="-337" t="-1787" r="-3368" b="-1571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 flipV="1">
            <a:off x="8119886" y="3583016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riangle 40"/>
          <p:cNvSpPr/>
          <p:nvPr/>
        </p:nvSpPr>
        <p:spPr>
          <a:xfrm>
            <a:off x="4494113" y="2362031"/>
            <a:ext cx="1288329" cy="784264"/>
          </a:xfrm>
          <a:prstGeom prst="triangle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Linear layer</a:t>
            </a:r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4079868" y="1961253"/>
                <a:ext cx="7825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868" y="1961253"/>
                <a:ext cx="782587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80" t="-101" r="-4592" b="3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Parallelogram 43"/>
          <p:cNvSpPr/>
          <p:nvPr/>
        </p:nvSpPr>
        <p:spPr>
          <a:xfrm>
            <a:off x="4917193" y="2141316"/>
            <a:ext cx="1699144" cy="1004979"/>
          </a:xfrm>
          <a:prstGeom prst="parallelogram">
            <a:avLst>
              <a:gd name="adj" fmla="val 73373"/>
            </a:avLst>
          </a:prstGeom>
          <a:solidFill>
            <a:schemeClr val="accent3">
              <a:alpha val="51000"/>
            </a:schemeClr>
          </a:solidFill>
          <a:ln>
            <a:solidFill>
              <a:schemeClr val="accent1">
                <a:shade val="15000"/>
                <a:alpha val="5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Linear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Layer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5567744" y="1725682"/>
                <a:ext cx="10713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744" y="1725682"/>
                <a:ext cx="1071383" cy="369332"/>
              </a:xfrm>
              <a:prstGeom prst="rect">
                <a:avLst/>
              </a:prstGeom>
              <a:blipFill rotWithShape="1">
                <a:blip r:embed="rId14"/>
                <a:stretch>
                  <a:fillRect l="-6" t="-105" r="-3241" b="4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riangle 45"/>
          <p:cNvSpPr/>
          <p:nvPr/>
        </p:nvSpPr>
        <p:spPr>
          <a:xfrm>
            <a:off x="7381757" y="2378837"/>
            <a:ext cx="1288329" cy="784264"/>
          </a:xfrm>
          <a:prstGeom prst="triangle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Linear layer</a:t>
            </a:r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6967512" y="1978059"/>
                <a:ext cx="8022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512" y="1978059"/>
                <a:ext cx="802271" cy="369332"/>
              </a:xfrm>
              <a:prstGeom prst="rect">
                <a:avLst/>
              </a:prstGeom>
              <a:blipFill rotWithShape="1">
                <a:blip r:embed="rId15"/>
                <a:stretch>
                  <a:fillRect l="-36" t="-9" r="-6737" b="1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Parallelogram 47"/>
          <p:cNvSpPr/>
          <p:nvPr/>
        </p:nvSpPr>
        <p:spPr>
          <a:xfrm>
            <a:off x="7804837" y="2158122"/>
            <a:ext cx="1699144" cy="1004979"/>
          </a:xfrm>
          <a:prstGeom prst="parallelogram">
            <a:avLst>
              <a:gd name="adj" fmla="val 73373"/>
            </a:avLst>
          </a:prstGeom>
          <a:solidFill>
            <a:schemeClr val="accent3">
              <a:alpha val="51000"/>
            </a:schemeClr>
          </a:solidFill>
          <a:ln>
            <a:solidFill>
              <a:schemeClr val="accent1">
                <a:shade val="15000"/>
                <a:alpha val="5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Linear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Layer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8455388" y="1742488"/>
                <a:ext cx="1148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5388" y="1742488"/>
                <a:ext cx="1148776" cy="369332"/>
              </a:xfrm>
              <a:prstGeom prst="rect">
                <a:avLst/>
              </a:prstGeom>
              <a:blipFill rotWithShape="1">
                <a:blip r:embed="rId16"/>
                <a:stretch>
                  <a:fillRect l="-32" t="-13" r="-2782" b="1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/>
          <p:cNvSpPr txBox="1"/>
          <p:nvPr/>
        </p:nvSpPr>
        <p:spPr>
          <a:xfrm>
            <a:off x="6472209" y="3368790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…….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Actor-Critic Family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actor is the policy network that chooses actions given states.</a:t>
                </a:r>
                <a:endParaRPr lang="en-US" dirty="0"/>
              </a:p>
              <a:p>
                <a:pPr lvl="1"/>
                <a:r>
                  <a:rPr lang="en-US" dirty="0"/>
                  <a:t>It is parameterized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The critic is the value function approximator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The actor is trained using the following gradient estimate.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func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The critic is trained to minimize the MSE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This family of algorithms includes PPO.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ii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21717"/>
      </a:accent1>
      <a:accent2>
        <a:srgbClr val="F1E3E3"/>
      </a:accent2>
      <a:accent3>
        <a:srgbClr val="A5A5A5"/>
      </a:accent3>
      <a:accent4>
        <a:srgbClr val="333333"/>
      </a:accent4>
      <a:accent5>
        <a:srgbClr val="5B9BD5"/>
      </a:accent5>
      <a:accent6>
        <a:srgbClr val="E08080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"/>
        <a:cs typeface=""/>
      </a:majorFont>
      <a:minorFont>
        <a:latin typeface="Apto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NPTEL_Template</Template>
  <TotalTime>0</TotalTime>
  <Words>16348</Words>
  <Application>WPS Presentation</Application>
  <PresentationFormat>Widescreen</PresentationFormat>
  <Paragraphs>672</Paragraphs>
  <Slides>40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7" baseType="lpstr">
      <vt:lpstr>Arial</vt:lpstr>
      <vt:lpstr>SimSun</vt:lpstr>
      <vt:lpstr>Wingdings</vt:lpstr>
      <vt:lpstr>Aptos Display</vt:lpstr>
      <vt:lpstr>Clear Sans Thin</vt:lpstr>
      <vt:lpstr>Aptos Display</vt:lpstr>
      <vt:lpstr>Comfortaa Light</vt:lpstr>
      <vt:lpstr>Cambria Math</vt:lpstr>
      <vt:lpstr>DejaVu Math TeX Gyre</vt:lpstr>
      <vt:lpstr>Microsoft YaHei</vt:lpstr>
      <vt:lpstr>Droid Sans Fallback</vt:lpstr>
      <vt:lpstr>Arial Unicode MS</vt:lpstr>
      <vt:lpstr>Calibri</vt:lpstr>
      <vt:lpstr>MS Mincho</vt:lpstr>
      <vt:lpstr>OpenSymbol</vt:lpstr>
      <vt:lpstr>Symbola</vt:lpstr>
      <vt:lpstr>1_Office Theme</vt:lpstr>
      <vt:lpstr>Advances in Large Language Models ELL8299 · AIL861</vt:lpstr>
      <vt:lpstr>Reward Maximization</vt:lpstr>
      <vt:lpstr>Reward Maximization</vt:lpstr>
      <vt:lpstr>Best-of-N policy</vt:lpstr>
      <vt:lpstr>Best-of-n policy</vt:lpstr>
      <vt:lpstr>Reward Maximization</vt:lpstr>
      <vt:lpstr>The reward-maximization objective </vt:lpstr>
      <vt:lpstr>Why care about closeness to ?</vt:lpstr>
      <vt:lpstr>Formulating the objective – Reward Maximization part</vt:lpstr>
      <vt:lpstr>Formulating the objective – closeness to </vt:lpstr>
      <vt:lpstr>KL divergence</vt:lpstr>
      <vt:lpstr>Combining the objective</vt:lpstr>
      <vt:lpstr>Regularized reward maximization</vt:lpstr>
      <vt:lpstr>Why  and not </vt:lpstr>
      <vt:lpstr>The regularized reward maximization objective</vt:lpstr>
      <vt:lpstr>Reward Maximization</vt:lpstr>
      <vt:lpstr>How to maximize the (reward) objective?</vt:lpstr>
      <vt:lpstr>Computing the gradient</vt:lpstr>
      <vt:lpstr>The log-derivative trick</vt:lpstr>
      <vt:lpstr>Estimating the gradient – REINFORCE </vt:lpstr>
      <vt:lpstr>Estimating the gradient – REINFORCE </vt:lpstr>
      <vt:lpstr>Expanding the gradient</vt:lpstr>
      <vt:lpstr>Implementing the REINFORCE gradient estimate</vt:lpstr>
      <vt:lpstr>The Vanilla Policy Gradient Algorithm</vt:lpstr>
      <vt:lpstr>Motivating the baseline</vt:lpstr>
      <vt:lpstr>Baseline subtraction to reduce variance</vt:lpstr>
      <vt:lpstr>The Vanilla Policy Gradient Algorithm (with baseline)</vt:lpstr>
      <vt:lpstr>Reward Maximization</vt:lpstr>
      <vt:lpstr>The REINFORCE gradient estimate</vt:lpstr>
      <vt:lpstr>The problem of credit assignment</vt:lpstr>
      <vt:lpstr>PowerPoint 演示文稿</vt:lpstr>
      <vt:lpstr>The Q-function</vt:lpstr>
      <vt:lpstr>Why discounting?</vt:lpstr>
      <vt:lpstr>The Q-function for LLMs</vt:lpstr>
      <vt:lpstr>REINFORCE gradient estimation with Q functions</vt:lpstr>
      <vt:lpstr>Value function – A baseline for the Q function</vt:lpstr>
      <vt:lpstr>REINFORCE with advantage functions</vt:lpstr>
      <vt:lpstr>Estimating Q and Value functions for an LLM</vt:lpstr>
      <vt:lpstr>The Value function network </vt:lpstr>
      <vt:lpstr>The Actor-Critic Family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Anwoy Chatterjee</dc:creator>
  <cp:lastModifiedBy>soumen</cp:lastModifiedBy>
  <cp:revision>125</cp:revision>
  <dcterms:created xsi:type="dcterms:W3CDTF">2026-03-13T07:59:43Z</dcterms:created>
  <dcterms:modified xsi:type="dcterms:W3CDTF">2026-03-13T07:59:43Z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