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media/image1.svg" ContentType="image/svg+xml"/>
  <Override PartName="/ppt/media/image10.svg" ContentType="image/svg+xml"/>
  <Override PartName="/ppt/media/image11.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86" r:id="rId3"/>
    <p:sldId id="603" r:id="rId4"/>
    <p:sldId id="549" r:id="rId5"/>
    <p:sldId id="625" r:id="rId6"/>
    <p:sldId id="555" r:id="rId7"/>
    <p:sldId id="623" r:id="rId8"/>
    <p:sldId id="604" r:id="rId9"/>
    <p:sldId id="606" r:id="rId10"/>
    <p:sldId id="624" r:id="rId11"/>
    <p:sldId id="605" r:id="rId12"/>
    <p:sldId id="607" r:id="rId13"/>
    <p:sldId id="608" r:id="rId14"/>
    <p:sldId id="609" r:id="rId15"/>
    <p:sldId id="610" r:id="rId16"/>
    <p:sldId id="613" r:id="rId17"/>
    <p:sldId id="612" r:id="rId18"/>
    <p:sldId id="611" r:id="rId19"/>
    <p:sldId id="614" r:id="rId20"/>
    <p:sldId id="615" r:id="rId21"/>
    <p:sldId id="616" r:id="rId22"/>
    <p:sldId id="617" r:id="rId23"/>
    <p:sldId id="618" r:id="rId24"/>
    <p:sldId id="619" r:id="rId25"/>
    <p:sldId id="620" r:id="rId26"/>
    <p:sldId id="621" r:id="rId27"/>
    <p:sldId id="622" r:id="rId28"/>
    <p:sldId id="626" r:id="rId29"/>
    <p:sldId id="627" r:id="rId30"/>
    <p:sldId id="628" r:id="rId31"/>
    <p:sldId id="59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063CAA5-CFC1-4896-9A38-25641500CDCF}">
          <p14:sldIdLst>
            <p14:sldId id="386"/>
            <p14:sldId id="603"/>
            <p14:sldId id="549"/>
            <p14:sldId id="625"/>
            <p14:sldId id="555"/>
            <p14:sldId id="623"/>
            <p14:sldId id="604"/>
            <p14:sldId id="606"/>
            <p14:sldId id="624"/>
            <p14:sldId id="605"/>
            <p14:sldId id="608"/>
            <p14:sldId id="609"/>
            <p14:sldId id="610"/>
            <p14:sldId id="613"/>
            <p14:sldId id="612"/>
            <p14:sldId id="611"/>
            <p14:sldId id="614"/>
            <p14:sldId id="615"/>
            <p14:sldId id="616"/>
            <p14:sldId id="617"/>
            <p14:sldId id="618"/>
            <p14:sldId id="619"/>
            <p14:sldId id="620"/>
            <p14:sldId id="621"/>
            <p14:sldId id="622"/>
            <p14:sldId id="626"/>
            <p14:sldId id="627"/>
            <p14:sldId id="628"/>
            <p14:sldId id="596"/>
            <p14:sldId id="607"/>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98" autoAdjust="0"/>
    <p:restoredTop sz="94658"/>
  </p:normalViewPr>
  <p:slideViewPr>
    <p:cSldViewPr snapToGrid="0" showGuides="1">
      <p:cViewPr varScale="1">
        <p:scale>
          <a:sx n="120" d="100"/>
          <a:sy n="120" d="100"/>
        </p:scale>
        <p:origin x="408" y="184"/>
      </p:cViewPr>
      <p:guideLst>
        <p:guide orient="horz" pos="2510"/>
        <p:guide pos="597"/>
        <p:guide pos="6766"/>
        <p:guide orient="horz" pos="3381"/>
        <p:guide pos="1141"/>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notesMaster" Target="notesMasters/notesMaster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iagrams/_rels/data1.xml.rels><?xml version="1.0" encoding="UTF-8" standalone="yes"?>
<Relationships xmlns="http://schemas.openxmlformats.org/package/2006/relationships"><Relationship Id="rId4" Type="http://schemas.openxmlformats.org/officeDocument/2006/relationships/image" Target="../media/image4.svg"/><Relationship Id="rId3" Type="http://schemas.openxmlformats.org/officeDocument/2006/relationships/image" Target="../media/image41.png"/><Relationship Id="rId2" Type="http://schemas.openxmlformats.org/officeDocument/2006/relationships/image" Target="../media/image3.svg"/><Relationship Id="rId1" Type="http://schemas.openxmlformats.org/officeDocument/2006/relationships/image" Target="../media/image40.png"/></Relationships>
</file>

<file path=ppt/diagrams/_rels/data4.xml.rels><?xml version="1.0" encoding="UTF-8" standalone="yes"?>
<Relationships xmlns="http://schemas.openxmlformats.org/package/2006/relationships"><Relationship Id="rId6" Type="http://schemas.openxmlformats.org/officeDocument/2006/relationships/image" Target="../media/image7.svg"/><Relationship Id="rId5" Type="http://schemas.openxmlformats.org/officeDocument/2006/relationships/image" Target="../media/image44.png"/><Relationship Id="rId4" Type="http://schemas.openxmlformats.org/officeDocument/2006/relationships/image" Target="../media/image6.svg"/><Relationship Id="rId3" Type="http://schemas.openxmlformats.org/officeDocument/2006/relationships/image" Target="../media/image43.png"/><Relationship Id="rId2" Type="http://schemas.openxmlformats.org/officeDocument/2006/relationships/image" Target="../media/image5.svg"/><Relationship Id="rId1" Type="http://schemas.openxmlformats.org/officeDocument/2006/relationships/image" Target="../media/image42.png"/></Relationships>
</file>

<file path=ppt/diagrams/_rels/data6.xml.rels><?xml version="1.0" encoding="UTF-8" standalone="yes"?>
<Relationships xmlns="http://schemas.openxmlformats.org/package/2006/relationships"><Relationship Id="rId8" Type="http://schemas.openxmlformats.org/officeDocument/2006/relationships/image" Target="../media/image11.svg"/><Relationship Id="rId7" Type="http://schemas.openxmlformats.org/officeDocument/2006/relationships/image" Target="../media/image48.png"/><Relationship Id="rId6" Type="http://schemas.openxmlformats.org/officeDocument/2006/relationships/image" Target="../media/image10.svg"/><Relationship Id="rId5" Type="http://schemas.openxmlformats.org/officeDocument/2006/relationships/image" Target="../media/image47.png"/><Relationship Id="rId4" Type="http://schemas.openxmlformats.org/officeDocument/2006/relationships/image" Target="../media/image9.svg"/><Relationship Id="rId3" Type="http://schemas.openxmlformats.org/officeDocument/2006/relationships/image" Target="../media/image46.png"/><Relationship Id="rId2" Type="http://schemas.openxmlformats.org/officeDocument/2006/relationships/image" Target="../media/image8.svg"/><Relationship Id="rId1" Type="http://schemas.openxmlformats.org/officeDocument/2006/relationships/image" Target="../media/image45.png"/></Relationships>
</file>

<file path=ppt/diagrams/_rels/drawing1.xml.rels><?xml version="1.0" encoding="UTF-8" standalone="yes"?>
<Relationships xmlns="http://schemas.openxmlformats.org/package/2006/relationships"><Relationship Id="rId4" Type="http://schemas.openxmlformats.org/officeDocument/2006/relationships/image" Target="../media/image4.svg"/><Relationship Id="rId3" Type="http://schemas.openxmlformats.org/officeDocument/2006/relationships/image" Target="../media/image41.png"/><Relationship Id="rId2" Type="http://schemas.openxmlformats.org/officeDocument/2006/relationships/image" Target="../media/image3.svg"/><Relationship Id="rId1" Type="http://schemas.openxmlformats.org/officeDocument/2006/relationships/image" Target="../media/image40.png"/></Relationships>
</file>

<file path=ppt/diagrams/_rels/drawing4.xml.rels><?xml version="1.0" encoding="UTF-8" standalone="yes"?>
<Relationships xmlns="http://schemas.openxmlformats.org/package/2006/relationships"><Relationship Id="rId6" Type="http://schemas.openxmlformats.org/officeDocument/2006/relationships/image" Target="../media/image7.svg"/><Relationship Id="rId5" Type="http://schemas.openxmlformats.org/officeDocument/2006/relationships/image" Target="../media/image44.png"/><Relationship Id="rId4" Type="http://schemas.openxmlformats.org/officeDocument/2006/relationships/image" Target="../media/image6.svg"/><Relationship Id="rId3" Type="http://schemas.openxmlformats.org/officeDocument/2006/relationships/image" Target="../media/image43.png"/><Relationship Id="rId2" Type="http://schemas.openxmlformats.org/officeDocument/2006/relationships/image" Target="../media/image5.svg"/><Relationship Id="rId1" Type="http://schemas.openxmlformats.org/officeDocument/2006/relationships/image" Target="../media/image42.png"/></Relationships>
</file>

<file path=ppt/diagrams/_rels/drawing6.xml.rels><?xml version="1.0" encoding="UTF-8" standalone="yes"?>
<Relationships xmlns="http://schemas.openxmlformats.org/package/2006/relationships"><Relationship Id="rId8" Type="http://schemas.openxmlformats.org/officeDocument/2006/relationships/image" Target="../media/image11.svg"/><Relationship Id="rId7" Type="http://schemas.openxmlformats.org/officeDocument/2006/relationships/image" Target="../media/image48.png"/><Relationship Id="rId6" Type="http://schemas.openxmlformats.org/officeDocument/2006/relationships/image" Target="../media/image10.svg"/><Relationship Id="rId5" Type="http://schemas.openxmlformats.org/officeDocument/2006/relationships/image" Target="../media/image47.png"/><Relationship Id="rId4" Type="http://schemas.openxmlformats.org/officeDocument/2006/relationships/image" Target="../media/image9.svg"/><Relationship Id="rId3" Type="http://schemas.openxmlformats.org/officeDocument/2006/relationships/image" Target="../media/image46.png"/><Relationship Id="rId2" Type="http://schemas.openxmlformats.org/officeDocument/2006/relationships/image" Target="../media/image8.svg"/><Relationship Id="rId1" Type="http://schemas.openxmlformats.org/officeDocument/2006/relationships/image" Target="../media/image45.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D2EB8943-AC83-449B-A4C3-65A8B27D340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F815622D-5BED-4A59-B751-99C37E60DC1C}">
      <dgm:prSet/>
      <dgm:spPr/>
      <dgm:t>
        <a:bodyPr/>
        <a:lstStyle/>
        <a:p>
          <a:pPr>
            <a:lnSpc>
              <a:spcPct val="100000"/>
            </a:lnSpc>
          </a:pPr>
          <a:r>
            <a:rPr lang="en-US"/>
            <a:t>To bridge the gap between</a:t>
          </a:r>
        </a:p>
      </dgm:t>
    </dgm:pt>
    <dgm:pt modelId="{224FB695-689A-4CDB-8718-51C4BEA7598E}" cxnId="{6FA11FD9-ECFC-46B3-BA43-C04837FAA3F3}" type="parTrans">
      <dgm:prSet/>
      <dgm:spPr/>
      <dgm:t>
        <a:bodyPr/>
        <a:lstStyle/>
        <a:p>
          <a:endParaRPr lang="en-US"/>
        </a:p>
      </dgm:t>
    </dgm:pt>
    <dgm:pt modelId="{3D44D94C-C0E6-4295-B39B-0BA4727205C9}" cxnId="{6FA11FD9-ECFC-46B3-BA43-C04837FAA3F3}" type="sibTrans">
      <dgm:prSet/>
      <dgm:spPr/>
      <dgm:t>
        <a:bodyPr/>
        <a:lstStyle/>
        <a:p>
          <a:endParaRPr lang="en-US"/>
        </a:p>
      </dgm:t>
    </dgm:pt>
    <dgm:pt modelId="{F19A5324-C914-4505-8250-E9F754828E41}">
      <dgm:prSet/>
      <dgm:spPr/>
      <dgm:t>
        <a:bodyPr/>
        <a:lstStyle/>
        <a:p>
          <a:pPr>
            <a:lnSpc>
              <a:spcPct val="100000"/>
            </a:lnSpc>
          </a:pPr>
          <a:r>
            <a:rPr lang="en-US"/>
            <a:t>Observed behavior: Next word prediction</a:t>
          </a:r>
        </a:p>
      </dgm:t>
    </dgm:pt>
    <dgm:pt modelId="{72001A39-50F3-4A43-B7FD-174252612F5A}" cxnId="{15000A5A-AC61-461E-997A-CA79D40A6310}" type="parTrans">
      <dgm:prSet/>
      <dgm:spPr/>
      <dgm:t>
        <a:bodyPr/>
        <a:lstStyle/>
        <a:p>
          <a:endParaRPr lang="en-US"/>
        </a:p>
      </dgm:t>
    </dgm:pt>
    <dgm:pt modelId="{EBD51E58-D48C-4750-8299-9096905618B1}" cxnId="{15000A5A-AC61-461E-997A-CA79D40A6310}" type="sibTrans">
      <dgm:prSet/>
      <dgm:spPr/>
      <dgm:t>
        <a:bodyPr/>
        <a:lstStyle/>
        <a:p>
          <a:endParaRPr lang="en-US"/>
        </a:p>
      </dgm:t>
    </dgm:pt>
    <dgm:pt modelId="{DD697A08-AA43-4720-87CA-DD93703D0F71}">
      <dgm:prSet/>
      <dgm:spPr/>
      <dgm:t>
        <a:bodyPr/>
        <a:lstStyle/>
        <a:p>
          <a:pPr>
            <a:lnSpc>
              <a:spcPct val="100000"/>
            </a:lnSpc>
          </a:pPr>
          <a:r>
            <a:rPr lang="en-US"/>
            <a:t>Desired Behavior: Instruction Following</a:t>
          </a:r>
        </a:p>
      </dgm:t>
    </dgm:pt>
    <dgm:pt modelId="{7C1C4B9A-506B-41AD-BC88-4E8FFD16C19A}" cxnId="{B2463B49-D0DF-4B12-B4CA-39B95D70E822}" type="parTrans">
      <dgm:prSet/>
      <dgm:spPr/>
      <dgm:t>
        <a:bodyPr/>
        <a:lstStyle/>
        <a:p>
          <a:endParaRPr lang="en-US"/>
        </a:p>
      </dgm:t>
    </dgm:pt>
    <dgm:pt modelId="{CB1948BB-F903-46D5-8B97-D5A8155AE5CF}" cxnId="{B2463B49-D0DF-4B12-B4CA-39B95D70E822}" type="sibTrans">
      <dgm:prSet/>
      <dgm:spPr/>
      <dgm:t>
        <a:bodyPr/>
        <a:lstStyle/>
        <a:p>
          <a:endParaRPr lang="en-US"/>
        </a:p>
      </dgm:t>
    </dgm:pt>
    <dgm:pt modelId="{63B70124-CB11-4CD4-AA3D-F3B9015A31A4}">
      <dgm:prSet/>
      <dgm:spPr/>
      <dgm:t>
        <a:bodyPr/>
        <a:lstStyle/>
        <a:p>
          <a:pPr>
            <a:lnSpc>
              <a:spcPct val="100000"/>
            </a:lnSpc>
          </a:pPr>
          <a:r>
            <a:rPr lang="en-US"/>
            <a:t>To allow behavior modification during inference</a:t>
          </a:r>
        </a:p>
      </dgm:t>
    </dgm:pt>
    <dgm:pt modelId="{D0182694-6032-444D-ADEC-D93217BA75F1}" cxnId="{716F0789-C5ED-4E66-81D0-E6CF0AC4672F}" type="parTrans">
      <dgm:prSet/>
      <dgm:spPr/>
      <dgm:t>
        <a:bodyPr/>
        <a:lstStyle/>
        <a:p>
          <a:endParaRPr lang="en-US"/>
        </a:p>
      </dgm:t>
    </dgm:pt>
    <dgm:pt modelId="{1E6D19AE-351A-47F7-A9BF-789EA2FE523D}" cxnId="{716F0789-C5ED-4E66-81D0-E6CF0AC4672F}" type="sibTrans">
      <dgm:prSet/>
      <dgm:spPr/>
      <dgm:t>
        <a:bodyPr/>
        <a:lstStyle/>
        <a:p>
          <a:endParaRPr lang="en-US"/>
        </a:p>
      </dgm:t>
    </dgm:pt>
    <dgm:pt modelId="{09FB93C0-FC44-4F24-A832-23C1AD625B3C}">
      <dgm:prSet/>
      <dgm:spPr/>
      <dgm:t>
        <a:bodyPr/>
        <a:lstStyle/>
        <a:p>
          <a:pPr>
            <a:lnSpc>
              <a:spcPct val="100000"/>
            </a:lnSpc>
          </a:pPr>
          <a:r>
            <a:rPr lang="en-US"/>
            <a:t>Meta-instruction: Answer all questions as William Shakespeare would.</a:t>
          </a:r>
          <a:endParaRPr lang="en-US" dirty="0"/>
        </a:p>
      </dgm:t>
    </dgm:pt>
    <dgm:pt modelId="{DF2A62FA-61C5-42A6-A00C-422FE039610B}" cxnId="{AA52739D-C7F1-42C3-8670-7EBD7F6F73ED}" type="parTrans">
      <dgm:prSet/>
      <dgm:spPr/>
      <dgm:t>
        <a:bodyPr/>
        <a:lstStyle/>
        <a:p>
          <a:endParaRPr lang="en-US"/>
        </a:p>
      </dgm:t>
    </dgm:pt>
    <dgm:pt modelId="{E027B8DA-7162-4A3C-8335-D18429DDE64A}" cxnId="{AA52739D-C7F1-42C3-8670-7EBD7F6F73ED}" type="sibTrans">
      <dgm:prSet/>
      <dgm:spPr/>
      <dgm:t>
        <a:bodyPr/>
        <a:lstStyle/>
        <a:p>
          <a:endParaRPr lang="en-US"/>
        </a:p>
      </dgm:t>
    </dgm:pt>
    <dgm:pt modelId="{4576A41C-D833-5847-AF1F-546113903090}">
      <dgm:prSet/>
      <dgm:spPr/>
      <dgm:t>
        <a:bodyPr/>
        <a:lstStyle/>
        <a:p>
          <a:pPr>
            <a:lnSpc>
              <a:spcPct val="100000"/>
            </a:lnSpc>
          </a:pPr>
          <a:r>
            <a:rPr lang="en-GB"/>
            <a:t>Catch</a:t>
          </a:r>
          <a:endParaRPr lang="en-GB" dirty="0"/>
        </a:p>
      </dgm:t>
    </dgm:pt>
    <dgm:pt modelId="{4F4BBE80-B3BC-EB49-B2D5-D7B0F1D00154}" cxnId="{2A371C49-D422-0E40-8FB4-4D8AD818B923}" type="parTrans">
      <dgm:prSet/>
      <dgm:spPr/>
      <dgm:t>
        <a:bodyPr/>
        <a:lstStyle/>
        <a:p>
          <a:endParaRPr lang="en-GB"/>
        </a:p>
      </dgm:t>
    </dgm:pt>
    <dgm:pt modelId="{1927B63A-E459-FF4A-9F52-6E72DA340C51}" cxnId="{2A371C49-D422-0E40-8FB4-4D8AD818B923}" type="sibTrans">
      <dgm:prSet/>
      <dgm:spPr/>
      <dgm:t>
        <a:bodyPr/>
        <a:lstStyle/>
        <a:p>
          <a:endParaRPr lang="en-GB"/>
        </a:p>
      </dgm:t>
    </dgm:pt>
    <dgm:pt modelId="{E144968C-8D37-B84C-BA13-7F7FDFFB29DD}">
      <dgm:prSet/>
      <dgm:spPr/>
      <dgm:t>
        <a:bodyPr/>
        <a:lstStyle/>
        <a:p>
          <a:pPr>
            <a:lnSpc>
              <a:spcPct val="100000"/>
            </a:lnSpc>
          </a:pPr>
          <a:r>
            <a:rPr lang="en-GB"/>
            <a:t>The instruction-tuning data should be diverse and have high coverage</a:t>
          </a:r>
          <a:endParaRPr lang="en-GB" dirty="0"/>
        </a:p>
      </dgm:t>
    </dgm:pt>
    <dgm:pt modelId="{A1B7043D-0514-CE41-A07E-6CFAB6AA356C}" cxnId="{2187C081-1294-4049-AE57-43755634C2F8}" type="parTrans">
      <dgm:prSet/>
      <dgm:spPr/>
      <dgm:t>
        <a:bodyPr/>
        <a:lstStyle/>
        <a:p>
          <a:endParaRPr lang="en-GB"/>
        </a:p>
      </dgm:t>
    </dgm:pt>
    <dgm:pt modelId="{3985817C-19EC-9C49-8571-7995EF091956}" cxnId="{2187C081-1294-4049-AE57-43755634C2F8}" type="sibTrans">
      <dgm:prSet/>
      <dgm:spPr/>
      <dgm:t>
        <a:bodyPr/>
        <a:lstStyle/>
        <a:p>
          <a:endParaRPr lang="en-GB"/>
        </a:p>
      </dgm:t>
    </dgm:pt>
    <dgm:pt modelId="{C6EAFB6D-C2AC-4325-B59C-13F0AF9365BF}" type="pres">
      <dgm:prSet presAssocID="{D2EB8943-AC83-449B-A4C3-65A8B27D340A}" presName="root" presStyleCnt="0">
        <dgm:presLayoutVars>
          <dgm:dir/>
          <dgm:resizeHandles val="exact"/>
        </dgm:presLayoutVars>
      </dgm:prSet>
      <dgm:spPr/>
    </dgm:pt>
    <dgm:pt modelId="{85962BE1-CCB7-43CC-8360-9F67AEEE1CB8}" type="pres">
      <dgm:prSet presAssocID="{F815622D-5BED-4A59-B751-99C37E60DC1C}" presName="compNode" presStyleCnt="0"/>
      <dgm:spPr/>
    </dgm:pt>
    <dgm:pt modelId="{EB0318B4-C885-423D-A51A-188636FFA134}" type="pres">
      <dgm:prSet presAssocID="{F815622D-5BED-4A59-B751-99C37E60DC1C}" presName="bgRect" presStyleLbl="bgShp" presStyleIdx="0" presStyleCnt="3"/>
      <dgm:spPr/>
    </dgm:pt>
    <dgm:pt modelId="{04A95BBC-EE0F-4482-9727-CFBAE584E7DA}" type="pres">
      <dgm:prSet presAssocID="{F815622D-5BED-4A59-B751-99C37E60DC1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pt>
    <dgm:pt modelId="{726BAE7E-86FD-40F9-93B2-CEB24295A12F}" type="pres">
      <dgm:prSet presAssocID="{F815622D-5BED-4A59-B751-99C37E60DC1C}" presName="spaceRect" presStyleCnt="0"/>
      <dgm:spPr/>
    </dgm:pt>
    <dgm:pt modelId="{C898E3FF-14B6-49E4-BE3A-6A3A63C4995A}" type="pres">
      <dgm:prSet presAssocID="{F815622D-5BED-4A59-B751-99C37E60DC1C}" presName="parTx" presStyleLbl="revTx" presStyleIdx="0" presStyleCnt="6">
        <dgm:presLayoutVars>
          <dgm:chMax val="0"/>
          <dgm:chPref val="0"/>
        </dgm:presLayoutVars>
      </dgm:prSet>
      <dgm:spPr/>
    </dgm:pt>
    <dgm:pt modelId="{C7325AFE-936A-4511-9C7C-8EFF7E742063}" type="pres">
      <dgm:prSet presAssocID="{F815622D-5BED-4A59-B751-99C37E60DC1C}" presName="desTx" presStyleLbl="revTx" presStyleIdx="1" presStyleCnt="6">
        <dgm:presLayoutVars/>
      </dgm:prSet>
      <dgm:spPr/>
    </dgm:pt>
    <dgm:pt modelId="{89006953-CB89-4FF4-BAA2-A0438574A6CE}" type="pres">
      <dgm:prSet presAssocID="{3D44D94C-C0E6-4295-B39B-0BA4727205C9}" presName="sibTrans" presStyleCnt="0"/>
      <dgm:spPr/>
    </dgm:pt>
    <dgm:pt modelId="{7A818793-700F-4A47-A7CB-91F429196F92}" type="pres">
      <dgm:prSet presAssocID="{63B70124-CB11-4CD4-AA3D-F3B9015A31A4}" presName="compNode" presStyleCnt="0"/>
      <dgm:spPr/>
    </dgm:pt>
    <dgm:pt modelId="{A6DF3591-092F-4459-9A63-187D0CED6B17}" type="pres">
      <dgm:prSet presAssocID="{63B70124-CB11-4CD4-AA3D-F3B9015A31A4}" presName="bgRect" presStyleLbl="bgShp" presStyleIdx="1" presStyleCnt="3"/>
      <dgm:spPr/>
    </dgm:pt>
    <dgm:pt modelId="{06239C09-33EF-4C62-9D60-8544EA2DD186}" type="pres">
      <dgm:prSet presAssocID="{63B70124-CB11-4CD4-AA3D-F3B9015A31A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E2A6BF93-F591-4A61-BD38-9A0B25E4789C}" type="pres">
      <dgm:prSet presAssocID="{63B70124-CB11-4CD4-AA3D-F3B9015A31A4}" presName="spaceRect" presStyleCnt="0"/>
      <dgm:spPr/>
    </dgm:pt>
    <dgm:pt modelId="{79C6FDEF-5ACC-433D-B84D-26C4790CA1C7}" type="pres">
      <dgm:prSet presAssocID="{63B70124-CB11-4CD4-AA3D-F3B9015A31A4}" presName="parTx" presStyleLbl="revTx" presStyleIdx="2" presStyleCnt="6">
        <dgm:presLayoutVars>
          <dgm:chMax val="0"/>
          <dgm:chPref val="0"/>
        </dgm:presLayoutVars>
      </dgm:prSet>
      <dgm:spPr/>
    </dgm:pt>
    <dgm:pt modelId="{A23DB827-83B9-4D31-9285-7F397CF5782B}" type="pres">
      <dgm:prSet presAssocID="{63B70124-CB11-4CD4-AA3D-F3B9015A31A4}" presName="desTx" presStyleLbl="revTx" presStyleIdx="3" presStyleCnt="6">
        <dgm:presLayoutVars/>
      </dgm:prSet>
      <dgm:spPr/>
    </dgm:pt>
    <dgm:pt modelId="{FAAA3A96-D268-6645-8047-CC89F83343C6}" type="pres">
      <dgm:prSet presAssocID="{1E6D19AE-351A-47F7-A9BF-789EA2FE523D}" presName="sibTrans" presStyleCnt="0"/>
      <dgm:spPr/>
    </dgm:pt>
    <dgm:pt modelId="{62D7A3D3-7BF0-D245-A08D-AD72C63259A4}" type="pres">
      <dgm:prSet presAssocID="{4576A41C-D833-5847-AF1F-546113903090}" presName="compNode" presStyleCnt="0"/>
      <dgm:spPr/>
    </dgm:pt>
    <dgm:pt modelId="{94AA936B-BBE5-4B4F-BF3F-243B6CD897BE}" type="pres">
      <dgm:prSet presAssocID="{4576A41C-D833-5847-AF1F-546113903090}" presName="bgRect" presStyleLbl="bgShp" presStyleIdx="2" presStyleCnt="3"/>
      <dgm:spPr>
        <a:solidFill>
          <a:schemeClr val="accent5">
            <a:lumMod val="60000"/>
            <a:lumOff val="40000"/>
          </a:schemeClr>
        </a:solidFill>
      </dgm:spPr>
    </dgm:pt>
    <dgm:pt modelId="{41B4FB8B-845D-E746-A94B-1C3E444E0C91}" type="pres">
      <dgm:prSet presAssocID="{4576A41C-D833-5847-AF1F-546113903090}" presName="iconRect" presStyleLbl="node1" presStyleIdx="2" presStyleCnt="3"/>
      <dgm:spPr/>
    </dgm:pt>
    <dgm:pt modelId="{C53FC8B4-231B-294F-90A6-98E542EBCE74}" type="pres">
      <dgm:prSet presAssocID="{4576A41C-D833-5847-AF1F-546113903090}" presName="spaceRect" presStyleCnt="0"/>
      <dgm:spPr/>
    </dgm:pt>
    <dgm:pt modelId="{278C9896-3149-FB4C-837B-9542A53B111D}" type="pres">
      <dgm:prSet presAssocID="{4576A41C-D833-5847-AF1F-546113903090}" presName="parTx" presStyleLbl="revTx" presStyleIdx="4" presStyleCnt="6">
        <dgm:presLayoutVars>
          <dgm:chMax val="0"/>
          <dgm:chPref val="0"/>
        </dgm:presLayoutVars>
      </dgm:prSet>
      <dgm:spPr/>
    </dgm:pt>
    <dgm:pt modelId="{B938621D-CE6D-EE48-9EBA-C35ECFCB7605}" type="pres">
      <dgm:prSet presAssocID="{4576A41C-D833-5847-AF1F-546113903090}" presName="desTx" presStyleLbl="revTx" presStyleIdx="5" presStyleCnt="6">
        <dgm:presLayoutVars/>
      </dgm:prSet>
      <dgm:spPr/>
    </dgm:pt>
  </dgm:ptLst>
  <dgm:cxnLst>
    <dgm:cxn modelId="{C6FB5B0B-CA39-4A49-817C-D621B1FCABE1}" type="presOf" srcId="{09FB93C0-FC44-4F24-A832-23C1AD625B3C}" destId="{A23DB827-83B9-4D31-9285-7F397CF5782B}" srcOrd="0" destOrd="0" presId="urn:microsoft.com/office/officeart/2018/2/layout/IconVerticalSolidList"/>
    <dgm:cxn modelId="{196A3337-3621-7542-BE7F-02865D61142D}" type="presOf" srcId="{4576A41C-D833-5847-AF1F-546113903090}" destId="{278C9896-3149-FB4C-837B-9542A53B111D}" srcOrd="0" destOrd="0" presId="urn:microsoft.com/office/officeart/2018/2/layout/IconVerticalSolidList"/>
    <dgm:cxn modelId="{2A371C49-D422-0E40-8FB4-4D8AD818B923}" srcId="{D2EB8943-AC83-449B-A4C3-65A8B27D340A}" destId="{4576A41C-D833-5847-AF1F-546113903090}" srcOrd="2" destOrd="0" parTransId="{4F4BBE80-B3BC-EB49-B2D5-D7B0F1D00154}" sibTransId="{1927B63A-E459-FF4A-9F52-6E72DA340C51}"/>
    <dgm:cxn modelId="{B2463B49-D0DF-4B12-B4CA-39B95D70E822}" srcId="{F815622D-5BED-4A59-B751-99C37E60DC1C}" destId="{DD697A08-AA43-4720-87CA-DD93703D0F71}" srcOrd="1" destOrd="0" parTransId="{7C1C4B9A-506B-41AD-BC88-4E8FFD16C19A}" sibTransId="{CB1948BB-F903-46D5-8B97-D5A8155AE5CF}"/>
    <dgm:cxn modelId="{15A8AA57-2DE5-CC40-B78E-62796554632C}" type="presOf" srcId="{E144968C-8D37-B84C-BA13-7F7FDFFB29DD}" destId="{B938621D-CE6D-EE48-9EBA-C35ECFCB7605}" srcOrd="0" destOrd="0" presId="urn:microsoft.com/office/officeart/2018/2/layout/IconVerticalSolidList"/>
    <dgm:cxn modelId="{15000A5A-AC61-461E-997A-CA79D40A6310}" srcId="{F815622D-5BED-4A59-B751-99C37E60DC1C}" destId="{F19A5324-C914-4505-8250-E9F754828E41}" srcOrd="0" destOrd="0" parTransId="{72001A39-50F3-4A43-B7FD-174252612F5A}" sibTransId="{EBD51E58-D48C-4750-8299-9096905618B1}"/>
    <dgm:cxn modelId="{2187C081-1294-4049-AE57-43755634C2F8}" srcId="{4576A41C-D833-5847-AF1F-546113903090}" destId="{E144968C-8D37-B84C-BA13-7F7FDFFB29DD}" srcOrd="0" destOrd="0" parTransId="{A1B7043D-0514-CE41-A07E-6CFAB6AA356C}" sibTransId="{3985817C-19EC-9C49-8571-7995EF091956}"/>
    <dgm:cxn modelId="{716F0789-C5ED-4E66-81D0-E6CF0AC4672F}" srcId="{D2EB8943-AC83-449B-A4C3-65A8B27D340A}" destId="{63B70124-CB11-4CD4-AA3D-F3B9015A31A4}" srcOrd="1" destOrd="0" parTransId="{D0182694-6032-444D-ADEC-D93217BA75F1}" sibTransId="{1E6D19AE-351A-47F7-A9BF-789EA2FE523D}"/>
    <dgm:cxn modelId="{AA52739D-C7F1-42C3-8670-7EBD7F6F73ED}" srcId="{63B70124-CB11-4CD4-AA3D-F3B9015A31A4}" destId="{09FB93C0-FC44-4F24-A832-23C1AD625B3C}" srcOrd="0" destOrd="0" parTransId="{DF2A62FA-61C5-42A6-A00C-422FE039610B}" sibTransId="{E027B8DA-7162-4A3C-8335-D18429DDE64A}"/>
    <dgm:cxn modelId="{6E4E28B2-305B-4AA1-BA58-0C1E425E8309}" type="presOf" srcId="{F815622D-5BED-4A59-B751-99C37E60DC1C}" destId="{C898E3FF-14B6-49E4-BE3A-6A3A63C4995A}" srcOrd="0" destOrd="0" presId="urn:microsoft.com/office/officeart/2018/2/layout/IconVerticalSolidList"/>
    <dgm:cxn modelId="{0FFE0BBE-F9FD-41DF-A5CF-BA1C7B520FF7}" type="presOf" srcId="{DD697A08-AA43-4720-87CA-DD93703D0F71}" destId="{C7325AFE-936A-4511-9C7C-8EFF7E742063}" srcOrd="0" destOrd="1" presId="urn:microsoft.com/office/officeart/2018/2/layout/IconVerticalSolidList"/>
    <dgm:cxn modelId="{AE7F2BC0-9EF9-4AE9-A574-CA9BEA411269}" type="presOf" srcId="{63B70124-CB11-4CD4-AA3D-F3B9015A31A4}" destId="{79C6FDEF-5ACC-433D-B84D-26C4790CA1C7}" srcOrd="0" destOrd="0" presId="urn:microsoft.com/office/officeart/2018/2/layout/IconVerticalSolidList"/>
    <dgm:cxn modelId="{506073D5-ADC2-452E-BB8D-B492C9610F52}" type="presOf" srcId="{F19A5324-C914-4505-8250-E9F754828E41}" destId="{C7325AFE-936A-4511-9C7C-8EFF7E742063}" srcOrd="0" destOrd="0" presId="urn:microsoft.com/office/officeart/2018/2/layout/IconVerticalSolidList"/>
    <dgm:cxn modelId="{6FA11FD9-ECFC-46B3-BA43-C04837FAA3F3}" srcId="{D2EB8943-AC83-449B-A4C3-65A8B27D340A}" destId="{F815622D-5BED-4A59-B751-99C37E60DC1C}" srcOrd="0" destOrd="0" parTransId="{224FB695-689A-4CDB-8718-51C4BEA7598E}" sibTransId="{3D44D94C-C0E6-4295-B39B-0BA4727205C9}"/>
    <dgm:cxn modelId="{790B27DC-7BF8-4A43-8EA2-BF00829CC300}" type="presOf" srcId="{D2EB8943-AC83-449B-A4C3-65A8B27D340A}" destId="{C6EAFB6D-C2AC-4325-B59C-13F0AF9365BF}" srcOrd="0" destOrd="0" presId="urn:microsoft.com/office/officeart/2018/2/layout/IconVerticalSolidList"/>
    <dgm:cxn modelId="{25F99978-969A-444C-BE6B-4E5D51EF2976}" type="presParOf" srcId="{C6EAFB6D-C2AC-4325-B59C-13F0AF9365BF}" destId="{85962BE1-CCB7-43CC-8360-9F67AEEE1CB8}" srcOrd="0" destOrd="0" presId="urn:microsoft.com/office/officeart/2018/2/layout/IconVerticalSolidList"/>
    <dgm:cxn modelId="{468F5CFC-AC3D-4C00-8B84-493EF231D0D9}" type="presParOf" srcId="{85962BE1-CCB7-43CC-8360-9F67AEEE1CB8}" destId="{EB0318B4-C885-423D-A51A-188636FFA134}" srcOrd="0" destOrd="0" presId="urn:microsoft.com/office/officeart/2018/2/layout/IconVerticalSolidList"/>
    <dgm:cxn modelId="{B7941ADE-1E08-424E-BE64-5A0B723D77CC}" type="presParOf" srcId="{85962BE1-CCB7-43CC-8360-9F67AEEE1CB8}" destId="{04A95BBC-EE0F-4482-9727-CFBAE584E7DA}" srcOrd="1" destOrd="0" presId="urn:microsoft.com/office/officeart/2018/2/layout/IconVerticalSolidList"/>
    <dgm:cxn modelId="{74C3258D-979C-4300-A6F8-466278784EFD}" type="presParOf" srcId="{85962BE1-CCB7-43CC-8360-9F67AEEE1CB8}" destId="{726BAE7E-86FD-40F9-93B2-CEB24295A12F}" srcOrd="2" destOrd="0" presId="urn:microsoft.com/office/officeart/2018/2/layout/IconVerticalSolidList"/>
    <dgm:cxn modelId="{7997FC2F-BB67-4A98-8609-C2E003E73C68}" type="presParOf" srcId="{85962BE1-CCB7-43CC-8360-9F67AEEE1CB8}" destId="{C898E3FF-14B6-49E4-BE3A-6A3A63C4995A}" srcOrd="3" destOrd="0" presId="urn:microsoft.com/office/officeart/2018/2/layout/IconVerticalSolidList"/>
    <dgm:cxn modelId="{452B91E4-F39B-4867-89DE-5C7B6F8A02E6}" type="presParOf" srcId="{85962BE1-CCB7-43CC-8360-9F67AEEE1CB8}" destId="{C7325AFE-936A-4511-9C7C-8EFF7E742063}" srcOrd="4" destOrd="0" presId="urn:microsoft.com/office/officeart/2018/2/layout/IconVerticalSolidList"/>
    <dgm:cxn modelId="{AEAFEF26-3DB2-44CF-A4E1-5E9805B32C3D}" type="presParOf" srcId="{C6EAFB6D-C2AC-4325-B59C-13F0AF9365BF}" destId="{89006953-CB89-4FF4-BAA2-A0438574A6CE}" srcOrd="1" destOrd="0" presId="urn:microsoft.com/office/officeart/2018/2/layout/IconVerticalSolidList"/>
    <dgm:cxn modelId="{DFE166C2-BCF0-4D41-94EE-8724630DB765}" type="presParOf" srcId="{C6EAFB6D-C2AC-4325-B59C-13F0AF9365BF}" destId="{7A818793-700F-4A47-A7CB-91F429196F92}" srcOrd="2" destOrd="0" presId="urn:microsoft.com/office/officeart/2018/2/layout/IconVerticalSolidList"/>
    <dgm:cxn modelId="{DE4FF9B7-8D5C-4100-BF1F-2D9D5C9C93D1}" type="presParOf" srcId="{7A818793-700F-4A47-A7CB-91F429196F92}" destId="{A6DF3591-092F-4459-9A63-187D0CED6B17}" srcOrd="0" destOrd="0" presId="urn:microsoft.com/office/officeart/2018/2/layout/IconVerticalSolidList"/>
    <dgm:cxn modelId="{00995EA8-69CE-4CA2-AE37-AA99506C62FA}" type="presParOf" srcId="{7A818793-700F-4A47-A7CB-91F429196F92}" destId="{06239C09-33EF-4C62-9D60-8544EA2DD186}" srcOrd="1" destOrd="0" presId="urn:microsoft.com/office/officeart/2018/2/layout/IconVerticalSolidList"/>
    <dgm:cxn modelId="{87151160-BFA6-4FC1-8B6C-73164AD358DB}" type="presParOf" srcId="{7A818793-700F-4A47-A7CB-91F429196F92}" destId="{E2A6BF93-F591-4A61-BD38-9A0B25E4789C}" srcOrd="2" destOrd="0" presId="urn:microsoft.com/office/officeart/2018/2/layout/IconVerticalSolidList"/>
    <dgm:cxn modelId="{50DCD98C-1CA3-4A51-9AE4-DDE5EC54EAD8}" type="presParOf" srcId="{7A818793-700F-4A47-A7CB-91F429196F92}" destId="{79C6FDEF-5ACC-433D-B84D-26C4790CA1C7}" srcOrd="3" destOrd="0" presId="urn:microsoft.com/office/officeart/2018/2/layout/IconVerticalSolidList"/>
    <dgm:cxn modelId="{E340644D-5A98-45AE-BCC7-C33470D8D170}" type="presParOf" srcId="{7A818793-700F-4A47-A7CB-91F429196F92}" destId="{A23DB827-83B9-4D31-9285-7F397CF5782B}" srcOrd="4" destOrd="0" presId="urn:microsoft.com/office/officeart/2018/2/layout/IconVerticalSolidList"/>
    <dgm:cxn modelId="{62B04FFC-2DD6-BC4B-B3FC-EBFF5C39FD11}" type="presParOf" srcId="{C6EAFB6D-C2AC-4325-B59C-13F0AF9365BF}" destId="{FAAA3A96-D268-6645-8047-CC89F83343C6}" srcOrd="3" destOrd="0" presId="urn:microsoft.com/office/officeart/2018/2/layout/IconVerticalSolidList"/>
    <dgm:cxn modelId="{8D943E07-8FAE-0B45-9424-B0B76F6B7B18}" type="presParOf" srcId="{C6EAFB6D-C2AC-4325-B59C-13F0AF9365BF}" destId="{62D7A3D3-7BF0-D245-A08D-AD72C63259A4}" srcOrd="4" destOrd="0" presId="urn:microsoft.com/office/officeart/2018/2/layout/IconVerticalSolidList"/>
    <dgm:cxn modelId="{30E83CB0-D984-9D41-8DAE-17A3BC6F688D}" type="presParOf" srcId="{62D7A3D3-7BF0-D245-A08D-AD72C63259A4}" destId="{94AA936B-BBE5-4B4F-BF3F-243B6CD897BE}" srcOrd="0" destOrd="0" presId="urn:microsoft.com/office/officeart/2018/2/layout/IconVerticalSolidList"/>
    <dgm:cxn modelId="{C2A64231-8A08-704D-A30F-0A7DD7690319}" type="presParOf" srcId="{62D7A3D3-7BF0-D245-A08D-AD72C63259A4}" destId="{41B4FB8B-845D-E746-A94B-1C3E444E0C91}" srcOrd="1" destOrd="0" presId="urn:microsoft.com/office/officeart/2018/2/layout/IconVerticalSolidList"/>
    <dgm:cxn modelId="{27572E07-41AB-DD45-9C40-3BEEC6401ED9}" type="presParOf" srcId="{62D7A3D3-7BF0-D245-A08D-AD72C63259A4}" destId="{C53FC8B4-231B-294F-90A6-98E542EBCE74}" srcOrd="2" destOrd="0" presId="urn:microsoft.com/office/officeart/2018/2/layout/IconVerticalSolidList"/>
    <dgm:cxn modelId="{1CD9A614-1798-B445-9DAF-46A89AA4D3C5}" type="presParOf" srcId="{62D7A3D3-7BF0-D245-A08D-AD72C63259A4}" destId="{278C9896-3149-FB4C-837B-9542A53B111D}" srcOrd="3" destOrd="0" presId="urn:microsoft.com/office/officeart/2018/2/layout/IconVerticalSolidList"/>
    <dgm:cxn modelId="{B3D2EE7B-BCF8-5E45-9E4F-B9B0C42B95C0}" type="presParOf" srcId="{62D7A3D3-7BF0-D245-A08D-AD72C63259A4}" destId="{B938621D-CE6D-EE48-9EBA-C35ECFCB7605}" srcOrd="4" destOrd="0" presId="urn:microsoft.com/office/officeart/2018/2/layout/IconVerticalSoli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BB95A0A-BD46-4224-97DB-5BD07CACA9C4}" type="doc">
      <dgm:prSet loTypeId="urn:microsoft.com/office/officeart/2008/layout/LinedList" loCatId="list" qsTypeId="urn:microsoft.com/office/officeart/2005/8/quickstyle/simple1" qsCatId="simple" csTypeId="urn:microsoft.com/office/officeart/2005/8/colors/accent1_2" csCatId="accent1"/>
      <dgm:spPr/>
      <dgm:t>
        <a:bodyPr/>
        <a:lstStyle/>
        <a:p>
          <a:endParaRPr lang="en-US"/>
        </a:p>
      </dgm:t>
    </dgm:pt>
    <dgm:pt modelId="{C48173CB-E66B-4718-A439-A398A1D25CFA}">
      <dgm:prSet custT="1"/>
      <dgm:spPr/>
      <dgm:t>
        <a:bodyPr/>
        <a:lstStyle/>
        <a:p>
          <a:r>
            <a:rPr lang="en-US" sz="2400" dirty="0"/>
            <a:t>Tasks contributed by NLP practitioners</a:t>
          </a:r>
        </a:p>
      </dgm:t>
    </dgm:pt>
    <dgm:pt modelId="{01A4FFFB-101E-4480-9C47-7BDB99E83DDF}" cxnId="{92003A32-B2A5-4511-8998-F674598DAD91}" type="parTrans">
      <dgm:prSet/>
      <dgm:spPr/>
      <dgm:t>
        <a:bodyPr/>
        <a:lstStyle/>
        <a:p>
          <a:endParaRPr lang="en-US"/>
        </a:p>
      </dgm:t>
    </dgm:pt>
    <dgm:pt modelId="{948F9E45-5C84-45AB-9EE6-59DEC686BA7F}" cxnId="{92003A32-B2A5-4511-8998-F674598DAD91}" type="sibTrans">
      <dgm:prSet/>
      <dgm:spPr/>
      <dgm:t>
        <a:bodyPr/>
        <a:lstStyle/>
        <a:p>
          <a:endParaRPr lang="en-US"/>
        </a:p>
      </dgm:t>
    </dgm:pt>
    <dgm:pt modelId="{D6DC8F84-65C0-4B89-A170-E0A09A0FCFC1}">
      <dgm:prSet custT="1"/>
      <dgm:spPr/>
      <dgm:t>
        <a:bodyPr/>
        <a:lstStyle/>
        <a:p>
          <a:r>
            <a:rPr lang="en-US" sz="2400" dirty="0"/>
            <a:t>Creative modification of existing NLP tasks</a:t>
          </a:r>
        </a:p>
      </dgm:t>
    </dgm:pt>
    <dgm:pt modelId="{78638316-0BF8-4879-9166-C2EF1A92F448}" cxnId="{4F369885-0C4F-45AF-91F8-48474A5B69E1}" type="parTrans">
      <dgm:prSet/>
      <dgm:spPr/>
      <dgm:t>
        <a:bodyPr/>
        <a:lstStyle/>
        <a:p>
          <a:endParaRPr lang="en-US"/>
        </a:p>
      </dgm:t>
    </dgm:pt>
    <dgm:pt modelId="{2B0E14CC-F40E-4385-B1E2-75E29BB9CC4B}" cxnId="{4F369885-0C4F-45AF-91F8-48474A5B69E1}" type="sibTrans">
      <dgm:prSet/>
      <dgm:spPr/>
      <dgm:t>
        <a:bodyPr/>
        <a:lstStyle/>
        <a:p>
          <a:endParaRPr lang="en-US"/>
        </a:p>
      </dgm:t>
    </dgm:pt>
    <dgm:pt modelId="{8F5A6BF8-1E19-4AB3-A745-686D078152B9}">
      <dgm:prSet custT="1"/>
      <dgm:spPr/>
      <dgm:t>
        <a:bodyPr/>
        <a:lstStyle/>
        <a:p>
          <a:r>
            <a:rPr lang="en-US" sz="2400" dirty="0"/>
            <a:t>Synthetic tasks that can be communicated in few sentences</a:t>
          </a:r>
        </a:p>
      </dgm:t>
    </dgm:pt>
    <dgm:pt modelId="{46C3DADA-592F-4EE3-ACEB-C984C88CB3EF}" cxnId="{2A28B90C-D453-4B1A-B358-A274375BEB22}" type="parTrans">
      <dgm:prSet/>
      <dgm:spPr/>
      <dgm:t>
        <a:bodyPr/>
        <a:lstStyle/>
        <a:p>
          <a:endParaRPr lang="en-US"/>
        </a:p>
      </dgm:t>
    </dgm:pt>
    <dgm:pt modelId="{CCCAC468-0695-4E19-A8E6-186EECD6095D}" cxnId="{2A28B90C-D453-4B1A-B358-A274375BEB22}" type="sibTrans">
      <dgm:prSet/>
      <dgm:spPr/>
      <dgm:t>
        <a:bodyPr/>
        <a:lstStyle/>
        <a:p>
          <a:endParaRPr lang="en-US"/>
        </a:p>
      </dgm:t>
    </dgm:pt>
    <dgm:pt modelId="{702D3CB3-C18F-9847-8B0D-845E61892F39}" type="pres">
      <dgm:prSet presAssocID="{ABB95A0A-BD46-4224-97DB-5BD07CACA9C4}" presName="vert0" presStyleCnt="0">
        <dgm:presLayoutVars>
          <dgm:dir/>
          <dgm:animOne val="branch"/>
          <dgm:animLvl val="lvl"/>
        </dgm:presLayoutVars>
      </dgm:prSet>
      <dgm:spPr/>
    </dgm:pt>
    <dgm:pt modelId="{AC1AFB2C-29FF-414D-829B-C78572223AC0}" type="pres">
      <dgm:prSet presAssocID="{C48173CB-E66B-4718-A439-A398A1D25CFA}" presName="thickLine" presStyleLbl="alignNode1" presStyleIdx="0" presStyleCnt="3"/>
      <dgm:spPr/>
    </dgm:pt>
    <dgm:pt modelId="{A42F159E-04AE-044F-9F38-AFACC4776EEC}" type="pres">
      <dgm:prSet presAssocID="{C48173CB-E66B-4718-A439-A398A1D25CFA}" presName="horz1" presStyleCnt="0"/>
      <dgm:spPr/>
    </dgm:pt>
    <dgm:pt modelId="{BCA0224B-87B9-5648-ADE9-9206AB000855}" type="pres">
      <dgm:prSet presAssocID="{C48173CB-E66B-4718-A439-A398A1D25CFA}" presName="tx1" presStyleLbl="revTx" presStyleIdx="0" presStyleCnt="3"/>
      <dgm:spPr/>
    </dgm:pt>
    <dgm:pt modelId="{84DEA357-EF9A-3247-A95D-16131E115915}" type="pres">
      <dgm:prSet presAssocID="{C48173CB-E66B-4718-A439-A398A1D25CFA}" presName="vert1" presStyleCnt="0"/>
      <dgm:spPr/>
    </dgm:pt>
    <dgm:pt modelId="{DE35EBDC-60A5-AA4F-B4B7-12645FB27F72}" type="pres">
      <dgm:prSet presAssocID="{D6DC8F84-65C0-4B89-A170-E0A09A0FCFC1}" presName="thickLine" presStyleLbl="alignNode1" presStyleIdx="1" presStyleCnt="3"/>
      <dgm:spPr/>
    </dgm:pt>
    <dgm:pt modelId="{2F8F1AF3-FF39-0449-AFF3-2C4CC4FA16EA}" type="pres">
      <dgm:prSet presAssocID="{D6DC8F84-65C0-4B89-A170-E0A09A0FCFC1}" presName="horz1" presStyleCnt="0"/>
      <dgm:spPr/>
    </dgm:pt>
    <dgm:pt modelId="{33368A94-564B-E94E-BA74-E2B2A17BE2B5}" type="pres">
      <dgm:prSet presAssocID="{D6DC8F84-65C0-4B89-A170-E0A09A0FCFC1}" presName="tx1" presStyleLbl="revTx" presStyleIdx="1" presStyleCnt="3"/>
      <dgm:spPr/>
    </dgm:pt>
    <dgm:pt modelId="{EAA809F6-37E0-8144-866C-CD730C8318DC}" type="pres">
      <dgm:prSet presAssocID="{D6DC8F84-65C0-4B89-A170-E0A09A0FCFC1}" presName="vert1" presStyleCnt="0"/>
      <dgm:spPr/>
    </dgm:pt>
    <dgm:pt modelId="{C0FD9F5E-77AC-4E43-B67B-0AC454D1618C}" type="pres">
      <dgm:prSet presAssocID="{8F5A6BF8-1E19-4AB3-A745-686D078152B9}" presName="thickLine" presStyleLbl="alignNode1" presStyleIdx="2" presStyleCnt="3"/>
      <dgm:spPr/>
    </dgm:pt>
    <dgm:pt modelId="{1417B355-7F56-894C-9A98-65CF7172BD01}" type="pres">
      <dgm:prSet presAssocID="{8F5A6BF8-1E19-4AB3-A745-686D078152B9}" presName="horz1" presStyleCnt="0"/>
      <dgm:spPr/>
    </dgm:pt>
    <dgm:pt modelId="{68C38CCA-CC29-E449-8236-1F11751322DE}" type="pres">
      <dgm:prSet presAssocID="{8F5A6BF8-1E19-4AB3-A745-686D078152B9}" presName="tx1" presStyleLbl="revTx" presStyleIdx="2" presStyleCnt="3"/>
      <dgm:spPr/>
    </dgm:pt>
    <dgm:pt modelId="{C4EBCA7F-444B-1E44-BAEF-E331BE09371D}" type="pres">
      <dgm:prSet presAssocID="{8F5A6BF8-1E19-4AB3-A745-686D078152B9}" presName="vert1" presStyleCnt="0"/>
      <dgm:spPr/>
    </dgm:pt>
  </dgm:ptLst>
  <dgm:cxnLst>
    <dgm:cxn modelId="{2A28B90C-D453-4B1A-B358-A274375BEB22}" srcId="{ABB95A0A-BD46-4224-97DB-5BD07CACA9C4}" destId="{8F5A6BF8-1E19-4AB3-A745-686D078152B9}" srcOrd="2" destOrd="0" parTransId="{46C3DADA-592F-4EE3-ACEB-C984C88CB3EF}" sibTransId="{CCCAC468-0695-4E19-A8E6-186EECD6095D}"/>
    <dgm:cxn modelId="{20F09E21-9C3E-BD45-8914-DAA26958B61D}" type="presOf" srcId="{8F5A6BF8-1E19-4AB3-A745-686D078152B9}" destId="{68C38CCA-CC29-E449-8236-1F11751322DE}" srcOrd="0" destOrd="0" presId="urn:microsoft.com/office/officeart/2008/layout/LinedList"/>
    <dgm:cxn modelId="{92003A32-B2A5-4511-8998-F674598DAD91}" srcId="{ABB95A0A-BD46-4224-97DB-5BD07CACA9C4}" destId="{C48173CB-E66B-4718-A439-A398A1D25CFA}" srcOrd="0" destOrd="0" parTransId="{01A4FFFB-101E-4480-9C47-7BDB99E83DDF}" sibTransId="{948F9E45-5C84-45AB-9EE6-59DEC686BA7F}"/>
    <dgm:cxn modelId="{B19B4B4F-B7DA-6446-BE76-D5F0C0098F23}" type="presOf" srcId="{D6DC8F84-65C0-4B89-A170-E0A09A0FCFC1}" destId="{33368A94-564B-E94E-BA74-E2B2A17BE2B5}" srcOrd="0" destOrd="0" presId="urn:microsoft.com/office/officeart/2008/layout/LinedList"/>
    <dgm:cxn modelId="{88C05F65-A456-424B-9BF2-6E3757B917D4}" type="presOf" srcId="{C48173CB-E66B-4718-A439-A398A1D25CFA}" destId="{BCA0224B-87B9-5648-ADE9-9206AB000855}" srcOrd="0" destOrd="0" presId="urn:microsoft.com/office/officeart/2008/layout/LinedList"/>
    <dgm:cxn modelId="{4F369885-0C4F-45AF-91F8-48474A5B69E1}" srcId="{ABB95A0A-BD46-4224-97DB-5BD07CACA9C4}" destId="{D6DC8F84-65C0-4B89-A170-E0A09A0FCFC1}" srcOrd="1" destOrd="0" parTransId="{78638316-0BF8-4879-9166-C2EF1A92F448}" sibTransId="{2B0E14CC-F40E-4385-B1E2-75E29BB9CC4B}"/>
    <dgm:cxn modelId="{807778B5-C8AA-894B-8F11-48CCB471B244}" type="presOf" srcId="{ABB95A0A-BD46-4224-97DB-5BD07CACA9C4}" destId="{702D3CB3-C18F-9847-8B0D-845E61892F39}" srcOrd="0" destOrd="0" presId="urn:microsoft.com/office/officeart/2008/layout/LinedList"/>
    <dgm:cxn modelId="{9658F458-8DA0-ED48-8C8B-49CA1AD96EEC}" type="presParOf" srcId="{702D3CB3-C18F-9847-8B0D-845E61892F39}" destId="{AC1AFB2C-29FF-414D-829B-C78572223AC0}" srcOrd="0" destOrd="0" presId="urn:microsoft.com/office/officeart/2008/layout/LinedList"/>
    <dgm:cxn modelId="{DAB2DFB6-C333-094A-96F5-79B7DB09B5D2}" type="presParOf" srcId="{702D3CB3-C18F-9847-8B0D-845E61892F39}" destId="{A42F159E-04AE-044F-9F38-AFACC4776EEC}" srcOrd="1" destOrd="0" presId="urn:microsoft.com/office/officeart/2008/layout/LinedList"/>
    <dgm:cxn modelId="{86EA851A-D056-1645-B171-98967585FA9A}" type="presParOf" srcId="{A42F159E-04AE-044F-9F38-AFACC4776EEC}" destId="{BCA0224B-87B9-5648-ADE9-9206AB000855}" srcOrd="0" destOrd="0" presId="urn:microsoft.com/office/officeart/2008/layout/LinedList"/>
    <dgm:cxn modelId="{28DE6659-8326-634E-9386-4AA1A5FF482C}" type="presParOf" srcId="{A42F159E-04AE-044F-9F38-AFACC4776EEC}" destId="{84DEA357-EF9A-3247-A95D-16131E115915}" srcOrd="1" destOrd="0" presId="urn:microsoft.com/office/officeart/2008/layout/LinedList"/>
    <dgm:cxn modelId="{15096CA2-D266-8540-A064-56C6E12D0961}" type="presParOf" srcId="{702D3CB3-C18F-9847-8B0D-845E61892F39}" destId="{DE35EBDC-60A5-AA4F-B4B7-12645FB27F72}" srcOrd="2" destOrd="0" presId="urn:microsoft.com/office/officeart/2008/layout/LinedList"/>
    <dgm:cxn modelId="{72E9A29A-7742-1C4C-A01D-89A495C6A916}" type="presParOf" srcId="{702D3CB3-C18F-9847-8B0D-845E61892F39}" destId="{2F8F1AF3-FF39-0449-AFF3-2C4CC4FA16EA}" srcOrd="3" destOrd="0" presId="urn:microsoft.com/office/officeart/2008/layout/LinedList"/>
    <dgm:cxn modelId="{01C54F5F-8D6F-BF4A-ACE2-7E46FA10224E}" type="presParOf" srcId="{2F8F1AF3-FF39-0449-AFF3-2C4CC4FA16EA}" destId="{33368A94-564B-E94E-BA74-E2B2A17BE2B5}" srcOrd="0" destOrd="0" presId="urn:microsoft.com/office/officeart/2008/layout/LinedList"/>
    <dgm:cxn modelId="{405A08A9-862A-B941-9713-A683B30848A8}" type="presParOf" srcId="{2F8F1AF3-FF39-0449-AFF3-2C4CC4FA16EA}" destId="{EAA809F6-37E0-8144-866C-CD730C8318DC}" srcOrd="1" destOrd="0" presId="urn:microsoft.com/office/officeart/2008/layout/LinedList"/>
    <dgm:cxn modelId="{6B79DC78-3B6E-0C4F-9FA7-8F029E3B6C5D}" type="presParOf" srcId="{702D3CB3-C18F-9847-8B0D-845E61892F39}" destId="{C0FD9F5E-77AC-4E43-B67B-0AC454D1618C}" srcOrd="4" destOrd="0" presId="urn:microsoft.com/office/officeart/2008/layout/LinedList"/>
    <dgm:cxn modelId="{1E9A80E6-A12F-2646-8EC5-A7924BF48F68}" type="presParOf" srcId="{702D3CB3-C18F-9847-8B0D-845E61892F39}" destId="{1417B355-7F56-894C-9A98-65CF7172BD01}" srcOrd="5" destOrd="0" presId="urn:microsoft.com/office/officeart/2008/layout/LinedList"/>
    <dgm:cxn modelId="{D6B4F492-7B3B-164F-A14B-7504D94EB431}" type="presParOf" srcId="{1417B355-7F56-894C-9A98-65CF7172BD01}" destId="{68C38CCA-CC29-E449-8236-1F11751322DE}" srcOrd="0" destOrd="0" presId="urn:microsoft.com/office/officeart/2008/layout/LinedList"/>
    <dgm:cxn modelId="{9A4DA93B-E1F1-F440-93B5-0B46994005A0}" type="presParOf" srcId="{1417B355-7F56-894C-9A98-65CF7172BD01}" destId="{C4EBCA7F-444B-1E44-BAEF-E331BE09371D}"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540E485-6634-43DF-91BA-1BAF352CD851}" type="doc">
      <dgm:prSet loTypeId="list" loCatId="list" qsTypeId="urn:microsoft.com/office/officeart/2005/8/quickstyle/simple1" qsCatId="simple" csTypeId="urn:microsoft.com/office/officeart/2005/8/colors/accent2_2" csCatId="accent2" phldr="1"/>
      <dgm:spPr/>
      <dgm:t>
        <a:bodyPr/>
        <a:lstStyle/>
        <a:p>
          <a:endParaRPr lang="en-US"/>
        </a:p>
      </dgm:t>
    </dgm:pt>
    <dgm:pt modelId="{01B988C8-7C6D-4012-B1ED-C7AF6048847A}">
      <dgm:prSet/>
      <dgm:spPr/>
      <dgm:t>
        <a:bodyPr/>
        <a:lstStyle/>
        <a:p>
          <a:r>
            <a:rPr lang="en-US" dirty="0">
              <a:solidFill>
                <a:schemeClr val="tx1"/>
              </a:solidFill>
            </a:rPr>
            <a:t>Use a pre-trained LM to generate synthetic task/instruction as well as output.</a:t>
          </a:r>
        </a:p>
      </dgm:t>
    </dgm:pt>
    <dgm:pt modelId="{605A4F54-808E-4DEC-B42F-7453ACB3649E}" cxnId="{C145DC14-AE98-40F2-B2C3-D4B285F7A964}" type="parTrans">
      <dgm:prSet/>
      <dgm:spPr/>
      <dgm:t>
        <a:bodyPr/>
        <a:lstStyle/>
        <a:p>
          <a:endParaRPr lang="en-US"/>
        </a:p>
      </dgm:t>
    </dgm:pt>
    <dgm:pt modelId="{DBC93AD4-7F2C-4643-860A-A392E829C8CF}" cxnId="{C145DC14-AE98-40F2-B2C3-D4B285F7A964}" type="sibTrans">
      <dgm:prSet/>
      <dgm:spPr/>
      <dgm:t>
        <a:bodyPr/>
        <a:lstStyle/>
        <a:p>
          <a:endParaRPr lang="en-US"/>
        </a:p>
      </dgm:t>
    </dgm:pt>
    <dgm:pt modelId="{4D29B19C-00D7-4521-8C1B-90DF4083189D}">
      <dgm:prSet/>
      <dgm:spPr/>
      <dgm:t>
        <a:bodyPr/>
        <a:lstStyle/>
        <a:p>
          <a:r>
            <a:rPr lang="en-US"/>
            <a:t>Cheap and easy to obtain</a:t>
          </a:r>
        </a:p>
      </dgm:t>
    </dgm:pt>
    <dgm:pt modelId="{5EADE255-8C9B-4352-B8CA-9A60FEA1F3BD}" cxnId="{62A5A859-BBB5-493F-AAC7-745906B3D388}" type="parTrans">
      <dgm:prSet/>
      <dgm:spPr/>
      <dgm:t>
        <a:bodyPr/>
        <a:lstStyle/>
        <a:p>
          <a:endParaRPr lang="en-US"/>
        </a:p>
      </dgm:t>
    </dgm:pt>
    <dgm:pt modelId="{191B98E1-A87F-4778-B2E5-6D2240A68299}" cxnId="{62A5A859-BBB5-493F-AAC7-745906B3D388}" type="sibTrans">
      <dgm:prSet/>
      <dgm:spPr/>
      <dgm:t>
        <a:bodyPr/>
        <a:lstStyle/>
        <a:p>
          <a:endParaRPr lang="en-US"/>
        </a:p>
      </dgm:t>
    </dgm:pt>
    <dgm:pt modelId="{5193E552-DFD0-439A-A497-0720104F23D3}">
      <dgm:prSet/>
      <dgm:spPr/>
      <dgm:t>
        <a:bodyPr/>
        <a:lstStyle/>
        <a:p>
          <a:r>
            <a:rPr lang="en-US"/>
            <a:t>Often better quality than human-crafted data.</a:t>
          </a:r>
        </a:p>
      </dgm:t>
    </dgm:pt>
    <dgm:pt modelId="{937770FE-BE36-44E1-9395-635CAA3E1A52}" cxnId="{0D713B02-68C1-4D66-BCED-9C333CBF3DCF}" type="parTrans">
      <dgm:prSet/>
      <dgm:spPr/>
      <dgm:t>
        <a:bodyPr/>
        <a:lstStyle/>
        <a:p>
          <a:endParaRPr lang="en-US"/>
        </a:p>
      </dgm:t>
    </dgm:pt>
    <dgm:pt modelId="{A7D6AF00-C180-4A40-B48E-CADC54E6CACB}" cxnId="{0D713B02-68C1-4D66-BCED-9C333CBF3DCF}" type="sibTrans">
      <dgm:prSet/>
      <dgm:spPr/>
      <dgm:t>
        <a:bodyPr/>
        <a:lstStyle/>
        <a:p>
          <a:endParaRPr lang="en-US"/>
        </a:p>
      </dgm:t>
    </dgm:pt>
    <dgm:pt modelId="{B5FC382D-F21A-4267-95E5-A54A03846E06}">
      <dgm:prSet/>
      <dgm:spPr/>
      <dgm:t>
        <a:bodyPr/>
        <a:lstStyle/>
        <a:p>
          <a:r>
            <a:rPr lang="en-US" dirty="0">
              <a:solidFill>
                <a:schemeClr val="tx1"/>
              </a:solidFill>
            </a:rPr>
            <a:t>We will look at 4 popular approaches for synthetic data generation for instruction tuning:</a:t>
          </a:r>
        </a:p>
      </dgm:t>
    </dgm:pt>
    <dgm:pt modelId="{9BC6FE92-AAC9-47ED-A100-845C7D401721}" cxnId="{C6D05980-0A5C-48B9-818D-F0561DE44F6A}" type="parTrans">
      <dgm:prSet/>
      <dgm:spPr/>
      <dgm:t>
        <a:bodyPr/>
        <a:lstStyle/>
        <a:p>
          <a:endParaRPr lang="en-US"/>
        </a:p>
      </dgm:t>
    </dgm:pt>
    <dgm:pt modelId="{CA7469ED-1C2F-4E40-82E4-5407D5996798}" cxnId="{C6D05980-0A5C-48B9-818D-F0561DE44F6A}" type="sibTrans">
      <dgm:prSet/>
      <dgm:spPr/>
      <dgm:t>
        <a:bodyPr/>
        <a:lstStyle/>
        <a:p>
          <a:endParaRPr lang="en-US"/>
        </a:p>
      </dgm:t>
    </dgm:pt>
    <dgm:pt modelId="{824579C4-0EDF-4DED-B6E9-A444DB8819DB}">
      <dgm:prSet/>
      <dgm:spPr/>
      <dgm:t>
        <a:bodyPr/>
        <a:lstStyle/>
        <a:p>
          <a:r>
            <a:rPr lang="en-US"/>
            <a:t>Self-Instruct</a:t>
          </a:r>
        </a:p>
      </dgm:t>
    </dgm:pt>
    <dgm:pt modelId="{1E75CD50-2737-476E-A4CB-5AE93E3B756E}" cxnId="{875AF10B-86F9-4414-9AD2-27CB6F318709}" type="parTrans">
      <dgm:prSet/>
      <dgm:spPr/>
      <dgm:t>
        <a:bodyPr/>
        <a:lstStyle/>
        <a:p>
          <a:endParaRPr lang="en-US"/>
        </a:p>
      </dgm:t>
    </dgm:pt>
    <dgm:pt modelId="{D252E403-9208-4F3B-A32E-EBB29C3E7CAD}" cxnId="{875AF10B-86F9-4414-9AD2-27CB6F318709}" type="sibTrans">
      <dgm:prSet/>
      <dgm:spPr/>
      <dgm:t>
        <a:bodyPr/>
        <a:lstStyle/>
        <a:p>
          <a:endParaRPr lang="en-US"/>
        </a:p>
      </dgm:t>
    </dgm:pt>
    <dgm:pt modelId="{175959EF-B422-4882-958C-74B880EA59AF}">
      <dgm:prSet/>
      <dgm:spPr/>
      <dgm:t>
        <a:bodyPr/>
        <a:lstStyle/>
        <a:p>
          <a:r>
            <a:rPr lang="en-US"/>
            <a:t>Evol-Instruct</a:t>
          </a:r>
        </a:p>
      </dgm:t>
    </dgm:pt>
    <dgm:pt modelId="{5AF7E367-E2C1-43EE-BC98-309C7A538DF5}" cxnId="{5BA70247-271B-4D86-A675-299086971D01}" type="parTrans">
      <dgm:prSet/>
      <dgm:spPr/>
      <dgm:t>
        <a:bodyPr/>
        <a:lstStyle/>
        <a:p>
          <a:endParaRPr lang="en-US"/>
        </a:p>
      </dgm:t>
    </dgm:pt>
    <dgm:pt modelId="{85ABD8DA-576C-4B15-A2F4-B1850CF6A391}" cxnId="{5BA70247-271B-4D86-A675-299086971D01}" type="sibTrans">
      <dgm:prSet/>
      <dgm:spPr/>
      <dgm:t>
        <a:bodyPr/>
        <a:lstStyle/>
        <a:p>
          <a:endParaRPr lang="en-US"/>
        </a:p>
      </dgm:t>
    </dgm:pt>
    <dgm:pt modelId="{300E1580-D008-4EE2-859F-73FBD97AFCEE}">
      <dgm:prSet/>
      <dgm:spPr/>
      <dgm:t>
        <a:bodyPr/>
        <a:lstStyle/>
        <a:p>
          <a:r>
            <a:rPr lang="en-US" dirty="0"/>
            <a:t>Orca</a:t>
          </a:r>
        </a:p>
      </dgm:t>
    </dgm:pt>
    <dgm:pt modelId="{C9985700-C5BE-4D3A-B351-10F33A25475B}" cxnId="{9B33246B-9D5A-4AA9-8A58-3DA4434FE140}" type="parTrans">
      <dgm:prSet/>
      <dgm:spPr/>
      <dgm:t>
        <a:bodyPr/>
        <a:lstStyle/>
        <a:p>
          <a:endParaRPr lang="en-US"/>
        </a:p>
      </dgm:t>
    </dgm:pt>
    <dgm:pt modelId="{7CDD769B-F9DA-438A-82C1-36195DAB9EC3}" cxnId="{9B33246B-9D5A-4AA9-8A58-3DA4434FE140}" type="sibTrans">
      <dgm:prSet/>
      <dgm:spPr/>
      <dgm:t>
        <a:bodyPr/>
        <a:lstStyle/>
        <a:p>
          <a:endParaRPr lang="en-US"/>
        </a:p>
      </dgm:t>
    </dgm:pt>
    <dgm:pt modelId="{F836B60A-DC7D-A14E-9894-42DD0CE46165}">
      <dgm:prSet/>
      <dgm:spPr/>
      <dgm:t>
        <a:bodyPr/>
        <a:lstStyle/>
        <a:p>
          <a:r>
            <a:rPr lang="en-US" dirty="0"/>
            <a:t>Instruction Back-translation</a:t>
          </a:r>
        </a:p>
      </dgm:t>
    </dgm:pt>
    <dgm:pt modelId="{6F7C07BF-6CEE-EC4C-8394-D01BDFA75A62}" cxnId="{3EC10057-96C7-8549-98C5-6F4745D43A6C}" type="parTrans">
      <dgm:prSet/>
      <dgm:spPr/>
      <dgm:t>
        <a:bodyPr/>
        <a:lstStyle/>
        <a:p>
          <a:endParaRPr lang="en-GB"/>
        </a:p>
      </dgm:t>
    </dgm:pt>
    <dgm:pt modelId="{B8ABD10B-F0E0-D543-8396-3025150923AA}" cxnId="{3EC10057-96C7-8549-98C5-6F4745D43A6C}" type="sibTrans">
      <dgm:prSet/>
      <dgm:spPr/>
      <dgm:t>
        <a:bodyPr/>
        <a:lstStyle/>
        <a:p>
          <a:endParaRPr lang="en-GB"/>
        </a:p>
      </dgm:t>
    </dgm:pt>
    <dgm:pt modelId="{C63E27D4-2712-804E-9414-2E7E78E0CA77}" type="pres">
      <dgm:prSet presAssocID="{D540E485-6634-43DF-91BA-1BAF352CD851}" presName="Name0" presStyleCnt="0">
        <dgm:presLayoutVars>
          <dgm:dir/>
          <dgm:animLvl val="lvl"/>
          <dgm:resizeHandles val="exact"/>
        </dgm:presLayoutVars>
      </dgm:prSet>
      <dgm:spPr/>
    </dgm:pt>
    <dgm:pt modelId="{67B77C5D-CBDE-634E-AF66-82A9B6E61E18}" type="pres">
      <dgm:prSet presAssocID="{01B988C8-7C6D-4012-B1ED-C7AF6048847A}" presName="linNode" presStyleCnt="0"/>
      <dgm:spPr/>
    </dgm:pt>
    <dgm:pt modelId="{96BF399A-94E7-6147-B52E-284A80AB4C90}" type="pres">
      <dgm:prSet presAssocID="{01B988C8-7C6D-4012-B1ED-C7AF6048847A}" presName="parentText" presStyleLbl="node1" presStyleIdx="0" presStyleCnt="2">
        <dgm:presLayoutVars>
          <dgm:chMax val="1"/>
          <dgm:bulletEnabled val="1"/>
        </dgm:presLayoutVars>
      </dgm:prSet>
      <dgm:spPr/>
    </dgm:pt>
    <dgm:pt modelId="{2C9B09B1-9B91-ED43-826D-64A31C787D84}" type="pres">
      <dgm:prSet presAssocID="{01B988C8-7C6D-4012-B1ED-C7AF6048847A}" presName="descendantText" presStyleLbl="alignAccFollowNode1" presStyleIdx="0" presStyleCnt="2">
        <dgm:presLayoutVars>
          <dgm:bulletEnabled val="1"/>
        </dgm:presLayoutVars>
      </dgm:prSet>
      <dgm:spPr/>
    </dgm:pt>
    <dgm:pt modelId="{1312682E-2F90-A243-B2B5-4DE5C59B13ED}" type="pres">
      <dgm:prSet presAssocID="{DBC93AD4-7F2C-4643-860A-A392E829C8CF}" presName="sp" presStyleCnt="0"/>
      <dgm:spPr/>
    </dgm:pt>
    <dgm:pt modelId="{0859B8CF-52BD-FC48-BBA0-17D468413621}" type="pres">
      <dgm:prSet presAssocID="{B5FC382D-F21A-4267-95E5-A54A03846E06}" presName="linNode" presStyleCnt="0"/>
      <dgm:spPr/>
    </dgm:pt>
    <dgm:pt modelId="{D3374EA8-D94F-DD4B-9E2B-63F50DE4560E}" type="pres">
      <dgm:prSet presAssocID="{B5FC382D-F21A-4267-95E5-A54A03846E06}" presName="parentText" presStyleLbl="node1" presStyleIdx="1" presStyleCnt="2">
        <dgm:presLayoutVars>
          <dgm:chMax val="1"/>
          <dgm:bulletEnabled val="1"/>
        </dgm:presLayoutVars>
      </dgm:prSet>
      <dgm:spPr/>
    </dgm:pt>
    <dgm:pt modelId="{CC997DF6-86D0-6C4A-8BAF-FA10A4EA117B}" type="pres">
      <dgm:prSet presAssocID="{B5FC382D-F21A-4267-95E5-A54A03846E06}" presName="descendantText" presStyleLbl="alignAccFollowNode1" presStyleIdx="1" presStyleCnt="2">
        <dgm:presLayoutVars>
          <dgm:bulletEnabled val="1"/>
        </dgm:presLayoutVars>
      </dgm:prSet>
      <dgm:spPr/>
    </dgm:pt>
  </dgm:ptLst>
  <dgm:cxnLst>
    <dgm:cxn modelId="{0D713B02-68C1-4D66-BCED-9C333CBF3DCF}" srcId="{01B988C8-7C6D-4012-B1ED-C7AF6048847A}" destId="{5193E552-DFD0-439A-A497-0720104F23D3}" srcOrd="1" destOrd="0" parTransId="{937770FE-BE36-44E1-9395-635CAA3E1A52}" sibTransId="{A7D6AF00-C180-4A40-B48E-CADC54E6CACB}"/>
    <dgm:cxn modelId="{875AF10B-86F9-4414-9AD2-27CB6F318709}" srcId="{B5FC382D-F21A-4267-95E5-A54A03846E06}" destId="{824579C4-0EDF-4DED-B6E9-A444DB8819DB}" srcOrd="0" destOrd="0" parTransId="{1E75CD50-2737-476E-A4CB-5AE93E3B756E}" sibTransId="{D252E403-9208-4F3B-A32E-EBB29C3E7CAD}"/>
    <dgm:cxn modelId="{0DCD3D12-575A-2D4A-8992-EB97C035DC3A}" type="presOf" srcId="{F836B60A-DC7D-A14E-9894-42DD0CE46165}" destId="{CC997DF6-86D0-6C4A-8BAF-FA10A4EA117B}" srcOrd="0" destOrd="3" presId="urn:microsoft.com/office/officeart/2005/8/layout/vList5"/>
    <dgm:cxn modelId="{C145DC14-AE98-40F2-B2C3-D4B285F7A964}" srcId="{D540E485-6634-43DF-91BA-1BAF352CD851}" destId="{01B988C8-7C6D-4012-B1ED-C7AF6048847A}" srcOrd="0" destOrd="0" parTransId="{605A4F54-808E-4DEC-B42F-7453ACB3649E}" sibTransId="{DBC93AD4-7F2C-4643-860A-A392E829C8CF}"/>
    <dgm:cxn modelId="{7C649C30-C7A1-FB4D-81C1-131CB2EC3E05}" type="presOf" srcId="{5193E552-DFD0-439A-A497-0720104F23D3}" destId="{2C9B09B1-9B91-ED43-826D-64A31C787D84}" srcOrd="0" destOrd="1" presId="urn:microsoft.com/office/officeart/2005/8/layout/vList5"/>
    <dgm:cxn modelId="{623B1D38-C5E9-1B41-9AB3-AE6C0C82F5FD}" type="presOf" srcId="{824579C4-0EDF-4DED-B6E9-A444DB8819DB}" destId="{CC997DF6-86D0-6C4A-8BAF-FA10A4EA117B}" srcOrd="0" destOrd="0" presId="urn:microsoft.com/office/officeart/2005/8/layout/vList5"/>
    <dgm:cxn modelId="{5BA70247-271B-4D86-A675-299086971D01}" srcId="{B5FC382D-F21A-4267-95E5-A54A03846E06}" destId="{175959EF-B422-4882-958C-74B880EA59AF}" srcOrd="1" destOrd="0" parTransId="{5AF7E367-E2C1-43EE-BC98-309C7A538DF5}" sibTransId="{85ABD8DA-576C-4B15-A2F4-B1850CF6A391}"/>
    <dgm:cxn modelId="{3EC10057-96C7-8549-98C5-6F4745D43A6C}" srcId="{B5FC382D-F21A-4267-95E5-A54A03846E06}" destId="{F836B60A-DC7D-A14E-9894-42DD0CE46165}" srcOrd="3" destOrd="0" parTransId="{6F7C07BF-6CEE-EC4C-8394-D01BDFA75A62}" sibTransId="{B8ABD10B-F0E0-D543-8396-3025150923AA}"/>
    <dgm:cxn modelId="{62A5A859-BBB5-493F-AAC7-745906B3D388}" srcId="{01B988C8-7C6D-4012-B1ED-C7AF6048847A}" destId="{4D29B19C-00D7-4521-8C1B-90DF4083189D}" srcOrd="0" destOrd="0" parTransId="{5EADE255-8C9B-4352-B8CA-9A60FEA1F3BD}" sibTransId="{191B98E1-A87F-4778-B2E5-6D2240A68299}"/>
    <dgm:cxn modelId="{9B33246B-9D5A-4AA9-8A58-3DA4434FE140}" srcId="{B5FC382D-F21A-4267-95E5-A54A03846E06}" destId="{300E1580-D008-4EE2-859F-73FBD97AFCEE}" srcOrd="2" destOrd="0" parTransId="{C9985700-C5BE-4D3A-B351-10F33A25475B}" sibTransId="{7CDD769B-F9DA-438A-82C1-36195DAB9EC3}"/>
    <dgm:cxn modelId="{C6D05980-0A5C-48B9-818D-F0561DE44F6A}" srcId="{D540E485-6634-43DF-91BA-1BAF352CD851}" destId="{B5FC382D-F21A-4267-95E5-A54A03846E06}" srcOrd="1" destOrd="0" parTransId="{9BC6FE92-AAC9-47ED-A100-845C7D401721}" sibTransId="{CA7469ED-1C2F-4E40-82E4-5407D5996798}"/>
    <dgm:cxn modelId="{0ED08E92-8104-C346-8AD2-4B526D1A8087}" type="presOf" srcId="{4D29B19C-00D7-4521-8C1B-90DF4083189D}" destId="{2C9B09B1-9B91-ED43-826D-64A31C787D84}" srcOrd="0" destOrd="0" presId="urn:microsoft.com/office/officeart/2005/8/layout/vList5"/>
    <dgm:cxn modelId="{4A4F8BA8-371E-6A4A-9FED-1AC54CE6BE2C}" type="presOf" srcId="{D540E485-6634-43DF-91BA-1BAF352CD851}" destId="{C63E27D4-2712-804E-9414-2E7E78E0CA77}" srcOrd="0" destOrd="0" presId="urn:microsoft.com/office/officeart/2005/8/layout/vList5"/>
    <dgm:cxn modelId="{F5CA05A9-3F57-9444-8F75-44F741486BD2}" type="presOf" srcId="{B5FC382D-F21A-4267-95E5-A54A03846E06}" destId="{D3374EA8-D94F-DD4B-9E2B-63F50DE4560E}" srcOrd="0" destOrd="0" presId="urn:microsoft.com/office/officeart/2005/8/layout/vList5"/>
    <dgm:cxn modelId="{A8500CA9-6482-474A-BEB7-31E7B2CA8715}" type="presOf" srcId="{300E1580-D008-4EE2-859F-73FBD97AFCEE}" destId="{CC997DF6-86D0-6C4A-8BAF-FA10A4EA117B}" srcOrd="0" destOrd="2" presId="urn:microsoft.com/office/officeart/2005/8/layout/vList5"/>
    <dgm:cxn modelId="{891EE8C2-5005-724B-BAA9-07D7EF5C8A9E}" type="presOf" srcId="{175959EF-B422-4882-958C-74B880EA59AF}" destId="{CC997DF6-86D0-6C4A-8BAF-FA10A4EA117B}" srcOrd="0" destOrd="1" presId="urn:microsoft.com/office/officeart/2005/8/layout/vList5"/>
    <dgm:cxn modelId="{EB51C4F9-37C0-9546-ACC7-61D84038DB32}" type="presOf" srcId="{01B988C8-7C6D-4012-B1ED-C7AF6048847A}" destId="{96BF399A-94E7-6147-B52E-284A80AB4C90}" srcOrd="0" destOrd="0" presId="urn:microsoft.com/office/officeart/2005/8/layout/vList5"/>
    <dgm:cxn modelId="{71206EB5-B1E3-5D41-9EEF-08EB97EE807B}" type="presParOf" srcId="{C63E27D4-2712-804E-9414-2E7E78E0CA77}" destId="{67B77C5D-CBDE-634E-AF66-82A9B6E61E18}" srcOrd="0" destOrd="0" presId="urn:microsoft.com/office/officeart/2005/8/layout/vList5"/>
    <dgm:cxn modelId="{008E6713-66CD-D240-B12C-B140C4392CF8}" type="presParOf" srcId="{67B77C5D-CBDE-634E-AF66-82A9B6E61E18}" destId="{96BF399A-94E7-6147-B52E-284A80AB4C90}" srcOrd="0" destOrd="0" presId="urn:microsoft.com/office/officeart/2005/8/layout/vList5"/>
    <dgm:cxn modelId="{C8B5A0BA-4AC1-9042-865B-724A36BB44EC}" type="presParOf" srcId="{67B77C5D-CBDE-634E-AF66-82A9B6E61E18}" destId="{2C9B09B1-9B91-ED43-826D-64A31C787D84}" srcOrd="1" destOrd="0" presId="urn:microsoft.com/office/officeart/2005/8/layout/vList5"/>
    <dgm:cxn modelId="{E2EDFB1E-4FC4-CC45-96E2-64EAA95A9570}" type="presParOf" srcId="{C63E27D4-2712-804E-9414-2E7E78E0CA77}" destId="{1312682E-2F90-A243-B2B5-4DE5C59B13ED}" srcOrd="1" destOrd="0" presId="urn:microsoft.com/office/officeart/2005/8/layout/vList5"/>
    <dgm:cxn modelId="{701EA055-53CC-BF48-8F6B-476C8A64F8EF}" type="presParOf" srcId="{C63E27D4-2712-804E-9414-2E7E78E0CA77}" destId="{0859B8CF-52BD-FC48-BBA0-17D468413621}" srcOrd="2" destOrd="0" presId="urn:microsoft.com/office/officeart/2005/8/layout/vList5"/>
    <dgm:cxn modelId="{D671E223-1338-D343-AD12-A81F86ACDA5E}" type="presParOf" srcId="{0859B8CF-52BD-FC48-BBA0-17D468413621}" destId="{D3374EA8-D94F-DD4B-9E2B-63F50DE4560E}" srcOrd="0" destOrd="0" presId="urn:microsoft.com/office/officeart/2005/8/layout/vList5"/>
    <dgm:cxn modelId="{06FD0120-5385-E642-AC4B-031DC9A471D4}" type="presParOf" srcId="{0859B8CF-52BD-FC48-BBA0-17D468413621}" destId="{CC997DF6-86D0-6C4A-8BAF-FA10A4EA117B}" srcOrd="1" destOrd="0" presId="urn:microsoft.com/office/officeart/2005/8/layout/vList5"/>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0848D47-EABD-478F-BA7F-42041A63116C}"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06052D5A-9CAE-4270-8A5C-9BDB861E3B0D}">
      <dgm:prSet/>
      <dgm:spPr/>
      <dgm:t>
        <a:bodyPr/>
        <a:lstStyle/>
        <a:p>
          <a:r>
            <a:rPr lang="en-US"/>
            <a:t>Motivation:</a:t>
          </a:r>
        </a:p>
      </dgm:t>
    </dgm:pt>
    <dgm:pt modelId="{2F64D578-2684-461C-8A2D-B94D05656A4F}" cxnId="{8E7A075B-200B-4500-A649-915DB20ADDC7}" type="parTrans">
      <dgm:prSet/>
      <dgm:spPr/>
      <dgm:t>
        <a:bodyPr/>
        <a:lstStyle/>
        <a:p>
          <a:endParaRPr lang="en-US"/>
        </a:p>
      </dgm:t>
    </dgm:pt>
    <dgm:pt modelId="{A4146342-325A-41ED-83A3-24583D482414}" cxnId="{8E7A075B-200B-4500-A649-915DB20ADDC7}" type="sibTrans">
      <dgm:prSet/>
      <dgm:spPr/>
      <dgm:t>
        <a:bodyPr/>
        <a:lstStyle/>
        <a:p>
          <a:endParaRPr lang="en-US"/>
        </a:p>
      </dgm:t>
    </dgm:pt>
    <dgm:pt modelId="{7182333A-E80E-483C-BE88-AE95BDB02492}">
      <dgm:prSet custT="1"/>
      <dgm:spPr/>
      <dgm:t>
        <a:bodyPr/>
        <a:lstStyle/>
        <a:p>
          <a:r>
            <a:rPr lang="en-US" sz="2000" dirty="0"/>
            <a:t>Most of the instruction datasets contain only simple instructions.</a:t>
          </a:r>
        </a:p>
      </dgm:t>
    </dgm:pt>
    <dgm:pt modelId="{B42FFD5F-EB48-47F5-87C8-0F72071EC1B3}" cxnId="{D847FEA9-FD2E-4066-9B3E-D5B217378436}" type="parTrans">
      <dgm:prSet/>
      <dgm:spPr/>
      <dgm:t>
        <a:bodyPr/>
        <a:lstStyle/>
        <a:p>
          <a:endParaRPr lang="en-US"/>
        </a:p>
      </dgm:t>
    </dgm:pt>
    <dgm:pt modelId="{68695343-FB9C-448F-A72D-CA16757D190F}" cxnId="{D847FEA9-FD2E-4066-9B3E-D5B217378436}" type="sibTrans">
      <dgm:prSet/>
      <dgm:spPr/>
      <dgm:t>
        <a:bodyPr/>
        <a:lstStyle/>
        <a:p>
          <a:endParaRPr lang="en-US"/>
        </a:p>
      </dgm:t>
    </dgm:pt>
    <dgm:pt modelId="{33C6DFDA-FD63-4E2E-AA0F-BF45CB426F00}">
      <dgm:prSet custT="1"/>
      <dgm:spPr/>
      <dgm:t>
        <a:bodyPr/>
        <a:lstStyle/>
        <a:p>
          <a:r>
            <a:rPr lang="en-US" sz="2000" dirty="0"/>
            <a:t>LLMs can be used to make instructions more complex.</a:t>
          </a:r>
        </a:p>
      </dgm:t>
    </dgm:pt>
    <dgm:pt modelId="{9444088F-D428-4ED5-A989-9AD298DA096B}" cxnId="{229F3921-3770-478F-B0C1-41167E71062B}" type="parTrans">
      <dgm:prSet/>
      <dgm:spPr/>
      <dgm:t>
        <a:bodyPr/>
        <a:lstStyle/>
        <a:p>
          <a:endParaRPr lang="en-US"/>
        </a:p>
      </dgm:t>
    </dgm:pt>
    <dgm:pt modelId="{39E989CD-B690-4938-B0DC-75A0E3DC14A1}" cxnId="{229F3921-3770-478F-B0C1-41167E71062B}" type="sibTrans">
      <dgm:prSet/>
      <dgm:spPr/>
      <dgm:t>
        <a:bodyPr/>
        <a:lstStyle/>
        <a:p>
          <a:endParaRPr lang="en-US"/>
        </a:p>
      </dgm:t>
    </dgm:pt>
    <dgm:pt modelId="{9FF080BE-8720-4048-920D-9D98B39EBAF5}">
      <dgm:prSet/>
      <dgm:spPr/>
      <dgm:t>
        <a:bodyPr/>
        <a:lstStyle/>
        <a:p>
          <a:r>
            <a:rPr lang="en-US"/>
            <a:t>Instruction Evolver</a:t>
          </a:r>
        </a:p>
      </dgm:t>
    </dgm:pt>
    <dgm:pt modelId="{F7788E75-EF91-49CB-808B-F12DF27E20A7}" cxnId="{6A8979F0-72DF-4DBC-B778-27041C4A027E}" type="parTrans">
      <dgm:prSet/>
      <dgm:spPr/>
      <dgm:t>
        <a:bodyPr/>
        <a:lstStyle/>
        <a:p>
          <a:endParaRPr lang="en-US"/>
        </a:p>
      </dgm:t>
    </dgm:pt>
    <dgm:pt modelId="{CCC047A4-6624-4B87-9F00-2A7B4D7002BD}" cxnId="{6A8979F0-72DF-4DBC-B778-27041C4A027E}" type="sibTrans">
      <dgm:prSet/>
      <dgm:spPr/>
      <dgm:t>
        <a:bodyPr/>
        <a:lstStyle/>
        <a:p>
          <a:endParaRPr lang="en-US"/>
        </a:p>
      </dgm:t>
    </dgm:pt>
    <dgm:pt modelId="{CAEAF354-B241-4EC5-B2AE-8665881E9A82}">
      <dgm:prSet custT="1"/>
      <dgm:spPr/>
      <dgm:t>
        <a:bodyPr/>
        <a:lstStyle/>
        <a:p>
          <a:r>
            <a:rPr lang="en-US" sz="2400" dirty="0"/>
            <a:t>An LLM that uses prompts to evolve instructions.</a:t>
          </a:r>
        </a:p>
      </dgm:t>
    </dgm:pt>
    <dgm:pt modelId="{16881F0F-6C4A-4C3C-9503-CBB43FDF1348}" cxnId="{B000DD2F-D6C8-437A-9595-FF9DC498E927}" type="parTrans">
      <dgm:prSet/>
      <dgm:spPr/>
      <dgm:t>
        <a:bodyPr/>
        <a:lstStyle/>
        <a:p>
          <a:endParaRPr lang="en-US"/>
        </a:p>
      </dgm:t>
    </dgm:pt>
    <dgm:pt modelId="{C356EE40-1C3E-4D9C-BFC0-D6B52794CCD9}" cxnId="{B000DD2F-D6C8-437A-9595-FF9DC498E927}" type="sibTrans">
      <dgm:prSet/>
      <dgm:spPr/>
      <dgm:t>
        <a:bodyPr/>
        <a:lstStyle/>
        <a:p>
          <a:endParaRPr lang="en-US"/>
        </a:p>
      </dgm:t>
    </dgm:pt>
    <dgm:pt modelId="{3664C46A-5545-44EF-9A67-FDFA2C7F1C90}">
      <dgm:prSet/>
      <dgm:spPr/>
      <dgm:t>
        <a:bodyPr/>
        <a:lstStyle/>
        <a:p>
          <a:r>
            <a:rPr lang="en-US"/>
            <a:t>Instruction Eliminator</a:t>
          </a:r>
        </a:p>
      </dgm:t>
    </dgm:pt>
    <dgm:pt modelId="{8D2B0DE1-4405-4A38-A0C3-3A60ED403BDC}" cxnId="{BB6A4007-ED5B-4978-8247-6BDD56CAC919}" type="parTrans">
      <dgm:prSet/>
      <dgm:spPr/>
      <dgm:t>
        <a:bodyPr/>
        <a:lstStyle/>
        <a:p>
          <a:endParaRPr lang="en-US"/>
        </a:p>
      </dgm:t>
    </dgm:pt>
    <dgm:pt modelId="{ECB837C1-FAD3-4E22-B06B-928C31FE00EC}" cxnId="{BB6A4007-ED5B-4978-8247-6BDD56CAC919}" type="sibTrans">
      <dgm:prSet/>
      <dgm:spPr/>
      <dgm:t>
        <a:bodyPr/>
        <a:lstStyle/>
        <a:p>
          <a:endParaRPr lang="en-US"/>
        </a:p>
      </dgm:t>
    </dgm:pt>
    <dgm:pt modelId="{8DA64AAC-084D-4366-AADD-64B0AE0FA3AA}">
      <dgm:prSet custT="1"/>
      <dgm:spPr/>
      <dgm:t>
        <a:bodyPr/>
        <a:lstStyle/>
        <a:p>
          <a:r>
            <a:rPr lang="en-US" sz="2400" dirty="0"/>
            <a:t>Checks whether the evolution fails.</a:t>
          </a:r>
        </a:p>
        <a:p>
          <a:r>
            <a:rPr lang="en-US" sz="2400" dirty="0"/>
            <a:t>- Non-informative responses</a:t>
          </a:r>
        </a:p>
      </dgm:t>
    </dgm:pt>
    <dgm:pt modelId="{BCBAEC47-3E48-4BF4-B62E-435899CCD44E}" cxnId="{488739D2-3E95-492D-BCC2-53ADF23B33C1}" type="parTrans">
      <dgm:prSet/>
      <dgm:spPr/>
      <dgm:t>
        <a:bodyPr/>
        <a:lstStyle/>
        <a:p>
          <a:endParaRPr lang="en-US"/>
        </a:p>
      </dgm:t>
    </dgm:pt>
    <dgm:pt modelId="{447CA69E-D539-4C15-B503-6854F6606A9C}" cxnId="{488739D2-3E95-492D-BCC2-53ADF23B33C1}" type="sibTrans">
      <dgm:prSet/>
      <dgm:spPr/>
      <dgm:t>
        <a:bodyPr/>
        <a:lstStyle/>
        <a:p>
          <a:endParaRPr lang="en-US"/>
        </a:p>
      </dgm:t>
    </dgm:pt>
    <dgm:pt modelId="{D307EF7B-F9E1-4801-AE93-8CB9790B832F}" type="pres">
      <dgm:prSet presAssocID="{20848D47-EABD-478F-BA7F-42041A63116C}" presName="root" presStyleCnt="0">
        <dgm:presLayoutVars>
          <dgm:dir/>
          <dgm:resizeHandles val="exact"/>
        </dgm:presLayoutVars>
      </dgm:prSet>
      <dgm:spPr/>
    </dgm:pt>
    <dgm:pt modelId="{50CED8CC-8170-4E24-ADE9-B0D371CCF5F8}" type="pres">
      <dgm:prSet presAssocID="{06052D5A-9CAE-4270-8A5C-9BDB861E3B0D}" presName="compNode" presStyleCnt="0"/>
      <dgm:spPr/>
    </dgm:pt>
    <dgm:pt modelId="{BB666076-E92D-47D1-B43B-156E51B892E9}" type="pres">
      <dgm:prSet presAssocID="{06052D5A-9CAE-4270-8A5C-9BDB861E3B0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pt>
    <dgm:pt modelId="{D8A16CB3-E2BD-48CD-B7A8-C4AB4EFC5ED2}" type="pres">
      <dgm:prSet presAssocID="{06052D5A-9CAE-4270-8A5C-9BDB861E3B0D}" presName="iconSpace" presStyleCnt="0"/>
      <dgm:spPr/>
    </dgm:pt>
    <dgm:pt modelId="{23CC98E4-69FE-4B65-A673-56B96E8558EB}" type="pres">
      <dgm:prSet presAssocID="{06052D5A-9CAE-4270-8A5C-9BDB861E3B0D}" presName="parTx" presStyleLbl="revTx" presStyleIdx="0" presStyleCnt="6">
        <dgm:presLayoutVars>
          <dgm:chMax val="0"/>
          <dgm:chPref val="0"/>
        </dgm:presLayoutVars>
      </dgm:prSet>
      <dgm:spPr/>
    </dgm:pt>
    <dgm:pt modelId="{8B1A2B55-DCD4-496D-8462-BB65BFC9CAAD}" type="pres">
      <dgm:prSet presAssocID="{06052D5A-9CAE-4270-8A5C-9BDB861E3B0D}" presName="txSpace" presStyleCnt="0"/>
      <dgm:spPr/>
    </dgm:pt>
    <dgm:pt modelId="{1CE4400D-4ACC-4489-B0D0-CC3724CF5ADD}" type="pres">
      <dgm:prSet presAssocID="{06052D5A-9CAE-4270-8A5C-9BDB861E3B0D}" presName="desTx" presStyleLbl="revTx" presStyleIdx="1" presStyleCnt="6">
        <dgm:presLayoutVars/>
      </dgm:prSet>
      <dgm:spPr/>
    </dgm:pt>
    <dgm:pt modelId="{59EF08B6-29B9-43D0-AC0F-571A344D227E}" type="pres">
      <dgm:prSet presAssocID="{A4146342-325A-41ED-83A3-24583D482414}" presName="sibTrans" presStyleCnt="0"/>
      <dgm:spPr/>
    </dgm:pt>
    <dgm:pt modelId="{146A5D37-B5FB-4B69-AED8-1BA80570E039}" type="pres">
      <dgm:prSet presAssocID="{9FF080BE-8720-4048-920D-9D98B39EBAF5}" presName="compNode" presStyleCnt="0"/>
      <dgm:spPr/>
    </dgm:pt>
    <dgm:pt modelId="{79CCC706-4ECE-4ED1-A4DC-93F68841F1E5}" type="pres">
      <dgm:prSet presAssocID="{9FF080BE-8720-4048-920D-9D98B39EBAF5}"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5E9395B0-F714-4C88-A449-6125FA1D7123}" type="pres">
      <dgm:prSet presAssocID="{9FF080BE-8720-4048-920D-9D98B39EBAF5}" presName="iconSpace" presStyleCnt="0"/>
      <dgm:spPr/>
    </dgm:pt>
    <dgm:pt modelId="{7F96B0DD-5195-4C07-8CD0-D41070F47A1E}" type="pres">
      <dgm:prSet presAssocID="{9FF080BE-8720-4048-920D-9D98B39EBAF5}" presName="parTx" presStyleLbl="revTx" presStyleIdx="2" presStyleCnt="6">
        <dgm:presLayoutVars>
          <dgm:chMax val="0"/>
          <dgm:chPref val="0"/>
        </dgm:presLayoutVars>
      </dgm:prSet>
      <dgm:spPr/>
    </dgm:pt>
    <dgm:pt modelId="{7D9C7ED0-3297-48B4-B760-83F126CB5E66}" type="pres">
      <dgm:prSet presAssocID="{9FF080BE-8720-4048-920D-9D98B39EBAF5}" presName="txSpace" presStyleCnt="0"/>
      <dgm:spPr/>
    </dgm:pt>
    <dgm:pt modelId="{47C42C88-8D51-40C6-8795-EDD1B58D81A3}" type="pres">
      <dgm:prSet presAssocID="{9FF080BE-8720-4048-920D-9D98B39EBAF5}" presName="desTx" presStyleLbl="revTx" presStyleIdx="3" presStyleCnt="6">
        <dgm:presLayoutVars/>
      </dgm:prSet>
      <dgm:spPr/>
    </dgm:pt>
    <dgm:pt modelId="{90D35C0E-A9E2-48FA-948F-2C84A3324900}" type="pres">
      <dgm:prSet presAssocID="{CCC047A4-6624-4B87-9F00-2A7B4D7002BD}" presName="sibTrans" presStyleCnt="0"/>
      <dgm:spPr/>
    </dgm:pt>
    <dgm:pt modelId="{5EF4E847-21A4-4A00-93C1-85A82392E26C}" type="pres">
      <dgm:prSet presAssocID="{3664C46A-5545-44EF-9A67-FDFA2C7F1C90}" presName="compNode" presStyleCnt="0"/>
      <dgm:spPr/>
    </dgm:pt>
    <dgm:pt modelId="{5BBF95E8-2716-420C-AE3F-442782433D38}" type="pres">
      <dgm:prSet presAssocID="{3664C46A-5545-44EF-9A67-FDFA2C7F1C9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pt>
    <dgm:pt modelId="{7B6479C0-EB0D-47D4-B3B7-390B2EB84384}" type="pres">
      <dgm:prSet presAssocID="{3664C46A-5545-44EF-9A67-FDFA2C7F1C90}" presName="iconSpace" presStyleCnt="0"/>
      <dgm:spPr/>
    </dgm:pt>
    <dgm:pt modelId="{0BD66059-3F55-4837-BEA9-A19DAEE7D1C9}" type="pres">
      <dgm:prSet presAssocID="{3664C46A-5545-44EF-9A67-FDFA2C7F1C90}" presName="parTx" presStyleLbl="revTx" presStyleIdx="4" presStyleCnt="6">
        <dgm:presLayoutVars>
          <dgm:chMax val="0"/>
          <dgm:chPref val="0"/>
        </dgm:presLayoutVars>
      </dgm:prSet>
      <dgm:spPr/>
    </dgm:pt>
    <dgm:pt modelId="{6ABE4DBE-9541-4423-BD7C-D0A6EECB82F7}" type="pres">
      <dgm:prSet presAssocID="{3664C46A-5545-44EF-9A67-FDFA2C7F1C90}" presName="txSpace" presStyleCnt="0"/>
      <dgm:spPr/>
    </dgm:pt>
    <dgm:pt modelId="{40A215CE-85EF-4527-8345-E13392A01230}" type="pres">
      <dgm:prSet presAssocID="{3664C46A-5545-44EF-9A67-FDFA2C7F1C90}" presName="desTx" presStyleLbl="revTx" presStyleIdx="5" presStyleCnt="6">
        <dgm:presLayoutVars/>
      </dgm:prSet>
      <dgm:spPr/>
    </dgm:pt>
  </dgm:ptLst>
  <dgm:cxnLst>
    <dgm:cxn modelId="{BB6A4007-ED5B-4978-8247-6BDD56CAC919}" srcId="{20848D47-EABD-478F-BA7F-42041A63116C}" destId="{3664C46A-5545-44EF-9A67-FDFA2C7F1C90}" srcOrd="2" destOrd="0" parTransId="{8D2B0DE1-4405-4A38-A0C3-3A60ED403BDC}" sibTransId="{ECB837C1-FAD3-4E22-B06B-928C31FE00EC}"/>
    <dgm:cxn modelId="{229F3921-3770-478F-B0C1-41167E71062B}" srcId="{06052D5A-9CAE-4270-8A5C-9BDB861E3B0D}" destId="{33C6DFDA-FD63-4E2E-AA0F-BF45CB426F00}" srcOrd="1" destOrd="0" parTransId="{9444088F-D428-4ED5-A989-9AD298DA096B}" sibTransId="{39E989CD-B690-4938-B0DC-75A0E3DC14A1}"/>
    <dgm:cxn modelId="{B000DD2F-D6C8-437A-9595-FF9DC498E927}" srcId="{9FF080BE-8720-4048-920D-9D98B39EBAF5}" destId="{CAEAF354-B241-4EC5-B2AE-8665881E9A82}" srcOrd="0" destOrd="0" parTransId="{16881F0F-6C4A-4C3C-9503-CBB43FDF1348}" sibTransId="{C356EE40-1C3E-4D9C-BFC0-D6B52794CCD9}"/>
    <dgm:cxn modelId="{FDE75932-A1AC-4AFD-9626-508F73358FE6}" type="presOf" srcId="{CAEAF354-B241-4EC5-B2AE-8665881E9A82}" destId="{47C42C88-8D51-40C6-8795-EDD1B58D81A3}" srcOrd="0" destOrd="0" presId="urn:microsoft.com/office/officeart/2018/2/layout/IconLabelDescriptionList"/>
    <dgm:cxn modelId="{DE272455-9A66-490C-BBEB-0A9215EF4D26}" type="presOf" srcId="{8DA64AAC-084D-4366-AADD-64B0AE0FA3AA}" destId="{40A215CE-85EF-4527-8345-E13392A01230}" srcOrd="0" destOrd="0" presId="urn:microsoft.com/office/officeart/2018/2/layout/IconLabelDescriptionList"/>
    <dgm:cxn modelId="{E9054C55-ED53-4D35-A64B-C674921FE25A}" type="presOf" srcId="{3664C46A-5545-44EF-9A67-FDFA2C7F1C90}" destId="{0BD66059-3F55-4837-BEA9-A19DAEE7D1C9}" srcOrd="0" destOrd="0" presId="urn:microsoft.com/office/officeart/2018/2/layout/IconLabelDescriptionList"/>
    <dgm:cxn modelId="{8E7A075B-200B-4500-A649-915DB20ADDC7}" srcId="{20848D47-EABD-478F-BA7F-42041A63116C}" destId="{06052D5A-9CAE-4270-8A5C-9BDB861E3B0D}" srcOrd="0" destOrd="0" parTransId="{2F64D578-2684-461C-8A2D-B94D05656A4F}" sibTransId="{A4146342-325A-41ED-83A3-24583D482414}"/>
    <dgm:cxn modelId="{F0E79F6F-CD5C-473C-83AB-30DB100F40F9}" type="presOf" srcId="{7182333A-E80E-483C-BE88-AE95BDB02492}" destId="{1CE4400D-4ACC-4489-B0D0-CC3724CF5ADD}" srcOrd="0" destOrd="0" presId="urn:microsoft.com/office/officeart/2018/2/layout/IconLabelDescriptionList"/>
    <dgm:cxn modelId="{B1E96B7E-9E15-47A2-B9A7-A6AE1F5BEA1D}" type="presOf" srcId="{9FF080BE-8720-4048-920D-9D98B39EBAF5}" destId="{7F96B0DD-5195-4C07-8CD0-D41070F47A1E}" srcOrd="0" destOrd="0" presId="urn:microsoft.com/office/officeart/2018/2/layout/IconLabelDescriptionList"/>
    <dgm:cxn modelId="{D847FEA9-FD2E-4066-9B3E-D5B217378436}" srcId="{06052D5A-9CAE-4270-8A5C-9BDB861E3B0D}" destId="{7182333A-E80E-483C-BE88-AE95BDB02492}" srcOrd="0" destOrd="0" parTransId="{B42FFD5F-EB48-47F5-87C8-0F72071EC1B3}" sibTransId="{68695343-FB9C-448F-A72D-CA16757D190F}"/>
    <dgm:cxn modelId="{4BD1C6B5-7454-45FE-B762-54B5A3AF957F}" type="presOf" srcId="{33C6DFDA-FD63-4E2E-AA0F-BF45CB426F00}" destId="{1CE4400D-4ACC-4489-B0D0-CC3724CF5ADD}" srcOrd="0" destOrd="1" presId="urn:microsoft.com/office/officeart/2018/2/layout/IconLabelDescriptionList"/>
    <dgm:cxn modelId="{488739D2-3E95-492D-BCC2-53ADF23B33C1}" srcId="{3664C46A-5545-44EF-9A67-FDFA2C7F1C90}" destId="{8DA64AAC-084D-4366-AADD-64B0AE0FA3AA}" srcOrd="0" destOrd="0" parTransId="{BCBAEC47-3E48-4BF4-B62E-435899CCD44E}" sibTransId="{447CA69E-D539-4C15-B503-6854F6606A9C}"/>
    <dgm:cxn modelId="{19134AE4-C668-45CF-B500-4D876BDDDE3C}" type="presOf" srcId="{20848D47-EABD-478F-BA7F-42041A63116C}" destId="{D307EF7B-F9E1-4801-AE93-8CB9790B832F}" srcOrd="0" destOrd="0" presId="urn:microsoft.com/office/officeart/2018/2/layout/IconLabelDescriptionList"/>
    <dgm:cxn modelId="{9BDDA4E5-7D8E-4A7E-9C48-CE6AB6DD1405}" type="presOf" srcId="{06052D5A-9CAE-4270-8A5C-9BDB861E3B0D}" destId="{23CC98E4-69FE-4B65-A673-56B96E8558EB}" srcOrd="0" destOrd="0" presId="urn:microsoft.com/office/officeart/2018/2/layout/IconLabelDescriptionList"/>
    <dgm:cxn modelId="{6A8979F0-72DF-4DBC-B778-27041C4A027E}" srcId="{20848D47-EABD-478F-BA7F-42041A63116C}" destId="{9FF080BE-8720-4048-920D-9D98B39EBAF5}" srcOrd="1" destOrd="0" parTransId="{F7788E75-EF91-49CB-808B-F12DF27E20A7}" sibTransId="{CCC047A4-6624-4B87-9F00-2A7B4D7002BD}"/>
    <dgm:cxn modelId="{6D7D1CFB-10BF-4F9A-9F21-E5D6D87869AC}" type="presParOf" srcId="{D307EF7B-F9E1-4801-AE93-8CB9790B832F}" destId="{50CED8CC-8170-4E24-ADE9-B0D371CCF5F8}" srcOrd="0" destOrd="0" presId="urn:microsoft.com/office/officeart/2018/2/layout/IconLabelDescriptionList"/>
    <dgm:cxn modelId="{19007D5B-06D1-433C-84BB-7EE9618AF328}" type="presParOf" srcId="{50CED8CC-8170-4E24-ADE9-B0D371CCF5F8}" destId="{BB666076-E92D-47D1-B43B-156E51B892E9}" srcOrd="0" destOrd="0" presId="urn:microsoft.com/office/officeart/2018/2/layout/IconLabelDescriptionList"/>
    <dgm:cxn modelId="{C523F187-9753-457A-A1D1-6C5504292682}" type="presParOf" srcId="{50CED8CC-8170-4E24-ADE9-B0D371CCF5F8}" destId="{D8A16CB3-E2BD-48CD-B7A8-C4AB4EFC5ED2}" srcOrd="1" destOrd="0" presId="urn:microsoft.com/office/officeart/2018/2/layout/IconLabelDescriptionList"/>
    <dgm:cxn modelId="{F494DEE8-5373-4D70-8BC6-16970CF2A167}" type="presParOf" srcId="{50CED8CC-8170-4E24-ADE9-B0D371CCF5F8}" destId="{23CC98E4-69FE-4B65-A673-56B96E8558EB}" srcOrd="2" destOrd="0" presId="urn:microsoft.com/office/officeart/2018/2/layout/IconLabelDescriptionList"/>
    <dgm:cxn modelId="{A6A795A5-83B5-4A56-A619-A857B28C6414}" type="presParOf" srcId="{50CED8CC-8170-4E24-ADE9-B0D371CCF5F8}" destId="{8B1A2B55-DCD4-496D-8462-BB65BFC9CAAD}" srcOrd="3" destOrd="0" presId="urn:microsoft.com/office/officeart/2018/2/layout/IconLabelDescriptionList"/>
    <dgm:cxn modelId="{154F12CA-A2C0-4140-8797-18E362D693F8}" type="presParOf" srcId="{50CED8CC-8170-4E24-ADE9-B0D371CCF5F8}" destId="{1CE4400D-4ACC-4489-B0D0-CC3724CF5ADD}" srcOrd="4" destOrd="0" presId="urn:microsoft.com/office/officeart/2018/2/layout/IconLabelDescriptionList"/>
    <dgm:cxn modelId="{7A3A349D-5EE3-4246-9B47-74FC99198CEA}" type="presParOf" srcId="{D307EF7B-F9E1-4801-AE93-8CB9790B832F}" destId="{59EF08B6-29B9-43D0-AC0F-571A344D227E}" srcOrd="1" destOrd="0" presId="urn:microsoft.com/office/officeart/2018/2/layout/IconLabelDescriptionList"/>
    <dgm:cxn modelId="{F738FD27-A012-4A7C-9361-1D4F7D6BA247}" type="presParOf" srcId="{D307EF7B-F9E1-4801-AE93-8CB9790B832F}" destId="{146A5D37-B5FB-4B69-AED8-1BA80570E039}" srcOrd="2" destOrd="0" presId="urn:microsoft.com/office/officeart/2018/2/layout/IconLabelDescriptionList"/>
    <dgm:cxn modelId="{12C6BD51-DC7A-4F64-9FD5-338C83A6BE8A}" type="presParOf" srcId="{146A5D37-B5FB-4B69-AED8-1BA80570E039}" destId="{79CCC706-4ECE-4ED1-A4DC-93F68841F1E5}" srcOrd="0" destOrd="0" presId="urn:microsoft.com/office/officeart/2018/2/layout/IconLabelDescriptionList"/>
    <dgm:cxn modelId="{B0254867-FCE2-44B7-840E-3C9F8B0018D2}" type="presParOf" srcId="{146A5D37-B5FB-4B69-AED8-1BA80570E039}" destId="{5E9395B0-F714-4C88-A449-6125FA1D7123}" srcOrd="1" destOrd="0" presId="urn:microsoft.com/office/officeart/2018/2/layout/IconLabelDescriptionList"/>
    <dgm:cxn modelId="{A35C01C6-085E-4DA4-85FF-6B5EECAFA845}" type="presParOf" srcId="{146A5D37-B5FB-4B69-AED8-1BA80570E039}" destId="{7F96B0DD-5195-4C07-8CD0-D41070F47A1E}" srcOrd="2" destOrd="0" presId="urn:microsoft.com/office/officeart/2018/2/layout/IconLabelDescriptionList"/>
    <dgm:cxn modelId="{A1668673-F118-4066-A08A-1F26793FC03F}" type="presParOf" srcId="{146A5D37-B5FB-4B69-AED8-1BA80570E039}" destId="{7D9C7ED0-3297-48B4-B760-83F126CB5E66}" srcOrd="3" destOrd="0" presId="urn:microsoft.com/office/officeart/2018/2/layout/IconLabelDescriptionList"/>
    <dgm:cxn modelId="{9EA691FB-CEF4-4A56-ACAD-186ABE7DC6F6}" type="presParOf" srcId="{146A5D37-B5FB-4B69-AED8-1BA80570E039}" destId="{47C42C88-8D51-40C6-8795-EDD1B58D81A3}" srcOrd="4" destOrd="0" presId="urn:microsoft.com/office/officeart/2018/2/layout/IconLabelDescriptionList"/>
    <dgm:cxn modelId="{F7EC1FF7-1B5B-47F8-B6F0-8FFFFE6CF7E1}" type="presParOf" srcId="{D307EF7B-F9E1-4801-AE93-8CB9790B832F}" destId="{90D35C0E-A9E2-48FA-948F-2C84A3324900}" srcOrd="3" destOrd="0" presId="urn:microsoft.com/office/officeart/2018/2/layout/IconLabelDescriptionList"/>
    <dgm:cxn modelId="{F3D76D4F-5F24-4D83-9855-360ADCA12F62}" type="presParOf" srcId="{D307EF7B-F9E1-4801-AE93-8CB9790B832F}" destId="{5EF4E847-21A4-4A00-93C1-85A82392E26C}" srcOrd="4" destOrd="0" presId="urn:microsoft.com/office/officeart/2018/2/layout/IconLabelDescriptionList"/>
    <dgm:cxn modelId="{67F9F4EC-07B6-4D78-8C43-3B246958F15D}" type="presParOf" srcId="{5EF4E847-21A4-4A00-93C1-85A82392E26C}" destId="{5BBF95E8-2716-420C-AE3F-442782433D38}" srcOrd="0" destOrd="0" presId="urn:microsoft.com/office/officeart/2018/2/layout/IconLabelDescriptionList"/>
    <dgm:cxn modelId="{652D5997-9E42-40AB-ADB0-7B37D195ECE1}" type="presParOf" srcId="{5EF4E847-21A4-4A00-93C1-85A82392E26C}" destId="{7B6479C0-EB0D-47D4-B3B7-390B2EB84384}" srcOrd="1" destOrd="0" presId="urn:microsoft.com/office/officeart/2018/2/layout/IconLabelDescriptionList"/>
    <dgm:cxn modelId="{A69723FA-D785-43A5-919E-28CCEDA519DC}" type="presParOf" srcId="{5EF4E847-21A4-4A00-93C1-85A82392E26C}" destId="{0BD66059-3F55-4837-BEA9-A19DAEE7D1C9}" srcOrd="2" destOrd="0" presId="urn:microsoft.com/office/officeart/2018/2/layout/IconLabelDescriptionList"/>
    <dgm:cxn modelId="{E69622C3-2A1D-4771-97DA-42A4D51C4E1D}" type="presParOf" srcId="{5EF4E847-21A4-4A00-93C1-85A82392E26C}" destId="{6ABE4DBE-9541-4423-BD7C-D0A6EECB82F7}" srcOrd="3" destOrd="0" presId="urn:microsoft.com/office/officeart/2018/2/layout/IconLabelDescriptionList"/>
    <dgm:cxn modelId="{ABD43027-E4ED-4BEB-8418-E318FE9A9B31}" type="presParOf" srcId="{5EF4E847-21A4-4A00-93C1-85A82392E26C}" destId="{40A215CE-85EF-4527-8345-E13392A01230}"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17C5CB3-0FC7-4BF6-8216-9CF1FF60FE70}" type="doc">
      <dgm:prSet loTypeId="urn:microsoft.com/office/officeart/2005/8/layout/hList1" loCatId="list" qsTypeId="urn:microsoft.com/office/officeart/2005/8/quickstyle/simple4" qsCatId="simple" csTypeId="urn:microsoft.com/office/officeart/2005/8/colors/accent1_2" csCatId="accent1"/>
      <dgm:spPr/>
      <dgm:t>
        <a:bodyPr/>
        <a:lstStyle/>
        <a:p>
          <a:endParaRPr lang="en-US"/>
        </a:p>
      </dgm:t>
    </dgm:pt>
    <dgm:pt modelId="{C0CD550B-5AD2-4617-8888-BA1004CA32F9}">
      <dgm:prSet/>
      <dgm:spPr/>
      <dgm:t>
        <a:bodyPr/>
        <a:lstStyle/>
        <a:p>
          <a:r>
            <a:rPr lang="en-IN" b="1"/>
            <a:t>Gather Data:</a:t>
          </a:r>
          <a:endParaRPr lang="en-US"/>
        </a:p>
      </dgm:t>
    </dgm:pt>
    <dgm:pt modelId="{E731926D-D705-4F96-97C1-F1B01B0209A8}" cxnId="{8C8DD737-AE5B-4966-B21D-957E394D354A}" type="parTrans">
      <dgm:prSet/>
      <dgm:spPr/>
      <dgm:t>
        <a:bodyPr/>
        <a:lstStyle/>
        <a:p>
          <a:endParaRPr lang="en-US"/>
        </a:p>
      </dgm:t>
    </dgm:pt>
    <dgm:pt modelId="{EF21BFB2-ABEB-45B9-9419-429211995601}" cxnId="{8C8DD737-AE5B-4966-B21D-957E394D354A}" type="sibTrans">
      <dgm:prSet/>
      <dgm:spPr/>
      <dgm:t>
        <a:bodyPr/>
        <a:lstStyle/>
        <a:p>
          <a:endParaRPr lang="en-US"/>
        </a:p>
      </dgm:t>
    </dgm:pt>
    <dgm:pt modelId="{C881FE67-A471-40C0-A26A-BA32426692EB}">
      <dgm:prSet/>
      <dgm:spPr/>
      <dgm:t>
        <a:bodyPr/>
        <a:lstStyle/>
        <a:p>
          <a:r>
            <a:rPr lang="en-IN"/>
            <a:t>Unlabeled text from Clueweb (Overwijk et al., 2022).</a:t>
          </a:r>
          <a:endParaRPr lang="en-US"/>
        </a:p>
      </dgm:t>
    </dgm:pt>
    <dgm:pt modelId="{EF6645FC-8F8B-44C9-BEA0-E7B652205887}" cxnId="{2B736F12-F1C1-4C7E-AC78-8001C0DB810B}" type="parTrans">
      <dgm:prSet/>
      <dgm:spPr/>
      <dgm:t>
        <a:bodyPr/>
        <a:lstStyle/>
        <a:p>
          <a:endParaRPr lang="en-US"/>
        </a:p>
      </dgm:t>
    </dgm:pt>
    <dgm:pt modelId="{096264A1-C83F-4ECE-8D59-CFD83D0432A9}" cxnId="{2B736F12-F1C1-4C7E-AC78-8001C0DB810B}" type="sibTrans">
      <dgm:prSet/>
      <dgm:spPr/>
      <dgm:t>
        <a:bodyPr/>
        <a:lstStyle/>
        <a:p>
          <a:endParaRPr lang="en-US"/>
        </a:p>
      </dgm:t>
    </dgm:pt>
    <dgm:pt modelId="{A17B775D-4312-4076-B5A9-000634A31857}">
      <dgm:prSet/>
      <dgm:spPr/>
      <dgm:t>
        <a:bodyPr/>
        <a:lstStyle/>
        <a:p>
          <a:r>
            <a:rPr lang="en-IN"/>
            <a:t>3,200 pieces of human-written (instruction, response) format data.</a:t>
          </a:r>
          <a:endParaRPr lang="en-US"/>
        </a:p>
      </dgm:t>
    </dgm:pt>
    <dgm:pt modelId="{755ACFFE-76F3-4C86-A88A-0B97D7932465}" cxnId="{68F80D97-5B4E-4BC7-8CC0-C22E08E3BB63}" type="parTrans">
      <dgm:prSet/>
      <dgm:spPr/>
      <dgm:t>
        <a:bodyPr/>
        <a:lstStyle/>
        <a:p>
          <a:endParaRPr lang="en-US"/>
        </a:p>
      </dgm:t>
    </dgm:pt>
    <dgm:pt modelId="{8EFA81CC-77B9-4ACB-ACD3-9441EF695E0E}" cxnId="{68F80D97-5B4E-4BC7-8CC0-C22E08E3BB63}" type="sibTrans">
      <dgm:prSet/>
      <dgm:spPr/>
      <dgm:t>
        <a:bodyPr/>
        <a:lstStyle/>
        <a:p>
          <a:endParaRPr lang="en-US"/>
        </a:p>
      </dgm:t>
    </dgm:pt>
    <dgm:pt modelId="{9E155E17-002A-4135-9474-42EE20054654}">
      <dgm:prSet/>
      <dgm:spPr/>
      <dgm:t>
        <a:bodyPr/>
        <a:lstStyle/>
        <a:p>
          <a:r>
            <a:rPr lang="en-IN" b="1"/>
            <a:t>Back-Translation Model Training:</a:t>
          </a:r>
          <a:endParaRPr lang="en-US"/>
        </a:p>
      </dgm:t>
    </dgm:pt>
    <dgm:pt modelId="{2854E84D-4069-43A1-941C-78AB5E2ABAAF}" cxnId="{842AF4F8-BE27-497F-BFFA-EB7C200A5089}" type="parTrans">
      <dgm:prSet/>
      <dgm:spPr/>
      <dgm:t>
        <a:bodyPr/>
        <a:lstStyle/>
        <a:p>
          <a:endParaRPr lang="en-US"/>
        </a:p>
      </dgm:t>
    </dgm:pt>
    <dgm:pt modelId="{D9C60020-2047-454D-9B83-1D830E2CB8BF}" cxnId="{842AF4F8-BE27-497F-BFFA-EB7C200A5089}" type="sibTrans">
      <dgm:prSet/>
      <dgm:spPr/>
      <dgm:t>
        <a:bodyPr/>
        <a:lstStyle/>
        <a:p>
          <a:endParaRPr lang="en-US"/>
        </a:p>
      </dgm:t>
    </dgm:pt>
    <dgm:pt modelId="{62AD6FAF-CE7F-4022-A16B-91E0D91337AA}">
      <dgm:prSet/>
      <dgm:spPr/>
      <dgm:t>
        <a:bodyPr/>
        <a:lstStyle/>
        <a:p>
          <a:r>
            <a:rPr lang="en-IN"/>
            <a:t>Use LLaMA (Touvron et al., 2023b).</a:t>
          </a:r>
          <a:endParaRPr lang="en-US"/>
        </a:p>
      </dgm:t>
    </dgm:pt>
    <dgm:pt modelId="{A254730D-3335-436F-97DF-6C92F8DFD252}" cxnId="{F03249BB-6214-4909-9406-16D3C87316F7}" type="parTrans">
      <dgm:prSet/>
      <dgm:spPr/>
      <dgm:t>
        <a:bodyPr/>
        <a:lstStyle/>
        <a:p>
          <a:endParaRPr lang="en-US"/>
        </a:p>
      </dgm:t>
    </dgm:pt>
    <dgm:pt modelId="{EBB78320-4D03-4BE6-B389-79CDAED1536C}" cxnId="{F03249BB-6214-4909-9406-16D3C87316F7}" type="sibTrans">
      <dgm:prSet/>
      <dgm:spPr/>
      <dgm:t>
        <a:bodyPr/>
        <a:lstStyle/>
        <a:p>
          <a:endParaRPr lang="en-US"/>
        </a:p>
      </dgm:t>
    </dgm:pt>
    <dgm:pt modelId="{2CF241DE-B8EB-4BE9-BEC9-612127B2A725}">
      <dgm:prSet/>
      <dgm:spPr/>
      <dgm:t>
        <a:bodyPr/>
        <a:lstStyle/>
        <a:p>
          <a:r>
            <a:rPr lang="en-IN"/>
            <a:t>Train on seed data, taking response as input, generating instruction as output.</a:t>
          </a:r>
          <a:endParaRPr lang="en-US"/>
        </a:p>
      </dgm:t>
    </dgm:pt>
    <dgm:pt modelId="{27D1979B-78C4-4CF1-A073-28CA68D925E4}" cxnId="{8021BAB0-6B8F-4CD1-897F-F9F42E644EDA}" type="parTrans">
      <dgm:prSet/>
      <dgm:spPr/>
      <dgm:t>
        <a:bodyPr/>
        <a:lstStyle/>
        <a:p>
          <a:endParaRPr lang="en-US"/>
        </a:p>
      </dgm:t>
    </dgm:pt>
    <dgm:pt modelId="{E7578455-B1D4-4D95-A45B-E38D88093A82}" cxnId="{8021BAB0-6B8F-4CD1-897F-F9F42E644EDA}" type="sibTrans">
      <dgm:prSet/>
      <dgm:spPr/>
      <dgm:t>
        <a:bodyPr/>
        <a:lstStyle/>
        <a:p>
          <a:endParaRPr lang="en-US"/>
        </a:p>
      </dgm:t>
    </dgm:pt>
    <dgm:pt modelId="{BCB69BF0-2B6A-4C7F-8FC7-CCF394A016EC}">
      <dgm:prSet/>
      <dgm:spPr/>
      <dgm:t>
        <a:bodyPr/>
        <a:lstStyle/>
        <a:p>
          <a:r>
            <a:rPr lang="en-IN" b="1"/>
            <a:t>Generate Raw Data:</a:t>
          </a:r>
          <a:endParaRPr lang="en-US"/>
        </a:p>
      </dgm:t>
    </dgm:pt>
    <dgm:pt modelId="{4C58E375-DF1F-427C-B353-29BECA0A6545}" cxnId="{C9792972-7B95-4F91-9EA5-8EA41B270F7F}" type="parTrans">
      <dgm:prSet/>
      <dgm:spPr/>
      <dgm:t>
        <a:bodyPr/>
        <a:lstStyle/>
        <a:p>
          <a:endParaRPr lang="en-US"/>
        </a:p>
      </dgm:t>
    </dgm:pt>
    <dgm:pt modelId="{48113958-7505-405A-BF73-2CDDA042899F}" cxnId="{C9792972-7B95-4F91-9EA5-8EA41B270F7F}" type="sibTrans">
      <dgm:prSet/>
      <dgm:spPr/>
      <dgm:t>
        <a:bodyPr/>
        <a:lstStyle/>
        <a:p>
          <a:endParaRPr lang="en-US"/>
        </a:p>
      </dgm:t>
    </dgm:pt>
    <dgm:pt modelId="{BB8B766C-91C6-4764-90E2-8DECAE6839AA}">
      <dgm:prSet/>
      <dgm:spPr/>
      <dgm:t>
        <a:bodyPr/>
        <a:lstStyle/>
        <a:p>
          <a:r>
            <a:rPr lang="en-IN"/>
            <a:t>Feed unlabeled texts into the trained back-translation model.</a:t>
          </a:r>
          <a:endParaRPr lang="en-US"/>
        </a:p>
      </dgm:t>
    </dgm:pt>
    <dgm:pt modelId="{A7BCEA3F-0F13-48DC-B1CE-02BAB57FEA07}" cxnId="{D54963AE-8AFB-47C8-B397-3EB616A5DBB1}" type="parTrans">
      <dgm:prSet/>
      <dgm:spPr/>
      <dgm:t>
        <a:bodyPr/>
        <a:lstStyle/>
        <a:p>
          <a:endParaRPr lang="en-US"/>
        </a:p>
      </dgm:t>
    </dgm:pt>
    <dgm:pt modelId="{D1D10D17-26CE-4BF0-ABE8-933BA2BC43F7}" cxnId="{D54963AE-8AFB-47C8-B397-3EB616A5DBB1}" type="sibTrans">
      <dgm:prSet/>
      <dgm:spPr/>
      <dgm:t>
        <a:bodyPr/>
        <a:lstStyle/>
        <a:p>
          <a:endParaRPr lang="en-US"/>
        </a:p>
      </dgm:t>
    </dgm:pt>
    <dgm:pt modelId="{FA6EA235-6428-4E1E-AEED-4F8852D3380B}">
      <dgm:prSet/>
      <dgm:spPr/>
      <dgm:t>
        <a:bodyPr/>
        <a:lstStyle/>
        <a:p>
          <a:r>
            <a:rPr lang="en-IN"/>
            <a:t>Produce raw (instruction, response) format data.</a:t>
          </a:r>
          <a:endParaRPr lang="en-US"/>
        </a:p>
      </dgm:t>
    </dgm:pt>
    <dgm:pt modelId="{3F016F6F-EBE7-4749-A358-C20259566167}" cxnId="{6277551C-C2A6-44D2-8A0C-B7DE7F115B6A}" type="parTrans">
      <dgm:prSet/>
      <dgm:spPr/>
      <dgm:t>
        <a:bodyPr/>
        <a:lstStyle/>
        <a:p>
          <a:endParaRPr lang="en-US"/>
        </a:p>
      </dgm:t>
    </dgm:pt>
    <dgm:pt modelId="{D88CF596-3680-418D-85AD-0F00788765CC}" cxnId="{6277551C-C2A6-44D2-8A0C-B7DE7F115B6A}" type="sibTrans">
      <dgm:prSet/>
      <dgm:spPr/>
      <dgm:t>
        <a:bodyPr/>
        <a:lstStyle/>
        <a:p>
          <a:endParaRPr lang="en-US"/>
        </a:p>
      </dgm:t>
    </dgm:pt>
    <dgm:pt modelId="{30ADE4D8-0E68-4E6F-B938-445DEAD8BDB7}">
      <dgm:prSet/>
      <dgm:spPr/>
      <dgm:t>
        <a:bodyPr/>
        <a:lstStyle/>
        <a:p>
          <a:r>
            <a:rPr lang="en-IN" b="1"/>
            <a:t>Evaluation Model:</a:t>
          </a:r>
          <a:endParaRPr lang="en-US"/>
        </a:p>
      </dgm:t>
    </dgm:pt>
    <dgm:pt modelId="{D95A6F26-F401-4C22-AB3A-4A6F917E209A}" cxnId="{97980B85-B6C6-41E4-BCE7-00CAEFDBBCE4}" type="parTrans">
      <dgm:prSet/>
      <dgm:spPr/>
      <dgm:t>
        <a:bodyPr/>
        <a:lstStyle/>
        <a:p>
          <a:endParaRPr lang="en-US"/>
        </a:p>
      </dgm:t>
    </dgm:pt>
    <dgm:pt modelId="{5D7473CE-0CA0-408E-B373-6CAC3C43CE4F}" cxnId="{97980B85-B6C6-41E4-BCE7-00CAEFDBBCE4}" type="sibTrans">
      <dgm:prSet/>
      <dgm:spPr/>
      <dgm:t>
        <a:bodyPr/>
        <a:lstStyle/>
        <a:p>
          <a:endParaRPr lang="en-US"/>
        </a:p>
      </dgm:t>
    </dgm:pt>
    <dgm:pt modelId="{B79A7C99-25D7-4D30-AAD2-6D9DAD138B70}">
      <dgm:prSet/>
      <dgm:spPr/>
      <dgm:t>
        <a:bodyPr/>
        <a:lstStyle/>
        <a:p>
          <a:r>
            <a:rPr lang="en-IN"/>
            <a:t>Train another LLaMA-based model.</a:t>
          </a:r>
          <a:endParaRPr lang="en-US"/>
        </a:p>
      </dgm:t>
    </dgm:pt>
    <dgm:pt modelId="{D76E8E8E-0076-4FD3-9F97-7E2864F5F1D4}" cxnId="{5678C8DB-3ECA-41CF-83C4-8CA788A4A0DC}" type="parTrans">
      <dgm:prSet/>
      <dgm:spPr/>
      <dgm:t>
        <a:bodyPr/>
        <a:lstStyle/>
        <a:p>
          <a:endParaRPr lang="en-US"/>
        </a:p>
      </dgm:t>
    </dgm:pt>
    <dgm:pt modelId="{6946726A-4F58-42C5-BC11-5C92226C67C3}" cxnId="{5678C8DB-3ECA-41CF-83C4-8CA788A4A0DC}" type="sibTrans">
      <dgm:prSet/>
      <dgm:spPr/>
      <dgm:t>
        <a:bodyPr/>
        <a:lstStyle/>
        <a:p>
          <a:endParaRPr lang="en-US"/>
        </a:p>
      </dgm:t>
    </dgm:pt>
    <dgm:pt modelId="{33BF20C8-1239-44D0-B46B-EDC8D8D2997E}">
      <dgm:prSet/>
      <dgm:spPr/>
      <dgm:t>
        <a:bodyPr/>
        <a:lstStyle/>
        <a:p>
          <a:r>
            <a:rPr lang="en-IN"/>
            <a:t>Assess the quality of (instruction, response) pairs generated in Step 3.</a:t>
          </a:r>
          <a:endParaRPr lang="en-US"/>
        </a:p>
      </dgm:t>
    </dgm:pt>
    <dgm:pt modelId="{B1D42072-F619-44E0-887B-F5060AC6D213}" cxnId="{9D33BA2B-2E65-4EE4-B4C4-6C82CD996DEF}" type="parTrans">
      <dgm:prSet/>
      <dgm:spPr/>
      <dgm:t>
        <a:bodyPr/>
        <a:lstStyle/>
        <a:p>
          <a:endParaRPr lang="en-US"/>
        </a:p>
      </dgm:t>
    </dgm:pt>
    <dgm:pt modelId="{5DC031BD-BE5F-4FB3-B399-A955E6BBA883}" cxnId="{9D33BA2B-2E65-4EE4-B4C4-6C82CD996DEF}" type="sibTrans">
      <dgm:prSet/>
      <dgm:spPr/>
      <dgm:t>
        <a:bodyPr/>
        <a:lstStyle/>
        <a:p>
          <a:endParaRPr lang="en-US"/>
        </a:p>
      </dgm:t>
    </dgm:pt>
    <dgm:pt modelId="{CD5BBFD4-975C-4B2B-B98F-F8A2B15B83F1}">
      <dgm:prSet/>
      <dgm:spPr/>
      <dgm:t>
        <a:bodyPr/>
        <a:lstStyle/>
        <a:p>
          <a:r>
            <a:rPr lang="en-IN" b="1"/>
            <a:t>Filter &amp; Fine-Tune:</a:t>
          </a:r>
          <a:endParaRPr lang="en-US"/>
        </a:p>
      </dgm:t>
    </dgm:pt>
    <dgm:pt modelId="{8BE5E8FE-EBA0-4ADB-8D36-BAE1CB7569CE}" cxnId="{D9FA66CC-94CB-408F-8DE2-C4D36D336024}" type="parTrans">
      <dgm:prSet/>
      <dgm:spPr/>
      <dgm:t>
        <a:bodyPr/>
        <a:lstStyle/>
        <a:p>
          <a:endParaRPr lang="en-US"/>
        </a:p>
      </dgm:t>
    </dgm:pt>
    <dgm:pt modelId="{32D6B308-6EFD-4D97-BB69-AB2A895C0A6E}" cxnId="{D9FA66CC-94CB-408F-8DE2-C4D36D336024}" type="sibTrans">
      <dgm:prSet/>
      <dgm:spPr/>
      <dgm:t>
        <a:bodyPr/>
        <a:lstStyle/>
        <a:p>
          <a:endParaRPr lang="en-US"/>
        </a:p>
      </dgm:t>
    </dgm:pt>
    <dgm:pt modelId="{835650DA-4362-4CF5-AEFA-0B8F0C9567BE}">
      <dgm:prSet/>
      <dgm:spPr/>
      <dgm:t>
        <a:bodyPr/>
        <a:lstStyle/>
        <a:p>
          <a:r>
            <a:rPr lang="en-IN"/>
            <a:t>Remove low-quality pairs.</a:t>
          </a:r>
          <a:endParaRPr lang="en-US"/>
        </a:p>
      </dgm:t>
    </dgm:pt>
    <dgm:pt modelId="{CF9B07D3-E679-412F-8441-08A41D14EB66}" cxnId="{B1D0ABE5-1877-4455-B70D-ADC60EF0CA07}" type="parTrans">
      <dgm:prSet/>
      <dgm:spPr/>
      <dgm:t>
        <a:bodyPr/>
        <a:lstStyle/>
        <a:p>
          <a:endParaRPr lang="en-US"/>
        </a:p>
      </dgm:t>
    </dgm:pt>
    <dgm:pt modelId="{4DF8B5CB-5F6D-4A49-8001-BB8AACA9B796}" cxnId="{B1D0ABE5-1877-4455-B70D-ADC60EF0CA07}" type="sibTrans">
      <dgm:prSet/>
      <dgm:spPr/>
      <dgm:t>
        <a:bodyPr/>
        <a:lstStyle/>
        <a:p>
          <a:endParaRPr lang="en-US"/>
        </a:p>
      </dgm:t>
    </dgm:pt>
    <dgm:pt modelId="{6DB39E4C-054F-49BD-9483-50E12559785F}">
      <dgm:prSet/>
      <dgm:spPr/>
      <dgm:t>
        <a:bodyPr/>
        <a:lstStyle/>
        <a:p>
          <a:r>
            <a:rPr lang="en-IN"/>
            <a:t>Use remaining data for fine-tuning large language models (LLMs).</a:t>
          </a:r>
          <a:endParaRPr lang="en-US"/>
        </a:p>
      </dgm:t>
    </dgm:pt>
    <dgm:pt modelId="{87D470E2-1CC4-4FA2-8F7D-B3CE81AAA9DE}" cxnId="{F29FC9DA-1DA5-4197-AA57-6943F6F2B639}" type="parTrans">
      <dgm:prSet/>
      <dgm:spPr/>
      <dgm:t>
        <a:bodyPr/>
        <a:lstStyle/>
        <a:p>
          <a:endParaRPr lang="en-US"/>
        </a:p>
      </dgm:t>
    </dgm:pt>
    <dgm:pt modelId="{470D8CB8-A2A1-4C2C-8DA8-DC9584B8FB25}" cxnId="{F29FC9DA-1DA5-4197-AA57-6943F6F2B639}" type="sibTrans">
      <dgm:prSet/>
      <dgm:spPr/>
      <dgm:t>
        <a:bodyPr/>
        <a:lstStyle/>
        <a:p>
          <a:endParaRPr lang="en-US"/>
        </a:p>
      </dgm:t>
    </dgm:pt>
    <dgm:pt modelId="{44F87652-907E-764D-8A56-89DB08A0CD70}" type="pres">
      <dgm:prSet presAssocID="{617C5CB3-0FC7-4BF6-8216-9CF1FF60FE70}" presName="Name0" presStyleCnt="0">
        <dgm:presLayoutVars>
          <dgm:dir/>
          <dgm:animLvl val="lvl"/>
          <dgm:resizeHandles val="exact"/>
        </dgm:presLayoutVars>
      </dgm:prSet>
      <dgm:spPr/>
    </dgm:pt>
    <dgm:pt modelId="{70B41911-BB48-0842-A020-28E7863ED7C6}" type="pres">
      <dgm:prSet presAssocID="{C0CD550B-5AD2-4617-8888-BA1004CA32F9}" presName="composite" presStyleCnt="0"/>
      <dgm:spPr/>
    </dgm:pt>
    <dgm:pt modelId="{AE289DBA-BAA7-AC4C-8184-ED766C18CFEE}" type="pres">
      <dgm:prSet presAssocID="{C0CD550B-5AD2-4617-8888-BA1004CA32F9}" presName="parTx" presStyleLbl="alignNode1" presStyleIdx="0" presStyleCnt="5">
        <dgm:presLayoutVars>
          <dgm:chMax val="0"/>
          <dgm:chPref val="0"/>
          <dgm:bulletEnabled val="1"/>
        </dgm:presLayoutVars>
      </dgm:prSet>
      <dgm:spPr/>
    </dgm:pt>
    <dgm:pt modelId="{887852E9-5A9F-8146-8E49-E1B59475EC07}" type="pres">
      <dgm:prSet presAssocID="{C0CD550B-5AD2-4617-8888-BA1004CA32F9}" presName="desTx" presStyleLbl="alignAccFollowNode1" presStyleIdx="0" presStyleCnt="5">
        <dgm:presLayoutVars>
          <dgm:bulletEnabled val="1"/>
        </dgm:presLayoutVars>
      </dgm:prSet>
      <dgm:spPr/>
    </dgm:pt>
    <dgm:pt modelId="{B8C221F2-47A7-DF4F-A26B-35387BEF297B}" type="pres">
      <dgm:prSet presAssocID="{EF21BFB2-ABEB-45B9-9419-429211995601}" presName="space" presStyleCnt="0"/>
      <dgm:spPr/>
    </dgm:pt>
    <dgm:pt modelId="{88AFB565-43EA-804E-B885-9C205C69B25F}" type="pres">
      <dgm:prSet presAssocID="{9E155E17-002A-4135-9474-42EE20054654}" presName="composite" presStyleCnt="0"/>
      <dgm:spPr/>
    </dgm:pt>
    <dgm:pt modelId="{763B603C-88D0-0F4B-A4CD-B066E4E3581C}" type="pres">
      <dgm:prSet presAssocID="{9E155E17-002A-4135-9474-42EE20054654}" presName="parTx" presStyleLbl="alignNode1" presStyleIdx="1" presStyleCnt="5">
        <dgm:presLayoutVars>
          <dgm:chMax val="0"/>
          <dgm:chPref val="0"/>
          <dgm:bulletEnabled val="1"/>
        </dgm:presLayoutVars>
      </dgm:prSet>
      <dgm:spPr/>
    </dgm:pt>
    <dgm:pt modelId="{09F38CB2-045B-1443-88CA-A9925AADA5DA}" type="pres">
      <dgm:prSet presAssocID="{9E155E17-002A-4135-9474-42EE20054654}" presName="desTx" presStyleLbl="alignAccFollowNode1" presStyleIdx="1" presStyleCnt="5">
        <dgm:presLayoutVars>
          <dgm:bulletEnabled val="1"/>
        </dgm:presLayoutVars>
      </dgm:prSet>
      <dgm:spPr/>
    </dgm:pt>
    <dgm:pt modelId="{269E975A-32F3-8146-B522-C0459D727D61}" type="pres">
      <dgm:prSet presAssocID="{D9C60020-2047-454D-9B83-1D830E2CB8BF}" presName="space" presStyleCnt="0"/>
      <dgm:spPr/>
    </dgm:pt>
    <dgm:pt modelId="{C0576046-4D53-E34A-ACC4-8FDEE8A9949C}" type="pres">
      <dgm:prSet presAssocID="{BCB69BF0-2B6A-4C7F-8FC7-CCF394A016EC}" presName="composite" presStyleCnt="0"/>
      <dgm:spPr/>
    </dgm:pt>
    <dgm:pt modelId="{D167C9B3-7856-B647-970F-772329E62019}" type="pres">
      <dgm:prSet presAssocID="{BCB69BF0-2B6A-4C7F-8FC7-CCF394A016EC}" presName="parTx" presStyleLbl="alignNode1" presStyleIdx="2" presStyleCnt="5">
        <dgm:presLayoutVars>
          <dgm:chMax val="0"/>
          <dgm:chPref val="0"/>
          <dgm:bulletEnabled val="1"/>
        </dgm:presLayoutVars>
      </dgm:prSet>
      <dgm:spPr/>
    </dgm:pt>
    <dgm:pt modelId="{6F6E0B2B-3C91-7243-AF06-C213474C3EE9}" type="pres">
      <dgm:prSet presAssocID="{BCB69BF0-2B6A-4C7F-8FC7-CCF394A016EC}" presName="desTx" presStyleLbl="alignAccFollowNode1" presStyleIdx="2" presStyleCnt="5">
        <dgm:presLayoutVars>
          <dgm:bulletEnabled val="1"/>
        </dgm:presLayoutVars>
      </dgm:prSet>
      <dgm:spPr/>
    </dgm:pt>
    <dgm:pt modelId="{C9563DDF-99BE-4E43-B08E-47CDA325F5EA}" type="pres">
      <dgm:prSet presAssocID="{48113958-7505-405A-BF73-2CDDA042899F}" presName="space" presStyleCnt="0"/>
      <dgm:spPr/>
    </dgm:pt>
    <dgm:pt modelId="{4745F082-B46D-8845-B084-0074CFBE3272}" type="pres">
      <dgm:prSet presAssocID="{30ADE4D8-0E68-4E6F-B938-445DEAD8BDB7}" presName="composite" presStyleCnt="0"/>
      <dgm:spPr/>
    </dgm:pt>
    <dgm:pt modelId="{06C3A74C-A0F9-294C-86A0-4EF6E74713CF}" type="pres">
      <dgm:prSet presAssocID="{30ADE4D8-0E68-4E6F-B938-445DEAD8BDB7}" presName="parTx" presStyleLbl="alignNode1" presStyleIdx="3" presStyleCnt="5">
        <dgm:presLayoutVars>
          <dgm:chMax val="0"/>
          <dgm:chPref val="0"/>
          <dgm:bulletEnabled val="1"/>
        </dgm:presLayoutVars>
      </dgm:prSet>
      <dgm:spPr/>
    </dgm:pt>
    <dgm:pt modelId="{542519FD-5241-8546-9E7E-8D82761FF88A}" type="pres">
      <dgm:prSet presAssocID="{30ADE4D8-0E68-4E6F-B938-445DEAD8BDB7}" presName="desTx" presStyleLbl="alignAccFollowNode1" presStyleIdx="3" presStyleCnt="5">
        <dgm:presLayoutVars>
          <dgm:bulletEnabled val="1"/>
        </dgm:presLayoutVars>
      </dgm:prSet>
      <dgm:spPr/>
    </dgm:pt>
    <dgm:pt modelId="{43CD6790-2159-C647-ADCD-31B7A9C15087}" type="pres">
      <dgm:prSet presAssocID="{5D7473CE-0CA0-408E-B373-6CAC3C43CE4F}" presName="space" presStyleCnt="0"/>
      <dgm:spPr/>
    </dgm:pt>
    <dgm:pt modelId="{980578DC-1A04-2643-AF52-80E5CE7C72B3}" type="pres">
      <dgm:prSet presAssocID="{CD5BBFD4-975C-4B2B-B98F-F8A2B15B83F1}" presName="composite" presStyleCnt="0"/>
      <dgm:spPr/>
    </dgm:pt>
    <dgm:pt modelId="{73EECC59-E319-BE43-AA2C-FE19014A875A}" type="pres">
      <dgm:prSet presAssocID="{CD5BBFD4-975C-4B2B-B98F-F8A2B15B83F1}" presName="parTx" presStyleLbl="alignNode1" presStyleIdx="4" presStyleCnt="5">
        <dgm:presLayoutVars>
          <dgm:chMax val="0"/>
          <dgm:chPref val="0"/>
          <dgm:bulletEnabled val="1"/>
        </dgm:presLayoutVars>
      </dgm:prSet>
      <dgm:spPr/>
    </dgm:pt>
    <dgm:pt modelId="{975A1752-5963-AC40-8149-FE74F62D0C7E}" type="pres">
      <dgm:prSet presAssocID="{CD5BBFD4-975C-4B2B-B98F-F8A2B15B83F1}" presName="desTx" presStyleLbl="alignAccFollowNode1" presStyleIdx="4" presStyleCnt="5">
        <dgm:presLayoutVars>
          <dgm:bulletEnabled val="1"/>
        </dgm:presLayoutVars>
      </dgm:prSet>
      <dgm:spPr/>
    </dgm:pt>
  </dgm:ptLst>
  <dgm:cxnLst>
    <dgm:cxn modelId="{2B736F12-F1C1-4C7E-AC78-8001C0DB810B}" srcId="{C0CD550B-5AD2-4617-8888-BA1004CA32F9}" destId="{C881FE67-A471-40C0-A26A-BA32426692EB}" srcOrd="0" destOrd="0" parTransId="{EF6645FC-8F8B-44C9-BEA0-E7B652205887}" sibTransId="{096264A1-C83F-4ECE-8D59-CFD83D0432A9}"/>
    <dgm:cxn modelId="{4D428113-AE22-4644-99E3-00819D0762F8}" type="presOf" srcId="{A17B775D-4312-4076-B5A9-000634A31857}" destId="{887852E9-5A9F-8146-8E49-E1B59475EC07}" srcOrd="0" destOrd="1" presId="urn:microsoft.com/office/officeart/2005/8/layout/hList1"/>
    <dgm:cxn modelId="{6277551C-C2A6-44D2-8A0C-B7DE7F115B6A}" srcId="{BCB69BF0-2B6A-4C7F-8FC7-CCF394A016EC}" destId="{FA6EA235-6428-4E1E-AEED-4F8852D3380B}" srcOrd="1" destOrd="0" parTransId="{3F016F6F-EBE7-4749-A358-C20259566167}" sibTransId="{D88CF596-3680-418D-85AD-0F00788765CC}"/>
    <dgm:cxn modelId="{D4658323-466E-7C47-8FFD-BD1BB6AA0575}" type="presOf" srcId="{6DB39E4C-054F-49BD-9483-50E12559785F}" destId="{975A1752-5963-AC40-8149-FE74F62D0C7E}" srcOrd="0" destOrd="1" presId="urn:microsoft.com/office/officeart/2005/8/layout/hList1"/>
    <dgm:cxn modelId="{A6DF232B-C9BE-DF4E-AAED-40304019EFDA}" type="presOf" srcId="{835650DA-4362-4CF5-AEFA-0B8F0C9567BE}" destId="{975A1752-5963-AC40-8149-FE74F62D0C7E}" srcOrd="0" destOrd="0" presId="urn:microsoft.com/office/officeart/2005/8/layout/hList1"/>
    <dgm:cxn modelId="{9D33BA2B-2E65-4EE4-B4C4-6C82CD996DEF}" srcId="{30ADE4D8-0E68-4E6F-B938-445DEAD8BDB7}" destId="{33BF20C8-1239-44D0-B46B-EDC8D8D2997E}" srcOrd="1" destOrd="0" parTransId="{B1D42072-F619-44E0-887B-F5060AC6D213}" sibTransId="{5DC031BD-BE5F-4FB3-B399-A955E6BBA883}"/>
    <dgm:cxn modelId="{8C8DD737-AE5B-4966-B21D-957E394D354A}" srcId="{617C5CB3-0FC7-4BF6-8216-9CF1FF60FE70}" destId="{C0CD550B-5AD2-4617-8888-BA1004CA32F9}" srcOrd="0" destOrd="0" parTransId="{E731926D-D705-4F96-97C1-F1B01B0209A8}" sibTransId="{EF21BFB2-ABEB-45B9-9419-429211995601}"/>
    <dgm:cxn modelId="{685EC84B-F4D2-2948-AA4E-33439E60DD0D}" type="presOf" srcId="{9E155E17-002A-4135-9474-42EE20054654}" destId="{763B603C-88D0-0F4B-A4CD-B066E4E3581C}" srcOrd="0" destOrd="0" presId="urn:microsoft.com/office/officeart/2005/8/layout/hList1"/>
    <dgm:cxn modelId="{6328474E-F957-574E-8D07-894E73B8463D}" type="presOf" srcId="{C881FE67-A471-40C0-A26A-BA32426692EB}" destId="{887852E9-5A9F-8146-8E49-E1B59475EC07}" srcOrd="0" destOrd="0" presId="urn:microsoft.com/office/officeart/2005/8/layout/hList1"/>
    <dgm:cxn modelId="{1D47126D-3452-DF47-BCE4-2361EFFEBB18}" type="presOf" srcId="{CD5BBFD4-975C-4B2B-B98F-F8A2B15B83F1}" destId="{73EECC59-E319-BE43-AA2C-FE19014A875A}" srcOrd="0" destOrd="0" presId="urn:microsoft.com/office/officeart/2005/8/layout/hList1"/>
    <dgm:cxn modelId="{C9792972-7B95-4F91-9EA5-8EA41B270F7F}" srcId="{617C5CB3-0FC7-4BF6-8216-9CF1FF60FE70}" destId="{BCB69BF0-2B6A-4C7F-8FC7-CCF394A016EC}" srcOrd="2" destOrd="0" parTransId="{4C58E375-DF1F-427C-B353-29BECA0A6545}" sibTransId="{48113958-7505-405A-BF73-2CDDA042899F}"/>
    <dgm:cxn modelId="{97980B85-B6C6-41E4-BCE7-00CAEFDBBCE4}" srcId="{617C5CB3-0FC7-4BF6-8216-9CF1FF60FE70}" destId="{30ADE4D8-0E68-4E6F-B938-445DEAD8BDB7}" srcOrd="3" destOrd="0" parTransId="{D95A6F26-F401-4C22-AB3A-4A6F917E209A}" sibTransId="{5D7473CE-0CA0-408E-B373-6CAC3C43CE4F}"/>
    <dgm:cxn modelId="{A4C14B89-5893-4F49-B9BD-710159415ECB}" type="presOf" srcId="{BB8B766C-91C6-4764-90E2-8DECAE6839AA}" destId="{6F6E0B2B-3C91-7243-AF06-C213474C3EE9}" srcOrd="0" destOrd="0" presId="urn:microsoft.com/office/officeart/2005/8/layout/hList1"/>
    <dgm:cxn modelId="{68F80D97-5B4E-4BC7-8CC0-C22E08E3BB63}" srcId="{C0CD550B-5AD2-4617-8888-BA1004CA32F9}" destId="{A17B775D-4312-4076-B5A9-000634A31857}" srcOrd="1" destOrd="0" parTransId="{755ACFFE-76F3-4C86-A88A-0B97D7932465}" sibTransId="{8EFA81CC-77B9-4ACB-ACD3-9441EF695E0E}"/>
    <dgm:cxn modelId="{1A2BE1A6-7E7B-B540-8C83-3168DBC81D8D}" type="presOf" srcId="{BCB69BF0-2B6A-4C7F-8FC7-CCF394A016EC}" destId="{D167C9B3-7856-B647-970F-772329E62019}" srcOrd="0" destOrd="0" presId="urn:microsoft.com/office/officeart/2005/8/layout/hList1"/>
    <dgm:cxn modelId="{D54963AE-8AFB-47C8-B397-3EB616A5DBB1}" srcId="{BCB69BF0-2B6A-4C7F-8FC7-CCF394A016EC}" destId="{BB8B766C-91C6-4764-90E2-8DECAE6839AA}" srcOrd="0" destOrd="0" parTransId="{A7BCEA3F-0F13-48DC-B1CE-02BAB57FEA07}" sibTransId="{D1D10D17-26CE-4BF0-ABE8-933BA2BC43F7}"/>
    <dgm:cxn modelId="{8021BAB0-6B8F-4CD1-897F-F9F42E644EDA}" srcId="{9E155E17-002A-4135-9474-42EE20054654}" destId="{2CF241DE-B8EB-4BE9-BEC9-612127B2A725}" srcOrd="1" destOrd="0" parTransId="{27D1979B-78C4-4CF1-A073-28CA68D925E4}" sibTransId="{E7578455-B1D4-4D95-A45B-E38D88093A82}"/>
    <dgm:cxn modelId="{022B53B3-1B4D-9345-8A9D-700A9EED52B8}" type="presOf" srcId="{30ADE4D8-0E68-4E6F-B938-445DEAD8BDB7}" destId="{06C3A74C-A0F9-294C-86A0-4EF6E74713CF}" srcOrd="0" destOrd="0" presId="urn:microsoft.com/office/officeart/2005/8/layout/hList1"/>
    <dgm:cxn modelId="{744A32BA-7571-8741-9B8A-BFC3E58077F3}" type="presOf" srcId="{C0CD550B-5AD2-4617-8888-BA1004CA32F9}" destId="{AE289DBA-BAA7-AC4C-8184-ED766C18CFEE}" srcOrd="0" destOrd="0" presId="urn:microsoft.com/office/officeart/2005/8/layout/hList1"/>
    <dgm:cxn modelId="{24F9FFBA-EC66-4048-9CC1-4EA4B2078737}" type="presOf" srcId="{B79A7C99-25D7-4D30-AAD2-6D9DAD138B70}" destId="{542519FD-5241-8546-9E7E-8D82761FF88A}" srcOrd="0" destOrd="0" presId="urn:microsoft.com/office/officeart/2005/8/layout/hList1"/>
    <dgm:cxn modelId="{F03249BB-6214-4909-9406-16D3C87316F7}" srcId="{9E155E17-002A-4135-9474-42EE20054654}" destId="{62AD6FAF-CE7F-4022-A16B-91E0D91337AA}" srcOrd="0" destOrd="0" parTransId="{A254730D-3335-436F-97DF-6C92F8DFD252}" sibTransId="{EBB78320-4D03-4BE6-B389-79CDAED1536C}"/>
    <dgm:cxn modelId="{A0DDD0C3-BC01-2545-AF11-4EF6B3CC7561}" type="presOf" srcId="{33BF20C8-1239-44D0-B46B-EDC8D8D2997E}" destId="{542519FD-5241-8546-9E7E-8D82761FF88A}" srcOrd="0" destOrd="1" presId="urn:microsoft.com/office/officeart/2005/8/layout/hList1"/>
    <dgm:cxn modelId="{D9FA66CC-94CB-408F-8DE2-C4D36D336024}" srcId="{617C5CB3-0FC7-4BF6-8216-9CF1FF60FE70}" destId="{CD5BBFD4-975C-4B2B-B98F-F8A2B15B83F1}" srcOrd="4" destOrd="0" parTransId="{8BE5E8FE-EBA0-4ADB-8D36-BAE1CB7569CE}" sibTransId="{32D6B308-6EFD-4D97-BB69-AB2A895C0A6E}"/>
    <dgm:cxn modelId="{62B007CD-B4E6-0A49-9A8A-6D87E512D14B}" type="presOf" srcId="{62AD6FAF-CE7F-4022-A16B-91E0D91337AA}" destId="{09F38CB2-045B-1443-88CA-A9925AADA5DA}" srcOrd="0" destOrd="0" presId="urn:microsoft.com/office/officeart/2005/8/layout/hList1"/>
    <dgm:cxn modelId="{F29FC9DA-1DA5-4197-AA57-6943F6F2B639}" srcId="{CD5BBFD4-975C-4B2B-B98F-F8A2B15B83F1}" destId="{6DB39E4C-054F-49BD-9483-50E12559785F}" srcOrd="1" destOrd="0" parTransId="{87D470E2-1CC4-4FA2-8F7D-B3CE81AAA9DE}" sibTransId="{470D8CB8-A2A1-4C2C-8DA8-DC9584B8FB25}"/>
    <dgm:cxn modelId="{5678C8DB-3ECA-41CF-83C4-8CA788A4A0DC}" srcId="{30ADE4D8-0E68-4E6F-B938-445DEAD8BDB7}" destId="{B79A7C99-25D7-4D30-AAD2-6D9DAD138B70}" srcOrd="0" destOrd="0" parTransId="{D76E8E8E-0076-4FD3-9F97-7E2864F5F1D4}" sibTransId="{6946726A-4F58-42C5-BC11-5C92226C67C3}"/>
    <dgm:cxn modelId="{B1D0ABE5-1877-4455-B70D-ADC60EF0CA07}" srcId="{CD5BBFD4-975C-4B2B-B98F-F8A2B15B83F1}" destId="{835650DA-4362-4CF5-AEFA-0B8F0C9567BE}" srcOrd="0" destOrd="0" parTransId="{CF9B07D3-E679-412F-8441-08A41D14EB66}" sibTransId="{4DF8B5CB-5F6D-4A49-8001-BB8AACA9B796}"/>
    <dgm:cxn modelId="{F42D3EEF-D9A4-E040-8824-BB548BF0211B}" type="presOf" srcId="{617C5CB3-0FC7-4BF6-8216-9CF1FF60FE70}" destId="{44F87652-907E-764D-8A56-89DB08A0CD70}" srcOrd="0" destOrd="0" presId="urn:microsoft.com/office/officeart/2005/8/layout/hList1"/>
    <dgm:cxn modelId="{FB621CF3-826C-1640-98E8-6841A07F9096}" type="presOf" srcId="{FA6EA235-6428-4E1E-AEED-4F8852D3380B}" destId="{6F6E0B2B-3C91-7243-AF06-C213474C3EE9}" srcOrd="0" destOrd="1" presId="urn:microsoft.com/office/officeart/2005/8/layout/hList1"/>
    <dgm:cxn modelId="{45C1BBF7-D2A3-AB43-9EB0-6F6BCA192B0F}" type="presOf" srcId="{2CF241DE-B8EB-4BE9-BEC9-612127B2A725}" destId="{09F38CB2-045B-1443-88CA-A9925AADA5DA}" srcOrd="0" destOrd="1" presId="urn:microsoft.com/office/officeart/2005/8/layout/hList1"/>
    <dgm:cxn modelId="{842AF4F8-BE27-497F-BFFA-EB7C200A5089}" srcId="{617C5CB3-0FC7-4BF6-8216-9CF1FF60FE70}" destId="{9E155E17-002A-4135-9474-42EE20054654}" srcOrd="1" destOrd="0" parTransId="{2854E84D-4069-43A1-941C-78AB5E2ABAAF}" sibTransId="{D9C60020-2047-454D-9B83-1D830E2CB8BF}"/>
    <dgm:cxn modelId="{6EAC4278-99E0-D44E-B6CE-441D60666557}" type="presParOf" srcId="{44F87652-907E-764D-8A56-89DB08A0CD70}" destId="{70B41911-BB48-0842-A020-28E7863ED7C6}" srcOrd="0" destOrd="0" presId="urn:microsoft.com/office/officeart/2005/8/layout/hList1"/>
    <dgm:cxn modelId="{89043F2B-184D-0447-8FF5-D1567C2E2DA1}" type="presParOf" srcId="{70B41911-BB48-0842-A020-28E7863ED7C6}" destId="{AE289DBA-BAA7-AC4C-8184-ED766C18CFEE}" srcOrd="0" destOrd="0" presId="urn:microsoft.com/office/officeart/2005/8/layout/hList1"/>
    <dgm:cxn modelId="{5C8046D5-2574-AC4C-9B41-0B25FC82C070}" type="presParOf" srcId="{70B41911-BB48-0842-A020-28E7863ED7C6}" destId="{887852E9-5A9F-8146-8E49-E1B59475EC07}" srcOrd="1" destOrd="0" presId="urn:microsoft.com/office/officeart/2005/8/layout/hList1"/>
    <dgm:cxn modelId="{99263B05-097B-1C4D-A0DB-BA6231D59A4E}" type="presParOf" srcId="{44F87652-907E-764D-8A56-89DB08A0CD70}" destId="{B8C221F2-47A7-DF4F-A26B-35387BEF297B}" srcOrd="1" destOrd="0" presId="urn:microsoft.com/office/officeart/2005/8/layout/hList1"/>
    <dgm:cxn modelId="{DDB19544-FCE6-F44F-BAAD-CF87541C5F37}" type="presParOf" srcId="{44F87652-907E-764D-8A56-89DB08A0CD70}" destId="{88AFB565-43EA-804E-B885-9C205C69B25F}" srcOrd="2" destOrd="0" presId="urn:microsoft.com/office/officeart/2005/8/layout/hList1"/>
    <dgm:cxn modelId="{577E8F5A-6CB4-4142-BF91-AD9B54FD5F9A}" type="presParOf" srcId="{88AFB565-43EA-804E-B885-9C205C69B25F}" destId="{763B603C-88D0-0F4B-A4CD-B066E4E3581C}" srcOrd="0" destOrd="0" presId="urn:microsoft.com/office/officeart/2005/8/layout/hList1"/>
    <dgm:cxn modelId="{D8FB2D31-ED3F-E748-AF13-A728A10F15B8}" type="presParOf" srcId="{88AFB565-43EA-804E-B885-9C205C69B25F}" destId="{09F38CB2-045B-1443-88CA-A9925AADA5DA}" srcOrd="1" destOrd="0" presId="urn:microsoft.com/office/officeart/2005/8/layout/hList1"/>
    <dgm:cxn modelId="{E141CF7A-E895-834F-8785-7F90834821D7}" type="presParOf" srcId="{44F87652-907E-764D-8A56-89DB08A0CD70}" destId="{269E975A-32F3-8146-B522-C0459D727D61}" srcOrd="3" destOrd="0" presId="urn:microsoft.com/office/officeart/2005/8/layout/hList1"/>
    <dgm:cxn modelId="{50245803-D035-5741-92F8-E72C3B41D0F0}" type="presParOf" srcId="{44F87652-907E-764D-8A56-89DB08A0CD70}" destId="{C0576046-4D53-E34A-ACC4-8FDEE8A9949C}" srcOrd="4" destOrd="0" presId="urn:microsoft.com/office/officeart/2005/8/layout/hList1"/>
    <dgm:cxn modelId="{BBCF0AE0-4B70-5746-ACA3-FBFC1D9279E2}" type="presParOf" srcId="{C0576046-4D53-E34A-ACC4-8FDEE8A9949C}" destId="{D167C9B3-7856-B647-970F-772329E62019}" srcOrd="0" destOrd="0" presId="urn:microsoft.com/office/officeart/2005/8/layout/hList1"/>
    <dgm:cxn modelId="{72049020-9817-6C49-8939-AB11DFA30261}" type="presParOf" srcId="{C0576046-4D53-E34A-ACC4-8FDEE8A9949C}" destId="{6F6E0B2B-3C91-7243-AF06-C213474C3EE9}" srcOrd="1" destOrd="0" presId="urn:microsoft.com/office/officeart/2005/8/layout/hList1"/>
    <dgm:cxn modelId="{13C8BF86-A06D-CD46-BB40-EDA2B8FE3155}" type="presParOf" srcId="{44F87652-907E-764D-8A56-89DB08A0CD70}" destId="{C9563DDF-99BE-4E43-B08E-47CDA325F5EA}" srcOrd="5" destOrd="0" presId="urn:microsoft.com/office/officeart/2005/8/layout/hList1"/>
    <dgm:cxn modelId="{154215D6-22D4-6E4A-9503-34C2C53A7E9C}" type="presParOf" srcId="{44F87652-907E-764D-8A56-89DB08A0CD70}" destId="{4745F082-B46D-8845-B084-0074CFBE3272}" srcOrd="6" destOrd="0" presId="urn:microsoft.com/office/officeart/2005/8/layout/hList1"/>
    <dgm:cxn modelId="{6D0B4F1E-DBFC-8E41-9762-6AF0ED5EEEA7}" type="presParOf" srcId="{4745F082-B46D-8845-B084-0074CFBE3272}" destId="{06C3A74C-A0F9-294C-86A0-4EF6E74713CF}" srcOrd="0" destOrd="0" presId="urn:microsoft.com/office/officeart/2005/8/layout/hList1"/>
    <dgm:cxn modelId="{4CA8EC23-6267-4B49-8F51-3462D391B198}" type="presParOf" srcId="{4745F082-B46D-8845-B084-0074CFBE3272}" destId="{542519FD-5241-8546-9E7E-8D82761FF88A}" srcOrd="1" destOrd="0" presId="urn:microsoft.com/office/officeart/2005/8/layout/hList1"/>
    <dgm:cxn modelId="{1F9B8F49-8213-9345-BAE6-05241D481EB9}" type="presParOf" srcId="{44F87652-907E-764D-8A56-89DB08A0CD70}" destId="{43CD6790-2159-C647-ADCD-31B7A9C15087}" srcOrd="7" destOrd="0" presId="urn:microsoft.com/office/officeart/2005/8/layout/hList1"/>
    <dgm:cxn modelId="{6074CEB1-AA1C-D84D-A382-C4E3FF276586}" type="presParOf" srcId="{44F87652-907E-764D-8A56-89DB08A0CD70}" destId="{980578DC-1A04-2643-AF52-80E5CE7C72B3}" srcOrd="8" destOrd="0" presId="urn:microsoft.com/office/officeart/2005/8/layout/hList1"/>
    <dgm:cxn modelId="{E8E1AC7C-9124-BC40-BFA1-209FF37F5384}" type="presParOf" srcId="{980578DC-1A04-2643-AF52-80E5CE7C72B3}" destId="{73EECC59-E319-BE43-AA2C-FE19014A875A}" srcOrd="0" destOrd="0" presId="urn:microsoft.com/office/officeart/2005/8/layout/hList1"/>
    <dgm:cxn modelId="{491678FE-4D26-3341-842D-C308DF0E61FA}" type="presParOf" srcId="{980578DC-1A04-2643-AF52-80E5CE7C72B3}" destId="{975A1752-5963-AC40-8149-FE74F62D0C7E}" srcOrd="1" destOrd="0"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8F8A5D1-F2DE-42D1-A43F-C605533087F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7F8FEC8-3783-4A2D-A0D6-D9724C001AED}">
      <dgm:prSet/>
      <dgm:spPr/>
      <dgm:t>
        <a:bodyPr/>
        <a:lstStyle/>
        <a:p>
          <a:r>
            <a:rPr lang="en-US"/>
            <a:t>Instruction tuning transforms pre-trained models to be more usable by humans.</a:t>
          </a:r>
        </a:p>
      </dgm:t>
    </dgm:pt>
    <dgm:pt modelId="{875C5AE7-266A-4026-BDFC-7CA443A30F3C}" cxnId="{CD28B4A9-B77D-4720-A91F-1CF0A3554B96}" type="parTrans">
      <dgm:prSet/>
      <dgm:spPr/>
      <dgm:t>
        <a:bodyPr/>
        <a:lstStyle/>
        <a:p>
          <a:endParaRPr lang="en-US"/>
        </a:p>
      </dgm:t>
    </dgm:pt>
    <dgm:pt modelId="{EFF2A938-9E67-4E34-AAE6-61A3FB372970}" cxnId="{CD28B4A9-B77D-4720-A91F-1CF0A3554B96}" type="sibTrans">
      <dgm:prSet/>
      <dgm:spPr/>
      <dgm:t>
        <a:bodyPr/>
        <a:lstStyle/>
        <a:p>
          <a:endParaRPr lang="en-US"/>
        </a:p>
      </dgm:t>
    </dgm:pt>
    <dgm:pt modelId="{B36DDDC8-8F3F-4080-A08F-7DFD52343E90}">
      <dgm:prSet/>
      <dgm:spPr/>
      <dgm:t>
        <a:bodyPr/>
        <a:lstStyle/>
        <a:p>
          <a:r>
            <a:rPr lang="en-US"/>
            <a:t>Achieved by maximizing conditional log-likelihood of outputs given the instructions.</a:t>
          </a:r>
        </a:p>
      </dgm:t>
    </dgm:pt>
    <dgm:pt modelId="{612DCC13-AF80-49F1-8543-26124AB1BB82}" cxnId="{B44A4A5A-CE2C-4689-84D3-EB26AE93ACAA}" type="parTrans">
      <dgm:prSet/>
      <dgm:spPr/>
      <dgm:t>
        <a:bodyPr/>
        <a:lstStyle/>
        <a:p>
          <a:endParaRPr lang="en-US"/>
        </a:p>
      </dgm:t>
    </dgm:pt>
    <dgm:pt modelId="{B9160598-589C-491A-82EE-46E1C53BC725}" cxnId="{B44A4A5A-CE2C-4689-84D3-EB26AE93ACAA}" type="sibTrans">
      <dgm:prSet/>
      <dgm:spPr/>
      <dgm:t>
        <a:bodyPr/>
        <a:lstStyle/>
        <a:p>
          <a:endParaRPr lang="en-US"/>
        </a:p>
      </dgm:t>
    </dgm:pt>
    <dgm:pt modelId="{67F97E90-B58E-437D-A6A7-123615CE62FA}">
      <dgm:prSet/>
      <dgm:spPr/>
      <dgm:t>
        <a:bodyPr/>
        <a:lstStyle/>
        <a:p>
          <a:r>
            <a:rPr lang="en-US"/>
            <a:t>Datasets for instruction-tuning can be generated both synthetically as well as by humans.</a:t>
          </a:r>
        </a:p>
      </dgm:t>
    </dgm:pt>
    <dgm:pt modelId="{0131CA30-2872-44D3-B7DF-4897FA29A179}" cxnId="{724417C0-8D49-4AA5-B76A-AB46470282C8}" type="parTrans">
      <dgm:prSet/>
      <dgm:spPr/>
      <dgm:t>
        <a:bodyPr/>
        <a:lstStyle/>
        <a:p>
          <a:endParaRPr lang="en-US"/>
        </a:p>
      </dgm:t>
    </dgm:pt>
    <dgm:pt modelId="{171F820D-BA49-405B-8B1B-832AAFF24BA8}" cxnId="{724417C0-8D49-4AA5-B76A-AB46470282C8}" type="sibTrans">
      <dgm:prSet/>
      <dgm:spPr/>
      <dgm:t>
        <a:bodyPr/>
        <a:lstStyle/>
        <a:p>
          <a:endParaRPr lang="en-US"/>
        </a:p>
      </dgm:t>
    </dgm:pt>
    <dgm:pt modelId="{DDB797BD-FDFC-43EC-8826-FCCE300A7A34}">
      <dgm:prSet/>
      <dgm:spPr/>
      <dgm:t>
        <a:bodyPr/>
        <a:lstStyle/>
        <a:p>
          <a:r>
            <a:rPr lang="en-US"/>
            <a:t>Instruction-tuned models can quickly learn a task with limited data.</a:t>
          </a:r>
        </a:p>
      </dgm:t>
    </dgm:pt>
    <dgm:pt modelId="{44EDB4B8-96E4-4D1A-A5FF-291EAC48318D}" cxnId="{925A912D-85BF-404F-ADE9-F5DD8C45E264}" type="parTrans">
      <dgm:prSet/>
      <dgm:spPr/>
      <dgm:t>
        <a:bodyPr/>
        <a:lstStyle/>
        <a:p>
          <a:endParaRPr lang="en-US"/>
        </a:p>
      </dgm:t>
    </dgm:pt>
    <dgm:pt modelId="{AE564319-2E55-42A8-B0A7-AB1BF7516263}" cxnId="{925A912D-85BF-404F-ADE9-F5DD8C45E264}" type="sibTrans">
      <dgm:prSet/>
      <dgm:spPr/>
      <dgm:t>
        <a:bodyPr/>
        <a:lstStyle/>
        <a:p>
          <a:endParaRPr lang="en-US"/>
        </a:p>
      </dgm:t>
    </dgm:pt>
    <dgm:pt modelId="{D91A61B6-2C82-4726-A177-1E31BF478CE2}" type="pres">
      <dgm:prSet presAssocID="{C8F8A5D1-F2DE-42D1-A43F-C605533087F6}" presName="root" presStyleCnt="0">
        <dgm:presLayoutVars>
          <dgm:dir/>
          <dgm:resizeHandles val="exact"/>
        </dgm:presLayoutVars>
      </dgm:prSet>
      <dgm:spPr/>
    </dgm:pt>
    <dgm:pt modelId="{34E05B73-BC2A-48E8-81C3-6B1D7C97E6B1}" type="pres">
      <dgm:prSet presAssocID="{97F8FEC8-3783-4A2D-A0D6-D9724C001AED}" presName="compNode" presStyleCnt="0"/>
      <dgm:spPr/>
    </dgm:pt>
    <dgm:pt modelId="{8EA2EDB3-8629-4E63-A728-FB19DABECBBA}" type="pres">
      <dgm:prSet presAssocID="{97F8FEC8-3783-4A2D-A0D6-D9724C001AED}" presName="bgRect" presStyleLbl="bgShp" presStyleIdx="0" presStyleCnt="4"/>
      <dgm:spPr/>
    </dgm:pt>
    <dgm:pt modelId="{0A100311-1BCB-4DEC-BAD3-F1D9603775AE}" type="pres">
      <dgm:prSet presAssocID="{97F8FEC8-3783-4A2D-A0D6-D9724C001AE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pt>
    <dgm:pt modelId="{AF5AB883-7B55-474F-B82E-9EC5CAEB428B}" type="pres">
      <dgm:prSet presAssocID="{97F8FEC8-3783-4A2D-A0D6-D9724C001AED}" presName="spaceRect" presStyleCnt="0"/>
      <dgm:spPr/>
    </dgm:pt>
    <dgm:pt modelId="{44BF8E2E-BF05-4EEA-8FDC-C3D753501C26}" type="pres">
      <dgm:prSet presAssocID="{97F8FEC8-3783-4A2D-A0D6-D9724C001AED}" presName="parTx" presStyleLbl="revTx" presStyleIdx="0" presStyleCnt="4">
        <dgm:presLayoutVars>
          <dgm:chMax val="0"/>
          <dgm:chPref val="0"/>
        </dgm:presLayoutVars>
      </dgm:prSet>
      <dgm:spPr/>
    </dgm:pt>
    <dgm:pt modelId="{47A95306-1022-4C96-99B1-4BB17750884A}" type="pres">
      <dgm:prSet presAssocID="{EFF2A938-9E67-4E34-AAE6-61A3FB372970}" presName="sibTrans" presStyleCnt="0"/>
      <dgm:spPr/>
    </dgm:pt>
    <dgm:pt modelId="{6603E25C-3791-4C55-A6F9-41FE094A5AE1}" type="pres">
      <dgm:prSet presAssocID="{B36DDDC8-8F3F-4080-A08F-7DFD52343E90}" presName="compNode" presStyleCnt="0"/>
      <dgm:spPr/>
    </dgm:pt>
    <dgm:pt modelId="{4DAA32B6-2542-4A78-A265-EF32455CB250}" type="pres">
      <dgm:prSet presAssocID="{B36DDDC8-8F3F-4080-A08F-7DFD52343E90}" presName="bgRect" presStyleLbl="bgShp" presStyleIdx="1" presStyleCnt="4"/>
      <dgm:spPr/>
    </dgm:pt>
    <dgm:pt modelId="{96714FE3-847D-4D45-8F27-12AEAA4460C9}" type="pres">
      <dgm:prSet presAssocID="{B36DDDC8-8F3F-4080-A08F-7DFD52343E9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pt>
    <dgm:pt modelId="{0D9F6380-F6BF-4C46-A35F-A4B568611AFC}" type="pres">
      <dgm:prSet presAssocID="{B36DDDC8-8F3F-4080-A08F-7DFD52343E90}" presName="spaceRect" presStyleCnt="0"/>
      <dgm:spPr/>
    </dgm:pt>
    <dgm:pt modelId="{6CFCE5D0-5594-477F-BB27-787E7229550C}" type="pres">
      <dgm:prSet presAssocID="{B36DDDC8-8F3F-4080-A08F-7DFD52343E90}" presName="parTx" presStyleLbl="revTx" presStyleIdx="1" presStyleCnt="4">
        <dgm:presLayoutVars>
          <dgm:chMax val="0"/>
          <dgm:chPref val="0"/>
        </dgm:presLayoutVars>
      </dgm:prSet>
      <dgm:spPr/>
    </dgm:pt>
    <dgm:pt modelId="{B835B64F-4817-4D4E-8AC0-B05BC3A138FF}" type="pres">
      <dgm:prSet presAssocID="{B9160598-589C-491A-82EE-46E1C53BC725}" presName="sibTrans" presStyleCnt="0"/>
      <dgm:spPr/>
    </dgm:pt>
    <dgm:pt modelId="{62206A9A-FC2C-4665-AA33-D5032928963C}" type="pres">
      <dgm:prSet presAssocID="{67F97E90-B58E-437D-A6A7-123615CE62FA}" presName="compNode" presStyleCnt="0"/>
      <dgm:spPr/>
    </dgm:pt>
    <dgm:pt modelId="{86426D69-8125-415F-AB6F-1BCD04611C03}" type="pres">
      <dgm:prSet presAssocID="{67F97E90-B58E-437D-A6A7-123615CE62FA}" presName="bgRect" presStyleLbl="bgShp" presStyleIdx="2" presStyleCnt="4"/>
      <dgm:spPr/>
    </dgm:pt>
    <dgm:pt modelId="{14021AAA-8B86-4F23-A152-69D73F4E44D1}" type="pres">
      <dgm:prSet presAssocID="{67F97E90-B58E-437D-A6A7-123615CE62F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pt>
    <dgm:pt modelId="{D567B204-4BAA-4779-B354-07AC47A35729}" type="pres">
      <dgm:prSet presAssocID="{67F97E90-B58E-437D-A6A7-123615CE62FA}" presName="spaceRect" presStyleCnt="0"/>
      <dgm:spPr/>
    </dgm:pt>
    <dgm:pt modelId="{306337FA-7649-4078-8BE1-FB7AEF313E68}" type="pres">
      <dgm:prSet presAssocID="{67F97E90-B58E-437D-A6A7-123615CE62FA}" presName="parTx" presStyleLbl="revTx" presStyleIdx="2" presStyleCnt="4">
        <dgm:presLayoutVars>
          <dgm:chMax val="0"/>
          <dgm:chPref val="0"/>
        </dgm:presLayoutVars>
      </dgm:prSet>
      <dgm:spPr/>
    </dgm:pt>
    <dgm:pt modelId="{C4E73AE7-F059-468E-B06D-892F3D7FF1E2}" type="pres">
      <dgm:prSet presAssocID="{171F820D-BA49-405B-8B1B-832AAFF24BA8}" presName="sibTrans" presStyleCnt="0"/>
      <dgm:spPr/>
    </dgm:pt>
    <dgm:pt modelId="{467AC944-ABA0-4F42-BE3E-340D8170ED2F}" type="pres">
      <dgm:prSet presAssocID="{DDB797BD-FDFC-43EC-8826-FCCE300A7A34}" presName="compNode" presStyleCnt="0"/>
      <dgm:spPr/>
    </dgm:pt>
    <dgm:pt modelId="{182CEB26-F651-4C77-85C2-15E0E3CD7FDE}" type="pres">
      <dgm:prSet presAssocID="{DDB797BD-FDFC-43EC-8826-FCCE300A7A34}" presName="bgRect" presStyleLbl="bgShp" presStyleIdx="3" presStyleCnt="4" custScaleX="80813" custLinFactNeighborX="-2506" custLinFactNeighborY="1603"/>
      <dgm:spPr/>
    </dgm:pt>
    <dgm:pt modelId="{83B665CF-716D-404C-B9EE-F3DF35179FF5}" type="pres">
      <dgm:prSet presAssocID="{DDB797BD-FDFC-43EC-8826-FCCE300A7A3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pt>
    <dgm:pt modelId="{3BCB31F5-2D06-49C5-B6F7-CE4108DC83A8}" type="pres">
      <dgm:prSet presAssocID="{DDB797BD-FDFC-43EC-8826-FCCE300A7A34}" presName="spaceRect" presStyleCnt="0"/>
      <dgm:spPr/>
    </dgm:pt>
    <dgm:pt modelId="{C083DEAC-2AAB-4699-91EB-F5D9DFE98785}" type="pres">
      <dgm:prSet presAssocID="{DDB797BD-FDFC-43EC-8826-FCCE300A7A34}" presName="parTx" presStyleLbl="revTx" presStyleIdx="3" presStyleCnt="4">
        <dgm:presLayoutVars>
          <dgm:chMax val="0"/>
          <dgm:chPref val="0"/>
        </dgm:presLayoutVars>
      </dgm:prSet>
      <dgm:spPr/>
    </dgm:pt>
  </dgm:ptLst>
  <dgm:cxnLst>
    <dgm:cxn modelId="{E6630319-3D79-4369-90A3-73B86C6E25BF}" type="presOf" srcId="{DDB797BD-FDFC-43EC-8826-FCCE300A7A34}" destId="{C083DEAC-2AAB-4699-91EB-F5D9DFE98785}" srcOrd="0" destOrd="0" presId="urn:microsoft.com/office/officeart/2018/2/layout/IconVerticalSolidList"/>
    <dgm:cxn modelId="{925A912D-85BF-404F-ADE9-F5DD8C45E264}" srcId="{C8F8A5D1-F2DE-42D1-A43F-C605533087F6}" destId="{DDB797BD-FDFC-43EC-8826-FCCE300A7A34}" srcOrd="3" destOrd="0" parTransId="{44EDB4B8-96E4-4D1A-A5FF-291EAC48318D}" sibTransId="{AE564319-2E55-42A8-B0A7-AB1BF7516263}"/>
    <dgm:cxn modelId="{1EB3073C-8BB2-4CEF-B9D7-B1FA409F56AF}" type="presOf" srcId="{C8F8A5D1-F2DE-42D1-A43F-C605533087F6}" destId="{D91A61B6-2C82-4726-A177-1E31BF478CE2}" srcOrd="0" destOrd="0" presId="urn:microsoft.com/office/officeart/2018/2/layout/IconVerticalSolidList"/>
    <dgm:cxn modelId="{B44A4A5A-CE2C-4689-84D3-EB26AE93ACAA}" srcId="{C8F8A5D1-F2DE-42D1-A43F-C605533087F6}" destId="{B36DDDC8-8F3F-4080-A08F-7DFD52343E90}" srcOrd="1" destOrd="0" parTransId="{612DCC13-AF80-49F1-8543-26124AB1BB82}" sibTransId="{B9160598-589C-491A-82EE-46E1C53BC725}"/>
    <dgm:cxn modelId="{4255A362-AAFF-4357-A377-98517CE70B3E}" type="presOf" srcId="{67F97E90-B58E-437D-A6A7-123615CE62FA}" destId="{306337FA-7649-4078-8BE1-FB7AEF313E68}" srcOrd="0" destOrd="0" presId="urn:microsoft.com/office/officeart/2018/2/layout/IconVerticalSolidList"/>
    <dgm:cxn modelId="{D145F462-1222-4B63-8B87-A4A4F978C383}" type="presOf" srcId="{B36DDDC8-8F3F-4080-A08F-7DFD52343E90}" destId="{6CFCE5D0-5594-477F-BB27-787E7229550C}" srcOrd="0" destOrd="0" presId="urn:microsoft.com/office/officeart/2018/2/layout/IconVerticalSolidList"/>
    <dgm:cxn modelId="{CD28B4A9-B77D-4720-A91F-1CF0A3554B96}" srcId="{C8F8A5D1-F2DE-42D1-A43F-C605533087F6}" destId="{97F8FEC8-3783-4A2D-A0D6-D9724C001AED}" srcOrd="0" destOrd="0" parTransId="{875C5AE7-266A-4026-BDFC-7CA443A30F3C}" sibTransId="{EFF2A938-9E67-4E34-AAE6-61A3FB372970}"/>
    <dgm:cxn modelId="{724417C0-8D49-4AA5-B76A-AB46470282C8}" srcId="{C8F8A5D1-F2DE-42D1-A43F-C605533087F6}" destId="{67F97E90-B58E-437D-A6A7-123615CE62FA}" srcOrd="2" destOrd="0" parTransId="{0131CA30-2872-44D3-B7DF-4897FA29A179}" sibTransId="{171F820D-BA49-405B-8B1B-832AAFF24BA8}"/>
    <dgm:cxn modelId="{EB8740F9-3081-4883-A499-F64E316E144F}" type="presOf" srcId="{97F8FEC8-3783-4A2D-A0D6-D9724C001AED}" destId="{44BF8E2E-BF05-4EEA-8FDC-C3D753501C26}" srcOrd="0" destOrd="0" presId="urn:microsoft.com/office/officeart/2018/2/layout/IconVerticalSolidList"/>
    <dgm:cxn modelId="{394F46BA-2F60-46DF-9E87-F73DB50189AD}" type="presParOf" srcId="{D91A61B6-2C82-4726-A177-1E31BF478CE2}" destId="{34E05B73-BC2A-48E8-81C3-6B1D7C97E6B1}" srcOrd="0" destOrd="0" presId="urn:microsoft.com/office/officeart/2018/2/layout/IconVerticalSolidList"/>
    <dgm:cxn modelId="{9C798D8E-C546-4F48-919E-F689077BFB5C}" type="presParOf" srcId="{34E05B73-BC2A-48E8-81C3-6B1D7C97E6B1}" destId="{8EA2EDB3-8629-4E63-A728-FB19DABECBBA}" srcOrd="0" destOrd="0" presId="urn:microsoft.com/office/officeart/2018/2/layout/IconVerticalSolidList"/>
    <dgm:cxn modelId="{138AF2C9-89CD-4D44-B452-B4B43FE029AD}" type="presParOf" srcId="{34E05B73-BC2A-48E8-81C3-6B1D7C97E6B1}" destId="{0A100311-1BCB-4DEC-BAD3-F1D9603775AE}" srcOrd="1" destOrd="0" presId="urn:microsoft.com/office/officeart/2018/2/layout/IconVerticalSolidList"/>
    <dgm:cxn modelId="{C42DA075-453B-4AEC-9A55-128967087D65}" type="presParOf" srcId="{34E05B73-BC2A-48E8-81C3-6B1D7C97E6B1}" destId="{AF5AB883-7B55-474F-B82E-9EC5CAEB428B}" srcOrd="2" destOrd="0" presId="urn:microsoft.com/office/officeart/2018/2/layout/IconVerticalSolidList"/>
    <dgm:cxn modelId="{A7DD0D0B-DD1F-4EC9-8AE6-04C852697560}" type="presParOf" srcId="{34E05B73-BC2A-48E8-81C3-6B1D7C97E6B1}" destId="{44BF8E2E-BF05-4EEA-8FDC-C3D753501C26}" srcOrd="3" destOrd="0" presId="urn:microsoft.com/office/officeart/2018/2/layout/IconVerticalSolidList"/>
    <dgm:cxn modelId="{155690FB-C70B-4903-9024-994EC4913D2F}" type="presParOf" srcId="{D91A61B6-2C82-4726-A177-1E31BF478CE2}" destId="{47A95306-1022-4C96-99B1-4BB17750884A}" srcOrd="1" destOrd="0" presId="urn:microsoft.com/office/officeart/2018/2/layout/IconVerticalSolidList"/>
    <dgm:cxn modelId="{5FB9CF65-3057-4152-9A3C-B7DAC53636D9}" type="presParOf" srcId="{D91A61B6-2C82-4726-A177-1E31BF478CE2}" destId="{6603E25C-3791-4C55-A6F9-41FE094A5AE1}" srcOrd="2" destOrd="0" presId="urn:microsoft.com/office/officeart/2018/2/layout/IconVerticalSolidList"/>
    <dgm:cxn modelId="{45F02061-0F19-490C-8C82-7C0C5167D9C7}" type="presParOf" srcId="{6603E25C-3791-4C55-A6F9-41FE094A5AE1}" destId="{4DAA32B6-2542-4A78-A265-EF32455CB250}" srcOrd="0" destOrd="0" presId="urn:microsoft.com/office/officeart/2018/2/layout/IconVerticalSolidList"/>
    <dgm:cxn modelId="{177DD9D1-2FD8-47D5-A0CE-A2A1FB870409}" type="presParOf" srcId="{6603E25C-3791-4C55-A6F9-41FE094A5AE1}" destId="{96714FE3-847D-4D45-8F27-12AEAA4460C9}" srcOrd="1" destOrd="0" presId="urn:microsoft.com/office/officeart/2018/2/layout/IconVerticalSolidList"/>
    <dgm:cxn modelId="{C62AFC43-0C22-4BBD-9305-67267B6D0064}" type="presParOf" srcId="{6603E25C-3791-4C55-A6F9-41FE094A5AE1}" destId="{0D9F6380-F6BF-4C46-A35F-A4B568611AFC}" srcOrd="2" destOrd="0" presId="urn:microsoft.com/office/officeart/2018/2/layout/IconVerticalSolidList"/>
    <dgm:cxn modelId="{2BE1FC72-CA07-4B2B-A49D-5DF50160CB6F}" type="presParOf" srcId="{6603E25C-3791-4C55-A6F9-41FE094A5AE1}" destId="{6CFCE5D0-5594-477F-BB27-787E7229550C}" srcOrd="3" destOrd="0" presId="urn:microsoft.com/office/officeart/2018/2/layout/IconVerticalSolidList"/>
    <dgm:cxn modelId="{88164D19-033B-4D23-953A-A393C6C1B0F9}" type="presParOf" srcId="{D91A61B6-2C82-4726-A177-1E31BF478CE2}" destId="{B835B64F-4817-4D4E-8AC0-B05BC3A138FF}" srcOrd="3" destOrd="0" presId="urn:microsoft.com/office/officeart/2018/2/layout/IconVerticalSolidList"/>
    <dgm:cxn modelId="{36BB592C-E258-46EC-929F-7C0A76BBFFF2}" type="presParOf" srcId="{D91A61B6-2C82-4726-A177-1E31BF478CE2}" destId="{62206A9A-FC2C-4665-AA33-D5032928963C}" srcOrd="4" destOrd="0" presId="urn:microsoft.com/office/officeart/2018/2/layout/IconVerticalSolidList"/>
    <dgm:cxn modelId="{22E66074-E8B9-417C-86B3-DF789C71DE6B}" type="presParOf" srcId="{62206A9A-FC2C-4665-AA33-D5032928963C}" destId="{86426D69-8125-415F-AB6F-1BCD04611C03}" srcOrd="0" destOrd="0" presId="urn:microsoft.com/office/officeart/2018/2/layout/IconVerticalSolidList"/>
    <dgm:cxn modelId="{6788B283-8B1D-4FC2-8519-77A4F5D1460A}" type="presParOf" srcId="{62206A9A-FC2C-4665-AA33-D5032928963C}" destId="{14021AAA-8B86-4F23-A152-69D73F4E44D1}" srcOrd="1" destOrd="0" presId="urn:microsoft.com/office/officeart/2018/2/layout/IconVerticalSolidList"/>
    <dgm:cxn modelId="{B7EB1092-1CE5-4D11-90F0-FF929DF09700}" type="presParOf" srcId="{62206A9A-FC2C-4665-AA33-D5032928963C}" destId="{D567B204-4BAA-4779-B354-07AC47A35729}" srcOrd="2" destOrd="0" presId="urn:microsoft.com/office/officeart/2018/2/layout/IconVerticalSolidList"/>
    <dgm:cxn modelId="{9A0B8694-C315-4A88-8249-0F00D45815CE}" type="presParOf" srcId="{62206A9A-FC2C-4665-AA33-D5032928963C}" destId="{306337FA-7649-4078-8BE1-FB7AEF313E68}" srcOrd="3" destOrd="0" presId="urn:microsoft.com/office/officeart/2018/2/layout/IconVerticalSolidList"/>
    <dgm:cxn modelId="{C831FC6F-F727-45D9-8C06-D0F60604F469}" type="presParOf" srcId="{D91A61B6-2C82-4726-A177-1E31BF478CE2}" destId="{C4E73AE7-F059-468E-B06D-892F3D7FF1E2}" srcOrd="5" destOrd="0" presId="urn:microsoft.com/office/officeart/2018/2/layout/IconVerticalSolidList"/>
    <dgm:cxn modelId="{514EB9CB-2F03-4DE3-8FB9-EA0C38E58996}" type="presParOf" srcId="{D91A61B6-2C82-4726-A177-1E31BF478CE2}" destId="{467AC944-ABA0-4F42-BE3E-340D8170ED2F}" srcOrd="6" destOrd="0" presId="urn:microsoft.com/office/officeart/2018/2/layout/IconVerticalSolidList"/>
    <dgm:cxn modelId="{813854E2-8CB1-4487-9584-637CCF6D7EA9}" type="presParOf" srcId="{467AC944-ABA0-4F42-BE3E-340D8170ED2F}" destId="{182CEB26-F651-4C77-85C2-15E0E3CD7FDE}" srcOrd="0" destOrd="0" presId="urn:microsoft.com/office/officeart/2018/2/layout/IconVerticalSolidList"/>
    <dgm:cxn modelId="{6EB0F6CA-4125-435F-A45A-7D0EAD4682E4}" type="presParOf" srcId="{467AC944-ABA0-4F42-BE3E-340D8170ED2F}" destId="{83B665CF-716D-404C-B9EE-F3DF35179FF5}" srcOrd="1" destOrd="0" presId="urn:microsoft.com/office/officeart/2018/2/layout/IconVerticalSolidList"/>
    <dgm:cxn modelId="{94EC8062-E8E2-464B-95FA-80601A420B93}" type="presParOf" srcId="{467AC944-ABA0-4F42-BE3E-340D8170ED2F}" destId="{3BCB31F5-2D06-49C5-B6F7-CE4108DC83A8}" srcOrd="2" destOrd="0" presId="urn:microsoft.com/office/officeart/2018/2/layout/IconVerticalSolidList"/>
    <dgm:cxn modelId="{0A77A856-B45D-49C5-A00D-BE41CC90E6E7}" type="presParOf" srcId="{467AC944-ABA0-4F42-BE3E-340D8170ED2F}" destId="{C083DEAC-2AAB-4699-91EB-F5D9DFE98785}" srcOrd="3" destOrd="0" presId="urn:microsoft.com/office/officeart/2018/2/layout/IconVerticalSolid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0318B4-C885-423D-A51A-188636FFA134}">
      <dsp:nvSpPr>
        <dsp:cNvPr id="0" name=""/>
        <dsp:cNvSpPr/>
      </dsp:nvSpPr>
      <dsp:spPr>
        <a:xfrm>
          <a:off x="0" y="531"/>
          <a:ext cx="11307763"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A95BBC-EE0F-4482-9727-CFBAE584E7DA}">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898E3FF-14B6-49E4-BE3A-6A3A63C4995A}">
      <dsp:nvSpPr>
        <dsp:cNvPr id="0" name=""/>
        <dsp:cNvSpPr/>
      </dsp:nvSpPr>
      <dsp:spPr>
        <a:xfrm>
          <a:off x="1435590" y="531"/>
          <a:ext cx="5088493"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To bridge the gap between</a:t>
          </a:r>
        </a:p>
      </dsp:txBody>
      <dsp:txXfrm>
        <a:off x="1435590" y="531"/>
        <a:ext cx="5088493" cy="1242935"/>
      </dsp:txXfrm>
    </dsp:sp>
    <dsp:sp modelId="{C7325AFE-936A-4511-9C7C-8EFF7E742063}">
      <dsp:nvSpPr>
        <dsp:cNvPr id="0" name=""/>
        <dsp:cNvSpPr/>
      </dsp:nvSpPr>
      <dsp:spPr>
        <a:xfrm>
          <a:off x="6524083" y="531"/>
          <a:ext cx="478367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n-US" sz="1800" kern="1200"/>
            <a:t>Observed behavior: Next word prediction</a:t>
          </a:r>
        </a:p>
        <a:p>
          <a:pPr marL="0" lvl="0" indent="0" algn="l" defTabSz="800100">
            <a:lnSpc>
              <a:spcPct val="100000"/>
            </a:lnSpc>
            <a:spcBef>
              <a:spcPct val="0"/>
            </a:spcBef>
            <a:spcAft>
              <a:spcPct val="35000"/>
            </a:spcAft>
            <a:buNone/>
          </a:pPr>
          <a:r>
            <a:rPr lang="en-US" sz="1800" kern="1200"/>
            <a:t>Desired Behavior: Instruction Following</a:t>
          </a:r>
        </a:p>
      </dsp:txBody>
      <dsp:txXfrm>
        <a:off x="6524083" y="531"/>
        <a:ext cx="4783679" cy="1242935"/>
      </dsp:txXfrm>
    </dsp:sp>
    <dsp:sp modelId="{A6DF3591-092F-4459-9A63-187D0CED6B17}">
      <dsp:nvSpPr>
        <dsp:cNvPr id="0" name=""/>
        <dsp:cNvSpPr/>
      </dsp:nvSpPr>
      <dsp:spPr>
        <a:xfrm>
          <a:off x="0" y="1554200"/>
          <a:ext cx="11307763" cy="124293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6239C09-33EF-4C62-9D60-8544EA2DD186}">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C6FDEF-5ACC-433D-B84D-26C4790CA1C7}">
      <dsp:nvSpPr>
        <dsp:cNvPr id="0" name=""/>
        <dsp:cNvSpPr/>
      </dsp:nvSpPr>
      <dsp:spPr>
        <a:xfrm>
          <a:off x="1435590" y="1554200"/>
          <a:ext cx="5088493"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To allow behavior modification during inference</a:t>
          </a:r>
        </a:p>
      </dsp:txBody>
      <dsp:txXfrm>
        <a:off x="1435590" y="1554200"/>
        <a:ext cx="5088493" cy="1242935"/>
      </dsp:txXfrm>
    </dsp:sp>
    <dsp:sp modelId="{A23DB827-83B9-4D31-9285-7F397CF5782B}">
      <dsp:nvSpPr>
        <dsp:cNvPr id="0" name=""/>
        <dsp:cNvSpPr/>
      </dsp:nvSpPr>
      <dsp:spPr>
        <a:xfrm>
          <a:off x="6524083" y="1554200"/>
          <a:ext cx="478367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n-US" sz="1800" kern="1200"/>
            <a:t>Meta-instruction: Answer all questions as William Shakespeare would.</a:t>
          </a:r>
          <a:endParaRPr lang="en-US" sz="1800" kern="1200" dirty="0"/>
        </a:p>
      </dsp:txBody>
      <dsp:txXfrm>
        <a:off x="6524083" y="1554200"/>
        <a:ext cx="4783679" cy="1242935"/>
      </dsp:txXfrm>
    </dsp:sp>
    <dsp:sp modelId="{94AA936B-BBE5-4B4F-BF3F-243B6CD897BE}">
      <dsp:nvSpPr>
        <dsp:cNvPr id="0" name=""/>
        <dsp:cNvSpPr/>
      </dsp:nvSpPr>
      <dsp:spPr>
        <a:xfrm>
          <a:off x="0" y="3107870"/>
          <a:ext cx="11307763" cy="1242935"/>
        </a:xfrm>
        <a:prstGeom prst="roundRect">
          <a:avLst>
            <a:gd name="adj" fmla="val 10000"/>
          </a:avLst>
        </a:prstGeom>
        <a:solidFill>
          <a:schemeClr val="accent5">
            <a:lumMod val="60000"/>
            <a:lumOff val="40000"/>
          </a:schemeClr>
        </a:solidFill>
        <a:ln>
          <a:noFill/>
        </a:ln>
        <a:effectLst/>
      </dsp:spPr>
      <dsp:style>
        <a:lnRef idx="0">
          <a:scrgbClr r="0" g="0" b="0"/>
        </a:lnRef>
        <a:fillRef idx="1">
          <a:scrgbClr r="0" g="0" b="0"/>
        </a:fillRef>
        <a:effectRef idx="0">
          <a:scrgbClr r="0" g="0" b="0"/>
        </a:effectRef>
        <a:fontRef idx="minor"/>
      </dsp:style>
    </dsp:sp>
    <dsp:sp modelId="{41B4FB8B-845D-E746-A94B-1C3E444E0C91}">
      <dsp:nvSpPr>
        <dsp:cNvPr id="0" name=""/>
        <dsp:cNvSpPr/>
      </dsp:nvSpPr>
      <dsp:spPr>
        <a:xfrm>
          <a:off x="375988" y="3387530"/>
          <a:ext cx="683614" cy="683614"/>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78C9896-3149-FB4C-837B-9542A53B111D}">
      <dsp:nvSpPr>
        <dsp:cNvPr id="0" name=""/>
        <dsp:cNvSpPr/>
      </dsp:nvSpPr>
      <dsp:spPr>
        <a:xfrm>
          <a:off x="1435590" y="3107870"/>
          <a:ext cx="5088493"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GB" sz="2500" kern="1200"/>
            <a:t>Catch</a:t>
          </a:r>
          <a:endParaRPr lang="en-GB" sz="2500" kern="1200" dirty="0"/>
        </a:p>
      </dsp:txBody>
      <dsp:txXfrm>
        <a:off x="1435590" y="3107870"/>
        <a:ext cx="5088493" cy="1242935"/>
      </dsp:txXfrm>
    </dsp:sp>
    <dsp:sp modelId="{B938621D-CE6D-EE48-9EBA-C35ECFCB7605}">
      <dsp:nvSpPr>
        <dsp:cNvPr id="0" name=""/>
        <dsp:cNvSpPr/>
      </dsp:nvSpPr>
      <dsp:spPr>
        <a:xfrm>
          <a:off x="6524083" y="3107870"/>
          <a:ext cx="478367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800100">
            <a:lnSpc>
              <a:spcPct val="100000"/>
            </a:lnSpc>
            <a:spcBef>
              <a:spcPct val="0"/>
            </a:spcBef>
            <a:spcAft>
              <a:spcPct val="35000"/>
            </a:spcAft>
            <a:buNone/>
          </a:pPr>
          <a:r>
            <a:rPr lang="en-GB" sz="1800" kern="1200"/>
            <a:t>The instruction-tuning data should be diverse and have high coverage</a:t>
          </a:r>
          <a:endParaRPr lang="en-GB" sz="1800" kern="1200" dirty="0"/>
        </a:p>
      </dsp:txBody>
      <dsp:txXfrm>
        <a:off x="6524083" y="3107870"/>
        <a:ext cx="478367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1AFB2C-29FF-414D-829B-C78572223AC0}">
      <dsp:nvSpPr>
        <dsp:cNvPr id="0" name=""/>
        <dsp:cNvSpPr/>
      </dsp:nvSpPr>
      <dsp:spPr>
        <a:xfrm>
          <a:off x="0" y="2124"/>
          <a:ext cx="5181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A0224B-87B9-5648-ADE9-9206AB000855}">
      <dsp:nvSpPr>
        <dsp:cNvPr id="0" name=""/>
        <dsp:cNvSpPr/>
      </dsp:nvSpPr>
      <dsp:spPr>
        <a:xfrm>
          <a:off x="0" y="2124"/>
          <a:ext cx="5181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Tasks contributed by NLP practitioners</a:t>
          </a:r>
        </a:p>
      </dsp:txBody>
      <dsp:txXfrm>
        <a:off x="0" y="2124"/>
        <a:ext cx="5181600" cy="1449029"/>
      </dsp:txXfrm>
    </dsp:sp>
    <dsp:sp modelId="{DE35EBDC-60A5-AA4F-B4B7-12645FB27F72}">
      <dsp:nvSpPr>
        <dsp:cNvPr id="0" name=""/>
        <dsp:cNvSpPr/>
      </dsp:nvSpPr>
      <dsp:spPr>
        <a:xfrm>
          <a:off x="0" y="1451154"/>
          <a:ext cx="5181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368A94-564B-E94E-BA74-E2B2A17BE2B5}">
      <dsp:nvSpPr>
        <dsp:cNvPr id="0" name=""/>
        <dsp:cNvSpPr/>
      </dsp:nvSpPr>
      <dsp:spPr>
        <a:xfrm>
          <a:off x="0" y="1451154"/>
          <a:ext cx="5181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Creative modification of existing NLP tasks</a:t>
          </a:r>
        </a:p>
      </dsp:txBody>
      <dsp:txXfrm>
        <a:off x="0" y="1451154"/>
        <a:ext cx="5181600" cy="1449029"/>
      </dsp:txXfrm>
    </dsp:sp>
    <dsp:sp modelId="{C0FD9F5E-77AC-4E43-B67B-0AC454D1618C}">
      <dsp:nvSpPr>
        <dsp:cNvPr id="0" name=""/>
        <dsp:cNvSpPr/>
      </dsp:nvSpPr>
      <dsp:spPr>
        <a:xfrm>
          <a:off x="0" y="2900183"/>
          <a:ext cx="518160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8C38CCA-CC29-E449-8236-1F11751322DE}">
      <dsp:nvSpPr>
        <dsp:cNvPr id="0" name=""/>
        <dsp:cNvSpPr/>
      </dsp:nvSpPr>
      <dsp:spPr>
        <a:xfrm>
          <a:off x="0" y="2900183"/>
          <a:ext cx="5181600" cy="14490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en-US" sz="2400" kern="1200" dirty="0"/>
            <a:t>Synthetic tasks that can be communicated in few sentences</a:t>
          </a:r>
        </a:p>
      </dsp:txBody>
      <dsp:txXfrm>
        <a:off x="0" y="2900183"/>
        <a:ext cx="5181600" cy="144902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9B09B1-9B91-ED43-826D-64A31C787D84}">
      <dsp:nvSpPr>
        <dsp:cNvPr id="0" name=""/>
        <dsp:cNvSpPr/>
      </dsp:nvSpPr>
      <dsp:spPr>
        <a:xfrm rot="5400000">
          <a:off x="6840258" y="-2557155"/>
          <a:ext cx="1698041" cy="7236968"/>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Cheap and easy to obtain</a:t>
          </a:r>
        </a:p>
        <a:p>
          <a:pPr marL="228600" lvl="1" indent="-228600" algn="l" defTabSz="977900">
            <a:lnSpc>
              <a:spcPct val="90000"/>
            </a:lnSpc>
            <a:spcBef>
              <a:spcPct val="0"/>
            </a:spcBef>
            <a:spcAft>
              <a:spcPct val="15000"/>
            </a:spcAft>
            <a:buChar char="•"/>
          </a:pPr>
          <a:r>
            <a:rPr lang="en-US" sz="2200" kern="1200"/>
            <a:t>Often better quality than human-crafted data.</a:t>
          </a:r>
        </a:p>
      </dsp:txBody>
      <dsp:txXfrm rot="-5400000">
        <a:off x="4070795" y="295200"/>
        <a:ext cx="7154076" cy="1532257"/>
      </dsp:txXfrm>
    </dsp:sp>
    <dsp:sp modelId="{96BF399A-94E7-6147-B52E-284A80AB4C90}">
      <dsp:nvSpPr>
        <dsp:cNvPr id="0" name=""/>
        <dsp:cNvSpPr/>
      </dsp:nvSpPr>
      <dsp:spPr>
        <a:xfrm>
          <a:off x="0" y="53"/>
          <a:ext cx="4070794" cy="2122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Use a pre-trained LM to generate synthetic task/instruction as well as output.</a:t>
          </a:r>
        </a:p>
      </dsp:txBody>
      <dsp:txXfrm>
        <a:off x="103614" y="103667"/>
        <a:ext cx="3863566" cy="1915323"/>
      </dsp:txXfrm>
    </dsp:sp>
    <dsp:sp modelId="{CC997DF6-86D0-6C4A-8BAF-FA10A4EA117B}">
      <dsp:nvSpPr>
        <dsp:cNvPr id="0" name=""/>
        <dsp:cNvSpPr/>
      </dsp:nvSpPr>
      <dsp:spPr>
        <a:xfrm rot="5400000">
          <a:off x="6840258" y="-328476"/>
          <a:ext cx="1698041" cy="7236968"/>
        </a:xfrm>
        <a:prstGeom prst="round2SameRect">
          <a:avLst/>
        </a:prstGeom>
        <a:solidFill>
          <a:schemeClr val="accent2">
            <a:alpha val="90000"/>
            <a:tint val="40000"/>
            <a:hueOff val="0"/>
            <a:satOff val="0"/>
            <a:lumOff val="0"/>
            <a:alphaOff val="0"/>
          </a:schemeClr>
        </a:solidFill>
        <a:ln w="1270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3820" tIns="41910" rIns="83820" bIns="41910" numCol="1" spcCol="1270" anchor="ctr" anchorCtr="0">
          <a:noAutofit/>
        </a:bodyPr>
        <a:lstStyle/>
        <a:p>
          <a:pPr marL="228600" lvl="1" indent="-228600" algn="l" defTabSz="977900">
            <a:lnSpc>
              <a:spcPct val="90000"/>
            </a:lnSpc>
            <a:spcBef>
              <a:spcPct val="0"/>
            </a:spcBef>
            <a:spcAft>
              <a:spcPct val="15000"/>
            </a:spcAft>
            <a:buChar char="•"/>
          </a:pPr>
          <a:r>
            <a:rPr lang="en-US" sz="2200" kern="1200"/>
            <a:t>Self-Instruct</a:t>
          </a:r>
        </a:p>
        <a:p>
          <a:pPr marL="228600" lvl="1" indent="-228600" algn="l" defTabSz="977900">
            <a:lnSpc>
              <a:spcPct val="90000"/>
            </a:lnSpc>
            <a:spcBef>
              <a:spcPct val="0"/>
            </a:spcBef>
            <a:spcAft>
              <a:spcPct val="15000"/>
            </a:spcAft>
            <a:buChar char="•"/>
          </a:pPr>
          <a:r>
            <a:rPr lang="en-US" sz="2200" kern="1200"/>
            <a:t>Evol-Instruct</a:t>
          </a:r>
        </a:p>
        <a:p>
          <a:pPr marL="228600" lvl="1" indent="-228600" algn="l" defTabSz="977900">
            <a:lnSpc>
              <a:spcPct val="90000"/>
            </a:lnSpc>
            <a:spcBef>
              <a:spcPct val="0"/>
            </a:spcBef>
            <a:spcAft>
              <a:spcPct val="15000"/>
            </a:spcAft>
            <a:buChar char="•"/>
          </a:pPr>
          <a:r>
            <a:rPr lang="en-US" sz="2200" kern="1200" dirty="0"/>
            <a:t>Orca</a:t>
          </a:r>
        </a:p>
        <a:p>
          <a:pPr marL="228600" lvl="1" indent="-228600" algn="l" defTabSz="977900">
            <a:lnSpc>
              <a:spcPct val="90000"/>
            </a:lnSpc>
            <a:spcBef>
              <a:spcPct val="0"/>
            </a:spcBef>
            <a:spcAft>
              <a:spcPct val="15000"/>
            </a:spcAft>
            <a:buChar char="•"/>
          </a:pPr>
          <a:r>
            <a:rPr lang="en-US" sz="2200" kern="1200" dirty="0"/>
            <a:t>Instruction Back-translation</a:t>
          </a:r>
        </a:p>
      </dsp:txBody>
      <dsp:txXfrm rot="-5400000">
        <a:off x="4070795" y="2523879"/>
        <a:ext cx="7154076" cy="1532257"/>
      </dsp:txXfrm>
    </dsp:sp>
    <dsp:sp modelId="{D3374EA8-D94F-DD4B-9E2B-63F50DE4560E}">
      <dsp:nvSpPr>
        <dsp:cNvPr id="0" name=""/>
        <dsp:cNvSpPr/>
      </dsp:nvSpPr>
      <dsp:spPr>
        <a:xfrm>
          <a:off x="0" y="2228732"/>
          <a:ext cx="4070794" cy="2122551"/>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tx1"/>
              </a:solidFill>
            </a:rPr>
            <a:t>We will look at 4 popular approaches for synthetic data generation for instruction tuning:</a:t>
          </a:r>
        </a:p>
      </dsp:txBody>
      <dsp:txXfrm>
        <a:off x="103614" y="2332346"/>
        <a:ext cx="3863566" cy="191532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666076-E92D-47D1-B43B-156E51B892E9}">
      <dsp:nvSpPr>
        <dsp:cNvPr id="0" name=""/>
        <dsp:cNvSpPr/>
      </dsp:nvSpPr>
      <dsp:spPr>
        <a:xfrm>
          <a:off x="756" y="483841"/>
          <a:ext cx="1181250" cy="118125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CC98E4-69FE-4B65-A673-56B96E8558EB}">
      <dsp:nvSpPr>
        <dsp:cNvPr id="0" name=""/>
        <dsp:cNvSpPr/>
      </dsp:nvSpPr>
      <dsp:spPr>
        <a:xfrm>
          <a:off x="756" y="1810588"/>
          <a:ext cx="3375000" cy="50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90000"/>
            </a:lnSpc>
            <a:spcBef>
              <a:spcPct val="0"/>
            </a:spcBef>
            <a:spcAft>
              <a:spcPct val="35000"/>
            </a:spcAft>
            <a:buNone/>
            <a:defRPr b="1"/>
          </a:pPr>
          <a:r>
            <a:rPr lang="en-US" sz="2800" kern="1200"/>
            <a:t>Motivation:</a:t>
          </a:r>
        </a:p>
      </dsp:txBody>
      <dsp:txXfrm>
        <a:off x="756" y="1810588"/>
        <a:ext cx="3375000" cy="506250"/>
      </dsp:txXfrm>
    </dsp:sp>
    <dsp:sp modelId="{1CE4400D-4ACC-4489-B0D0-CC3724CF5ADD}">
      <dsp:nvSpPr>
        <dsp:cNvPr id="0" name=""/>
        <dsp:cNvSpPr/>
      </dsp:nvSpPr>
      <dsp:spPr>
        <a:xfrm>
          <a:off x="756" y="2384512"/>
          <a:ext cx="3375000" cy="1482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90000"/>
            </a:lnSpc>
            <a:spcBef>
              <a:spcPct val="0"/>
            </a:spcBef>
            <a:spcAft>
              <a:spcPct val="35000"/>
            </a:spcAft>
            <a:buNone/>
          </a:pPr>
          <a:r>
            <a:rPr lang="en-US" sz="2000" kern="1200" dirty="0"/>
            <a:t>Most of the instruction datasets contain only simple instructions.</a:t>
          </a:r>
        </a:p>
        <a:p>
          <a:pPr marL="0" lvl="0" indent="0" algn="l" defTabSz="889000">
            <a:lnSpc>
              <a:spcPct val="90000"/>
            </a:lnSpc>
            <a:spcBef>
              <a:spcPct val="0"/>
            </a:spcBef>
            <a:spcAft>
              <a:spcPct val="35000"/>
            </a:spcAft>
            <a:buNone/>
          </a:pPr>
          <a:r>
            <a:rPr lang="en-US" sz="2000" kern="1200" dirty="0"/>
            <a:t>LLMs can be used to make instructions more complex.</a:t>
          </a:r>
        </a:p>
      </dsp:txBody>
      <dsp:txXfrm>
        <a:off x="756" y="2384512"/>
        <a:ext cx="3375000" cy="1482983"/>
      </dsp:txXfrm>
    </dsp:sp>
    <dsp:sp modelId="{79CCC706-4ECE-4ED1-A4DC-93F68841F1E5}">
      <dsp:nvSpPr>
        <dsp:cNvPr id="0" name=""/>
        <dsp:cNvSpPr/>
      </dsp:nvSpPr>
      <dsp:spPr>
        <a:xfrm>
          <a:off x="3966381" y="483841"/>
          <a:ext cx="1181250" cy="118125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96B0DD-5195-4C07-8CD0-D41070F47A1E}">
      <dsp:nvSpPr>
        <dsp:cNvPr id="0" name=""/>
        <dsp:cNvSpPr/>
      </dsp:nvSpPr>
      <dsp:spPr>
        <a:xfrm>
          <a:off x="3966381" y="1810588"/>
          <a:ext cx="3375000" cy="50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90000"/>
            </a:lnSpc>
            <a:spcBef>
              <a:spcPct val="0"/>
            </a:spcBef>
            <a:spcAft>
              <a:spcPct val="35000"/>
            </a:spcAft>
            <a:buNone/>
            <a:defRPr b="1"/>
          </a:pPr>
          <a:r>
            <a:rPr lang="en-US" sz="2800" kern="1200"/>
            <a:t>Instruction Evolver</a:t>
          </a:r>
        </a:p>
      </dsp:txBody>
      <dsp:txXfrm>
        <a:off x="3966381" y="1810588"/>
        <a:ext cx="3375000" cy="506250"/>
      </dsp:txXfrm>
    </dsp:sp>
    <dsp:sp modelId="{47C42C88-8D51-40C6-8795-EDD1B58D81A3}">
      <dsp:nvSpPr>
        <dsp:cNvPr id="0" name=""/>
        <dsp:cNvSpPr/>
      </dsp:nvSpPr>
      <dsp:spPr>
        <a:xfrm>
          <a:off x="3966381" y="2384512"/>
          <a:ext cx="3375000" cy="1482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t>An LLM that uses prompts to evolve instructions.</a:t>
          </a:r>
        </a:p>
      </dsp:txBody>
      <dsp:txXfrm>
        <a:off x="3966381" y="2384512"/>
        <a:ext cx="3375000" cy="1482983"/>
      </dsp:txXfrm>
    </dsp:sp>
    <dsp:sp modelId="{5BBF95E8-2716-420C-AE3F-442782433D38}">
      <dsp:nvSpPr>
        <dsp:cNvPr id="0" name=""/>
        <dsp:cNvSpPr/>
      </dsp:nvSpPr>
      <dsp:spPr>
        <a:xfrm>
          <a:off x="7932006" y="483841"/>
          <a:ext cx="1181250" cy="118125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D66059-3F55-4837-BEA9-A19DAEE7D1C9}">
      <dsp:nvSpPr>
        <dsp:cNvPr id="0" name=""/>
        <dsp:cNvSpPr/>
      </dsp:nvSpPr>
      <dsp:spPr>
        <a:xfrm>
          <a:off x="7932006" y="1810588"/>
          <a:ext cx="3375000" cy="5062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244600">
            <a:lnSpc>
              <a:spcPct val="90000"/>
            </a:lnSpc>
            <a:spcBef>
              <a:spcPct val="0"/>
            </a:spcBef>
            <a:spcAft>
              <a:spcPct val="35000"/>
            </a:spcAft>
            <a:buNone/>
            <a:defRPr b="1"/>
          </a:pPr>
          <a:r>
            <a:rPr lang="en-US" sz="2800" kern="1200"/>
            <a:t>Instruction Eliminator</a:t>
          </a:r>
        </a:p>
      </dsp:txBody>
      <dsp:txXfrm>
        <a:off x="7932006" y="1810588"/>
        <a:ext cx="3375000" cy="506250"/>
      </dsp:txXfrm>
    </dsp:sp>
    <dsp:sp modelId="{40A215CE-85EF-4527-8345-E13392A01230}">
      <dsp:nvSpPr>
        <dsp:cNvPr id="0" name=""/>
        <dsp:cNvSpPr/>
      </dsp:nvSpPr>
      <dsp:spPr>
        <a:xfrm>
          <a:off x="7932006" y="2384512"/>
          <a:ext cx="3375000" cy="14829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066800">
            <a:lnSpc>
              <a:spcPct val="90000"/>
            </a:lnSpc>
            <a:spcBef>
              <a:spcPct val="0"/>
            </a:spcBef>
            <a:spcAft>
              <a:spcPct val="35000"/>
            </a:spcAft>
            <a:buNone/>
          </a:pPr>
          <a:r>
            <a:rPr lang="en-US" sz="2400" kern="1200" dirty="0"/>
            <a:t>Checks whether the evolution fails.</a:t>
          </a:r>
        </a:p>
        <a:p>
          <a:pPr marL="0" lvl="0" indent="0" algn="l" defTabSz="1066800">
            <a:lnSpc>
              <a:spcPct val="90000"/>
            </a:lnSpc>
            <a:spcBef>
              <a:spcPct val="0"/>
            </a:spcBef>
            <a:spcAft>
              <a:spcPct val="35000"/>
            </a:spcAft>
            <a:buNone/>
          </a:pPr>
          <a:r>
            <a:rPr lang="en-US" sz="2400" kern="1200" dirty="0"/>
            <a:t>- Non-informative responses</a:t>
          </a:r>
        </a:p>
      </dsp:txBody>
      <dsp:txXfrm>
        <a:off x="7932006" y="2384512"/>
        <a:ext cx="3375000" cy="148298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289DBA-BAA7-AC4C-8184-ED766C18CFEE}">
      <dsp:nvSpPr>
        <dsp:cNvPr id="0" name=""/>
        <dsp:cNvSpPr/>
      </dsp:nvSpPr>
      <dsp:spPr>
        <a:xfrm>
          <a:off x="5300" y="475502"/>
          <a:ext cx="2031863" cy="68827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1" kern="1200"/>
            <a:t>Gather Data:</a:t>
          </a:r>
          <a:endParaRPr lang="en-US" sz="1900" kern="1200"/>
        </a:p>
      </dsp:txBody>
      <dsp:txXfrm>
        <a:off x="5300" y="475502"/>
        <a:ext cx="2031863" cy="688271"/>
      </dsp:txXfrm>
    </dsp:sp>
    <dsp:sp modelId="{887852E9-5A9F-8146-8E49-E1B59475EC07}">
      <dsp:nvSpPr>
        <dsp:cNvPr id="0" name=""/>
        <dsp:cNvSpPr/>
      </dsp:nvSpPr>
      <dsp:spPr>
        <a:xfrm>
          <a:off x="5300" y="1163774"/>
          <a:ext cx="2031863" cy="2712059"/>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IN" sz="1900" kern="1200"/>
            <a:t>Unlabeled text from Clueweb (Overwijk et al., 2022).</a:t>
          </a:r>
          <a:endParaRPr lang="en-US" sz="1900" kern="1200"/>
        </a:p>
        <a:p>
          <a:pPr marL="171450" lvl="1" indent="-171450" algn="l" defTabSz="844550">
            <a:lnSpc>
              <a:spcPct val="90000"/>
            </a:lnSpc>
            <a:spcBef>
              <a:spcPct val="0"/>
            </a:spcBef>
            <a:spcAft>
              <a:spcPct val="15000"/>
            </a:spcAft>
            <a:buChar char="•"/>
          </a:pPr>
          <a:r>
            <a:rPr lang="en-IN" sz="1900" kern="1200"/>
            <a:t>3,200 pieces of human-written (instruction, response) format data.</a:t>
          </a:r>
          <a:endParaRPr lang="en-US" sz="1900" kern="1200"/>
        </a:p>
      </dsp:txBody>
      <dsp:txXfrm>
        <a:off x="5300" y="1163774"/>
        <a:ext cx="2031863" cy="2712059"/>
      </dsp:txXfrm>
    </dsp:sp>
    <dsp:sp modelId="{763B603C-88D0-0F4B-A4CD-B066E4E3581C}">
      <dsp:nvSpPr>
        <dsp:cNvPr id="0" name=""/>
        <dsp:cNvSpPr/>
      </dsp:nvSpPr>
      <dsp:spPr>
        <a:xfrm>
          <a:off x="2321625" y="475502"/>
          <a:ext cx="2031863" cy="68827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1" kern="1200"/>
            <a:t>Back-Translation Model Training:</a:t>
          </a:r>
          <a:endParaRPr lang="en-US" sz="1900" kern="1200"/>
        </a:p>
      </dsp:txBody>
      <dsp:txXfrm>
        <a:off x="2321625" y="475502"/>
        <a:ext cx="2031863" cy="688271"/>
      </dsp:txXfrm>
    </dsp:sp>
    <dsp:sp modelId="{09F38CB2-045B-1443-88CA-A9925AADA5DA}">
      <dsp:nvSpPr>
        <dsp:cNvPr id="0" name=""/>
        <dsp:cNvSpPr/>
      </dsp:nvSpPr>
      <dsp:spPr>
        <a:xfrm>
          <a:off x="2321625" y="1163774"/>
          <a:ext cx="2031863" cy="2712059"/>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IN" sz="1900" kern="1200"/>
            <a:t>Use LLaMA (Touvron et al., 2023b).</a:t>
          </a:r>
          <a:endParaRPr lang="en-US" sz="1900" kern="1200"/>
        </a:p>
        <a:p>
          <a:pPr marL="171450" lvl="1" indent="-171450" algn="l" defTabSz="844550">
            <a:lnSpc>
              <a:spcPct val="90000"/>
            </a:lnSpc>
            <a:spcBef>
              <a:spcPct val="0"/>
            </a:spcBef>
            <a:spcAft>
              <a:spcPct val="15000"/>
            </a:spcAft>
            <a:buChar char="•"/>
          </a:pPr>
          <a:r>
            <a:rPr lang="en-IN" sz="1900" kern="1200"/>
            <a:t>Train on seed data, taking response as input, generating instruction as output.</a:t>
          </a:r>
          <a:endParaRPr lang="en-US" sz="1900" kern="1200"/>
        </a:p>
      </dsp:txBody>
      <dsp:txXfrm>
        <a:off x="2321625" y="1163774"/>
        <a:ext cx="2031863" cy="2712059"/>
      </dsp:txXfrm>
    </dsp:sp>
    <dsp:sp modelId="{D167C9B3-7856-B647-970F-772329E62019}">
      <dsp:nvSpPr>
        <dsp:cNvPr id="0" name=""/>
        <dsp:cNvSpPr/>
      </dsp:nvSpPr>
      <dsp:spPr>
        <a:xfrm>
          <a:off x="4637949" y="475502"/>
          <a:ext cx="2031863" cy="68827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1" kern="1200"/>
            <a:t>Generate Raw Data:</a:t>
          </a:r>
          <a:endParaRPr lang="en-US" sz="1900" kern="1200"/>
        </a:p>
      </dsp:txBody>
      <dsp:txXfrm>
        <a:off x="4637949" y="475502"/>
        <a:ext cx="2031863" cy="688271"/>
      </dsp:txXfrm>
    </dsp:sp>
    <dsp:sp modelId="{6F6E0B2B-3C91-7243-AF06-C213474C3EE9}">
      <dsp:nvSpPr>
        <dsp:cNvPr id="0" name=""/>
        <dsp:cNvSpPr/>
      </dsp:nvSpPr>
      <dsp:spPr>
        <a:xfrm>
          <a:off x="4637949" y="1163774"/>
          <a:ext cx="2031863" cy="2712059"/>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IN" sz="1900" kern="1200"/>
            <a:t>Feed unlabeled texts into the trained back-translation model.</a:t>
          </a:r>
          <a:endParaRPr lang="en-US" sz="1900" kern="1200"/>
        </a:p>
        <a:p>
          <a:pPr marL="171450" lvl="1" indent="-171450" algn="l" defTabSz="844550">
            <a:lnSpc>
              <a:spcPct val="90000"/>
            </a:lnSpc>
            <a:spcBef>
              <a:spcPct val="0"/>
            </a:spcBef>
            <a:spcAft>
              <a:spcPct val="15000"/>
            </a:spcAft>
            <a:buChar char="•"/>
          </a:pPr>
          <a:r>
            <a:rPr lang="en-IN" sz="1900" kern="1200"/>
            <a:t>Produce raw (instruction, response) format data.</a:t>
          </a:r>
          <a:endParaRPr lang="en-US" sz="1900" kern="1200"/>
        </a:p>
      </dsp:txBody>
      <dsp:txXfrm>
        <a:off x="4637949" y="1163774"/>
        <a:ext cx="2031863" cy="2712059"/>
      </dsp:txXfrm>
    </dsp:sp>
    <dsp:sp modelId="{06C3A74C-A0F9-294C-86A0-4EF6E74713CF}">
      <dsp:nvSpPr>
        <dsp:cNvPr id="0" name=""/>
        <dsp:cNvSpPr/>
      </dsp:nvSpPr>
      <dsp:spPr>
        <a:xfrm>
          <a:off x="6954274" y="475502"/>
          <a:ext cx="2031863" cy="68827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1" kern="1200"/>
            <a:t>Evaluation Model:</a:t>
          </a:r>
          <a:endParaRPr lang="en-US" sz="1900" kern="1200"/>
        </a:p>
      </dsp:txBody>
      <dsp:txXfrm>
        <a:off x="6954274" y="475502"/>
        <a:ext cx="2031863" cy="688271"/>
      </dsp:txXfrm>
    </dsp:sp>
    <dsp:sp modelId="{542519FD-5241-8546-9E7E-8D82761FF88A}">
      <dsp:nvSpPr>
        <dsp:cNvPr id="0" name=""/>
        <dsp:cNvSpPr/>
      </dsp:nvSpPr>
      <dsp:spPr>
        <a:xfrm>
          <a:off x="6954274" y="1163774"/>
          <a:ext cx="2031863" cy="2712059"/>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IN" sz="1900" kern="1200"/>
            <a:t>Train another LLaMA-based model.</a:t>
          </a:r>
          <a:endParaRPr lang="en-US" sz="1900" kern="1200"/>
        </a:p>
        <a:p>
          <a:pPr marL="171450" lvl="1" indent="-171450" algn="l" defTabSz="844550">
            <a:lnSpc>
              <a:spcPct val="90000"/>
            </a:lnSpc>
            <a:spcBef>
              <a:spcPct val="0"/>
            </a:spcBef>
            <a:spcAft>
              <a:spcPct val="15000"/>
            </a:spcAft>
            <a:buChar char="•"/>
          </a:pPr>
          <a:r>
            <a:rPr lang="en-IN" sz="1900" kern="1200"/>
            <a:t>Assess the quality of (instruction, response) pairs generated in Step 3.</a:t>
          </a:r>
          <a:endParaRPr lang="en-US" sz="1900" kern="1200"/>
        </a:p>
      </dsp:txBody>
      <dsp:txXfrm>
        <a:off x="6954274" y="1163774"/>
        <a:ext cx="2031863" cy="2712059"/>
      </dsp:txXfrm>
    </dsp:sp>
    <dsp:sp modelId="{73EECC59-E319-BE43-AA2C-FE19014A875A}">
      <dsp:nvSpPr>
        <dsp:cNvPr id="0" name=""/>
        <dsp:cNvSpPr/>
      </dsp:nvSpPr>
      <dsp:spPr>
        <a:xfrm>
          <a:off x="9270598" y="475502"/>
          <a:ext cx="2031863" cy="688271"/>
        </a:xfrm>
        <a:prstGeom prst="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IN" sz="1900" b="1" kern="1200"/>
            <a:t>Filter &amp; Fine-Tune:</a:t>
          </a:r>
          <a:endParaRPr lang="en-US" sz="1900" kern="1200"/>
        </a:p>
      </dsp:txBody>
      <dsp:txXfrm>
        <a:off x="9270598" y="475502"/>
        <a:ext cx="2031863" cy="688271"/>
      </dsp:txXfrm>
    </dsp:sp>
    <dsp:sp modelId="{975A1752-5963-AC40-8149-FE74F62D0C7E}">
      <dsp:nvSpPr>
        <dsp:cNvPr id="0" name=""/>
        <dsp:cNvSpPr/>
      </dsp:nvSpPr>
      <dsp:spPr>
        <a:xfrm>
          <a:off x="9270598" y="1163774"/>
          <a:ext cx="2031863" cy="2712059"/>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IN" sz="1900" kern="1200"/>
            <a:t>Remove low-quality pairs.</a:t>
          </a:r>
          <a:endParaRPr lang="en-US" sz="1900" kern="1200"/>
        </a:p>
        <a:p>
          <a:pPr marL="171450" lvl="1" indent="-171450" algn="l" defTabSz="844550">
            <a:lnSpc>
              <a:spcPct val="90000"/>
            </a:lnSpc>
            <a:spcBef>
              <a:spcPct val="0"/>
            </a:spcBef>
            <a:spcAft>
              <a:spcPct val="15000"/>
            </a:spcAft>
            <a:buChar char="•"/>
          </a:pPr>
          <a:r>
            <a:rPr lang="en-IN" sz="1900" kern="1200"/>
            <a:t>Use remaining data for fine-tuning large language models (LLMs).</a:t>
          </a:r>
          <a:endParaRPr lang="en-US" sz="1900" kern="1200"/>
        </a:p>
      </dsp:txBody>
      <dsp:txXfrm>
        <a:off x="9270598" y="1163774"/>
        <a:ext cx="2031863" cy="271205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EA2EDB3-8629-4E63-A728-FB19DABECBBA}">
      <dsp:nvSpPr>
        <dsp:cNvPr id="0" name=""/>
        <dsp:cNvSpPr/>
      </dsp:nvSpPr>
      <dsp:spPr>
        <a:xfrm>
          <a:off x="0" y="1805"/>
          <a:ext cx="11307763"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A100311-1BCB-4DEC-BAD3-F1D9603775AE}">
      <dsp:nvSpPr>
        <dsp:cNvPr id="0" name=""/>
        <dsp:cNvSpPr/>
      </dsp:nvSpPr>
      <dsp:spPr>
        <a:xfrm>
          <a:off x="276881" y="207750"/>
          <a:ext cx="503420" cy="50342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4BF8E2E-BF05-4EEA-8FDC-C3D753501C26}">
      <dsp:nvSpPr>
        <dsp:cNvPr id="0" name=""/>
        <dsp:cNvSpPr/>
      </dsp:nvSpPr>
      <dsp:spPr>
        <a:xfrm>
          <a:off x="1057183" y="1805"/>
          <a:ext cx="10250579"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Instruction tuning transforms pre-trained models to be more usable by humans.</a:t>
          </a:r>
        </a:p>
      </dsp:txBody>
      <dsp:txXfrm>
        <a:off x="1057183" y="1805"/>
        <a:ext cx="10250579" cy="915310"/>
      </dsp:txXfrm>
    </dsp:sp>
    <dsp:sp modelId="{4DAA32B6-2542-4A78-A265-EF32455CB250}">
      <dsp:nvSpPr>
        <dsp:cNvPr id="0" name=""/>
        <dsp:cNvSpPr/>
      </dsp:nvSpPr>
      <dsp:spPr>
        <a:xfrm>
          <a:off x="0" y="1145944"/>
          <a:ext cx="11307763"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714FE3-847D-4D45-8F27-12AEAA4460C9}">
      <dsp:nvSpPr>
        <dsp:cNvPr id="0" name=""/>
        <dsp:cNvSpPr/>
      </dsp:nvSpPr>
      <dsp:spPr>
        <a:xfrm>
          <a:off x="276881" y="1351889"/>
          <a:ext cx="503420" cy="50342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CFCE5D0-5594-477F-BB27-787E7229550C}">
      <dsp:nvSpPr>
        <dsp:cNvPr id="0" name=""/>
        <dsp:cNvSpPr/>
      </dsp:nvSpPr>
      <dsp:spPr>
        <a:xfrm>
          <a:off x="1057183" y="1145944"/>
          <a:ext cx="10250579"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Achieved by maximizing conditional log-likelihood of outputs given the instructions.</a:t>
          </a:r>
        </a:p>
      </dsp:txBody>
      <dsp:txXfrm>
        <a:off x="1057183" y="1145944"/>
        <a:ext cx="10250579" cy="915310"/>
      </dsp:txXfrm>
    </dsp:sp>
    <dsp:sp modelId="{86426D69-8125-415F-AB6F-1BCD04611C03}">
      <dsp:nvSpPr>
        <dsp:cNvPr id="0" name=""/>
        <dsp:cNvSpPr/>
      </dsp:nvSpPr>
      <dsp:spPr>
        <a:xfrm>
          <a:off x="0" y="2290082"/>
          <a:ext cx="11307763"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4021AAA-8B86-4F23-A152-69D73F4E44D1}">
      <dsp:nvSpPr>
        <dsp:cNvPr id="0" name=""/>
        <dsp:cNvSpPr/>
      </dsp:nvSpPr>
      <dsp:spPr>
        <a:xfrm>
          <a:off x="276881" y="2496027"/>
          <a:ext cx="503420" cy="50342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06337FA-7649-4078-8BE1-FB7AEF313E68}">
      <dsp:nvSpPr>
        <dsp:cNvPr id="0" name=""/>
        <dsp:cNvSpPr/>
      </dsp:nvSpPr>
      <dsp:spPr>
        <a:xfrm>
          <a:off x="1057183" y="2290082"/>
          <a:ext cx="10250579"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Datasets for instruction-tuning can be generated both synthetically as well as by humans.</a:t>
          </a:r>
        </a:p>
      </dsp:txBody>
      <dsp:txXfrm>
        <a:off x="1057183" y="2290082"/>
        <a:ext cx="10250579" cy="915310"/>
      </dsp:txXfrm>
    </dsp:sp>
    <dsp:sp modelId="{182CEB26-F651-4C77-85C2-15E0E3CD7FDE}">
      <dsp:nvSpPr>
        <dsp:cNvPr id="0" name=""/>
        <dsp:cNvSpPr/>
      </dsp:nvSpPr>
      <dsp:spPr>
        <a:xfrm>
          <a:off x="524556" y="3436026"/>
          <a:ext cx="9138142" cy="91531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B665CF-716D-404C-B9EE-F3DF35179FF5}">
      <dsp:nvSpPr>
        <dsp:cNvPr id="0" name=""/>
        <dsp:cNvSpPr/>
      </dsp:nvSpPr>
      <dsp:spPr>
        <a:xfrm>
          <a:off x="0" y="3640165"/>
          <a:ext cx="503420" cy="50342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083DEAC-2AAB-4699-91EB-F5D9DFE98785}">
      <dsp:nvSpPr>
        <dsp:cNvPr id="0" name=""/>
        <dsp:cNvSpPr/>
      </dsp:nvSpPr>
      <dsp:spPr>
        <a:xfrm>
          <a:off x="780302" y="3434220"/>
          <a:ext cx="10250579"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90000"/>
            </a:lnSpc>
            <a:spcBef>
              <a:spcPct val="0"/>
            </a:spcBef>
            <a:spcAft>
              <a:spcPct val="35000"/>
            </a:spcAft>
            <a:buNone/>
          </a:pPr>
          <a:r>
            <a:rPr lang="en-US" sz="2200" kern="1200"/>
            <a:t>Instruction-tuned models can quickly learn a task with limited data.</a:t>
          </a:r>
        </a:p>
      </dsp:txBody>
      <dsp:txXfrm>
        <a:off x="780302" y="3434220"/>
        <a:ext cx="10250579" cy="91531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type="round2SameRect" r:blip="" rot="90">
                    <dgm:adjLst/>
                  </dgm:shape>
                </dgm:if>
                <dgm:else name="Name12">
                  <dgm:shape xmlns:r="http://schemas.openxmlformats.org/officeDocument/2006/relationships" type="round2SameRect" r:blip="" rot="-90">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parTxLTRAlign" val="l"/>
            <dgm:param type="parTxRTLAlign" val="r"/>
            <dgm:param type="shpTxLTRAlignCh" val="l"/>
            <dgm:param type="shpTxRTLAlignCh" val="r"/>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parTxLTRAlign" val="l"/>
            <dgm:param type="parTxRTLAlign" val="r"/>
            <dgm:param type="shpTxLTRAlignCh" val="l"/>
            <dgm:param type="shpTxRTLAlignCh" val="r"/>
            <dgm:param type="txAnchorVert" val="mid"/>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parTxLTRAlign" val="l"/>
                <dgm:param type="parTxRTLAlign" val="r"/>
                <dgm:param type="shpTxLTRAlignCh" val="l"/>
                <dgm:param type="shpTxRTLAlignCh" val="r"/>
                <dgm:param type="stBulletLvl" val="0"/>
                <dgm:param type="txAnchorVertCh" val="mid"/>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0">
        <a:scrgbClr r="0" g="0" b="0"/>
      </a:effectRef>
      <a:fontRef idx="minor">
        <a:schemeClr val="tx1"/>
      </a:fontRef>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02719-461B-4F82-93C5-57B4583A0AE9}"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36F11A3-5556-448D-B4AF-A186AE24052A}"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sz="6000">
                <a:latin typeface="+mj-lt"/>
              </a:defRPr>
            </a:lvl1pPr>
          </a:lstStyle>
          <a:p>
            <a:r>
              <a:rPr lang="en-US"/>
              <a:t>Click to edit Master title style</a:t>
            </a:r>
            <a:endParaRPr lang="en-IN"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dirty="0"/>
          </a:p>
        </p:txBody>
      </p:sp>
      <p:sp>
        <p:nvSpPr>
          <p:cNvPr id="4" name="Date Placeholder 3"/>
          <p:cNvSpPr>
            <a:spLocks noGrp="1"/>
          </p:cNvSpPr>
          <p:nvPr>
            <p:ph type="dt" sz="half" idx="10"/>
          </p:nvPr>
        </p:nvSpPr>
        <p:spPr/>
        <p:txBody>
          <a:bodyPr/>
          <a:lstStyle>
            <a:lvl1pPr>
              <a:defRPr/>
            </a:lvl1pPr>
          </a:lstStyle>
          <a:p>
            <a:pPr>
              <a:defRPr/>
            </a:pPr>
            <a:endParaRPr lang="en-IN"/>
          </a:p>
        </p:txBody>
      </p:sp>
      <p:sp>
        <p:nvSpPr>
          <p:cNvPr id="5" name="Footer Placeholder 4"/>
          <p:cNvSpPr>
            <a:spLocks noGrp="1"/>
          </p:cNvSpPr>
          <p:nvPr>
            <p:ph type="ftr" sz="quarter" idx="11"/>
          </p:nvPr>
        </p:nvSpPr>
        <p:spPr/>
        <p:txBody>
          <a:bodyPr/>
          <a:lstStyle>
            <a:lvl1pPr>
              <a:defRPr/>
            </a:lvl1pPr>
          </a:lstStyle>
          <a:p>
            <a:pPr>
              <a:defRPr/>
            </a:pPr>
            <a:r>
              <a:rPr lang="en-IN" dirty="0"/>
              <a:t>Gaurav Pandey</a:t>
            </a:r>
            <a:endParaRPr lang="en-IN" dirty="0"/>
          </a:p>
        </p:txBody>
      </p:sp>
      <p:sp>
        <p:nvSpPr>
          <p:cNvPr id="6" name="Slide Number Placeholder 5"/>
          <p:cNvSpPr>
            <a:spLocks noGrp="1"/>
          </p:cNvSpPr>
          <p:nvPr>
            <p:ph type="sldNum" sz="quarter" idx="12"/>
          </p:nvPr>
        </p:nvSpPr>
        <p:spPr/>
        <p:txBody>
          <a:bodyPr/>
          <a:lstStyle>
            <a:lvl1pPr>
              <a:defRPr/>
            </a:lvl1pPr>
          </a:lstStyle>
          <a:p>
            <a:pPr>
              <a:defRPr/>
            </a:pPr>
            <a:fld id="{B34CB0B6-7364-4DB4-A9F7-5CA3967E8B6A}" type="slidenum">
              <a:rPr lang="en-IN"/>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dirty="0"/>
          </a:p>
        </p:txBody>
      </p:sp>
      <p:sp>
        <p:nvSpPr>
          <p:cNvPr id="4" name="Date Placeholder 3"/>
          <p:cNvSpPr>
            <a:spLocks noGrp="1"/>
          </p:cNvSpPr>
          <p:nvPr>
            <p:ph type="dt" sz="half" idx="10"/>
          </p:nvPr>
        </p:nvSpPr>
        <p:spPr/>
        <p:txBody>
          <a:bodyPr/>
          <a:lstStyle>
            <a:lvl1pPr>
              <a:defRPr/>
            </a:lvl1pPr>
          </a:lstStyle>
          <a:p>
            <a:pPr>
              <a:defRPr/>
            </a:pPr>
            <a:endParaRPr lang="en-IN"/>
          </a:p>
        </p:txBody>
      </p:sp>
      <p:sp>
        <p:nvSpPr>
          <p:cNvPr id="5" name="Footer Placeholder 4"/>
          <p:cNvSpPr>
            <a:spLocks noGrp="1"/>
          </p:cNvSpPr>
          <p:nvPr>
            <p:ph type="ftr" sz="quarter" idx="11"/>
          </p:nvPr>
        </p:nvSpPr>
        <p:spPr/>
        <p:txBody>
          <a:bodyPr/>
          <a:lstStyle>
            <a:lvl1pPr>
              <a:defRPr/>
            </a:lvl1pPr>
          </a:lstStyle>
          <a:p>
            <a:pPr>
              <a:defRPr/>
            </a:pPr>
            <a:r>
              <a:rPr lang="en-IN"/>
              <a:t>Tanmoy Chakraborty</a:t>
            </a:r>
            <a:endParaRPr lang="en-IN"/>
          </a:p>
        </p:txBody>
      </p:sp>
      <p:sp>
        <p:nvSpPr>
          <p:cNvPr id="6" name="Slide Number Placeholder 5"/>
          <p:cNvSpPr>
            <a:spLocks noGrp="1"/>
          </p:cNvSpPr>
          <p:nvPr>
            <p:ph type="sldNum" sz="quarter" idx="12"/>
          </p:nvPr>
        </p:nvSpPr>
        <p:spPr/>
        <p:txBody>
          <a:bodyPr/>
          <a:lstStyle>
            <a:lvl1pPr>
              <a:defRPr/>
            </a:lvl1pPr>
          </a:lstStyle>
          <a:p>
            <a:pPr>
              <a:defRPr/>
            </a:pPr>
            <a:fld id="{D9BDD956-8DD1-4712-B259-3593B02F3338}" type="slidenum">
              <a:rPr lang="en-IN"/>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endParaRPr lang="en-IN"/>
          </a:p>
        </p:txBody>
      </p:sp>
      <p:sp>
        <p:nvSpPr>
          <p:cNvPr id="5" name="Footer Placeholder 4"/>
          <p:cNvSpPr>
            <a:spLocks noGrp="1"/>
          </p:cNvSpPr>
          <p:nvPr>
            <p:ph type="ftr" sz="quarter" idx="11"/>
          </p:nvPr>
        </p:nvSpPr>
        <p:spPr/>
        <p:txBody>
          <a:bodyPr/>
          <a:lstStyle>
            <a:lvl1pPr>
              <a:defRPr/>
            </a:lvl1pPr>
          </a:lstStyle>
          <a:p>
            <a:pPr>
              <a:defRPr/>
            </a:pPr>
            <a:r>
              <a:rPr lang="en-IN"/>
              <a:t>Tanmoy Chakraborty</a:t>
            </a:r>
            <a:endParaRPr lang="en-IN"/>
          </a:p>
        </p:txBody>
      </p:sp>
      <p:sp>
        <p:nvSpPr>
          <p:cNvPr id="6" name="Slide Number Placeholder 5"/>
          <p:cNvSpPr>
            <a:spLocks noGrp="1"/>
          </p:cNvSpPr>
          <p:nvPr>
            <p:ph type="sldNum" sz="quarter" idx="12"/>
          </p:nvPr>
        </p:nvSpPr>
        <p:spPr/>
        <p:txBody>
          <a:bodyPr/>
          <a:lstStyle>
            <a:lvl1pPr>
              <a:defRPr/>
            </a:lvl1pPr>
          </a:lstStyle>
          <a:p>
            <a:pPr>
              <a:defRPr/>
            </a:pPr>
            <a:fld id="{0B031C9E-3200-47A5-BB56-B709C2FCD541}" type="slidenum">
              <a:rPr lang="en-IN"/>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3"/>
          <p:cNvSpPr>
            <a:spLocks noGrp="1"/>
          </p:cNvSpPr>
          <p:nvPr>
            <p:ph type="dt" sz="half" idx="10"/>
          </p:nvPr>
        </p:nvSpPr>
        <p:spPr/>
        <p:txBody>
          <a:bodyPr/>
          <a:lstStyle>
            <a:lvl1pPr>
              <a:defRPr/>
            </a:lvl1pPr>
          </a:lstStyle>
          <a:p>
            <a:pPr>
              <a:defRPr/>
            </a:pPr>
            <a:endParaRPr lang="en-IN"/>
          </a:p>
        </p:txBody>
      </p:sp>
      <p:sp>
        <p:nvSpPr>
          <p:cNvPr id="6" name="Footer Placeholder 4"/>
          <p:cNvSpPr>
            <a:spLocks noGrp="1"/>
          </p:cNvSpPr>
          <p:nvPr>
            <p:ph type="ftr" sz="quarter" idx="11"/>
          </p:nvPr>
        </p:nvSpPr>
        <p:spPr/>
        <p:txBody>
          <a:bodyPr/>
          <a:lstStyle>
            <a:lvl1pPr>
              <a:defRPr/>
            </a:lvl1pPr>
          </a:lstStyle>
          <a:p>
            <a:pPr>
              <a:defRPr/>
            </a:pPr>
            <a:r>
              <a:rPr lang="en-IN"/>
              <a:t>Tanmoy Chakraborty</a:t>
            </a:r>
            <a:endParaRPr lang="en-IN"/>
          </a:p>
        </p:txBody>
      </p:sp>
      <p:sp>
        <p:nvSpPr>
          <p:cNvPr id="7" name="Slide Number Placeholder 5"/>
          <p:cNvSpPr>
            <a:spLocks noGrp="1"/>
          </p:cNvSpPr>
          <p:nvPr>
            <p:ph type="sldNum" sz="quarter" idx="12"/>
          </p:nvPr>
        </p:nvSpPr>
        <p:spPr/>
        <p:txBody>
          <a:bodyPr/>
          <a:lstStyle>
            <a:lvl1pPr>
              <a:defRPr/>
            </a:lvl1pPr>
          </a:lstStyle>
          <a:p>
            <a:pPr>
              <a:defRPr/>
            </a:pPr>
            <a:fld id="{8DF98326-3654-475C-B366-15B4AF75F7C8}" type="slidenum">
              <a:rPr lang="en-IN"/>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3"/>
          <p:cNvSpPr>
            <a:spLocks noGrp="1"/>
          </p:cNvSpPr>
          <p:nvPr>
            <p:ph type="dt" sz="half" idx="10"/>
          </p:nvPr>
        </p:nvSpPr>
        <p:spPr/>
        <p:txBody>
          <a:bodyPr/>
          <a:lstStyle>
            <a:lvl1pPr>
              <a:defRPr/>
            </a:lvl1pPr>
          </a:lstStyle>
          <a:p>
            <a:pPr>
              <a:defRPr/>
            </a:pPr>
            <a:endParaRPr lang="en-IN"/>
          </a:p>
        </p:txBody>
      </p:sp>
      <p:sp>
        <p:nvSpPr>
          <p:cNvPr id="8" name="Footer Placeholder 4"/>
          <p:cNvSpPr>
            <a:spLocks noGrp="1"/>
          </p:cNvSpPr>
          <p:nvPr>
            <p:ph type="ftr" sz="quarter" idx="11"/>
          </p:nvPr>
        </p:nvSpPr>
        <p:spPr/>
        <p:txBody>
          <a:bodyPr/>
          <a:lstStyle>
            <a:lvl1pPr>
              <a:defRPr/>
            </a:lvl1pPr>
          </a:lstStyle>
          <a:p>
            <a:pPr>
              <a:defRPr/>
            </a:pPr>
            <a:r>
              <a:rPr lang="en-IN"/>
              <a:t>Tanmoy Chakraborty</a:t>
            </a:r>
            <a:endParaRPr lang="en-IN"/>
          </a:p>
        </p:txBody>
      </p:sp>
      <p:sp>
        <p:nvSpPr>
          <p:cNvPr id="9" name="Slide Number Placeholder 5"/>
          <p:cNvSpPr>
            <a:spLocks noGrp="1"/>
          </p:cNvSpPr>
          <p:nvPr>
            <p:ph type="sldNum" sz="quarter" idx="12"/>
          </p:nvPr>
        </p:nvSpPr>
        <p:spPr/>
        <p:txBody>
          <a:bodyPr/>
          <a:lstStyle>
            <a:lvl1pPr>
              <a:defRPr/>
            </a:lvl1pPr>
          </a:lstStyle>
          <a:p>
            <a:pPr>
              <a:defRPr/>
            </a:pPr>
            <a:fld id="{A8D3C3BE-6B28-4F77-9BC1-36B585999499}" type="slidenum">
              <a:rPr lang="en-IN"/>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p:cNvSpPr>
            <a:spLocks noGrp="1"/>
          </p:cNvSpPr>
          <p:nvPr>
            <p:ph type="dt" sz="half" idx="10"/>
          </p:nvPr>
        </p:nvSpPr>
        <p:spPr/>
        <p:txBody>
          <a:bodyPr/>
          <a:lstStyle>
            <a:lvl1pPr>
              <a:defRPr/>
            </a:lvl1pPr>
          </a:lstStyle>
          <a:p>
            <a:pPr>
              <a:defRPr/>
            </a:pPr>
            <a:endParaRPr lang="en-IN"/>
          </a:p>
        </p:txBody>
      </p:sp>
      <p:sp>
        <p:nvSpPr>
          <p:cNvPr id="4" name="Footer Placeholder 4"/>
          <p:cNvSpPr>
            <a:spLocks noGrp="1"/>
          </p:cNvSpPr>
          <p:nvPr>
            <p:ph type="ftr" sz="quarter" idx="11"/>
          </p:nvPr>
        </p:nvSpPr>
        <p:spPr/>
        <p:txBody>
          <a:bodyPr/>
          <a:lstStyle>
            <a:lvl1pPr>
              <a:defRPr/>
            </a:lvl1pPr>
          </a:lstStyle>
          <a:p>
            <a:pPr>
              <a:defRPr/>
            </a:pPr>
            <a:r>
              <a:rPr lang="en-IN"/>
              <a:t>Tanmoy Chakraborty</a:t>
            </a:r>
            <a:endParaRPr lang="en-IN"/>
          </a:p>
        </p:txBody>
      </p:sp>
      <p:sp>
        <p:nvSpPr>
          <p:cNvPr id="5" name="Slide Number Placeholder 5"/>
          <p:cNvSpPr>
            <a:spLocks noGrp="1"/>
          </p:cNvSpPr>
          <p:nvPr>
            <p:ph type="sldNum" sz="quarter" idx="12"/>
          </p:nvPr>
        </p:nvSpPr>
        <p:spPr/>
        <p:txBody>
          <a:bodyPr/>
          <a:lstStyle>
            <a:lvl1pPr>
              <a:defRPr/>
            </a:lvl1pPr>
          </a:lstStyle>
          <a:p>
            <a:pPr>
              <a:defRPr/>
            </a:pPr>
            <a:fld id="{6D1502C4-42E8-49E5-82F8-7C913190E775}" type="slidenum">
              <a:rPr lang="en-IN"/>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IN"/>
          </a:p>
        </p:txBody>
      </p:sp>
      <p:sp>
        <p:nvSpPr>
          <p:cNvPr id="3" name="Footer Placeholder 4"/>
          <p:cNvSpPr>
            <a:spLocks noGrp="1"/>
          </p:cNvSpPr>
          <p:nvPr>
            <p:ph type="ftr" sz="quarter" idx="11"/>
          </p:nvPr>
        </p:nvSpPr>
        <p:spPr/>
        <p:txBody>
          <a:bodyPr/>
          <a:lstStyle>
            <a:lvl1pPr>
              <a:defRPr/>
            </a:lvl1pPr>
          </a:lstStyle>
          <a:p>
            <a:pPr>
              <a:defRPr/>
            </a:pPr>
            <a:r>
              <a:rPr lang="en-IN"/>
              <a:t>Tanmoy Chakraborty</a:t>
            </a:r>
            <a:endParaRPr lang="en-IN"/>
          </a:p>
        </p:txBody>
      </p:sp>
      <p:sp>
        <p:nvSpPr>
          <p:cNvPr id="4" name="Slide Number Placeholder 5"/>
          <p:cNvSpPr>
            <a:spLocks noGrp="1"/>
          </p:cNvSpPr>
          <p:nvPr>
            <p:ph type="sldNum" sz="quarter" idx="12"/>
          </p:nvPr>
        </p:nvSpPr>
        <p:spPr/>
        <p:txBody>
          <a:bodyPr/>
          <a:lstStyle>
            <a:lvl1pPr>
              <a:defRPr/>
            </a:lvl1pPr>
          </a:lstStyle>
          <a:p>
            <a:pPr>
              <a:defRPr/>
            </a:pPr>
            <a:fld id="{095E5809-FE59-43E9-81AE-2BBC87D1BAF7}" type="slidenum">
              <a:rPr lang="en-IN"/>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endParaRPr lang="en-IN"/>
          </a:p>
        </p:txBody>
      </p:sp>
      <p:sp>
        <p:nvSpPr>
          <p:cNvPr id="6" name="Footer Placeholder 4"/>
          <p:cNvSpPr>
            <a:spLocks noGrp="1"/>
          </p:cNvSpPr>
          <p:nvPr>
            <p:ph type="ftr" sz="quarter" idx="11"/>
          </p:nvPr>
        </p:nvSpPr>
        <p:spPr/>
        <p:txBody>
          <a:bodyPr/>
          <a:lstStyle>
            <a:lvl1pPr>
              <a:defRPr/>
            </a:lvl1pPr>
          </a:lstStyle>
          <a:p>
            <a:pPr>
              <a:defRPr/>
            </a:pPr>
            <a:r>
              <a:rPr lang="en-IN"/>
              <a:t>Tanmoy Chakraborty</a:t>
            </a:r>
            <a:endParaRPr lang="en-IN"/>
          </a:p>
        </p:txBody>
      </p:sp>
      <p:sp>
        <p:nvSpPr>
          <p:cNvPr id="7" name="Slide Number Placeholder 5"/>
          <p:cNvSpPr>
            <a:spLocks noGrp="1"/>
          </p:cNvSpPr>
          <p:nvPr>
            <p:ph type="sldNum" sz="quarter" idx="12"/>
          </p:nvPr>
        </p:nvSpPr>
        <p:spPr/>
        <p:txBody>
          <a:bodyPr/>
          <a:lstStyle>
            <a:lvl1pPr>
              <a:defRPr/>
            </a:lvl1pPr>
          </a:lstStyle>
          <a:p>
            <a:pPr>
              <a:defRPr/>
            </a:pPr>
            <a:fld id="{CDB957E9-77A8-4507-8FE3-DCE89B0FBE2F}" type="slidenum">
              <a:rPr lang="en-IN"/>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endParaRPr lang="en-IN"/>
          </a:p>
        </p:txBody>
      </p:sp>
      <p:sp>
        <p:nvSpPr>
          <p:cNvPr id="6" name="Footer Placeholder 4"/>
          <p:cNvSpPr>
            <a:spLocks noGrp="1"/>
          </p:cNvSpPr>
          <p:nvPr>
            <p:ph type="ftr" sz="quarter" idx="11"/>
          </p:nvPr>
        </p:nvSpPr>
        <p:spPr/>
        <p:txBody>
          <a:bodyPr/>
          <a:lstStyle>
            <a:lvl1pPr>
              <a:defRPr/>
            </a:lvl1pPr>
          </a:lstStyle>
          <a:p>
            <a:pPr>
              <a:defRPr/>
            </a:pPr>
            <a:r>
              <a:rPr lang="en-IN"/>
              <a:t>Tanmoy Chakraborty</a:t>
            </a:r>
            <a:endParaRPr lang="en-IN"/>
          </a:p>
        </p:txBody>
      </p:sp>
      <p:sp>
        <p:nvSpPr>
          <p:cNvPr id="7" name="Slide Number Placeholder 5"/>
          <p:cNvSpPr>
            <a:spLocks noGrp="1"/>
          </p:cNvSpPr>
          <p:nvPr>
            <p:ph type="sldNum" sz="quarter" idx="12"/>
          </p:nvPr>
        </p:nvSpPr>
        <p:spPr/>
        <p:txBody>
          <a:bodyPr/>
          <a:lstStyle>
            <a:lvl1pPr>
              <a:defRPr/>
            </a:lvl1pPr>
          </a:lstStyle>
          <a:p>
            <a:pPr>
              <a:defRPr/>
            </a:pPr>
            <a:fld id="{DB437BE7-9AB5-4154-9CBF-7369B0B62339}" type="slidenum">
              <a:rPr lang="en-IN"/>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endParaRPr lang="en-IN"/>
          </a:p>
        </p:txBody>
      </p:sp>
      <p:sp>
        <p:nvSpPr>
          <p:cNvPr id="5" name="Footer Placeholder 4"/>
          <p:cNvSpPr>
            <a:spLocks noGrp="1"/>
          </p:cNvSpPr>
          <p:nvPr>
            <p:ph type="ftr" sz="quarter" idx="11"/>
          </p:nvPr>
        </p:nvSpPr>
        <p:spPr/>
        <p:txBody>
          <a:bodyPr/>
          <a:lstStyle>
            <a:lvl1pPr>
              <a:defRPr/>
            </a:lvl1pPr>
          </a:lstStyle>
          <a:p>
            <a:pPr>
              <a:defRPr/>
            </a:pPr>
            <a:r>
              <a:rPr lang="en-IN"/>
              <a:t>Tanmoy Chakraborty</a:t>
            </a:r>
            <a:endParaRPr lang="en-IN"/>
          </a:p>
        </p:txBody>
      </p:sp>
      <p:sp>
        <p:nvSpPr>
          <p:cNvPr id="6" name="Slide Number Placeholder 5"/>
          <p:cNvSpPr>
            <a:spLocks noGrp="1"/>
          </p:cNvSpPr>
          <p:nvPr>
            <p:ph type="sldNum" sz="quarter" idx="12"/>
          </p:nvPr>
        </p:nvSpPr>
        <p:spPr/>
        <p:txBody>
          <a:bodyPr/>
          <a:lstStyle>
            <a:lvl1pPr>
              <a:defRPr/>
            </a:lvl1pPr>
          </a:lstStyle>
          <a:p>
            <a:pPr>
              <a:defRPr/>
            </a:pPr>
            <a:fld id="{57A4C49C-9E72-4217-A6A5-3C8AF3F4E478}" type="slidenum">
              <a:rPr lang="en-IN"/>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lvl1pPr>
              <a:defRPr/>
            </a:lvl1pPr>
          </a:lstStyle>
          <a:p>
            <a:pPr>
              <a:defRPr/>
            </a:pPr>
            <a:endParaRPr lang="en-IN"/>
          </a:p>
        </p:txBody>
      </p:sp>
      <p:sp>
        <p:nvSpPr>
          <p:cNvPr id="5" name="Footer Placeholder 4"/>
          <p:cNvSpPr>
            <a:spLocks noGrp="1"/>
          </p:cNvSpPr>
          <p:nvPr>
            <p:ph type="ftr" sz="quarter" idx="11"/>
          </p:nvPr>
        </p:nvSpPr>
        <p:spPr/>
        <p:txBody>
          <a:bodyPr/>
          <a:lstStyle>
            <a:lvl1pPr>
              <a:defRPr/>
            </a:lvl1pPr>
          </a:lstStyle>
          <a:p>
            <a:pPr>
              <a:defRPr/>
            </a:pPr>
            <a:r>
              <a:rPr lang="en-IN"/>
              <a:t>Tanmoy Chakraborty</a:t>
            </a:r>
            <a:endParaRPr lang="en-IN"/>
          </a:p>
        </p:txBody>
      </p:sp>
      <p:sp>
        <p:nvSpPr>
          <p:cNvPr id="6" name="Slide Number Placeholder 5"/>
          <p:cNvSpPr>
            <a:spLocks noGrp="1"/>
          </p:cNvSpPr>
          <p:nvPr>
            <p:ph type="sldNum" sz="quarter" idx="12"/>
          </p:nvPr>
        </p:nvSpPr>
        <p:spPr/>
        <p:txBody>
          <a:bodyPr/>
          <a:lstStyle>
            <a:lvl1pPr>
              <a:defRPr/>
            </a:lvl1pPr>
          </a:lstStyle>
          <a:p>
            <a:pPr>
              <a:defRPr/>
            </a:pPr>
            <a:fld id="{3B05A166-174A-49B9-A1F4-DF4C701D773D}" type="slidenum">
              <a:rPr lang="en-IN"/>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en-US"/>
              <a:t>Click to edit Master title style</a:t>
            </a:r>
            <a:endParaRPr lang="en-IN" altLang="en-US"/>
          </a:p>
        </p:txBody>
      </p:sp>
      <p:sp>
        <p:nvSpPr>
          <p:cNvPr id="2051"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en-US"/>
              <a:t>Click to edit Master text styles</a:t>
            </a:r>
            <a:endParaRPr lang="en-US" altLang="en-US"/>
          </a:p>
          <a:p>
            <a:pPr lvl="1"/>
            <a:r>
              <a:rPr lang="en-US" altLang="en-US"/>
              <a:t>Second level</a:t>
            </a:r>
            <a:endParaRPr lang="en-US" altLang="en-US"/>
          </a:p>
          <a:p>
            <a:pPr lvl="2"/>
            <a:r>
              <a:rPr lang="en-US" altLang="en-US"/>
              <a:t>Third level</a:t>
            </a:r>
            <a:endParaRPr lang="en-US" altLang="en-US"/>
          </a:p>
          <a:p>
            <a:pPr lvl="3"/>
            <a:r>
              <a:rPr lang="en-US" altLang="en-US"/>
              <a:t>Fourth level</a:t>
            </a:r>
            <a:endParaRPr lang="en-US" altLang="en-US"/>
          </a:p>
          <a:p>
            <a:pPr lvl="4"/>
            <a:r>
              <a:rPr lang="en-US" altLang="en-US"/>
              <a:t>Fifth level</a:t>
            </a:r>
            <a:endParaRPr lang="en-IN" alt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r>
              <a:rPr lang="en-IN" dirty="0"/>
              <a:t>Gaurav Pandey</a:t>
            </a:r>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A65F4845-0A4E-472D-939A-68F3AEF3EF26}" type="slidenum">
              <a:rPr lang="en-IN"/>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fontAlgn="base" hangingPunct="1">
        <a:lnSpc>
          <a:spcPct val="90000"/>
        </a:lnSpc>
        <a:spcBef>
          <a:spcPct val="0"/>
        </a:spcBef>
        <a:spcAft>
          <a:spcPct val="0"/>
        </a:spcAft>
        <a:defRPr sz="4000" kern="1200">
          <a:solidFill>
            <a:schemeClr val="accent1"/>
          </a:solidFill>
          <a:latin typeface="+mj-lt"/>
          <a:ea typeface="+mj-ea"/>
          <a:cs typeface="+mj-cs"/>
        </a:defRPr>
      </a:lvl1pPr>
      <a:lvl2pPr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2pPr>
      <a:lvl3pPr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3pPr>
      <a:lvl4pPr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4pPr>
      <a:lvl5pPr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5pPr>
      <a:lvl6pPr marL="457200"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6pPr>
      <a:lvl7pPr marL="914400"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7pPr>
      <a:lvl8pPr marL="1371600"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8pPr>
      <a:lvl9pPr marL="1828800" algn="l" rtl="0" eaLnBrk="1" fontAlgn="base" hangingPunct="1">
        <a:lnSpc>
          <a:spcPct val="90000"/>
        </a:lnSpc>
        <a:spcBef>
          <a:spcPct val="0"/>
        </a:spcBef>
        <a:spcAft>
          <a:spcPct val="0"/>
        </a:spcAft>
        <a:defRPr sz="4000">
          <a:solidFill>
            <a:schemeClr val="accent1"/>
          </a:solidFill>
          <a:latin typeface="Aptos Display" panose="020B0004020202020204" pitchFamily="34" charset="0"/>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sz="2400" kern="1200">
          <a:solidFill>
            <a:schemeClr val="tx1"/>
          </a:solidFill>
          <a:latin typeface="+mj-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2000" kern="1200">
          <a:solidFill>
            <a:schemeClr val="tx1"/>
          </a:solidFill>
          <a:latin typeface="+mj-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j-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sv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7" Type="http://schemas.openxmlformats.org/officeDocument/2006/relationships/slideLayout" Target="../slideLayouts/slideLayout2.xml"/><Relationship Id="rId16" Type="http://schemas.openxmlformats.org/officeDocument/2006/relationships/image" Target="../media/image18.png"/><Relationship Id="rId15" Type="http://schemas.openxmlformats.org/officeDocument/2006/relationships/image" Target="../media/image17.png"/><Relationship Id="rId14" Type="http://schemas.openxmlformats.org/officeDocument/2006/relationships/image" Target="../media/image16.png"/><Relationship Id="rId13" Type="http://schemas.openxmlformats.org/officeDocument/2006/relationships/image" Target="../media/image15.png"/><Relationship Id="rId12" Type="http://schemas.openxmlformats.org/officeDocument/2006/relationships/image" Target="../media/image14.png"/><Relationship Id="rId11" Type="http://schemas.openxmlformats.org/officeDocument/2006/relationships/image" Target="../media/image13.png"/><Relationship Id="rId10" Type="http://schemas.openxmlformats.org/officeDocument/2006/relationships/image" Target="../media/image12.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image" Target="../media/image11.png"/><Relationship Id="rId8" Type="http://schemas.openxmlformats.org/officeDocument/2006/relationships/image" Target="../media/image10.png"/><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2" Type="http://schemas.openxmlformats.org/officeDocument/2006/relationships/slideLayout" Target="../slideLayouts/slideLayout2.xml"/><Relationship Id="rId21" Type="http://schemas.openxmlformats.org/officeDocument/2006/relationships/image" Target="../media/image25.png"/><Relationship Id="rId20" Type="http://schemas.openxmlformats.org/officeDocument/2006/relationships/image" Target="../media/image24.png"/><Relationship Id="rId2" Type="http://schemas.openxmlformats.org/officeDocument/2006/relationships/image" Target="../media/image4.png"/><Relationship Id="rId19" Type="http://schemas.openxmlformats.org/officeDocument/2006/relationships/image" Target="../media/image23.png"/><Relationship Id="rId18" Type="http://schemas.openxmlformats.org/officeDocument/2006/relationships/image" Target="../media/image22.png"/><Relationship Id="rId17" Type="http://schemas.openxmlformats.org/officeDocument/2006/relationships/image" Target="../media/image21.png"/><Relationship Id="rId16" Type="http://schemas.openxmlformats.org/officeDocument/2006/relationships/image" Target="../media/image20.png"/><Relationship Id="rId15" Type="http://schemas.openxmlformats.org/officeDocument/2006/relationships/image" Target="../media/image19.png"/><Relationship Id="rId14" Type="http://schemas.openxmlformats.org/officeDocument/2006/relationships/image" Target="../media/image16.png"/><Relationship Id="rId13" Type="http://schemas.openxmlformats.org/officeDocument/2006/relationships/image" Target="../media/image15.png"/><Relationship Id="rId12" Type="http://schemas.openxmlformats.org/officeDocument/2006/relationships/image" Target="../media/image14.png"/><Relationship Id="rId11" Type="http://schemas.openxmlformats.org/officeDocument/2006/relationships/image" Target="../media/image13.png"/><Relationship Id="rId10" Type="http://schemas.openxmlformats.org/officeDocument/2006/relationships/image" Target="../media/image12.png"/><Relationship Id="rId1"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11.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microsoft.com/office/2007/relationships/diagramDrawing" Target="../diagrams/drawing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3" Type="http://schemas.openxmlformats.org/officeDocument/2006/relationships/diagramData" Target="../diagrams/data2.xml"/><Relationship Id="rId2" Type="http://schemas.openxmlformats.org/officeDocument/2006/relationships/image" Target="../media/image27.png"/><Relationship Id="rId1" Type="http://schemas.openxmlformats.org/officeDocument/2006/relationships/hyperlink" Target="https://arxiv.org/abs/2204.07705" TargetMode="External"/></Relationships>
</file>

<file path=ppt/slides/_rels/slide1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8.png"/><Relationship Id="rId1" Type="http://schemas.openxmlformats.org/officeDocument/2006/relationships/hyperlink" Target="https://arxiv.org/abs/2212.10560" TargetMode="Externa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svg"/><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hyperlink" Target="https://arxiv.org/abs/2212.10560"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1.png"/><Relationship Id="rId1" Type="http://schemas.openxmlformats.org/officeDocument/2006/relationships/hyperlink" Target="https://arxiv.org/abs/2212.10560"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21.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hyperlink" Target="https://arxiv.org/abs/2304.12244"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36.png"/><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33.pn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5.xml"/><Relationship Id="rId4" Type="http://schemas.openxmlformats.org/officeDocument/2006/relationships/diagramColors" Target="../diagrams/colors5.xml"/><Relationship Id="rId3" Type="http://schemas.openxmlformats.org/officeDocument/2006/relationships/diagramQuickStyle" Target="../diagrams/quickStyle5.xml"/><Relationship Id="rId2" Type="http://schemas.openxmlformats.org/officeDocument/2006/relationships/diagramLayout" Target="../diagrams/layout5.xml"/><Relationship Id="rId1" Type="http://schemas.openxmlformats.org/officeDocument/2006/relationships/diagramData" Target="../diagrams/data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30.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6.xml"/><Relationship Id="rId4" Type="http://schemas.openxmlformats.org/officeDocument/2006/relationships/diagramColors" Target="../diagrams/colors6.xml"/><Relationship Id="rId3" Type="http://schemas.openxmlformats.org/officeDocument/2006/relationships/diagramQuickStyle" Target="../diagrams/quickStyle6.xml"/><Relationship Id="rId2" Type="http://schemas.openxmlformats.org/officeDocument/2006/relationships/diagramLayout" Target="../diagrams/layout6.xml"/><Relationship Id="rId1" Type="http://schemas.openxmlformats.org/officeDocument/2006/relationships/diagramData" Target="../diagrams/data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84514" y="4136449"/>
            <a:ext cx="1022971" cy="1022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txBox="1"/>
          <p:nvPr/>
        </p:nvSpPr>
        <p:spPr>
          <a:xfrm>
            <a:off x="0" y="360924"/>
            <a:ext cx="12192000" cy="2243022"/>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base" latinLnBrk="0" hangingPunct="1">
              <a:lnSpc>
                <a:spcPct val="90000"/>
              </a:lnSpc>
              <a:spcBef>
                <a:spcPct val="0"/>
              </a:spcBef>
              <a:spcAft>
                <a:spcPct val="0"/>
              </a:spcAft>
              <a:buClrTx/>
              <a:buSzTx/>
              <a:buFontTx/>
              <a:buNone/>
              <a:defRPr/>
            </a:pPr>
            <a:r>
              <a:rPr kumimoji="0" lang="en-US" sz="6600" b="0" i="0" u="none" strike="noStrike" kern="1200" cap="none" spc="0" normalizeH="0" baseline="0" noProof="0" dirty="0">
                <a:ln>
                  <a:noFill/>
                </a:ln>
                <a:solidFill>
                  <a:srgbClr val="000000"/>
                </a:solidFill>
                <a:effectLst/>
                <a:uLnTx/>
                <a:uFillTx/>
                <a:latin typeface="Aptos Display"/>
                <a:ea typeface="+mj-ea"/>
                <a:cs typeface="+mj-cs"/>
              </a:rPr>
              <a:t>Instruction Tuning</a:t>
            </a:r>
            <a:endParaRPr kumimoji="0" lang="en-US" sz="6600" b="0" i="0" u="none" strike="noStrike" kern="1200" cap="none" spc="0" normalizeH="0" baseline="0" noProof="0" dirty="0">
              <a:ln>
                <a:noFill/>
              </a:ln>
              <a:solidFill>
                <a:srgbClr val="000000"/>
              </a:solidFill>
              <a:effectLst/>
              <a:uLnTx/>
              <a:uFillTx/>
              <a:latin typeface="Aptos Display"/>
              <a:ea typeface="+mj-ea"/>
              <a:cs typeface="+mj-cs"/>
            </a:endParaRPr>
          </a:p>
        </p:txBody>
      </p:sp>
      <p:sp>
        <p:nvSpPr>
          <p:cNvPr id="4" name="Title 1"/>
          <p:cNvSpPr>
            <a:spLocks noGrp="1"/>
          </p:cNvSpPr>
          <p:nvPr>
            <p:ph type="ctrTitle"/>
          </p:nvPr>
        </p:nvSpPr>
        <p:spPr>
          <a:xfrm>
            <a:off x="2314296" y="2824506"/>
            <a:ext cx="7563408" cy="1091382"/>
          </a:xfrm>
        </p:spPr>
        <p:txBody>
          <a:bodyPr anchor="ctr">
            <a:noAutofit/>
          </a:bodyPr>
          <a:lstStyle/>
          <a:p>
            <a:pPr>
              <a:lnSpc>
                <a:spcPct val="150000"/>
              </a:lnSpc>
            </a:pPr>
            <a:r>
              <a:rPr lang="en-US" sz="2400" dirty="0"/>
              <a:t>Large Language Models: Introduction and Recent Advances</a:t>
            </a:r>
            <a:br>
              <a:rPr lang="en-US" sz="2400" dirty="0"/>
            </a:br>
            <a:r>
              <a:rPr lang="en-US" sz="2000" dirty="0">
                <a:solidFill>
                  <a:schemeClr val="tx1">
                    <a:lumMod val="50000"/>
                    <a:lumOff val="50000"/>
                  </a:schemeClr>
                </a:solidFill>
              </a:rPr>
              <a:t>ELL881 · AIL821</a:t>
            </a:r>
            <a:endParaRPr lang="en-US" sz="2000" dirty="0">
              <a:solidFill>
                <a:schemeClr val="tx1">
                  <a:lumMod val="50000"/>
                  <a:lumOff val="50000"/>
                </a:schemeClr>
              </a:solidFill>
            </a:endParaRPr>
          </a:p>
        </p:txBody>
      </p:sp>
      <p:sp>
        <p:nvSpPr>
          <p:cNvPr id="2" name="TextBox 6"/>
          <p:cNvSpPr txBox="1">
            <a:spLocks noChangeArrowheads="1"/>
          </p:cNvSpPr>
          <p:nvPr/>
        </p:nvSpPr>
        <p:spPr bwMode="auto">
          <a:xfrm>
            <a:off x="3890962" y="5379981"/>
            <a:ext cx="4410075"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a:lnSpc>
                <a:spcPct val="90000"/>
              </a:lnSpc>
              <a:spcBef>
                <a:spcPts val="1000"/>
              </a:spcBef>
              <a:buFont typeface="Arial" panose="020B0604020202020204" pitchFamily="34" charset="0"/>
              <a:buChar char="•"/>
              <a:defRPr sz="2400">
                <a:solidFill>
                  <a:schemeClr val="tx1"/>
                </a:solidFill>
                <a:latin typeface="Aptos Display" panose="020B0004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Aptos Display" panose="020B0004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Aptos Display" panose="020B0004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Aptos Display" panose="020B0004020202020204" pitchFamily="34" charset="0"/>
              </a:defRPr>
            </a:lvl4pPr>
            <a:lvl5pPr marL="2057400" indent="-228600">
              <a:lnSpc>
                <a:spcPct val="90000"/>
              </a:lnSpc>
              <a:spcBef>
                <a:spcPts val="500"/>
              </a:spcBef>
              <a:buFont typeface="Arial" panose="020B0604020202020204" pitchFamily="34" charset="0"/>
              <a:buChar char="•"/>
              <a:defRPr sz="1400">
                <a:solidFill>
                  <a:schemeClr val="tx1"/>
                </a:solidFill>
                <a:latin typeface="Aptos Display" panose="020B0004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Aptos Display" panose="020B0004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Aptos Display" panose="020B0004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Aptos Display" panose="020B0004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400">
                <a:solidFill>
                  <a:schemeClr val="tx1"/>
                </a:solidFill>
                <a:latin typeface="Aptos Display" panose="020B0004020202020204" pitchFamily="34" charset="0"/>
              </a:defRPr>
            </a:lvl9pPr>
          </a:lstStyle>
          <a:p>
            <a:pPr algn="ctr">
              <a:lnSpc>
                <a:spcPct val="100000"/>
              </a:lnSpc>
              <a:spcBef>
                <a:spcPct val="0"/>
              </a:spcBef>
              <a:buFontTx/>
              <a:buNone/>
            </a:pPr>
            <a:r>
              <a:rPr lang="en-US" altLang="en-US" sz="2000" dirty="0">
                <a:solidFill>
                  <a:srgbClr val="0000FF"/>
                </a:solidFill>
                <a:latin typeface="Aptos Display"/>
              </a:rPr>
              <a:t>Gaurav Pandey</a:t>
            </a:r>
            <a:endParaRPr lang="en-US" altLang="en-US" sz="2000" dirty="0">
              <a:solidFill>
                <a:srgbClr val="0000FF"/>
              </a:solidFill>
              <a:latin typeface="Aptos Display"/>
            </a:endParaRPr>
          </a:p>
          <a:p>
            <a:pPr algn="ctr">
              <a:lnSpc>
                <a:spcPct val="100000"/>
              </a:lnSpc>
              <a:spcBef>
                <a:spcPct val="0"/>
              </a:spcBef>
              <a:buFontTx/>
              <a:buNone/>
            </a:pPr>
            <a:r>
              <a:rPr lang="en-US" altLang="en-US" sz="2000" dirty="0">
                <a:solidFill>
                  <a:srgbClr val="0000FF"/>
                </a:solidFill>
                <a:latin typeface="Aptos Display"/>
              </a:rPr>
              <a:t>Research Scientist, IBM Research</a:t>
            </a:r>
            <a:endParaRPr lang="en-US" altLang="en-US" sz="2000" dirty="0">
              <a:solidFill>
                <a:srgbClr val="0000FF"/>
              </a:solidFill>
              <a:latin typeface="Aptos Display"/>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lnSpc>
                <a:spcPct val="100000"/>
              </a:lnSpc>
              <a:buNone/>
            </a:pPr>
            <a:r>
              <a:rPr lang="en-US" sz="4000" dirty="0"/>
              <a:t>How to make ChatGPT ?</a:t>
            </a:r>
            <a:endParaRPr lang="en-US" sz="4000" dirty="0"/>
          </a:p>
        </p:txBody>
      </p:sp>
      <p:sp>
        <p:nvSpPr>
          <p:cNvPr id="3" name="Content Placeholder 2"/>
          <p:cNvSpPr>
            <a:spLocks noGrp="1"/>
          </p:cNvSpPr>
          <p:nvPr>
            <p:ph idx="1"/>
          </p:nvPr>
        </p:nvSpPr>
        <p:spPr>
          <a:xfrm>
            <a:off x="441326" y="1584325"/>
            <a:ext cx="11307762" cy="4351337"/>
          </a:xfrm>
        </p:spPr>
        <p:txBody>
          <a:bodyPr/>
          <a:lstStyle/>
          <a:p>
            <a:pPr>
              <a:lnSpc>
                <a:spcPct val="100000"/>
              </a:lnSpc>
            </a:pPr>
            <a:r>
              <a:rPr lang="en-US" dirty="0">
                <a:solidFill>
                  <a:schemeClr val="accent5"/>
                </a:solidFill>
              </a:rPr>
              <a:t>Pre-Training</a:t>
            </a:r>
            <a:endParaRPr lang="en-US" dirty="0">
              <a:solidFill>
                <a:schemeClr val="accent5"/>
              </a:solidFill>
            </a:endParaRPr>
          </a:p>
          <a:p>
            <a:pPr lvl="1">
              <a:lnSpc>
                <a:spcPct val="100000"/>
              </a:lnSpc>
            </a:pPr>
            <a:r>
              <a:rPr lang="en-US" dirty="0">
                <a:solidFill>
                  <a:schemeClr val="accent1">
                    <a:lumMod val="50000"/>
                  </a:schemeClr>
                </a:solidFill>
              </a:rPr>
              <a:t>This is the point where most of the reasoning power is infused in the model.</a:t>
            </a:r>
            <a:endParaRPr lang="en-US" dirty="0">
              <a:solidFill>
                <a:schemeClr val="accent1">
                  <a:lumMod val="50000"/>
                </a:schemeClr>
              </a:solidFill>
            </a:endParaRPr>
          </a:p>
          <a:p>
            <a:pPr lvl="1">
              <a:lnSpc>
                <a:spcPct val="100000"/>
              </a:lnSpc>
            </a:pPr>
            <a:r>
              <a:rPr lang="en-US" dirty="0">
                <a:solidFill>
                  <a:schemeClr val="accent1">
                    <a:lumMod val="50000"/>
                  </a:schemeClr>
                </a:solidFill>
              </a:rPr>
              <a:t>Data – Billions of tokens of unstructured text from the internet</a:t>
            </a:r>
            <a:endParaRPr lang="en-US" dirty="0">
              <a:solidFill>
                <a:schemeClr val="accent1">
                  <a:lumMod val="50000"/>
                </a:schemeClr>
              </a:solidFill>
            </a:endParaRPr>
          </a:p>
          <a:p>
            <a:pPr>
              <a:lnSpc>
                <a:spcPct val="100000"/>
              </a:lnSpc>
            </a:pPr>
            <a:r>
              <a:rPr lang="en-US" dirty="0">
                <a:solidFill>
                  <a:schemeClr val="accent5"/>
                </a:solidFill>
              </a:rPr>
              <a:t>Instruction Tuning</a:t>
            </a:r>
            <a:endParaRPr lang="en-US" dirty="0">
              <a:solidFill>
                <a:schemeClr val="accent5"/>
              </a:solidFill>
            </a:endParaRPr>
          </a:p>
          <a:p>
            <a:pPr lvl="1">
              <a:lnSpc>
                <a:spcPct val="100000"/>
              </a:lnSpc>
            </a:pPr>
            <a:r>
              <a:rPr lang="en-US" dirty="0">
                <a:solidFill>
                  <a:schemeClr val="accent1">
                    <a:lumMod val="50000"/>
                  </a:schemeClr>
                </a:solidFill>
              </a:rPr>
              <a:t>Trains models to follow natural language instructions</a:t>
            </a:r>
            <a:endParaRPr lang="en-US" dirty="0">
              <a:solidFill>
                <a:schemeClr val="accent1">
                  <a:lumMod val="50000"/>
                </a:schemeClr>
              </a:solidFill>
            </a:endParaRPr>
          </a:p>
          <a:p>
            <a:pPr lvl="1">
              <a:lnSpc>
                <a:spcPct val="100000"/>
              </a:lnSpc>
            </a:pPr>
            <a:r>
              <a:rPr lang="en-US" dirty="0">
                <a:solidFill>
                  <a:schemeClr val="accent1">
                    <a:lumMod val="50000"/>
                  </a:schemeClr>
                </a:solidFill>
              </a:rPr>
              <a:t>Data – Several thousand (Task/Instruction, Output) examples</a:t>
            </a:r>
            <a:endParaRPr lang="en-US" dirty="0">
              <a:solidFill>
                <a:schemeClr val="accent1">
                  <a:lumMod val="50000"/>
                </a:schemeClr>
              </a:solidFill>
            </a:endParaRPr>
          </a:p>
          <a:p>
            <a:pPr>
              <a:lnSpc>
                <a:spcPct val="100000"/>
              </a:lnSpc>
            </a:pPr>
            <a:r>
              <a:rPr lang="en-US" dirty="0">
                <a:solidFill>
                  <a:schemeClr val="accent5"/>
                </a:solidFill>
              </a:rPr>
              <a:t>Reinforcement Learning from Human Feedback</a:t>
            </a:r>
            <a:endParaRPr lang="en-US" dirty="0">
              <a:solidFill>
                <a:schemeClr val="accent5"/>
              </a:solidFill>
            </a:endParaRPr>
          </a:p>
          <a:p>
            <a:pPr lvl="1">
              <a:lnSpc>
                <a:spcPct val="100000"/>
              </a:lnSpc>
            </a:pPr>
            <a:r>
              <a:rPr lang="en-US" dirty="0">
                <a:solidFill>
                  <a:schemeClr val="accent1">
                    <a:lumMod val="50000"/>
                  </a:schemeClr>
                </a:solidFill>
              </a:rPr>
              <a:t>Show the output(s) generated by models to humans/reward model</a:t>
            </a:r>
            <a:endParaRPr lang="en-US" dirty="0">
              <a:solidFill>
                <a:schemeClr val="accent1">
                  <a:lumMod val="50000"/>
                </a:schemeClr>
              </a:solidFill>
            </a:endParaRPr>
          </a:p>
          <a:p>
            <a:pPr lvl="1">
              <a:lnSpc>
                <a:spcPct val="100000"/>
              </a:lnSpc>
            </a:pPr>
            <a:r>
              <a:rPr lang="en-US" dirty="0">
                <a:solidFill>
                  <a:schemeClr val="accent1">
                    <a:lumMod val="50000"/>
                  </a:schemeClr>
                </a:solidFill>
              </a:rPr>
              <a:t>Collect feedback in the form of preferences.</a:t>
            </a:r>
            <a:endParaRPr lang="en-US" dirty="0">
              <a:solidFill>
                <a:schemeClr val="accent1">
                  <a:lumMod val="50000"/>
                </a:schemeClr>
              </a:solidFill>
            </a:endParaRPr>
          </a:p>
          <a:p>
            <a:pPr lvl="1">
              <a:lnSpc>
                <a:spcPct val="100000"/>
              </a:lnSpc>
            </a:pPr>
            <a:r>
              <a:rPr lang="en-US" dirty="0">
                <a:solidFill>
                  <a:schemeClr val="accent1">
                    <a:lumMod val="50000"/>
                  </a:schemeClr>
                </a:solidFill>
              </a:rPr>
              <a:t>Use these preferences to further improve the model</a:t>
            </a:r>
            <a:endParaRPr lang="en-US" dirty="0">
              <a:solidFill>
                <a:schemeClr val="accent1">
                  <a:lumMod val="50000"/>
                </a:schemeClr>
              </a:solidFill>
            </a:endParaRPr>
          </a:p>
          <a:p>
            <a:pPr lvl="1">
              <a:lnSpc>
                <a:spcPct val="100000"/>
              </a:lnSpc>
            </a:pPr>
            <a:r>
              <a:rPr lang="en-US" dirty="0">
                <a:solidFill>
                  <a:schemeClr val="accent1">
                    <a:lumMod val="50000"/>
                  </a:schemeClr>
                </a:solidFill>
              </a:rPr>
              <a:t>Data – Several thousand (Task, instruction) pairs and a reward model/</a:t>
            </a:r>
            <a:br>
              <a:rPr lang="en-US" dirty="0">
                <a:solidFill>
                  <a:schemeClr val="accent1">
                    <a:lumMod val="50000"/>
                  </a:schemeClr>
                </a:solidFill>
              </a:rPr>
            </a:br>
            <a:r>
              <a:rPr lang="en-US" dirty="0">
                <a:solidFill>
                  <a:schemeClr val="accent1">
                    <a:lumMod val="50000"/>
                  </a:schemeClr>
                </a:solidFill>
              </a:rPr>
              <a:t>preference model/human</a:t>
            </a:r>
            <a:endParaRPr lang="en-US" dirty="0">
              <a:solidFill>
                <a:schemeClr val="accent1">
                  <a:lumMod val="50000"/>
                </a:schemeClr>
              </a:solidFill>
            </a:endParaRPr>
          </a:p>
        </p:txBody>
      </p:sp>
      <p:sp>
        <p:nvSpPr>
          <p:cNvPr id="4" name="Rectangle 3"/>
          <p:cNvSpPr/>
          <p:nvPr/>
        </p:nvSpPr>
        <p:spPr>
          <a:xfrm>
            <a:off x="441325" y="2854460"/>
            <a:ext cx="8548577" cy="1265201"/>
          </a:xfrm>
          <a:prstGeom prst="rect">
            <a:avLst/>
          </a:prstGeom>
          <a:solidFill>
            <a:schemeClr val="accent1">
              <a:lumMod val="20000"/>
              <a:lumOff val="80000"/>
              <a:alpha val="2551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marL="0" indent="0">
              <a:lnSpc>
                <a:spcPct val="100000"/>
              </a:lnSpc>
              <a:buNone/>
            </a:pPr>
            <a:r>
              <a:rPr lang="en-US" sz="4000" dirty="0"/>
              <a:t>How to make ChatGPT ?</a:t>
            </a:r>
            <a:endParaRPr lang="en-US" sz="4000" dirty="0"/>
          </a:p>
        </p:txBody>
      </p:sp>
      <p:sp>
        <p:nvSpPr>
          <p:cNvPr id="3" name="Content Placeholder 2"/>
          <p:cNvSpPr>
            <a:spLocks noGrp="1"/>
          </p:cNvSpPr>
          <p:nvPr>
            <p:ph idx="1"/>
          </p:nvPr>
        </p:nvSpPr>
        <p:spPr>
          <a:xfrm>
            <a:off x="441326" y="1584325"/>
            <a:ext cx="11307762" cy="4351337"/>
          </a:xfrm>
        </p:spPr>
        <p:txBody>
          <a:bodyPr/>
          <a:lstStyle/>
          <a:p>
            <a:pPr>
              <a:lnSpc>
                <a:spcPct val="100000"/>
              </a:lnSpc>
            </a:pPr>
            <a:r>
              <a:rPr lang="en-US" dirty="0">
                <a:solidFill>
                  <a:schemeClr val="accent5"/>
                </a:solidFill>
              </a:rPr>
              <a:t>Pre-Training</a:t>
            </a:r>
            <a:endParaRPr lang="en-US" dirty="0">
              <a:solidFill>
                <a:schemeClr val="accent5"/>
              </a:solidFill>
            </a:endParaRPr>
          </a:p>
          <a:p>
            <a:pPr lvl="1">
              <a:lnSpc>
                <a:spcPct val="100000"/>
              </a:lnSpc>
            </a:pPr>
            <a:r>
              <a:rPr lang="en-US" dirty="0">
                <a:solidFill>
                  <a:schemeClr val="accent1">
                    <a:lumMod val="50000"/>
                  </a:schemeClr>
                </a:solidFill>
              </a:rPr>
              <a:t>This is the point where most of the reasoning power is infused in the model.</a:t>
            </a:r>
            <a:endParaRPr lang="en-US" dirty="0">
              <a:solidFill>
                <a:schemeClr val="accent1">
                  <a:lumMod val="50000"/>
                </a:schemeClr>
              </a:solidFill>
            </a:endParaRPr>
          </a:p>
          <a:p>
            <a:pPr lvl="1">
              <a:lnSpc>
                <a:spcPct val="100000"/>
              </a:lnSpc>
            </a:pPr>
            <a:r>
              <a:rPr lang="en-US" dirty="0">
                <a:solidFill>
                  <a:schemeClr val="accent1">
                    <a:lumMod val="50000"/>
                  </a:schemeClr>
                </a:solidFill>
              </a:rPr>
              <a:t>Data – Billions of tokens of unstructured text from the internet</a:t>
            </a:r>
            <a:endParaRPr lang="en-US" dirty="0">
              <a:solidFill>
                <a:schemeClr val="accent1">
                  <a:lumMod val="50000"/>
                </a:schemeClr>
              </a:solidFill>
            </a:endParaRPr>
          </a:p>
          <a:p>
            <a:pPr>
              <a:lnSpc>
                <a:spcPct val="100000"/>
              </a:lnSpc>
            </a:pPr>
            <a:r>
              <a:rPr lang="en-US" dirty="0">
                <a:solidFill>
                  <a:schemeClr val="accent5"/>
                </a:solidFill>
              </a:rPr>
              <a:t>Instruction Tuning</a:t>
            </a:r>
            <a:endParaRPr lang="en-US" dirty="0">
              <a:solidFill>
                <a:schemeClr val="accent5"/>
              </a:solidFill>
            </a:endParaRPr>
          </a:p>
          <a:p>
            <a:pPr lvl="1">
              <a:lnSpc>
                <a:spcPct val="100000"/>
              </a:lnSpc>
            </a:pPr>
            <a:r>
              <a:rPr lang="en-US" dirty="0">
                <a:solidFill>
                  <a:schemeClr val="accent1">
                    <a:lumMod val="50000"/>
                  </a:schemeClr>
                </a:solidFill>
              </a:rPr>
              <a:t>Trains models to follow natural language instructions</a:t>
            </a:r>
            <a:endParaRPr lang="en-US" dirty="0">
              <a:solidFill>
                <a:schemeClr val="accent1">
                  <a:lumMod val="50000"/>
                </a:schemeClr>
              </a:solidFill>
            </a:endParaRPr>
          </a:p>
          <a:p>
            <a:pPr lvl="1">
              <a:lnSpc>
                <a:spcPct val="100000"/>
              </a:lnSpc>
            </a:pPr>
            <a:r>
              <a:rPr lang="en-US" dirty="0">
                <a:solidFill>
                  <a:schemeClr val="accent1">
                    <a:lumMod val="50000"/>
                  </a:schemeClr>
                </a:solidFill>
              </a:rPr>
              <a:t>Data – Several thousand (Task/Instruction, Output) examples</a:t>
            </a:r>
            <a:endParaRPr lang="en-US" dirty="0">
              <a:solidFill>
                <a:schemeClr val="accent1">
                  <a:lumMod val="50000"/>
                </a:schemeClr>
              </a:solidFill>
            </a:endParaRPr>
          </a:p>
          <a:p>
            <a:pPr>
              <a:lnSpc>
                <a:spcPct val="100000"/>
              </a:lnSpc>
            </a:pPr>
            <a:r>
              <a:rPr lang="en-US" dirty="0">
                <a:solidFill>
                  <a:schemeClr val="accent5"/>
                </a:solidFill>
              </a:rPr>
              <a:t>Reinforcement Learning from Human Feedback</a:t>
            </a:r>
            <a:endParaRPr lang="en-US" dirty="0">
              <a:solidFill>
                <a:schemeClr val="accent5"/>
              </a:solidFill>
            </a:endParaRPr>
          </a:p>
          <a:p>
            <a:pPr lvl="1">
              <a:lnSpc>
                <a:spcPct val="100000"/>
              </a:lnSpc>
            </a:pPr>
            <a:r>
              <a:rPr lang="en-US" dirty="0">
                <a:solidFill>
                  <a:schemeClr val="accent1">
                    <a:lumMod val="50000"/>
                  </a:schemeClr>
                </a:solidFill>
              </a:rPr>
              <a:t>Show the output(s) generated by models to humans/reward model</a:t>
            </a:r>
            <a:endParaRPr lang="en-US" dirty="0">
              <a:solidFill>
                <a:schemeClr val="accent1">
                  <a:lumMod val="50000"/>
                </a:schemeClr>
              </a:solidFill>
            </a:endParaRPr>
          </a:p>
          <a:p>
            <a:pPr lvl="1">
              <a:lnSpc>
                <a:spcPct val="100000"/>
              </a:lnSpc>
            </a:pPr>
            <a:r>
              <a:rPr lang="en-US" dirty="0">
                <a:solidFill>
                  <a:schemeClr val="accent1">
                    <a:lumMod val="50000"/>
                  </a:schemeClr>
                </a:solidFill>
              </a:rPr>
              <a:t>Collect feedback in the form of preferences.</a:t>
            </a:r>
            <a:endParaRPr lang="en-US" dirty="0">
              <a:solidFill>
                <a:schemeClr val="accent1">
                  <a:lumMod val="50000"/>
                </a:schemeClr>
              </a:solidFill>
            </a:endParaRPr>
          </a:p>
          <a:p>
            <a:pPr lvl="1">
              <a:lnSpc>
                <a:spcPct val="100000"/>
              </a:lnSpc>
            </a:pPr>
            <a:r>
              <a:rPr lang="en-US" dirty="0">
                <a:solidFill>
                  <a:schemeClr val="accent1">
                    <a:lumMod val="50000"/>
                  </a:schemeClr>
                </a:solidFill>
              </a:rPr>
              <a:t>Use these preferences to further improve the model</a:t>
            </a:r>
            <a:endParaRPr lang="en-US" dirty="0">
              <a:solidFill>
                <a:schemeClr val="accent1">
                  <a:lumMod val="50000"/>
                </a:schemeClr>
              </a:solidFill>
            </a:endParaRPr>
          </a:p>
          <a:p>
            <a:pPr lvl="1">
              <a:lnSpc>
                <a:spcPct val="100000"/>
              </a:lnSpc>
            </a:pPr>
            <a:r>
              <a:rPr lang="en-US" dirty="0">
                <a:solidFill>
                  <a:schemeClr val="accent1">
                    <a:lumMod val="50000"/>
                  </a:schemeClr>
                </a:solidFill>
              </a:rPr>
              <a:t>Data – Several thousand (Task, instruction) pairs and a reward model/</a:t>
            </a:r>
            <a:br>
              <a:rPr lang="en-US" dirty="0">
                <a:solidFill>
                  <a:schemeClr val="accent1">
                    <a:lumMod val="50000"/>
                  </a:schemeClr>
                </a:solidFill>
              </a:rPr>
            </a:br>
            <a:r>
              <a:rPr lang="en-US" dirty="0">
                <a:solidFill>
                  <a:schemeClr val="accent1">
                    <a:lumMod val="50000"/>
                  </a:schemeClr>
                </a:solidFill>
              </a:rPr>
              <a:t>preference model/human</a:t>
            </a:r>
            <a:endParaRPr lang="en-US" dirty="0">
              <a:solidFill>
                <a:schemeClr val="accent1">
                  <a:lumMod val="50000"/>
                </a:schemeClr>
              </a:solidFill>
            </a:endParaRPr>
          </a:p>
        </p:txBody>
      </p:sp>
      <p:sp>
        <p:nvSpPr>
          <p:cNvPr id="4" name="Rectangle 3"/>
          <p:cNvSpPr/>
          <p:nvPr/>
        </p:nvSpPr>
        <p:spPr>
          <a:xfrm>
            <a:off x="712381" y="1584325"/>
            <a:ext cx="8548577" cy="1265201"/>
          </a:xfrm>
          <a:prstGeom prst="rect">
            <a:avLst/>
          </a:prstGeom>
          <a:solidFill>
            <a:schemeClr val="accent1">
              <a:lumMod val="20000"/>
              <a:lumOff val="80000"/>
              <a:alpha val="2551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Tick with solid fill"/>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15978" y="1759725"/>
            <a:ext cx="914400" cy="91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Table of Contents</a:t>
            </a:r>
            <a:endParaRPr lang="en-US" dirty="0"/>
          </a:p>
        </p:txBody>
      </p:sp>
      <p:sp>
        <p:nvSpPr>
          <p:cNvPr id="3" name="Content Placeholder 2"/>
          <p:cNvSpPr>
            <a:spLocks noGrp="1"/>
          </p:cNvSpPr>
          <p:nvPr>
            <p:ph idx="1"/>
          </p:nvPr>
        </p:nvSpPr>
        <p:spPr/>
        <p:txBody>
          <a:bodyPr/>
          <a:lstStyle/>
          <a:p>
            <a:r>
              <a:rPr lang="en-US" dirty="0"/>
              <a:t>Instruction Tuning – Why do we need it?</a:t>
            </a:r>
            <a:endParaRPr lang="en-US" dirty="0"/>
          </a:p>
          <a:p>
            <a:r>
              <a:rPr lang="en-US" dirty="0"/>
              <a:t>Training loss</a:t>
            </a:r>
            <a:endParaRPr lang="en-US" dirty="0"/>
          </a:p>
          <a:p>
            <a:pPr lvl="1"/>
            <a:r>
              <a:rPr lang="en-US" dirty="0"/>
              <a:t>Decoder-only models</a:t>
            </a:r>
            <a:endParaRPr lang="en-US" dirty="0"/>
          </a:p>
          <a:p>
            <a:pPr lvl="1"/>
            <a:r>
              <a:rPr lang="en-US" dirty="0"/>
              <a:t>Encoder-Decoder models</a:t>
            </a:r>
            <a:endParaRPr lang="en-US" dirty="0"/>
          </a:p>
          <a:p>
            <a:r>
              <a:rPr lang="en-US" dirty="0"/>
              <a:t>Getting the data</a:t>
            </a:r>
            <a:endParaRPr lang="en-US" dirty="0"/>
          </a:p>
          <a:p>
            <a:pPr lvl="1"/>
            <a:r>
              <a:rPr lang="en-US" dirty="0"/>
              <a:t>Human-generated</a:t>
            </a:r>
            <a:endParaRPr lang="en-US" dirty="0"/>
          </a:p>
          <a:p>
            <a:pPr lvl="1"/>
            <a:r>
              <a:rPr lang="en-US" dirty="0"/>
              <a:t>Synthetically generated</a:t>
            </a:r>
            <a:endParaRPr lang="en-US" dirty="0"/>
          </a:p>
          <a:p>
            <a:r>
              <a:rPr lang="en-US" dirty="0"/>
              <a:t>Popular instruction-tuned models</a:t>
            </a:r>
            <a:endParaRPr lang="en-US" dirty="0"/>
          </a:p>
          <a:p>
            <a:pPr algn="l"/>
            <a:r>
              <a:rPr lang="en-IN" i="0" dirty="0">
                <a:solidFill>
                  <a:srgbClr val="000000"/>
                </a:solidFill>
                <a:effectLst/>
                <a:highlight>
                  <a:srgbClr val="FFFFFF"/>
                </a:highlight>
              </a:rPr>
              <a:t>Instruction Tuned Models are Quick Learners</a:t>
            </a:r>
            <a:endParaRPr lang="en-IN" i="0" dirty="0">
              <a:solidFill>
                <a:srgbClr val="000000"/>
              </a:solidFill>
              <a:effectLst/>
              <a:highlight>
                <a:srgbClr val="FFFFFF"/>
              </a:highlight>
            </a:endParaRPr>
          </a:p>
          <a:p>
            <a:pPr algn="l"/>
            <a:r>
              <a:rPr lang="en-IN" dirty="0">
                <a:solidFill>
                  <a:srgbClr val="000000"/>
                </a:solidFill>
                <a:highlight>
                  <a:srgbClr val="FFFFFF"/>
                </a:highlight>
              </a:rPr>
              <a:t>The Superficial Alignment Hypothesis</a:t>
            </a:r>
            <a:endParaRPr lang="en-IN" i="0" dirty="0">
              <a:solidFill>
                <a:srgbClr val="000000"/>
              </a:solidFill>
              <a:effectLst/>
              <a:highlight>
                <a:srgbClr val="FFFFFF"/>
              </a:highlight>
            </a:endParaRPr>
          </a:p>
        </p:txBody>
      </p:sp>
      <p:sp>
        <p:nvSpPr>
          <p:cNvPr id="4" name="Slide Number Placeholder 3"/>
          <p:cNvSpPr>
            <a:spLocks noGrp="1"/>
          </p:cNvSpPr>
          <p:nvPr>
            <p:ph type="sldNum" sz="quarter" idx="12"/>
          </p:nvPr>
        </p:nvSpPr>
        <p:spPr/>
        <p:txBody>
          <a:bodyPr/>
          <a:lstStyle/>
          <a:p>
            <a:pPr>
              <a:defRPr/>
            </a:pPr>
            <a:fld id="{D9BDD956-8DD1-4712-B259-3593B02F3338}" type="slidenum">
              <a:rPr lang="en-IN" smtClean="0"/>
            </a:fld>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1325562"/>
          </a:xfrm>
        </p:spPr>
        <p:txBody>
          <a:bodyPr wrap="square" anchor="b">
            <a:normAutofit/>
          </a:bodyPr>
          <a:lstStyle/>
          <a:p>
            <a:r>
              <a:rPr lang="en-IN" b="1"/>
              <a:t>Why Do We Need Instruction Training?</a:t>
            </a:r>
            <a:endParaRPr lang="en-IN" b="1" dirty="0"/>
          </a:p>
        </p:txBody>
      </p:sp>
      <p:graphicFrame>
        <p:nvGraphicFramePr>
          <p:cNvPr id="5" name="Content Placeholder 2"/>
          <p:cNvGraphicFramePr>
            <a:graphicFrameLocks noGrp="1"/>
          </p:cNvGraphicFramePr>
          <p:nvPr>
            <p:ph idx="1"/>
          </p:nvPr>
        </p:nvGraphicFramePr>
        <p:xfrm>
          <a:off x="441325" y="1808163"/>
          <a:ext cx="11307763" cy="435133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TextBox 3"/>
          <p:cNvSpPr txBox="1"/>
          <p:nvPr/>
        </p:nvSpPr>
        <p:spPr>
          <a:xfrm>
            <a:off x="6490952" y="6028695"/>
            <a:ext cx="4301544" cy="261610"/>
          </a:xfrm>
          <a:prstGeom prst="rect">
            <a:avLst/>
          </a:prstGeom>
          <a:noFill/>
        </p:spPr>
        <p:txBody>
          <a:bodyPr wrap="square" rtlCol="0">
            <a:spAutoFit/>
          </a:bodyPr>
          <a:lstStyle/>
          <a:p>
            <a:r>
              <a:rPr lang="en-US" sz="1100"/>
              <a:t>Content Credit: Instruction Tuning for Large Language Models: A Survey</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60631" y="3090930"/>
            <a:ext cx="3565656" cy="830997"/>
          </a:xfrm>
          <a:prstGeom prst="rect">
            <a:avLst/>
          </a:prstGeom>
          <a:noFill/>
        </p:spPr>
        <p:txBody>
          <a:bodyPr wrap="none" rtlCol="0">
            <a:spAutoFit/>
          </a:bodyPr>
          <a:lstStyle/>
          <a:p>
            <a:r>
              <a:rPr lang="en-US" sz="4800" b="1" dirty="0"/>
              <a:t>Training Loss</a:t>
            </a:r>
            <a:endParaRPr lang="en-US" sz="48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train? (Decoder-only models)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Given (instruction, output) pairs</a:t>
                </a:r>
                <a:endParaRPr lang="en-US" dirty="0"/>
              </a:p>
              <a:p>
                <a:pPr lvl="1"/>
                <a:r>
                  <a:rPr lang="en-US" dirty="0"/>
                  <a:t>Tokenized  </a:t>
                </a:r>
                <a14:m>
                  <m:oMath xmlns:m="http://schemas.openxmlformats.org/officeDocument/2006/math">
                    <m:r>
                      <a:rPr lang="en-US" b="0" i="1" smtClean="0">
                        <a:latin typeface="Cambria Math" panose="02040503050406030204" pitchFamily="18" charset="0"/>
                      </a:rPr>
                      <m:t>𝑖𝑛𝑠𝑡𝑟𝑢𝑐𝑡𝑖𝑜𝑛</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𝑚</m:t>
                            </m:r>
                          </m:sub>
                        </m:sSub>
                      </m:e>
                    </m:d>
                    <m:r>
                      <a:rPr lang="en-US" b="0" i="0" smtClean="0">
                        <a:latin typeface="Cambria Math" panose="02040503050406030204" pitchFamily="18" charset="0"/>
                      </a:rPr>
                      <m:t>  </m:t>
                    </m:r>
                    <m:r>
                      <a:rPr lang="en-US" b="0" i="1" smtClean="0">
                        <a:latin typeface="Cambria Math" panose="02040503050406030204" pitchFamily="18" charset="0"/>
                      </a:rPr>
                      <m:t>𝑜𝑢𝑡𝑝𝑢𝑡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a14:m>
                <a:endParaRPr lang="en-US" b="0"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t="-190" b="7"/>
                </a:stretch>
              </a:blipFill>
            </p:spPr>
            <p:txBody>
              <a:bodyPr/>
              <a:lstStyle/>
              <a:p>
                <a:r>
                  <a:rPr lang="en-US" altLang="en-US">
                    <a:noFill/>
                  </a:rPr>
                  <a:t> </a:t>
                </a:r>
              </a:p>
            </p:txBody>
          </p:sp>
        </mc:Fallback>
      </mc:AlternateContent>
      <p:sp>
        <p:nvSpPr>
          <p:cNvPr id="4" name="Rounded Rectangle 3"/>
          <p:cNvSpPr/>
          <p:nvPr/>
        </p:nvSpPr>
        <p:spPr>
          <a:xfrm>
            <a:off x="709680" y="3376935"/>
            <a:ext cx="6196081" cy="1119117"/>
          </a:xfrm>
          <a:prstGeom prst="roundRect">
            <a:avLst/>
          </a:prstGeom>
          <a:solidFill>
            <a:schemeClr val="accent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Transformer Decoder</a:t>
            </a:r>
            <a:endParaRPr lang="en-US" dirty="0">
              <a:solidFill>
                <a:schemeClr val="tx1"/>
              </a:solidFill>
            </a:endParaRPr>
          </a:p>
        </p:txBody>
      </p:sp>
      <p:grpSp>
        <p:nvGrpSpPr>
          <p:cNvPr id="14" name="Group 13"/>
          <p:cNvGrpSpPr/>
          <p:nvPr/>
        </p:nvGrpSpPr>
        <p:grpSpPr>
          <a:xfrm>
            <a:off x="928044" y="4496052"/>
            <a:ext cx="423080" cy="608211"/>
            <a:chOff x="2197290" y="4496052"/>
            <a:chExt cx="423080" cy="608211"/>
          </a:xfrm>
        </p:grpSpPr>
        <mc:AlternateContent xmlns:mc="http://schemas.openxmlformats.org/markup-compatibility/2006">
          <mc:Choice xmlns:a14="http://schemas.microsoft.com/office/drawing/2010/main" Requires="a14">
            <p:sp>
              <p:nvSpPr>
                <p:cNvPr id="6" name="Rounded Rectangle 5"/>
                <p:cNvSpPr/>
                <p:nvPr/>
              </p:nvSpPr>
              <p:spPr>
                <a:xfrm>
                  <a:off x="2197290" y="4763069"/>
                  <a:ext cx="423080" cy="3411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oMath>
                    </m:oMathPara>
                  </a14:m>
                  <a:endParaRPr lang="en-US" dirty="0"/>
                </a:p>
              </p:txBody>
            </p:sp>
          </mc:Choice>
          <mc:Fallback>
            <p:sp>
              <p:nvSpPr>
                <p:cNvPr id="6" name="Rounded Rectangle 5"/>
                <p:cNvSpPr>
                  <a:spLocks noRot="1" noChangeAspect="1" noMove="1" noResize="1" noEditPoints="1" noAdjustHandles="1" noChangeArrowheads="1" noChangeShapeType="1" noTextEdit="1"/>
                </p:cNvSpPr>
                <p:nvPr/>
              </p:nvSpPr>
              <p:spPr>
                <a:xfrm>
                  <a:off x="2197290" y="4763069"/>
                  <a:ext cx="423080" cy="341194"/>
                </a:xfrm>
                <a:prstGeom prst="roundRect">
                  <a:avLst/>
                </a:prstGeom>
                <a:blipFill rotWithShape="1">
                  <a:blip r:embed="rId2"/>
                </a:blipFill>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11" name="Straight Arrow Connector 10"/>
            <p:cNvCxnSpPr>
              <a:stCxn id="6" idx="0"/>
            </p:cNvCxnSpPr>
            <p:nvPr/>
          </p:nvCxnSpPr>
          <p:spPr>
            <a:xfrm flipV="1">
              <a:off x="2408830" y="4496052"/>
              <a:ext cx="6824" cy="2670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1562664" y="4496052"/>
            <a:ext cx="423080" cy="608211"/>
            <a:chOff x="2197290" y="4496052"/>
            <a:chExt cx="423080" cy="608211"/>
          </a:xfrm>
        </p:grpSpPr>
        <mc:AlternateContent xmlns:mc="http://schemas.openxmlformats.org/markup-compatibility/2006">
          <mc:Choice xmlns:a14="http://schemas.microsoft.com/office/drawing/2010/main" Requires="a14">
            <p:sp>
              <p:nvSpPr>
                <p:cNvPr id="16" name="Rounded Rectangle 15"/>
                <p:cNvSpPr/>
                <p:nvPr/>
              </p:nvSpPr>
              <p:spPr>
                <a:xfrm>
                  <a:off x="2197290" y="4763069"/>
                  <a:ext cx="423080" cy="3411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oMath>
                    </m:oMathPara>
                  </a14:m>
                  <a:endParaRPr lang="en-US" dirty="0"/>
                </a:p>
              </p:txBody>
            </p:sp>
          </mc:Choice>
          <mc:Fallback>
            <p:sp>
              <p:nvSpPr>
                <p:cNvPr id="16" name="Rounded Rectangle 15"/>
                <p:cNvSpPr>
                  <a:spLocks noRot="1" noChangeAspect="1" noMove="1" noResize="1" noEditPoints="1" noAdjustHandles="1" noChangeArrowheads="1" noChangeShapeType="1" noTextEdit="1"/>
                </p:cNvSpPr>
                <p:nvPr/>
              </p:nvSpPr>
              <p:spPr>
                <a:xfrm>
                  <a:off x="2197290" y="4763069"/>
                  <a:ext cx="423080" cy="341194"/>
                </a:xfrm>
                <a:prstGeom prst="roundRect">
                  <a:avLst/>
                </a:prstGeom>
                <a:blipFill rotWithShape="1">
                  <a:blip r:embed="rId3"/>
                </a:blipFill>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17" name="Straight Arrow Connector 16"/>
            <p:cNvCxnSpPr>
              <a:stCxn id="16" idx="0"/>
            </p:cNvCxnSpPr>
            <p:nvPr/>
          </p:nvCxnSpPr>
          <p:spPr>
            <a:xfrm flipV="1">
              <a:off x="2408830" y="4496052"/>
              <a:ext cx="6824" cy="2670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a:xfrm>
            <a:off x="2210932" y="4496052"/>
            <a:ext cx="423080" cy="608211"/>
            <a:chOff x="2197290" y="4496052"/>
            <a:chExt cx="423080" cy="608211"/>
          </a:xfrm>
        </p:grpSpPr>
        <mc:AlternateContent xmlns:mc="http://schemas.openxmlformats.org/markup-compatibility/2006">
          <mc:Choice xmlns:a14="http://schemas.microsoft.com/office/drawing/2010/main" Requires="a14">
            <p:sp>
              <p:nvSpPr>
                <p:cNvPr id="19" name="Rounded Rectangle 18"/>
                <p:cNvSpPr/>
                <p:nvPr/>
              </p:nvSpPr>
              <p:spPr>
                <a:xfrm>
                  <a:off x="2197290" y="4763069"/>
                  <a:ext cx="423080" cy="3411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3</m:t>
                            </m:r>
                          </m:sub>
                        </m:sSub>
                      </m:oMath>
                    </m:oMathPara>
                  </a14:m>
                  <a:endParaRPr lang="en-US" dirty="0"/>
                </a:p>
              </p:txBody>
            </p:sp>
          </mc:Choice>
          <mc:Fallback>
            <p:sp>
              <p:nvSpPr>
                <p:cNvPr id="19" name="Rounded Rectangle 18"/>
                <p:cNvSpPr>
                  <a:spLocks noRot="1" noChangeAspect="1" noMove="1" noResize="1" noEditPoints="1" noAdjustHandles="1" noChangeArrowheads="1" noChangeShapeType="1" noTextEdit="1"/>
                </p:cNvSpPr>
                <p:nvPr/>
              </p:nvSpPr>
              <p:spPr>
                <a:xfrm>
                  <a:off x="2197290" y="4763069"/>
                  <a:ext cx="423080" cy="341194"/>
                </a:xfrm>
                <a:prstGeom prst="roundRect">
                  <a:avLst/>
                </a:prstGeom>
                <a:blipFill rotWithShape="1">
                  <a:blip r:embed="rId4"/>
                </a:blipFill>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20" name="Straight Arrow Connector 19"/>
            <p:cNvCxnSpPr>
              <a:stCxn id="19" idx="0"/>
            </p:cNvCxnSpPr>
            <p:nvPr/>
          </p:nvCxnSpPr>
          <p:spPr>
            <a:xfrm flipV="1">
              <a:off x="2408830" y="4496052"/>
              <a:ext cx="6824" cy="2670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2845552" y="4523348"/>
            <a:ext cx="423080" cy="608211"/>
            <a:chOff x="2197290" y="4496052"/>
            <a:chExt cx="423080" cy="608211"/>
          </a:xfrm>
        </p:grpSpPr>
        <mc:AlternateContent xmlns:mc="http://schemas.openxmlformats.org/markup-compatibility/2006">
          <mc:Choice xmlns:a14="http://schemas.microsoft.com/office/drawing/2010/main" Requires="a14">
            <p:sp>
              <p:nvSpPr>
                <p:cNvPr id="22" name="Rounded Rectangle 21"/>
                <p:cNvSpPr/>
                <p:nvPr/>
              </p:nvSpPr>
              <p:spPr>
                <a:xfrm>
                  <a:off x="2197290" y="4763069"/>
                  <a:ext cx="423080" cy="3411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4</m:t>
                            </m:r>
                          </m:sub>
                        </m:sSub>
                      </m:oMath>
                    </m:oMathPara>
                  </a14:m>
                  <a:endParaRPr lang="en-US" dirty="0"/>
                </a:p>
              </p:txBody>
            </p:sp>
          </mc:Choice>
          <mc:Fallback>
            <p:sp>
              <p:nvSpPr>
                <p:cNvPr id="22" name="Rounded Rectangle 21"/>
                <p:cNvSpPr>
                  <a:spLocks noRot="1" noChangeAspect="1" noMove="1" noResize="1" noEditPoints="1" noAdjustHandles="1" noChangeArrowheads="1" noChangeShapeType="1" noTextEdit="1"/>
                </p:cNvSpPr>
                <p:nvPr/>
              </p:nvSpPr>
              <p:spPr>
                <a:xfrm>
                  <a:off x="2197290" y="4763069"/>
                  <a:ext cx="423080" cy="341194"/>
                </a:xfrm>
                <a:prstGeom prst="roundRect">
                  <a:avLst/>
                </a:prstGeom>
                <a:blipFill rotWithShape="1">
                  <a:blip r:embed="rId5"/>
                </a:blipFill>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23" name="Straight Arrow Connector 22"/>
            <p:cNvCxnSpPr>
              <a:stCxn id="22" idx="0"/>
            </p:cNvCxnSpPr>
            <p:nvPr/>
          </p:nvCxnSpPr>
          <p:spPr>
            <a:xfrm flipV="1">
              <a:off x="2408830" y="4496052"/>
              <a:ext cx="6824" cy="2670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3480172" y="4509700"/>
            <a:ext cx="423080" cy="608211"/>
            <a:chOff x="2197290" y="4496052"/>
            <a:chExt cx="423080" cy="608211"/>
          </a:xfrm>
        </p:grpSpPr>
        <mc:AlternateContent xmlns:mc="http://schemas.openxmlformats.org/markup-compatibility/2006">
          <mc:Choice xmlns:a14="http://schemas.microsoft.com/office/drawing/2010/main" Requires="a14">
            <p:sp>
              <p:nvSpPr>
                <p:cNvPr id="25" name="Rounded Rectangle 24"/>
                <p:cNvSpPr/>
                <p:nvPr/>
              </p:nvSpPr>
              <p:spPr>
                <a:xfrm>
                  <a:off x="2197290" y="4763069"/>
                  <a:ext cx="423080" cy="3411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5</m:t>
                            </m:r>
                          </m:sub>
                        </m:sSub>
                      </m:oMath>
                    </m:oMathPara>
                  </a14:m>
                  <a:endParaRPr lang="en-US" dirty="0"/>
                </a:p>
              </p:txBody>
            </p:sp>
          </mc:Choice>
          <mc:Fallback>
            <p:sp>
              <p:nvSpPr>
                <p:cNvPr id="25" name="Rounded Rectangle 24"/>
                <p:cNvSpPr>
                  <a:spLocks noRot="1" noChangeAspect="1" noMove="1" noResize="1" noEditPoints="1" noAdjustHandles="1" noChangeArrowheads="1" noChangeShapeType="1" noTextEdit="1"/>
                </p:cNvSpPr>
                <p:nvPr/>
              </p:nvSpPr>
              <p:spPr>
                <a:xfrm>
                  <a:off x="2197290" y="4763069"/>
                  <a:ext cx="423080" cy="341194"/>
                </a:xfrm>
                <a:prstGeom prst="roundRect">
                  <a:avLst/>
                </a:prstGeom>
                <a:blipFill rotWithShape="1">
                  <a:blip r:embed="rId6"/>
                </a:blipFill>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26" name="Straight Arrow Connector 25"/>
            <p:cNvCxnSpPr>
              <a:stCxn id="25" idx="0"/>
            </p:cNvCxnSpPr>
            <p:nvPr/>
          </p:nvCxnSpPr>
          <p:spPr>
            <a:xfrm flipV="1">
              <a:off x="2408830" y="4496052"/>
              <a:ext cx="6824" cy="2670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8" name="Rounded Rectangle 27"/>
              <p:cNvSpPr/>
              <p:nvPr/>
            </p:nvSpPr>
            <p:spPr>
              <a:xfrm>
                <a:off x="4107968" y="4763069"/>
                <a:ext cx="423080" cy="341194"/>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p:sp>
            <p:nvSpPr>
              <p:cNvPr id="28" name="Rounded Rectangle 27"/>
              <p:cNvSpPr>
                <a:spLocks noRot="1" noChangeAspect="1" noMove="1" noResize="1" noEditPoints="1" noAdjustHandles="1" noChangeArrowheads="1" noChangeShapeType="1" noTextEdit="1"/>
              </p:cNvSpPr>
              <p:nvPr/>
            </p:nvSpPr>
            <p:spPr>
              <a:xfrm>
                <a:off x="4107968" y="4763069"/>
                <a:ext cx="423080" cy="341194"/>
              </a:xfrm>
              <a:prstGeom prst="roundRect">
                <a:avLst/>
              </a:prstGeom>
              <a:blipFill rotWithShape="1">
                <a:blip r:embed="rId7"/>
                <a:stretch>
                  <a:fillRect l="-1537" t="-2028" r="-1425" b="-1822"/>
                </a:stretch>
              </a:blipFill>
              <a:ln>
                <a:prstDash val="dash"/>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29" name="Straight Arrow Connector 28"/>
          <p:cNvCxnSpPr>
            <a:stCxn id="28" idx="0"/>
          </p:cNvCxnSpPr>
          <p:nvPr/>
        </p:nvCxnSpPr>
        <p:spPr>
          <a:xfrm flipV="1">
            <a:off x="4319508" y="4496052"/>
            <a:ext cx="6824" cy="267017"/>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1" name="Rounded Rectangle 30"/>
              <p:cNvSpPr/>
              <p:nvPr/>
            </p:nvSpPr>
            <p:spPr>
              <a:xfrm>
                <a:off x="4763060" y="4776717"/>
                <a:ext cx="423080" cy="341194"/>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p:sp>
            <p:nvSpPr>
              <p:cNvPr id="31" name="Rounded Rectangle 30"/>
              <p:cNvSpPr>
                <a:spLocks noRot="1" noChangeAspect="1" noMove="1" noResize="1" noEditPoints="1" noAdjustHandles="1" noChangeArrowheads="1" noChangeShapeType="1" noTextEdit="1"/>
              </p:cNvSpPr>
              <p:nvPr/>
            </p:nvSpPr>
            <p:spPr>
              <a:xfrm>
                <a:off x="4763060" y="4776717"/>
                <a:ext cx="423080" cy="341194"/>
              </a:xfrm>
              <a:prstGeom prst="roundRect">
                <a:avLst/>
              </a:prstGeom>
              <a:blipFill rotWithShape="1">
                <a:blip r:embed="rId8"/>
                <a:stretch>
                  <a:fillRect l="-1633" t="-1934" r="-1478" b="-1730"/>
                </a:stretch>
              </a:blipFill>
              <a:ln>
                <a:prstDash val="dash"/>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32" name="Straight Arrow Connector 31"/>
          <p:cNvCxnSpPr>
            <a:stCxn id="31" idx="0"/>
          </p:cNvCxnSpPr>
          <p:nvPr/>
        </p:nvCxnSpPr>
        <p:spPr>
          <a:xfrm flipV="1">
            <a:off x="4974600" y="4509700"/>
            <a:ext cx="6824" cy="267017"/>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4" name="Rounded Rectangle 33"/>
              <p:cNvSpPr/>
              <p:nvPr/>
            </p:nvSpPr>
            <p:spPr>
              <a:xfrm>
                <a:off x="5390856" y="4763069"/>
                <a:ext cx="423080" cy="341194"/>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p:sp>
            <p:nvSpPr>
              <p:cNvPr id="34" name="Rounded Rectangle 33"/>
              <p:cNvSpPr>
                <a:spLocks noRot="1" noChangeAspect="1" noMove="1" noResize="1" noEditPoints="1" noAdjustHandles="1" noChangeArrowheads="1" noChangeShapeType="1" noTextEdit="1"/>
              </p:cNvSpPr>
              <p:nvPr/>
            </p:nvSpPr>
            <p:spPr>
              <a:xfrm>
                <a:off x="5390856" y="4763069"/>
                <a:ext cx="423080" cy="341194"/>
              </a:xfrm>
              <a:prstGeom prst="roundRect">
                <a:avLst/>
              </a:prstGeom>
              <a:blipFill rotWithShape="1">
                <a:blip r:embed="rId9"/>
                <a:stretch>
                  <a:fillRect l="-1581" t="-2028" r="-1380" b="-1822"/>
                </a:stretch>
              </a:blipFill>
              <a:ln>
                <a:prstDash val="dash"/>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35" name="Straight Arrow Connector 34"/>
          <p:cNvCxnSpPr>
            <a:stCxn id="34" idx="0"/>
          </p:cNvCxnSpPr>
          <p:nvPr/>
        </p:nvCxnSpPr>
        <p:spPr>
          <a:xfrm flipV="1">
            <a:off x="5602396" y="4496052"/>
            <a:ext cx="6824" cy="267017"/>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Rounded Rectangle 36"/>
              <p:cNvSpPr/>
              <p:nvPr/>
            </p:nvSpPr>
            <p:spPr>
              <a:xfrm>
                <a:off x="6045948" y="4776717"/>
                <a:ext cx="423080" cy="341194"/>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p:sp>
            <p:nvSpPr>
              <p:cNvPr id="37" name="Rounded Rectangle 36"/>
              <p:cNvSpPr>
                <a:spLocks noRot="1" noChangeAspect="1" noMove="1" noResize="1" noEditPoints="1" noAdjustHandles="1" noChangeArrowheads="1" noChangeShapeType="1" noTextEdit="1"/>
              </p:cNvSpPr>
              <p:nvPr/>
            </p:nvSpPr>
            <p:spPr>
              <a:xfrm>
                <a:off x="6045948" y="4776717"/>
                <a:ext cx="423080" cy="341194"/>
              </a:xfrm>
              <a:prstGeom prst="roundRect">
                <a:avLst/>
              </a:prstGeom>
              <a:blipFill rotWithShape="1">
                <a:blip r:embed="rId10"/>
                <a:stretch>
                  <a:fillRect l="-1528" t="-1934" r="-1434" b="-1730"/>
                </a:stretch>
              </a:blipFill>
              <a:ln>
                <a:prstDash val="dash"/>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38" name="Straight Arrow Connector 37"/>
          <p:cNvCxnSpPr>
            <a:stCxn id="37" idx="0"/>
          </p:cNvCxnSpPr>
          <p:nvPr/>
        </p:nvCxnSpPr>
        <p:spPr>
          <a:xfrm flipV="1">
            <a:off x="6257488" y="4509700"/>
            <a:ext cx="6824" cy="267017"/>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 name="Rounded Rectangle 44"/>
              <p:cNvSpPr/>
              <p:nvPr/>
            </p:nvSpPr>
            <p:spPr>
              <a:xfrm>
                <a:off x="3468793" y="2690881"/>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p:sp>
            <p:nvSpPr>
              <p:cNvPr id="45" name="Rounded Rectangle 44"/>
              <p:cNvSpPr>
                <a:spLocks noRot="1" noChangeAspect="1" noMove="1" noResize="1" noEditPoints="1" noAdjustHandles="1" noChangeArrowheads="1" noChangeShapeType="1" noTextEdit="1"/>
              </p:cNvSpPr>
              <p:nvPr/>
            </p:nvSpPr>
            <p:spPr>
              <a:xfrm>
                <a:off x="3468793" y="2690881"/>
                <a:ext cx="423080" cy="341194"/>
              </a:xfrm>
              <a:prstGeom prst="roundRect">
                <a:avLst/>
              </a:prstGeom>
              <a:blipFill rotWithShape="1">
                <a:blip r:embed="rId11"/>
                <a:stretch>
                  <a:fillRect l="-1601" t="-1974" r="-1361" b="-1690"/>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46" name="Rounded Rectangle 45"/>
              <p:cNvSpPr/>
              <p:nvPr/>
            </p:nvSpPr>
            <p:spPr>
              <a:xfrm>
                <a:off x="4123885" y="2704529"/>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p:sp>
            <p:nvSpPr>
              <p:cNvPr id="46" name="Rounded Rectangle 45"/>
              <p:cNvSpPr>
                <a:spLocks noRot="1" noChangeAspect="1" noMove="1" noResize="1" noEditPoints="1" noAdjustHandles="1" noChangeArrowheads="1" noChangeShapeType="1" noTextEdit="1"/>
              </p:cNvSpPr>
              <p:nvPr/>
            </p:nvSpPr>
            <p:spPr>
              <a:xfrm>
                <a:off x="4123885" y="2704529"/>
                <a:ext cx="423080" cy="341194"/>
              </a:xfrm>
              <a:prstGeom prst="roundRect">
                <a:avLst/>
              </a:prstGeom>
              <a:blipFill rotWithShape="1">
                <a:blip r:embed="rId12"/>
                <a:stretch>
                  <a:fillRect l="-1547" t="-1880" r="-1415" b="-1784"/>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47" name="Rounded Rectangle 46"/>
              <p:cNvSpPr/>
              <p:nvPr/>
            </p:nvSpPr>
            <p:spPr>
              <a:xfrm>
                <a:off x="4751681" y="2690881"/>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p:sp>
            <p:nvSpPr>
              <p:cNvPr id="47" name="Rounded Rectangle 46"/>
              <p:cNvSpPr>
                <a:spLocks noRot="1" noChangeAspect="1" noMove="1" noResize="1" noEditPoints="1" noAdjustHandles="1" noChangeArrowheads="1" noChangeShapeType="1" noTextEdit="1"/>
              </p:cNvSpPr>
              <p:nvPr/>
            </p:nvSpPr>
            <p:spPr>
              <a:xfrm>
                <a:off x="4751681" y="2690881"/>
                <a:ext cx="423080" cy="341194"/>
              </a:xfrm>
              <a:prstGeom prst="roundRect">
                <a:avLst/>
              </a:prstGeom>
              <a:blipFill rotWithShape="1">
                <a:blip r:embed="rId13"/>
                <a:stretch>
                  <a:fillRect l="-1645" t="-1974" r="-1466" b="-1690"/>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48" name="Rounded Rectangle 47"/>
              <p:cNvSpPr/>
              <p:nvPr/>
            </p:nvSpPr>
            <p:spPr>
              <a:xfrm>
                <a:off x="5406773" y="2704529"/>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p:sp>
            <p:nvSpPr>
              <p:cNvPr id="48" name="Rounded Rectangle 47"/>
              <p:cNvSpPr>
                <a:spLocks noRot="1" noChangeAspect="1" noMove="1" noResize="1" noEditPoints="1" noAdjustHandles="1" noChangeArrowheads="1" noChangeShapeType="1" noTextEdit="1"/>
              </p:cNvSpPr>
              <p:nvPr/>
            </p:nvSpPr>
            <p:spPr>
              <a:xfrm>
                <a:off x="5406773" y="2704529"/>
                <a:ext cx="423080" cy="341194"/>
              </a:xfrm>
              <a:prstGeom prst="roundRect">
                <a:avLst/>
              </a:prstGeom>
              <a:blipFill rotWithShape="1">
                <a:blip r:embed="rId14"/>
                <a:stretch>
                  <a:fillRect l="-1591" t="-1880" r="-1370" b="-1784"/>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50" name="Straight Arrow Connector 49"/>
          <p:cNvCxnSpPr/>
          <p:nvPr/>
        </p:nvCxnSpPr>
        <p:spPr>
          <a:xfrm flipV="1">
            <a:off x="3691712" y="3045723"/>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V="1">
            <a:off x="4335427" y="3045723"/>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V="1">
            <a:off x="4981424" y="3032075"/>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V="1">
            <a:off x="5602396" y="3045723"/>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4" name="Rounded Rectangle 53"/>
              <p:cNvSpPr/>
              <p:nvPr/>
            </p:nvSpPr>
            <p:spPr>
              <a:xfrm>
                <a:off x="6034405" y="2679700"/>
                <a:ext cx="2359025" cy="340995"/>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&lt;|</m:t>
                      </m:r>
                      <m:r>
                        <a:rPr lang="en-US" b="0" i="1" smtClean="0">
                          <a:solidFill>
                            <a:schemeClr val="tx1"/>
                          </a:solidFill>
                          <a:latin typeface="Cambria Math" panose="02040503050406030204" pitchFamily="18" charset="0"/>
                        </a:rPr>
                        <m:t>𝑒𝑛𝑑𝑜𝑓𝑡𝑒𝑥𝑡</m:t>
                      </m:r>
                      <m:r>
                        <a:rPr lang="en-US" b="0" i="1" smtClean="0">
                          <a:solidFill>
                            <a:schemeClr val="tx1"/>
                          </a:solidFill>
                          <a:latin typeface="Cambria Math" panose="02040503050406030204" pitchFamily="18" charset="0"/>
                        </a:rPr>
                        <m:t>|&gt;</m:t>
                      </m:r>
                    </m:oMath>
                  </m:oMathPara>
                </a14:m>
                <a:endParaRPr lang="en-US" dirty="0">
                  <a:solidFill>
                    <a:schemeClr val="tx1"/>
                  </a:solidFill>
                </a:endParaRPr>
              </a:p>
            </p:txBody>
          </p:sp>
        </mc:Choice>
        <mc:Fallback>
          <p:sp>
            <p:nvSpPr>
              <p:cNvPr id="54" name="Rounded Rectangle 53"/>
              <p:cNvSpPr>
                <a:spLocks noRot="1" noChangeAspect="1" noMove="1" noResize="1" noEditPoints="1" noAdjustHandles="1" noChangeArrowheads="1" noChangeShapeType="1" noTextEdit="1"/>
              </p:cNvSpPr>
              <p:nvPr/>
            </p:nvSpPr>
            <p:spPr>
              <a:xfrm>
                <a:off x="6034405" y="2679700"/>
                <a:ext cx="2359025" cy="340995"/>
              </a:xfrm>
              <a:prstGeom prst="roundRect">
                <a:avLst/>
              </a:prstGeom>
              <a:blipFill rotWithShape="1">
                <a:blip r:embed="rId15"/>
                <a:stretch>
                  <a:fillRect l="-269" t="-1862" r="-269" b="-1862"/>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56" name="Straight Arrow Connector 55"/>
          <p:cNvCxnSpPr/>
          <p:nvPr/>
        </p:nvCxnSpPr>
        <p:spPr>
          <a:xfrm flipV="1">
            <a:off x="6264312" y="3045723"/>
            <a:ext cx="0" cy="317564"/>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7" name="TextBox 56"/>
              <p:cNvSpPr txBox="1"/>
              <p:nvPr/>
            </p:nvSpPr>
            <p:spPr>
              <a:xfrm>
                <a:off x="7442386" y="3498969"/>
                <a:ext cx="3401251" cy="1733167"/>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r>
                            <a:rPr lang="en-US" b="0" i="1" smtClean="0">
                              <a:latin typeface="Cambria Math" panose="02040503050406030204" pitchFamily="18" charset="0"/>
                            </a:rPr>
                            <m:t>=</m:t>
                          </m:r>
                        </m:fName>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𝑛</m:t>
                              </m:r>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𝑚</m:t>
                                      </m:r>
                                    </m:sub>
                                  </m:sSub>
                                  <m:r>
                                    <a:rPr lang="en-US" b="0" i="1" smtClean="0">
                                      <a:latin typeface="Cambria Math" panose="02040503050406030204" pitchFamily="18" charset="0"/>
                                    </a:rPr>
                                    <m:t>)</m:t>
                                  </m:r>
                                </m:e>
                              </m:func>
                            </m:e>
                          </m:nary>
                        </m:e>
                      </m:func>
                    </m:oMath>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 &lt;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𝑒𝑛𝑑𝑜𝑓𝑡𝑒𝑥𝑡</m:t>
                          </m:r>
                        </m:e>
                      </m:d>
                      <m:r>
                        <a:rPr lang="en-US" b="0" i="1" smtClean="0">
                          <a:latin typeface="Cambria Math" panose="02040503050406030204" pitchFamily="18" charset="0"/>
                        </a:rPr>
                        <m:t>&gt;</m:t>
                      </m:r>
                    </m:oMath>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𝑗</m:t>
                          </m:r>
                        </m:sub>
                      </m:sSub>
                    </m:oMath>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𝑚</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𝑚</m:t>
                          </m:r>
                        </m:sub>
                      </m:sSub>
                    </m:oMath>
                  </m:oMathPara>
                </a14:m>
                <a:endParaRPr lang="en-US" dirty="0"/>
              </a:p>
            </p:txBody>
          </p:sp>
        </mc:Choice>
        <mc:Fallback>
          <p:sp>
            <p:nvSpPr>
              <p:cNvPr id="57" name="TextBox 56"/>
              <p:cNvSpPr txBox="1">
                <a:spLocks noRot="1" noChangeAspect="1" noMove="1" noResize="1" noEditPoints="1" noAdjustHandles="1" noChangeArrowheads="1" noChangeShapeType="1" noTextEdit="1"/>
              </p:cNvSpPr>
              <p:nvPr/>
            </p:nvSpPr>
            <p:spPr>
              <a:xfrm>
                <a:off x="7442386" y="3498969"/>
                <a:ext cx="3401251" cy="1733167"/>
              </a:xfrm>
              <a:prstGeom prst="rect">
                <a:avLst/>
              </a:prstGeom>
              <a:blipFill rotWithShape="1">
                <a:blip r:embed="rId16"/>
                <a:stretch>
                  <a:fillRect l="-5" t="-7" r="-15298" b="21"/>
                </a:stretch>
              </a:blipFill>
            </p:spPr>
            <p:txBody>
              <a:bodyPr/>
              <a:lstStyle/>
              <a:p>
                <a:r>
                  <a:rPr lang="en-US" altLang="en-US">
                    <a:noFill/>
                  </a:rPr>
                  <a:t> </a:t>
                </a:r>
              </a:p>
            </p:txBody>
          </p:sp>
        </mc:Fallback>
      </mc:AlternateContent>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to train? (Encoder-Decoder Models)</a:t>
            </a:r>
            <a:endParaRPr lang="en-US" dirty="0"/>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r>
                  <a:rPr lang="en-US" dirty="0"/>
                  <a:t>Given (instruction, output) pairs</a:t>
                </a:r>
                <a:endParaRPr lang="en-US" dirty="0"/>
              </a:p>
              <a:p>
                <a:pPr lvl="1"/>
                <a:r>
                  <a:rPr lang="en-US" dirty="0"/>
                  <a:t>Tokenized  </a:t>
                </a:r>
                <a14:m>
                  <m:oMath xmlns:m="http://schemas.openxmlformats.org/officeDocument/2006/math">
                    <m:r>
                      <a:rPr lang="en-US" b="0" i="1" smtClean="0">
                        <a:latin typeface="Cambria Math" panose="02040503050406030204" pitchFamily="18" charset="0"/>
                      </a:rPr>
                      <m:t>𝑖𝑛𝑠𝑡𝑟𝑢𝑐𝑡𝑖𝑜𝑛</m:t>
                    </m:r>
                    <m:r>
                      <a:rPr lang="en-US" b="0" i="1" smtClean="0">
                        <a:latin typeface="Cambria Math" panose="02040503050406030204" pitchFamily="18" charset="0"/>
                      </a:rPr>
                      <m:t>=</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𝑚</m:t>
                            </m:r>
                          </m:sub>
                        </m:sSub>
                      </m:e>
                    </m:d>
                    <m:r>
                      <a:rPr lang="en-US" b="0" i="0" smtClean="0">
                        <a:latin typeface="Cambria Math" panose="02040503050406030204" pitchFamily="18" charset="0"/>
                      </a:rPr>
                      <m:t>  </m:t>
                    </m:r>
                    <m:r>
                      <a:rPr lang="en-US" b="0" i="1" smtClean="0">
                        <a:latin typeface="Cambria Math" panose="02040503050406030204" pitchFamily="18" charset="0"/>
                      </a:rPr>
                      <m:t>𝑜𝑢𝑡𝑝𝑢𝑡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𝑛</m:t>
                        </m:r>
                      </m:sub>
                    </m:sSub>
                    <m:r>
                      <a:rPr lang="en-US" b="0" i="1" smtClean="0">
                        <a:latin typeface="Cambria Math" panose="02040503050406030204" pitchFamily="18" charset="0"/>
                      </a:rPr>
                      <m:t>)</m:t>
                    </m:r>
                  </m:oMath>
                </a14:m>
                <a:endParaRPr lang="en-US" b="0" dirty="0"/>
              </a:p>
            </p:txBody>
          </p:sp>
        </mc:Choice>
        <mc:Fallback>
          <p:sp>
            <p:nvSpPr>
              <p:cNvPr id="3" name="Content Placeholder 2"/>
              <p:cNvSpPr>
                <a:spLocks noRot="1" noChangeAspect="1" noMove="1" noResize="1" noEditPoints="1" noAdjustHandles="1" noChangeArrowheads="1" noChangeShapeType="1" noTextEdit="1"/>
              </p:cNvSpPr>
              <p:nvPr>
                <p:ph idx="1"/>
              </p:nvPr>
            </p:nvSpPr>
            <p:spPr>
              <a:blipFill rotWithShape="1">
                <a:blip r:embed="rId1"/>
                <a:stretch>
                  <a:fillRect t="-190" b="7"/>
                </a:stretch>
              </a:blipFill>
            </p:spPr>
            <p:txBody>
              <a:bodyPr/>
              <a:lstStyle/>
              <a:p>
                <a:r>
                  <a:rPr lang="en-US" altLang="en-US">
                    <a:noFill/>
                  </a:rPr>
                  <a:t> </a:t>
                </a:r>
              </a:p>
            </p:txBody>
          </p:sp>
        </mc:Fallback>
      </mc:AlternateContent>
      <p:sp>
        <p:nvSpPr>
          <p:cNvPr id="4" name="Rounded Rectangle 3"/>
          <p:cNvSpPr/>
          <p:nvPr/>
        </p:nvSpPr>
        <p:spPr>
          <a:xfrm>
            <a:off x="218359" y="4154863"/>
            <a:ext cx="3175368" cy="1119117"/>
          </a:xfrm>
          <a:prstGeom prst="roundRect">
            <a:avLst/>
          </a:prstGeom>
          <a:solidFill>
            <a:schemeClr val="accent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Transformer Encoder</a:t>
            </a:r>
            <a:endParaRPr lang="en-US" dirty="0">
              <a:solidFill>
                <a:schemeClr val="tx1"/>
              </a:solidFill>
            </a:endParaRPr>
          </a:p>
        </p:txBody>
      </p:sp>
      <p:grpSp>
        <p:nvGrpSpPr>
          <p:cNvPr id="14" name="Group 13"/>
          <p:cNvGrpSpPr/>
          <p:nvPr/>
        </p:nvGrpSpPr>
        <p:grpSpPr>
          <a:xfrm>
            <a:off x="436722" y="5273980"/>
            <a:ext cx="423080" cy="608211"/>
            <a:chOff x="2197290" y="4496052"/>
            <a:chExt cx="423080" cy="608211"/>
          </a:xfrm>
        </p:grpSpPr>
        <mc:AlternateContent xmlns:mc="http://schemas.openxmlformats.org/markup-compatibility/2006">
          <mc:Choice xmlns:a14="http://schemas.microsoft.com/office/drawing/2010/main" Requires="a14">
            <p:sp>
              <p:nvSpPr>
                <p:cNvPr id="6" name="Rounded Rectangle 5"/>
                <p:cNvSpPr/>
                <p:nvPr/>
              </p:nvSpPr>
              <p:spPr>
                <a:xfrm>
                  <a:off x="2197290" y="4763069"/>
                  <a:ext cx="423080" cy="3411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oMath>
                    </m:oMathPara>
                  </a14:m>
                  <a:endParaRPr lang="en-US" dirty="0"/>
                </a:p>
              </p:txBody>
            </p:sp>
          </mc:Choice>
          <mc:Fallback>
            <p:sp>
              <p:nvSpPr>
                <p:cNvPr id="6" name="Rounded Rectangle 5"/>
                <p:cNvSpPr>
                  <a:spLocks noRot="1" noChangeAspect="1" noMove="1" noResize="1" noEditPoints="1" noAdjustHandles="1" noChangeArrowheads="1" noChangeShapeType="1" noTextEdit="1"/>
                </p:cNvSpPr>
                <p:nvPr/>
              </p:nvSpPr>
              <p:spPr>
                <a:xfrm>
                  <a:off x="2197290" y="4763069"/>
                  <a:ext cx="423080" cy="341194"/>
                </a:xfrm>
                <a:prstGeom prst="roundRect">
                  <a:avLst/>
                </a:prstGeom>
                <a:blipFill rotWithShape="1">
                  <a:blip r:embed="rId2"/>
                </a:blipFill>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11" name="Straight Arrow Connector 10"/>
            <p:cNvCxnSpPr>
              <a:stCxn id="6" idx="0"/>
            </p:cNvCxnSpPr>
            <p:nvPr/>
          </p:nvCxnSpPr>
          <p:spPr>
            <a:xfrm flipV="1">
              <a:off x="2408830" y="4496052"/>
              <a:ext cx="6824" cy="2670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15" name="Group 14"/>
          <p:cNvGrpSpPr/>
          <p:nvPr/>
        </p:nvGrpSpPr>
        <p:grpSpPr>
          <a:xfrm>
            <a:off x="1071342" y="5273980"/>
            <a:ext cx="423080" cy="608211"/>
            <a:chOff x="2197290" y="4496052"/>
            <a:chExt cx="423080" cy="608211"/>
          </a:xfrm>
        </p:grpSpPr>
        <mc:AlternateContent xmlns:mc="http://schemas.openxmlformats.org/markup-compatibility/2006">
          <mc:Choice xmlns:a14="http://schemas.microsoft.com/office/drawing/2010/main" Requires="a14">
            <p:sp>
              <p:nvSpPr>
                <p:cNvPr id="16" name="Rounded Rectangle 15"/>
                <p:cNvSpPr/>
                <p:nvPr/>
              </p:nvSpPr>
              <p:spPr>
                <a:xfrm>
                  <a:off x="2197290" y="4763069"/>
                  <a:ext cx="423080" cy="3411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2</m:t>
                            </m:r>
                          </m:sub>
                        </m:sSub>
                      </m:oMath>
                    </m:oMathPara>
                  </a14:m>
                  <a:endParaRPr lang="en-US" dirty="0"/>
                </a:p>
              </p:txBody>
            </p:sp>
          </mc:Choice>
          <mc:Fallback>
            <p:sp>
              <p:nvSpPr>
                <p:cNvPr id="16" name="Rounded Rectangle 15"/>
                <p:cNvSpPr>
                  <a:spLocks noRot="1" noChangeAspect="1" noMove="1" noResize="1" noEditPoints="1" noAdjustHandles="1" noChangeArrowheads="1" noChangeShapeType="1" noTextEdit="1"/>
                </p:cNvSpPr>
                <p:nvPr/>
              </p:nvSpPr>
              <p:spPr>
                <a:xfrm>
                  <a:off x="2197290" y="4763069"/>
                  <a:ext cx="423080" cy="341194"/>
                </a:xfrm>
                <a:prstGeom prst="roundRect">
                  <a:avLst/>
                </a:prstGeom>
                <a:blipFill rotWithShape="1">
                  <a:blip r:embed="rId3"/>
                </a:blipFill>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17" name="Straight Arrow Connector 16"/>
            <p:cNvCxnSpPr>
              <a:stCxn id="16" idx="0"/>
            </p:cNvCxnSpPr>
            <p:nvPr/>
          </p:nvCxnSpPr>
          <p:spPr>
            <a:xfrm flipV="1">
              <a:off x="2408830" y="4496052"/>
              <a:ext cx="6824" cy="2670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18" name="Group 17"/>
          <p:cNvGrpSpPr/>
          <p:nvPr/>
        </p:nvGrpSpPr>
        <p:grpSpPr>
          <a:xfrm>
            <a:off x="1719610" y="5273980"/>
            <a:ext cx="423080" cy="608211"/>
            <a:chOff x="2197290" y="4496052"/>
            <a:chExt cx="423080" cy="608211"/>
          </a:xfrm>
        </p:grpSpPr>
        <mc:AlternateContent xmlns:mc="http://schemas.openxmlformats.org/markup-compatibility/2006">
          <mc:Choice xmlns:a14="http://schemas.microsoft.com/office/drawing/2010/main" Requires="a14">
            <p:sp>
              <p:nvSpPr>
                <p:cNvPr id="19" name="Rounded Rectangle 18"/>
                <p:cNvSpPr/>
                <p:nvPr/>
              </p:nvSpPr>
              <p:spPr>
                <a:xfrm>
                  <a:off x="2197290" y="4763069"/>
                  <a:ext cx="423080" cy="3411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3</m:t>
                            </m:r>
                          </m:sub>
                        </m:sSub>
                      </m:oMath>
                    </m:oMathPara>
                  </a14:m>
                  <a:endParaRPr lang="en-US" dirty="0"/>
                </a:p>
              </p:txBody>
            </p:sp>
          </mc:Choice>
          <mc:Fallback>
            <p:sp>
              <p:nvSpPr>
                <p:cNvPr id="19" name="Rounded Rectangle 18"/>
                <p:cNvSpPr>
                  <a:spLocks noRot="1" noChangeAspect="1" noMove="1" noResize="1" noEditPoints="1" noAdjustHandles="1" noChangeArrowheads="1" noChangeShapeType="1" noTextEdit="1"/>
                </p:cNvSpPr>
                <p:nvPr/>
              </p:nvSpPr>
              <p:spPr>
                <a:xfrm>
                  <a:off x="2197290" y="4763069"/>
                  <a:ext cx="423080" cy="341194"/>
                </a:xfrm>
                <a:prstGeom prst="roundRect">
                  <a:avLst/>
                </a:prstGeom>
                <a:blipFill rotWithShape="1">
                  <a:blip r:embed="rId4"/>
                </a:blipFill>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20" name="Straight Arrow Connector 19"/>
            <p:cNvCxnSpPr>
              <a:stCxn id="19" idx="0"/>
            </p:cNvCxnSpPr>
            <p:nvPr/>
          </p:nvCxnSpPr>
          <p:spPr>
            <a:xfrm flipV="1">
              <a:off x="2408830" y="4496052"/>
              <a:ext cx="6824" cy="2670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21" name="Group 20"/>
          <p:cNvGrpSpPr/>
          <p:nvPr/>
        </p:nvGrpSpPr>
        <p:grpSpPr>
          <a:xfrm>
            <a:off x="2354230" y="5301276"/>
            <a:ext cx="423080" cy="608211"/>
            <a:chOff x="2197290" y="4496052"/>
            <a:chExt cx="423080" cy="608211"/>
          </a:xfrm>
        </p:grpSpPr>
        <mc:AlternateContent xmlns:mc="http://schemas.openxmlformats.org/markup-compatibility/2006">
          <mc:Choice xmlns:a14="http://schemas.microsoft.com/office/drawing/2010/main" Requires="a14">
            <p:sp>
              <p:nvSpPr>
                <p:cNvPr id="22" name="Rounded Rectangle 21"/>
                <p:cNvSpPr/>
                <p:nvPr/>
              </p:nvSpPr>
              <p:spPr>
                <a:xfrm>
                  <a:off x="2197290" y="4763069"/>
                  <a:ext cx="423080" cy="3411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4</m:t>
                            </m:r>
                          </m:sub>
                        </m:sSub>
                      </m:oMath>
                    </m:oMathPara>
                  </a14:m>
                  <a:endParaRPr lang="en-US" dirty="0"/>
                </a:p>
              </p:txBody>
            </p:sp>
          </mc:Choice>
          <mc:Fallback>
            <p:sp>
              <p:nvSpPr>
                <p:cNvPr id="22" name="Rounded Rectangle 21"/>
                <p:cNvSpPr>
                  <a:spLocks noRot="1" noChangeAspect="1" noMove="1" noResize="1" noEditPoints="1" noAdjustHandles="1" noChangeArrowheads="1" noChangeShapeType="1" noTextEdit="1"/>
                </p:cNvSpPr>
                <p:nvPr/>
              </p:nvSpPr>
              <p:spPr>
                <a:xfrm>
                  <a:off x="2197290" y="4763069"/>
                  <a:ext cx="423080" cy="341194"/>
                </a:xfrm>
                <a:prstGeom prst="roundRect">
                  <a:avLst/>
                </a:prstGeom>
                <a:blipFill rotWithShape="1">
                  <a:blip r:embed="rId5"/>
                </a:blipFill>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23" name="Straight Arrow Connector 22"/>
            <p:cNvCxnSpPr>
              <a:stCxn id="22" idx="0"/>
            </p:cNvCxnSpPr>
            <p:nvPr/>
          </p:nvCxnSpPr>
          <p:spPr>
            <a:xfrm flipV="1">
              <a:off x="2408830" y="4496052"/>
              <a:ext cx="6824" cy="2670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grpSp>
        <p:nvGrpSpPr>
          <p:cNvPr id="24" name="Group 23"/>
          <p:cNvGrpSpPr/>
          <p:nvPr/>
        </p:nvGrpSpPr>
        <p:grpSpPr>
          <a:xfrm>
            <a:off x="2988850" y="5287628"/>
            <a:ext cx="423080" cy="608211"/>
            <a:chOff x="2197290" y="4496052"/>
            <a:chExt cx="423080" cy="608211"/>
          </a:xfrm>
        </p:grpSpPr>
        <mc:AlternateContent xmlns:mc="http://schemas.openxmlformats.org/markup-compatibility/2006">
          <mc:Choice xmlns:a14="http://schemas.microsoft.com/office/drawing/2010/main" Requires="a14">
            <p:sp>
              <p:nvSpPr>
                <p:cNvPr id="25" name="Rounded Rectangle 24"/>
                <p:cNvSpPr/>
                <p:nvPr/>
              </p:nvSpPr>
              <p:spPr>
                <a:xfrm>
                  <a:off x="2197290" y="4763069"/>
                  <a:ext cx="423080" cy="34119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5</m:t>
                            </m:r>
                          </m:sub>
                        </m:sSub>
                      </m:oMath>
                    </m:oMathPara>
                  </a14:m>
                  <a:endParaRPr lang="en-US" dirty="0"/>
                </a:p>
              </p:txBody>
            </p:sp>
          </mc:Choice>
          <mc:Fallback>
            <p:sp>
              <p:nvSpPr>
                <p:cNvPr id="25" name="Rounded Rectangle 24"/>
                <p:cNvSpPr>
                  <a:spLocks noRot="1" noChangeAspect="1" noMove="1" noResize="1" noEditPoints="1" noAdjustHandles="1" noChangeArrowheads="1" noChangeShapeType="1" noTextEdit="1"/>
                </p:cNvSpPr>
                <p:nvPr/>
              </p:nvSpPr>
              <p:spPr>
                <a:xfrm>
                  <a:off x="2197290" y="4763069"/>
                  <a:ext cx="423080" cy="341194"/>
                </a:xfrm>
                <a:prstGeom prst="roundRect">
                  <a:avLst/>
                </a:prstGeom>
                <a:blipFill rotWithShape="1">
                  <a:blip r:embed="rId6"/>
                </a:blipFill>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26" name="Straight Arrow Connector 25"/>
            <p:cNvCxnSpPr>
              <a:stCxn id="25" idx="0"/>
            </p:cNvCxnSpPr>
            <p:nvPr/>
          </p:nvCxnSpPr>
          <p:spPr>
            <a:xfrm flipV="1">
              <a:off x="2408830" y="4496052"/>
              <a:ext cx="6824" cy="2670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8" name="Rounded Rectangle 27"/>
              <p:cNvSpPr/>
              <p:nvPr/>
            </p:nvSpPr>
            <p:spPr>
              <a:xfrm>
                <a:off x="5281678" y="4763069"/>
                <a:ext cx="423080" cy="341194"/>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p:sp>
            <p:nvSpPr>
              <p:cNvPr id="28" name="Rounded Rectangle 27"/>
              <p:cNvSpPr>
                <a:spLocks noRot="1" noChangeAspect="1" noMove="1" noResize="1" noEditPoints="1" noAdjustHandles="1" noChangeArrowheads="1" noChangeShapeType="1" noTextEdit="1"/>
              </p:cNvSpPr>
              <p:nvPr/>
            </p:nvSpPr>
            <p:spPr>
              <a:xfrm>
                <a:off x="5281678" y="4763069"/>
                <a:ext cx="423080" cy="341194"/>
              </a:xfrm>
              <a:prstGeom prst="roundRect">
                <a:avLst/>
              </a:prstGeom>
              <a:blipFill rotWithShape="1">
                <a:blip r:embed="rId7"/>
                <a:stretch>
                  <a:fillRect l="-1591" t="-2028" r="-1370" b="-1822"/>
                </a:stretch>
              </a:blipFill>
              <a:ln>
                <a:prstDash val="dash"/>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29" name="Straight Arrow Connector 28"/>
          <p:cNvCxnSpPr>
            <a:stCxn id="28" idx="0"/>
          </p:cNvCxnSpPr>
          <p:nvPr/>
        </p:nvCxnSpPr>
        <p:spPr>
          <a:xfrm flipV="1">
            <a:off x="5493218" y="4496052"/>
            <a:ext cx="6824" cy="267017"/>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1" name="Rounded Rectangle 30"/>
              <p:cNvSpPr/>
              <p:nvPr/>
            </p:nvSpPr>
            <p:spPr>
              <a:xfrm>
                <a:off x="5936770" y="4776717"/>
                <a:ext cx="423080" cy="341194"/>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p:sp>
            <p:nvSpPr>
              <p:cNvPr id="31" name="Rounded Rectangle 30"/>
              <p:cNvSpPr>
                <a:spLocks noRot="1" noChangeAspect="1" noMove="1" noResize="1" noEditPoints="1" noAdjustHandles="1" noChangeArrowheads="1" noChangeShapeType="1" noTextEdit="1"/>
              </p:cNvSpPr>
              <p:nvPr/>
            </p:nvSpPr>
            <p:spPr>
              <a:xfrm>
                <a:off x="5936770" y="4776717"/>
                <a:ext cx="423080" cy="341194"/>
              </a:xfrm>
              <a:prstGeom prst="roundRect">
                <a:avLst/>
              </a:prstGeom>
              <a:blipFill rotWithShape="1">
                <a:blip r:embed="rId8"/>
                <a:stretch>
                  <a:fillRect l="-1538" t="-1934" r="-1424" b="-1730"/>
                </a:stretch>
              </a:blipFill>
              <a:ln>
                <a:prstDash val="dash"/>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32" name="Straight Arrow Connector 31"/>
          <p:cNvCxnSpPr>
            <a:stCxn id="31" idx="0"/>
          </p:cNvCxnSpPr>
          <p:nvPr/>
        </p:nvCxnSpPr>
        <p:spPr>
          <a:xfrm flipV="1">
            <a:off x="6148310" y="4509700"/>
            <a:ext cx="6824" cy="267017"/>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4" name="Rounded Rectangle 33"/>
              <p:cNvSpPr/>
              <p:nvPr/>
            </p:nvSpPr>
            <p:spPr>
              <a:xfrm>
                <a:off x="6564566" y="4763069"/>
                <a:ext cx="423080" cy="341194"/>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p:sp>
            <p:nvSpPr>
              <p:cNvPr id="34" name="Rounded Rectangle 33"/>
              <p:cNvSpPr>
                <a:spLocks noRot="1" noChangeAspect="1" noMove="1" noResize="1" noEditPoints="1" noAdjustHandles="1" noChangeArrowheads="1" noChangeShapeType="1" noTextEdit="1"/>
              </p:cNvSpPr>
              <p:nvPr/>
            </p:nvSpPr>
            <p:spPr>
              <a:xfrm>
                <a:off x="6564566" y="4763069"/>
                <a:ext cx="423080" cy="341194"/>
              </a:xfrm>
              <a:prstGeom prst="roundRect">
                <a:avLst/>
              </a:prstGeom>
              <a:blipFill rotWithShape="1">
                <a:blip r:embed="rId9"/>
                <a:stretch>
                  <a:fillRect l="-1636" t="-2028" r="-1476" b="-1822"/>
                </a:stretch>
              </a:blipFill>
              <a:ln>
                <a:prstDash val="dash"/>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35" name="Straight Arrow Connector 34"/>
          <p:cNvCxnSpPr>
            <a:stCxn id="34" idx="0"/>
          </p:cNvCxnSpPr>
          <p:nvPr/>
        </p:nvCxnSpPr>
        <p:spPr>
          <a:xfrm flipV="1">
            <a:off x="6776106" y="4496052"/>
            <a:ext cx="6824" cy="267017"/>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Rounded Rectangle 36"/>
              <p:cNvSpPr/>
              <p:nvPr/>
            </p:nvSpPr>
            <p:spPr>
              <a:xfrm>
                <a:off x="7219658" y="4776717"/>
                <a:ext cx="423080" cy="341194"/>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p:sp>
            <p:nvSpPr>
              <p:cNvPr id="37" name="Rounded Rectangle 36"/>
              <p:cNvSpPr>
                <a:spLocks noRot="1" noChangeAspect="1" noMove="1" noResize="1" noEditPoints="1" noAdjustHandles="1" noChangeArrowheads="1" noChangeShapeType="1" noTextEdit="1"/>
              </p:cNvSpPr>
              <p:nvPr/>
            </p:nvSpPr>
            <p:spPr>
              <a:xfrm>
                <a:off x="7219658" y="4776717"/>
                <a:ext cx="423080" cy="341194"/>
              </a:xfrm>
              <a:prstGeom prst="roundRect">
                <a:avLst/>
              </a:prstGeom>
              <a:blipFill rotWithShape="1">
                <a:blip r:embed="rId10"/>
                <a:stretch>
                  <a:fillRect l="-1582" t="-1934" r="-1380" b="-1730"/>
                </a:stretch>
              </a:blipFill>
              <a:ln>
                <a:prstDash val="dash"/>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38" name="Straight Arrow Connector 37"/>
          <p:cNvCxnSpPr>
            <a:stCxn id="37" idx="0"/>
          </p:cNvCxnSpPr>
          <p:nvPr/>
        </p:nvCxnSpPr>
        <p:spPr>
          <a:xfrm flipV="1">
            <a:off x="7431198" y="4509700"/>
            <a:ext cx="6824" cy="267017"/>
          </a:xfrm>
          <a:prstGeom prst="straightConnector1">
            <a:avLst/>
          </a:prstGeom>
          <a:ln w="19050">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5" name="Rounded Rectangle 44"/>
              <p:cNvSpPr/>
              <p:nvPr/>
            </p:nvSpPr>
            <p:spPr>
              <a:xfrm>
                <a:off x="4642503" y="2690881"/>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p:sp>
            <p:nvSpPr>
              <p:cNvPr id="45" name="Rounded Rectangle 44"/>
              <p:cNvSpPr>
                <a:spLocks noRot="1" noChangeAspect="1" noMove="1" noResize="1" noEditPoints="1" noAdjustHandles="1" noChangeArrowheads="1" noChangeShapeType="1" noTextEdit="1"/>
              </p:cNvSpPr>
              <p:nvPr/>
            </p:nvSpPr>
            <p:spPr>
              <a:xfrm>
                <a:off x="4642503" y="2690881"/>
                <a:ext cx="423080" cy="341194"/>
              </a:xfrm>
              <a:prstGeom prst="roundRect">
                <a:avLst/>
              </a:prstGeom>
              <a:blipFill rotWithShape="1">
                <a:blip r:embed="rId11"/>
                <a:stretch>
                  <a:fillRect l="-1505" t="-1974" r="-1456" b="-1690"/>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46" name="Rounded Rectangle 45"/>
              <p:cNvSpPr/>
              <p:nvPr/>
            </p:nvSpPr>
            <p:spPr>
              <a:xfrm>
                <a:off x="5297595" y="2704529"/>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p:sp>
            <p:nvSpPr>
              <p:cNvPr id="46" name="Rounded Rectangle 45"/>
              <p:cNvSpPr>
                <a:spLocks noRot="1" noChangeAspect="1" noMove="1" noResize="1" noEditPoints="1" noAdjustHandles="1" noChangeArrowheads="1" noChangeShapeType="1" noTextEdit="1"/>
              </p:cNvSpPr>
              <p:nvPr/>
            </p:nvSpPr>
            <p:spPr>
              <a:xfrm>
                <a:off x="5297595" y="2704529"/>
                <a:ext cx="423080" cy="341194"/>
              </a:xfrm>
              <a:prstGeom prst="roundRect">
                <a:avLst/>
              </a:prstGeom>
              <a:blipFill rotWithShape="1">
                <a:blip r:embed="rId12"/>
                <a:stretch>
                  <a:fillRect l="-1601" t="-1880" r="-1360" b="-1784"/>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47" name="Rounded Rectangle 46"/>
              <p:cNvSpPr/>
              <p:nvPr/>
            </p:nvSpPr>
            <p:spPr>
              <a:xfrm>
                <a:off x="5925391" y="2690881"/>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p:sp>
            <p:nvSpPr>
              <p:cNvPr id="47" name="Rounded Rectangle 46"/>
              <p:cNvSpPr>
                <a:spLocks noRot="1" noChangeAspect="1" noMove="1" noResize="1" noEditPoints="1" noAdjustHandles="1" noChangeArrowheads="1" noChangeShapeType="1" noTextEdit="1"/>
              </p:cNvSpPr>
              <p:nvPr/>
            </p:nvSpPr>
            <p:spPr>
              <a:xfrm>
                <a:off x="5925391" y="2690881"/>
                <a:ext cx="423080" cy="341194"/>
              </a:xfrm>
              <a:prstGeom prst="roundRect">
                <a:avLst/>
              </a:prstGeom>
              <a:blipFill rotWithShape="1">
                <a:blip r:embed="rId13"/>
                <a:stretch>
                  <a:fillRect l="-1550" t="-1974" r="-1412" b="-1690"/>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48" name="Rounded Rectangle 47"/>
              <p:cNvSpPr/>
              <p:nvPr/>
            </p:nvSpPr>
            <p:spPr>
              <a:xfrm>
                <a:off x="6580483" y="2704529"/>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𝑜</m:t>
                          </m:r>
                        </m:e>
                        <m:sub>
                          <m:r>
                            <a:rPr lang="en-US" b="0" i="1"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p:sp>
            <p:nvSpPr>
              <p:cNvPr id="48" name="Rounded Rectangle 47"/>
              <p:cNvSpPr>
                <a:spLocks noRot="1" noChangeAspect="1" noMove="1" noResize="1" noEditPoints="1" noAdjustHandles="1" noChangeArrowheads="1" noChangeShapeType="1" noTextEdit="1"/>
              </p:cNvSpPr>
              <p:nvPr/>
            </p:nvSpPr>
            <p:spPr>
              <a:xfrm>
                <a:off x="6580483" y="2704529"/>
                <a:ext cx="423080" cy="341194"/>
              </a:xfrm>
              <a:prstGeom prst="roundRect">
                <a:avLst/>
              </a:prstGeom>
              <a:blipFill rotWithShape="1">
                <a:blip r:embed="rId14"/>
                <a:stretch>
                  <a:fillRect l="-1646" t="-1880" r="-1466" b="-1784"/>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50" name="Straight Arrow Connector 49"/>
          <p:cNvCxnSpPr/>
          <p:nvPr/>
        </p:nvCxnSpPr>
        <p:spPr>
          <a:xfrm flipV="1">
            <a:off x="4865422" y="3045723"/>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p:cNvCxnSpPr/>
          <p:nvPr/>
        </p:nvCxnSpPr>
        <p:spPr>
          <a:xfrm flipV="1">
            <a:off x="5509137" y="3045723"/>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V="1">
            <a:off x="6155134" y="3032075"/>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p:cNvCxnSpPr/>
          <p:nvPr/>
        </p:nvCxnSpPr>
        <p:spPr>
          <a:xfrm flipV="1">
            <a:off x="6776106" y="3045723"/>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4" name="Rounded Rectangle 53"/>
              <p:cNvSpPr/>
              <p:nvPr/>
            </p:nvSpPr>
            <p:spPr>
              <a:xfrm>
                <a:off x="7208520" y="2679700"/>
                <a:ext cx="2174240" cy="340995"/>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&lt;|</m:t>
                      </m:r>
                      <m:r>
                        <a:rPr lang="en-US" b="0" i="1" smtClean="0">
                          <a:solidFill>
                            <a:schemeClr val="tx1"/>
                          </a:solidFill>
                          <a:latin typeface="Cambria Math" panose="02040503050406030204" pitchFamily="18" charset="0"/>
                        </a:rPr>
                        <m:t>𝑒𝑛𝑑𝑜𝑓𝑡𝑒𝑥𝑡</m:t>
                      </m:r>
                      <m:r>
                        <a:rPr lang="en-US" b="0" i="1" smtClean="0">
                          <a:solidFill>
                            <a:schemeClr val="tx1"/>
                          </a:solidFill>
                          <a:latin typeface="Cambria Math" panose="02040503050406030204" pitchFamily="18" charset="0"/>
                        </a:rPr>
                        <m:t>|&gt;</m:t>
                      </m:r>
                    </m:oMath>
                  </m:oMathPara>
                </a14:m>
                <a:endParaRPr lang="en-US" dirty="0">
                  <a:solidFill>
                    <a:schemeClr val="tx1"/>
                  </a:solidFill>
                </a:endParaRPr>
              </a:p>
            </p:txBody>
          </p:sp>
        </mc:Choice>
        <mc:Fallback>
          <p:sp>
            <p:nvSpPr>
              <p:cNvPr id="54" name="Rounded Rectangle 53"/>
              <p:cNvSpPr>
                <a:spLocks noRot="1" noChangeAspect="1" noMove="1" noResize="1" noEditPoints="1" noAdjustHandles="1" noChangeArrowheads="1" noChangeShapeType="1" noTextEdit="1"/>
              </p:cNvSpPr>
              <p:nvPr/>
            </p:nvSpPr>
            <p:spPr>
              <a:xfrm>
                <a:off x="7208520" y="2679700"/>
                <a:ext cx="2174240" cy="340995"/>
              </a:xfrm>
              <a:prstGeom prst="roundRect">
                <a:avLst/>
              </a:prstGeom>
              <a:blipFill rotWithShape="1">
                <a:blip r:embed="rId15"/>
                <a:stretch>
                  <a:fillRect l="-292" t="-1862" r="-292" b="-1862"/>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56" name="Straight Arrow Connector 55"/>
          <p:cNvCxnSpPr/>
          <p:nvPr/>
        </p:nvCxnSpPr>
        <p:spPr>
          <a:xfrm flipV="1">
            <a:off x="7438022" y="3045723"/>
            <a:ext cx="0" cy="317564"/>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7" name="TextBox 56"/>
              <p:cNvSpPr txBox="1"/>
              <p:nvPr/>
            </p:nvSpPr>
            <p:spPr>
              <a:xfrm>
                <a:off x="8263890" y="3473450"/>
                <a:ext cx="3928110" cy="1085850"/>
              </a:xfrm>
              <a:prstGeom prst="rect">
                <a:avLst/>
              </a:prstGeom>
              <a:noFill/>
            </p:spPr>
            <p:txBody>
              <a:bodyPr wrap="square" rtlCol="0">
                <a:spAutoFit/>
              </a:bodyPr>
              <a:lstStyle/>
              <a:p>
                <a14:m>
                  <m:oMathPara xmlns:m="http://schemas.openxmlformats.org/officeDocument/2006/math">
                    <m:oMathParaPr>
                      <m:jc m:val="centerGroup"/>
                    </m:oMathParaPr>
                    <m:oMath xmlns:m="http://schemas.openxmlformats.org/officeDocument/2006/math">
                      <m:func>
                        <m:funcPr>
                          <m:ctrlPr>
                            <a:rPr lang="en-US" b="0" i="1" smtClean="0">
                              <a:latin typeface="Cambria Math" panose="02040503050406030204" pitchFamily="18" charset="0"/>
                            </a:rPr>
                          </m:ctrlPr>
                        </m:funcPr>
                        <m:fName>
                          <m:r>
                            <a:rPr lang="en-US" b="0" i="1" smtClean="0">
                              <a:latin typeface="Cambria Math" panose="02040503050406030204" pitchFamily="18" charset="0"/>
                            </a:rPr>
                            <m:t>𝑅</m:t>
                          </m:r>
                          <m:d>
                            <m:dPr>
                              <m:ctrlPr>
                                <a:rPr lang="en-US" b="0" i="1" smtClean="0">
                                  <a:latin typeface="Cambria Math" panose="02040503050406030204" pitchFamily="18" charset="0"/>
                                </a:rPr>
                              </m:ctrlPr>
                            </m:dPr>
                            <m:e>
                              <m:r>
                                <a:rPr lang="en-US" b="0" i="1" smtClean="0">
                                  <a:latin typeface="Cambria Math" panose="02040503050406030204" pitchFamily="18" charset="0"/>
                                </a:rPr>
                                <m:t>𝜃</m:t>
                              </m:r>
                            </m:e>
                          </m:d>
                          <m:r>
                            <a:rPr lang="en-US" b="0" i="1" smtClean="0">
                              <a:latin typeface="Cambria Math" panose="02040503050406030204" pitchFamily="18" charset="0"/>
                            </a:rPr>
                            <m:t>=</m:t>
                          </m:r>
                        </m:fName>
                        <m:e>
                          <m:nary>
                            <m:naryPr>
                              <m:chr m:val="∑"/>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0</m:t>
                              </m:r>
                            </m:sub>
                            <m:sup>
                              <m:r>
                                <a:rPr lang="en-US" b="0" i="1" smtClean="0">
                                  <a:latin typeface="Cambria Math" panose="02040503050406030204" pitchFamily="18" charset="0"/>
                                </a:rPr>
                                <m:t>𝑛</m:t>
                              </m:r>
                            </m:sup>
                            <m:e>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𝜃</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𝑗</m:t>
                                      </m:r>
                                      <m:r>
                                        <a:rPr lang="en-US" b="0" i="1" smtClean="0">
                                          <a:latin typeface="Cambria Math" panose="02040503050406030204" pitchFamily="18" charset="0"/>
                                        </a:rPr>
                                        <m:t>+</m:t>
                                      </m:r>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𝑗</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r>
                                        <a:rPr lang="en-US" b="0" i="1" smtClean="0">
                                          <a:latin typeface="Cambria Math" panose="02040503050406030204" pitchFamily="18" charset="0"/>
                                        </a:rPr>
                                        <m:t>:</m:t>
                                      </m:r>
                                      <m:r>
                                        <a:rPr lang="en-US" b="0" i="1" smtClean="0">
                                          <a:latin typeface="Cambria Math" panose="02040503050406030204" pitchFamily="18" charset="0"/>
                                        </a:rPr>
                                        <m:t>𝑚</m:t>
                                      </m:r>
                                    </m:sub>
                                  </m:sSub>
                                  <m:r>
                                    <a:rPr lang="en-US" b="0" i="1" smtClean="0">
                                      <a:latin typeface="Cambria Math" panose="02040503050406030204" pitchFamily="18" charset="0"/>
                                    </a:rPr>
                                    <m:t>)</m:t>
                                  </m:r>
                                </m:e>
                              </m:func>
                            </m:e>
                          </m:nary>
                        </m:e>
                      </m:func>
                    </m:oMath>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𝑜</m:t>
                          </m:r>
                        </m:e>
                        <m:sub>
                          <m:r>
                            <a:rPr lang="en-US" b="0" i="1" smtClean="0">
                              <a:latin typeface="Cambria Math" panose="02040503050406030204" pitchFamily="18" charset="0"/>
                            </a:rPr>
                            <m:t>5</m:t>
                          </m:r>
                        </m:sub>
                      </m:sSub>
                      <m:r>
                        <a:rPr lang="en-US" b="0" i="1" smtClean="0">
                          <a:latin typeface="Cambria Math" panose="02040503050406030204" pitchFamily="18" charset="0"/>
                        </a:rPr>
                        <m:t>= &lt;|</m:t>
                      </m:r>
                      <m:r>
                        <a:rPr lang="en-US" b="0" i="1" smtClean="0">
                          <a:latin typeface="Cambria Math" panose="02040503050406030204" pitchFamily="18" charset="0"/>
                        </a:rPr>
                        <m:t>𝑒𝑛𝑑𝑜𝑓𝑡𝑒𝑥𝑡</m:t>
                      </m:r>
                      <m:r>
                        <a:rPr lang="en-US" b="0" i="1" smtClean="0">
                          <a:latin typeface="Cambria Math" panose="02040503050406030204" pitchFamily="18" charset="0"/>
                        </a:rPr>
                        <m:t>|&gt;</m:t>
                      </m:r>
                    </m:oMath>
                  </m:oMathPara>
                </a14:m>
                <a:endParaRPr lang="en-US" dirty="0"/>
              </a:p>
            </p:txBody>
          </p:sp>
        </mc:Choice>
        <mc:Fallback>
          <p:sp>
            <p:nvSpPr>
              <p:cNvPr id="57" name="TextBox 56"/>
              <p:cNvSpPr txBox="1">
                <a:spLocks noRot="1" noChangeAspect="1" noMove="1" noResize="1" noEditPoints="1" noAdjustHandles="1" noChangeArrowheads="1" noChangeShapeType="1" noTextEdit="1"/>
              </p:cNvSpPr>
              <p:nvPr/>
            </p:nvSpPr>
            <p:spPr>
              <a:xfrm>
                <a:off x="8263890" y="3473450"/>
                <a:ext cx="3928110" cy="1085850"/>
              </a:xfrm>
              <a:prstGeom prst="rect">
                <a:avLst/>
              </a:prstGeom>
              <a:blipFill rotWithShape="1">
                <a:blip r:embed="rId16"/>
                <a:stretch>
                  <a:fillRect/>
                </a:stretch>
              </a:blipFill>
            </p:spPr>
            <p:txBody>
              <a:bodyPr/>
              <a:lstStyle/>
              <a:p>
                <a:r>
                  <a:rPr lang="en-US" altLang="en-US">
                    <a:noFill/>
                  </a:rPr>
                  <a:t> </a:t>
                </a:r>
              </a:p>
            </p:txBody>
          </p:sp>
        </mc:Fallback>
      </mc:AlternateContent>
      <p:sp>
        <p:nvSpPr>
          <p:cNvPr id="5" name="Rounded Rectangle 4"/>
          <p:cNvSpPr/>
          <p:nvPr/>
        </p:nvSpPr>
        <p:spPr>
          <a:xfrm>
            <a:off x="4710734" y="3376935"/>
            <a:ext cx="3175368" cy="1119117"/>
          </a:xfrm>
          <a:prstGeom prst="roundRect">
            <a:avLst/>
          </a:prstGeom>
          <a:solidFill>
            <a:schemeClr val="accent2">
              <a:lumMod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Transformer Decoder</a:t>
            </a:r>
            <a:endParaRPr lang="en-US" dirty="0">
              <a:solidFill>
                <a:schemeClr val="tx1"/>
              </a:solidFill>
            </a:endParaRPr>
          </a:p>
        </p:txBody>
      </p:sp>
      <p:sp>
        <p:nvSpPr>
          <p:cNvPr id="7" name="Rounded Rectangle 6"/>
          <p:cNvSpPr/>
          <p:nvPr/>
        </p:nvSpPr>
        <p:spPr>
          <a:xfrm>
            <a:off x="4660706" y="4778989"/>
            <a:ext cx="555004" cy="341194"/>
          </a:xfrm>
          <a:prstGeom prst="roundRect">
            <a:avLst/>
          </a:prstGeom>
          <a:solidFill>
            <a:schemeClr val="accent1">
              <a:lumMod val="20000"/>
              <a:lumOff val="80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BOS</a:t>
            </a:r>
            <a:endParaRPr lang="en-US" sz="1200" dirty="0">
              <a:solidFill>
                <a:schemeClr val="tx1"/>
              </a:solidFill>
            </a:endParaRPr>
          </a:p>
        </p:txBody>
      </p:sp>
      <p:cxnSp>
        <p:nvCxnSpPr>
          <p:cNvPr id="9" name="Straight Arrow Connector 8"/>
          <p:cNvCxnSpPr>
            <a:stCxn id="7" idx="0"/>
          </p:cNvCxnSpPr>
          <p:nvPr/>
        </p:nvCxnSpPr>
        <p:spPr>
          <a:xfrm flipV="1">
            <a:off x="4938208" y="4496052"/>
            <a:ext cx="32028" cy="2829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Rounded Rectangle 11"/>
              <p:cNvSpPr/>
              <p:nvPr/>
            </p:nvSpPr>
            <p:spPr>
              <a:xfrm>
                <a:off x="332073" y="3484729"/>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𝑒</m:t>
                          </m:r>
                        </m:e>
                        <m:sub>
                          <m:r>
                            <a:rPr lang="en-US" b="0" i="1" smtClean="0">
                              <a:solidFill>
                                <a:schemeClr val="tx1"/>
                              </a:solidFill>
                              <a:latin typeface="Cambria Math" panose="02040503050406030204" pitchFamily="18" charset="0"/>
                            </a:rPr>
                            <m:t>1</m:t>
                          </m:r>
                        </m:sub>
                      </m:sSub>
                    </m:oMath>
                  </m:oMathPara>
                </a14:m>
                <a:endParaRPr lang="en-US" dirty="0">
                  <a:solidFill>
                    <a:schemeClr val="tx1"/>
                  </a:solidFill>
                </a:endParaRPr>
              </a:p>
            </p:txBody>
          </p:sp>
        </mc:Choice>
        <mc:Fallback>
          <p:sp>
            <p:nvSpPr>
              <p:cNvPr id="12" name="Rounded Rectangle 11"/>
              <p:cNvSpPr>
                <a:spLocks noRot="1" noChangeAspect="1" noMove="1" noResize="1" noEditPoints="1" noAdjustHandles="1" noChangeArrowheads="1" noChangeShapeType="1" noTextEdit="1"/>
              </p:cNvSpPr>
              <p:nvPr/>
            </p:nvSpPr>
            <p:spPr>
              <a:xfrm>
                <a:off x="332073" y="3484729"/>
                <a:ext cx="423080" cy="341194"/>
              </a:xfrm>
              <a:prstGeom prst="roundRect">
                <a:avLst/>
              </a:prstGeom>
              <a:blipFill rotWithShape="1">
                <a:blip r:embed="rId17"/>
                <a:stretch>
                  <a:fillRect l="-1643" t="-2003" r="-1468" b="-1847"/>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13" name="Rounded Rectangle 12"/>
              <p:cNvSpPr/>
              <p:nvPr/>
            </p:nvSpPr>
            <p:spPr>
              <a:xfrm>
                <a:off x="987165" y="3498377"/>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𝑒</m:t>
                          </m:r>
                        </m:e>
                        <m:sub>
                          <m:r>
                            <a:rPr lang="en-US" b="0" i="1" smtClean="0">
                              <a:solidFill>
                                <a:schemeClr val="tx1"/>
                              </a:solidFill>
                              <a:latin typeface="Cambria Math" panose="02040503050406030204" pitchFamily="18" charset="0"/>
                            </a:rPr>
                            <m:t>2</m:t>
                          </m:r>
                        </m:sub>
                      </m:sSub>
                    </m:oMath>
                  </m:oMathPara>
                </a14:m>
                <a:endParaRPr lang="en-US" dirty="0">
                  <a:solidFill>
                    <a:schemeClr val="tx1"/>
                  </a:solidFill>
                </a:endParaRPr>
              </a:p>
            </p:txBody>
          </p:sp>
        </mc:Choice>
        <mc:Fallback>
          <p:sp>
            <p:nvSpPr>
              <p:cNvPr id="13" name="Rounded Rectangle 12"/>
              <p:cNvSpPr>
                <a:spLocks noRot="1" noChangeAspect="1" noMove="1" noResize="1" noEditPoints="1" noAdjustHandles="1" noChangeArrowheads="1" noChangeShapeType="1" noTextEdit="1"/>
              </p:cNvSpPr>
              <p:nvPr/>
            </p:nvSpPr>
            <p:spPr>
              <a:xfrm>
                <a:off x="987165" y="3498377"/>
                <a:ext cx="423080" cy="341194"/>
              </a:xfrm>
              <a:prstGeom prst="roundRect">
                <a:avLst/>
              </a:prstGeom>
              <a:blipFill rotWithShape="1">
                <a:blip r:embed="rId18"/>
                <a:stretch>
                  <a:fillRect l="-1590" t="-1909" r="-1372" b="-1755"/>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27" name="Rounded Rectangle 26"/>
              <p:cNvSpPr/>
              <p:nvPr/>
            </p:nvSpPr>
            <p:spPr>
              <a:xfrm>
                <a:off x="1614961" y="3484729"/>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𝑒</m:t>
                          </m:r>
                        </m:e>
                        <m:sub>
                          <m:r>
                            <a:rPr lang="en-US" b="0" i="1" smtClean="0">
                              <a:solidFill>
                                <a:schemeClr val="tx1"/>
                              </a:solidFill>
                              <a:latin typeface="Cambria Math" panose="02040503050406030204" pitchFamily="18" charset="0"/>
                            </a:rPr>
                            <m:t>3</m:t>
                          </m:r>
                        </m:sub>
                      </m:sSub>
                    </m:oMath>
                  </m:oMathPara>
                </a14:m>
                <a:endParaRPr lang="en-US" dirty="0">
                  <a:solidFill>
                    <a:schemeClr val="tx1"/>
                  </a:solidFill>
                </a:endParaRPr>
              </a:p>
            </p:txBody>
          </p:sp>
        </mc:Choice>
        <mc:Fallback>
          <p:sp>
            <p:nvSpPr>
              <p:cNvPr id="27" name="Rounded Rectangle 26"/>
              <p:cNvSpPr>
                <a:spLocks noRot="1" noChangeAspect="1" noMove="1" noResize="1" noEditPoints="1" noAdjustHandles="1" noChangeArrowheads="1" noChangeShapeType="1" noTextEdit="1"/>
              </p:cNvSpPr>
              <p:nvPr/>
            </p:nvSpPr>
            <p:spPr>
              <a:xfrm>
                <a:off x="1614961" y="3484729"/>
                <a:ext cx="423080" cy="341194"/>
              </a:xfrm>
              <a:prstGeom prst="roundRect">
                <a:avLst/>
              </a:prstGeom>
              <a:blipFill rotWithShape="1">
                <a:blip r:embed="rId19"/>
                <a:stretch>
                  <a:fillRect l="-1538" t="-2003" r="-1424" b="-1847"/>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mc:AlternateContent xmlns:mc="http://schemas.openxmlformats.org/markup-compatibility/2006">
        <mc:Choice xmlns:a14="http://schemas.microsoft.com/office/drawing/2010/main" Requires="a14">
          <p:sp>
            <p:nvSpPr>
              <p:cNvPr id="30" name="Rounded Rectangle 29"/>
              <p:cNvSpPr/>
              <p:nvPr/>
            </p:nvSpPr>
            <p:spPr>
              <a:xfrm>
                <a:off x="2270053" y="3498377"/>
                <a:ext cx="423080"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𝑒</m:t>
                          </m:r>
                        </m:e>
                        <m:sub>
                          <m:r>
                            <a:rPr lang="en-US" b="0" i="1" smtClean="0">
                              <a:solidFill>
                                <a:schemeClr val="tx1"/>
                              </a:solidFill>
                              <a:latin typeface="Cambria Math" panose="02040503050406030204" pitchFamily="18" charset="0"/>
                            </a:rPr>
                            <m:t>4</m:t>
                          </m:r>
                        </m:sub>
                      </m:sSub>
                    </m:oMath>
                  </m:oMathPara>
                </a14:m>
                <a:endParaRPr lang="en-US" dirty="0">
                  <a:solidFill>
                    <a:schemeClr val="tx1"/>
                  </a:solidFill>
                </a:endParaRPr>
              </a:p>
            </p:txBody>
          </p:sp>
        </mc:Choice>
        <mc:Fallback>
          <p:sp>
            <p:nvSpPr>
              <p:cNvPr id="30" name="Rounded Rectangle 29"/>
              <p:cNvSpPr>
                <a:spLocks noRot="1" noChangeAspect="1" noMove="1" noResize="1" noEditPoints="1" noAdjustHandles="1" noChangeArrowheads="1" noChangeShapeType="1" noTextEdit="1"/>
              </p:cNvSpPr>
              <p:nvPr/>
            </p:nvSpPr>
            <p:spPr>
              <a:xfrm>
                <a:off x="2270053" y="3498377"/>
                <a:ext cx="423080" cy="341194"/>
              </a:xfrm>
              <a:prstGeom prst="roundRect">
                <a:avLst/>
              </a:prstGeom>
              <a:blipFill rotWithShape="1">
                <a:blip r:embed="rId20"/>
                <a:stretch>
                  <a:fillRect l="-1634" t="-1909" r="-1478" b="-1755"/>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33" name="Straight Arrow Connector 32"/>
          <p:cNvCxnSpPr/>
          <p:nvPr/>
        </p:nvCxnSpPr>
        <p:spPr>
          <a:xfrm flipV="1">
            <a:off x="554992" y="3839571"/>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p:cNvCxnSpPr/>
          <p:nvPr/>
        </p:nvCxnSpPr>
        <p:spPr>
          <a:xfrm flipV="1">
            <a:off x="1198707" y="3839571"/>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1844704" y="3825923"/>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2465676" y="3839571"/>
            <a:ext cx="0" cy="331212"/>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1" name="Rounded Rectangle 40"/>
              <p:cNvSpPr/>
              <p:nvPr/>
            </p:nvSpPr>
            <p:spPr>
              <a:xfrm>
                <a:off x="2897849" y="3473354"/>
                <a:ext cx="495878" cy="341194"/>
              </a:xfrm>
              <a:prstGeom prst="roundRect">
                <a:avLst/>
              </a:prstGeom>
              <a:solidFill>
                <a:schemeClr val="accent5">
                  <a:lumMod val="20000"/>
                  <a:lumOff val="80000"/>
                </a:schemeClr>
              </a:solidFill>
              <a:ln>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𝑒</m:t>
                          </m:r>
                        </m:e>
                        <m:sub>
                          <m:r>
                            <a:rPr lang="en-US" b="0" i="1" smtClean="0">
                              <a:solidFill>
                                <a:schemeClr val="tx1"/>
                              </a:solidFill>
                              <a:latin typeface="Cambria Math" panose="02040503050406030204" pitchFamily="18" charset="0"/>
                            </a:rPr>
                            <m:t>5</m:t>
                          </m:r>
                        </m:sub>
                      </m:sSub>
                    </m:oMath>
                  </m:oMathPara>
                </a14:m>
                <a:endParaRPr lang="en-US" dirty="0">
                  <a:solidFill>
                    <a:schemeClr val="tx1"/>
                  </a:solidFill>
                </a:endParaRPr>
              </a:p>
            </p:txBody>
          </p:sp>
        </mc:Choice>
        <mc:Fallback>
          <p:sp>
            <p:nvSpPr>
              <p:cNvPr id="41" name="Rounded Rectangle 40"/>
              <p:cNvSpPr>
                <a:spLocks noRot="1" noChangeAspect="1" noMove="1" noResize="1" noEditPoints="1" noAdjustHandles="1" noChangeArrowheads="1" noChangeShapeType="1" noTextEdit="1"/>
              </p:cNvSpPr>
              <p:nvPr/>
            </p:nvSpPr>
            <p:spPr>
              <a:xfrm>
                <a:off x="2897849" y="3473354"/>
                <a:ext cx="495878" cy="341194"/>
              </a:xfrm>
              <a:prstGeom prst="roundRect">
                <a:avLst/>
              </a:prstGeom>
              <a:blipFill rotWithShape="1">
                <a:blip r:embed="rId21"/>
                <a:stretch>
                  <a:fillRect l="-1350" t="-2019" r="-1223" b="-1831"/>
                </a:stretch>
              </a:blipFill>
              <a:ln>
                <a:prstDash val="solid"/>
              </a:ln>
            </p:spPr>
            <p:style>
              <a:lnRef idx="2">
                <a:schemeClr val="accent1">
                  <a:shade val="15000"/>
                </a:schemeClr>
              </a:lnRef>
              <a:fillRef idx="1">
                <a:schemeClr val="accent1"/>
              </a:fillRef>
              <a:effectRef idx="0">
                <a:schemeClr val="accent1"/>
              </a:effectRef>
              <a:fontRef idx="minor">
                <a:schemeClr val="lt1"/>
              </a:fontRef>
            </p:style>
            <p:txBody>
              <a:bodyPr/>
              <a:lstStyle/>
              <a:p>
                <a:r>
                  <a:rPr lang="en-US" altLang="en-US">
                    <a:noFill/>
                  </a:rPr>
                  <a:t> </a:t>
                </a:r>
              </a:p>
            </p:txBody>
          </p:sp>
        </mc:Fallback>
      </mc:AlternateContent>
      <p:cxnSp>
        <p:nvCxnSpPr>
          <p:cNvPr id="42" name="Straight Arrow Connector 41"/>
          <p:cNvCxnSpPr/>
          <p:nvPr/>
        </p:nvCxnSpPr>
        <p:spPr>
          <a:xfrm flipV="1">
            <a:off x="3127594" y="3839571"/>
            <a:ext cx="0" cy="317564"/>
          </a:xfrm>
          <a:prstGeom prst="straightConnector1">
            <a:avLst/>
          </a:prstGeom>
          <a:ln w="15875">
            <a:solidFill>
              <a:schemeClr val="accent5">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urved Connector 43"/>
          <p:cNvCxnSpPr>
            <a:stCxn id="27" idx="0"/>
            <a:endCxn id="5" idx="1"/>
          </p:cNvCxnSpPr>
          <p:nvPr/>
        </p:nvCxnSpPr>
        <p:spPr>
          <a:xfrm rot="16200000" flipH="1">
            <a:off x="3042734" y="2268495"/>
            <a:ext cx="451765" cy="2884233"/>
          </a:xfrm>
          <a:prstGeom prst="curvedConnector4">
            <a:avLst>
              <a:gd name="adj1" fmla="val -129148"/>
              <a:gd name="adj2" fmla="val 64550"/>
            </a:avLst>
          </a:prstGeom>
          <a:ln w="28575">
            <a:headEnd type="triangle" w="lg" len="lg"/>
            <a:tailEnd type="triangle" w="lg" len="lg"/>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2770090" y="3138417"/>
            <a:ext cx="1652119" cy="369332"/>
          </a:xfrm>
          <a:prstGeom prst="rect">
            <a:avLst/>
          </a:prstGeom>
          <a:noFill/>
        </p:spPr>
        <p:txBody>
          <a:bodyPr wrap="none" rtlCol="0">
            <a:spAutoFit/>
          </a:bodyPr>
          <a:lstStyle/>
          <a:p>
            <a:r>
              <a:rPr lang="en-US" dirty="0"/>
              <a:t>Cross-attention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60631" y="3090930"/>
            <a:ext cx="4425892" cy="830997"/>
          </a:xfrm>
          <a:prstGeom prst="rect">
            <a:avLst/>
          </a:prstGeom>
          <a:noFill/>
        </p:spPr>
        <p:txBody>
          <a:bodyPr wrap="none" rtlCol="0">
            <a:spAutoFit/>
          </a:bodyPr>
          <a:lstStyle/>
          <a:p>
            <a:r>
              <a:rPr lang="en-US" sz="4800" b="1" dirty="0"/>
              <a:t>Getting the Data</a:t>
            </a:r>
            <a:endParaRPr lang="en-US" sz="48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does the data come from?	</a:t>
            </a:r>
            <a:endParaRPr lang="en-US" dirty="0"/>
          </a:p>
        </p:txBody>
      </p:sp>
      <p:sp>
        <p:nvSpPr>
          <p:cNvPr id="3" name="Content Placeholder 2"/>
          <p:cNvSpPr>
            <a:spLocks noGrp="1"/>
          </p:cNvSpPr>
          <p:nvPr>
            <p:ph idx="1"/>
          </p:nvPr>
        </p:nvSpPr>
        <p:spPr/>
        <p:txBody>
          <a:bodyPr/>
          <a:lstStyle/>
          <a:p>
            <a:r>
              <a:rPr lang="en-US" dirty="0"/>
              <a:t>Human-crafted</a:t>
            </a:r>
            <a:endParaRPr lang="en-US" dirty="0"/>
          </a:p>
          <a:p>
            <a:pPr lvl="1"/>
            <a:r>
              <a:rPr lang="en-US" dirty="0"/>
              <a:t>Flan-2021</a:t>
            </a:r>
            <a:endParaRPr lang="en-US" dirty="0"/>
          </a:p>
          <a:p>
            <a:pPr lvl="2"/>
            <a:r>
              <a:rPr lang="en-US" dirty="0"/>
              <a:t>Transforms NLP benchmarks into natural language input-output pairs.</a:t>
            </a:r>
            <a:endParaRPr lang="en-US" dirty="0"/>
          </a:p>
          <a:p>
            <a:pPr marL="914400" lvl="2" indent="0">
              <a:buNone/>
            </a:pPr>
            <a:endParaRPr lang="en-US" dirty="0"/>
          </a:p>
        </p:txBody>
      </p:sp>
      <p:pic>
        <p:nvPicPr>
          <p:cNvPr id="5" name="Picture 4" descr="A diagram of a diagram&#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73958" y="3052213"/>
            <a:ext cx="7772400" cy="2916529"/>
          </a:xfrm>
          <a:prstGeom prst="rect">
            <a:avLst/>
          </a:prstGeom>
        </p:spPr>
      </p:pic>
      <p:sp>
        <p:nvSpPr>
          <p:cNvPr id="6" name="TextBox 5"/>
          <p:cNvSpPr txBox="1"/>
          <p:nvPr/>
        </p:nvSpPr>
        <p:spPr>
          <a:xfrm>
            <a:off x="6496718" y="5859418"/>
            <a:ext cx="5808371" cy="600164"/>
          </a:xfrm>
          <a:prstGeom prst="rect">
            <a:avLst/>
          </a:prstGeom>
          <a:noFill/>
        </p:spPr>
        <p:txBody>
          <a:bodyPr wrap="square" rtlCol="0">
            <a:spAutoFit/>
          </a:bodyPr>
          <a:lstStyle/>
          <a:p>
            <a:r>
              <a:rPr lang="en-IN" sz="1100" b="0" i="0" dirty="0">
                <a:solidFill>
                  <a:srgbClr val="303030"/>
                </a:solidFill>
                <a:effectLst/>
                <a:highlight>
                  <a:srgbClr val="FFFFFF"/>
                </a:highlight>
                <a:latin typeface="-apple-system"/>
              </a:rPr>
              <a:t>Credit: The Flan Collection: Designing Data and Methods</a:t>
            </a:r>
            <a:endParaRPr lang="en-IN" sz="1100" b="0" i="0" dirty="0">
              <a:solidFill>
                <a:srgbClr val="303030"/>
              </a:solidFill>
              <a:effectLst/>
              <a:highlight>
                <a:srgbClr val="FFFFFF"/>
              </a:highlight>
              <a:latin typeface="-apple-system"/>
            </a:endParaRPr>
          </a:p>
          <a:p>
            <a:r>
              <a:rPr lang="en-IN" sz="1100" b="0" i="0" dirty="0">
                <a:solidFill>
                  <a:srgbClr val="303030"/>
                </a:solidFill>
                <a:effectLst/>
                <a:highlight>
                  <a:srgbClr val="FFFFFF"/>
                </a:highlight>
                <a:latin typeface="-apple-system"/>
              </a:rPr>
              <a:t> for Effective Instruction Tuning</a:t>
            </a:r>
            <a:endParaRPr lang="en-IN" sz="1100" b="0" i="0" dirty="0">
              <a:solidFill>
                <a:srgbClr val="303030"/>
              </a:solidFill>
              <a:effectLst/>
              <a:highlight>
                <a:srgbClr val="FFFFFF"/>
              </a:highlight>
              <a:latin typeface="-apple-system"/>
            </a:endParaRPr>
          </a:p>
          <a:p>
            <a:endParaRPr lang="en-IN" sz="1100" b="0" i="0" dirty="0">
              <a:solidFill>
                <a:srgbClr val="303030"/>
              </a:solidFill>
              <a:effectLst/>
              <a:highlight>
                <a:srgbClr val="FFFFFF"/>
              </a:highlight>
              <a:latin typeface="-apple-system"/>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1325562"/>
          </a:xfrm>
        </p:spPr>
        <p:txBody>
          <a:bodyPr wrap="square" anchor="b">
            <a:normAutofit/>
          </a:bodyPr>
          <a:lstStyle/>
          <a:p>
            <a:r>
              <a:rPr lang="en-US" dirty="0" err="1">
                <a:hlinkClick r:id="rId1" tooltip="" action="ppaction://hlinkfile"/>
              </a:rPr>
              <a:t>SuperNatural</a:t>
            </a:r>
            <a:r>
              <a:rPr lang="en-US" dirty="0">
                <a:hlinkClick r:id="rId1" tooltip="" action="ppaction://hlinkfile"/>
              </a:rPr>
              <a:t> Instructions</a:t>
            </a:r>
            <a:endParaRPr lang="en-US" dirty="0"/>
          </a:p>
        </p:txBody>
      </p:sp>
      <p:pic>
        <p:nvPicPr>
          <p:cNvPr id="7" name="Content Placeholder 6" descr="A task instruction with text&#10;&#10;Description automatically generated with medium confidence"/>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743787" y="1819275"/>
            <a:ext cx="4576675" cy="4351338"/>
          </a:xfrm>
        </p:spPr>
      </p:pic>
      <p:graphicFrame>
        <p:nvGraphicFramePr>
          <p:cNvPr id="6" name="Content Placeholder 2"/>
          <p:cNvGraphicFramePr>
            <a:graphicFrameLocks noGrp="1"/>
          </p:cNvGraphicFramePr>
          <p:nvPr>
            <p:ph sz="half" idx="2"/>
          </p:nvPr>
        </p:nvGraphicFramePr>
        <p:xfrm>
          <a:off x="6065753" y="1819799"/>
          <a:ext cx="5181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p:cNvSpPr txBox="1"/>
          <p:nvPr/>
        </p:nvSpPr>
        <p:spPr>
          <a:xfrm>
            <a:off x="6529590" y="5847008"/>
            <a:ext cx="3696236" cy="430887"/>
          </a:xfrm>
          <a:prstGeom prst="rect">
            <a:avLst/>
          </a:prstGeom>
          <a:noFill/>
        </p:spPr>
        <p:txBody>
          <a:bodyPr wrap="square" rtlCol="0">
            <a:spAutoFit/>
          </a:bodyPr>
          <a:lstStyle/>
          <a:p>
            <a:r>
              <a:rPr lang="en-US" sz="1100" dirty="0"/>
              <a:t>Credit: SUPER-NATURALINSTRUCTIONS: Generalization via Declarative Instructions on 1600+ NLP Tasks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1325562"/>
          </a:xfrm>
        </p:spPr>
        <p:txBody>
          <a:bodyPr wrap="square" anchor="b">
            <a:normAutofit/>
          </a:bodyPr>
          <a:lstStyle/>
          <a:p>
            <a:r>
              <a:rPr lang="en-US" dirty="0"/>
              <a:t>Synthetic Instruction-Tuning Data</a:t>
            </a:r>
            <a:endParaRPr lang="en-US" dirty="0"/>
          </a:p>
        </p:txBody>
      </p:sp>
      <p:graphicFrame>
        <p:nvGraphicFramePr>
          <p:cNvPr id="10" name="Content Placeholder 4"/>
          <p:cNvGraphicFramePr>
            <a:graphicFrameLocks noGrp="1"/>
          </p:cNvGraphicFramePr>
          <p:nvPr>
            <p:ph idx="1"/>
          </p:nvPr>
        </p:nvGraphicFramePr>
        <p:xfrm>
          <a:off x="441325" y="1808163"/>
          <a:ext cx="11307763" cy="435133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hlinkClick r:id="rId1" tooltip="" action="ppaction://hlinkfile"/>
              </a:rPr>
              <a:t>Self-Instruct</a:t>
            </a:r>
            <a:endParaRPr lang="en-US" dirty="0"/>
          </a:p>
        </p:txBody>
      </p:sp>
      <p:sp>
        <p:nvSpPr>
          <p:cNvPr id="3" name="Content Placeholder 2"/>
          <p:cNvSpPr>
            <a:spLocks noGrp="1"/>
          </p:cNvSpPr>
          <p:nvPr>
            <p:ph idx="1"/>
          </p:nvPr>
        </p:nvSpPr>
        <p:spPr/>
        <p:txBody>
          <a:bodyPr/>
          <a:lstStyle/>
          <a:p>
            <a:r>
              <a:rPr lang="en-US" dirty="0"/>
              <a:t>Given:</a:t>
            </a:r>
            <a:endParaRPr lang="en-US" dirty="0"/>
          </a:p>
          <a:p>
            <a:endParaRPr lang="en-US" dirty="0"/>
          </a:p>
          <a:p>
            <a:endParaRPr lang="en-US" dirty="0"/>
          </a:p>
          <a:p>
            <a:endParaRPr lang="en-US" dirty="0"/>
          </a:p>
          <a:p>
            <a:r>
              <a:rPr lang="en-US" dirty="0"/>
              <a:t>Objective:</a:t>
            </a:r>
            <a:endParaRPr lang="en-US" dirty="0"/>
          </a:p>
          <a:p>
            <a:pPr lvl="1"/>
            <a:r>
              <a:rPr lang="en-US" dirty="0"/>
              <a:t>Generate new instructions</a:t>
            </a:r>
            <a:endParaRPr lang="en-US" dirty="0"/>
          </a:p>
          <a:p>
            <a:pPr lvl="1"/>
            <a:r>
              <a:rPr lang="en-US" dirty="0"/>
              <a:t>Generate examples for each instruction</a:t>
            </a:r>
            <a:endParaRPr lang="en-US" dirty="0"/>
          </a:p>
        </p:txBody>
      </p:sp>
      <p:pic>
        <p:nvPicPr>
          <p:cNvPr id="5" name="Picture 4" descr="A notepad and pencil with 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0465" y="1494155"/>
            <a:ext cx="2235200" cy="2082800"/>
          </a:xfrm>
          <a:prstGeom prst="rect">
            <a:avLst/>
          </a:prstGeom>
        </p:spPr>
      </p:pic>
      <p:sp>
        <p:nvSpPr>
          <p:cNvPr id="7" name="Round Single Corner of Rectangle 6"/>
          <p:cNvSpPr/>
          <p:nvPr/>
        </p:nvSpPr>
        <p:spPr>
          <a:xfrm>
            <a:off x="3466531" y="2909887"/>
            <a:ext cx="627797" cy="242746"/>
          </a:xfrm>
          <a:prstGeom prst="round1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a:t>
            </a:r>
            <a:r>
              <a:rPr lang="en-US" dirty="0">
                <a:hlinkClick r:id="rId1" tooltip="" action="ppaction://hlinkfile"/>
              </a:rPr>
              <a:t>Self-Instruct</a:t>
            </a:r>
            <a:r>
              <a:rPr lang="en-US" dirty="0"/>
              <a:t> Process – Instruction Generation</a:t>
            </a:r>
            <a:endParaRPr lang="en-US" dirty="0"/>
          </a:p>
        </p:txBody>
      </p:sp>
      <p:pic>
        <p:nvPicPr>
          <p:cNvPr id="4" name="Picture 3" descr="A notepad and pencil with 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1242" y="1584326"/>
            <a:ext cx="1580538" cy="1472774"/>
          </a:xfrm>
          <a:prstGeom prst="rect">
            <a:avLst/>
          </a:prstGeom>
          <a:ln w="25400">
            <a:solidFill>
              <a:schemeClr val="accent1">
                <a:shade val="15000"/>
              </a:schemeClr>
            </a:solidFill>
          </a:ln>
        </p:spPr>
      </p:pic>
      <p:sp>
        <p:nvSpPr>
          <p:cNvPr id="5" name="TextBox 4"/>
          <p:cNvSpPr txBox="1"/>
          <p:nvPr/>
        </p:nvSpPr>
        <p:spPr>
          <a:xfrm>
            <a:off x="761242" y="3406869"/>
            <a:ext cx="1555844" cy="738664"/>
          </a:xfrm>
          <a:prstGeom prst="rect">
            <a:avLst/>
          </a:prstGeom>
          <a:noFill/>
        </p:spPr>
        <p:txBody>
          <a:bodyPr wrap="square" rtlCol="0">
            <a:spAutoFit/>
          </a:bodyPr>
          <a:lstStyle/>
          <a:p>
            <a:r>
              <a:rPr lang="en-US" sz="1400" dirty="0"/>
              <a:t>Synthetically-Generated</a:t>
            </a:r>
            <a:endParaRPr lang="en-US" sz="1400" dirty="0"/>
          </a:p>
          <a:p>
            <a:r>
              <a:rPr lang="en-US" sz="1400" dirty="0"/>
              <a:t> instructions</a:t>
            </a:r>
            <a:endParaRPr lang="en-US" sz="1400" dirty="0"/>
          </a:p>
        </p:txBody>
      </p:sp>
      <p:pic>
        <p:nvPicPr>
          <p:cNvPr id="7" name="Graphic 6" descr="Robot with solid fill"/>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15743" y="3911370"/>
            <a:ext cx="914400" cy="914400"/>
          </a:xfrm>
          <a:prstGeom prst="rect">
            <a:avLst/>
          </a:prstGeom>
        </p:spPr>
      </p:pic>
      <p:sp>
        <p:nvSpPr>
          <p:cNvPr id="8" name="Rectangle 7"/>
          <p:cNvSpPr/>
          <p:nvPr/>
        </p:nvSpPr>
        <p:spPr>
          <a:xfrm>
            <a:off x="761242" y="3406869"/>
            <a:ext cx="1709003" cy="1437620"/>
          </a:xfrm>
          <a:prstGeom prst="rect">
            <a:avLst/>
          </a:prstGeom>
          <a:noFill/>
          <a:ln w="285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Elbow Connector 11"/>
          <p:cNvCxnSpPr>
            <a:stCxn id="4" idx="3"/>
          </p:cNvCxnSpPr>
          <p:nvPr/>
        </p:nvCxnSpPr>
        <p:spPr>
          <a:xfrm>
            <a:off x="2341780" y="2320713"/>
            <a:ext cx="1837468" cy="736387"/>
          </a:xfrm>
          <a:prstGeom prst="bentConnector3">
            <a:avLst>
              <a:gd name="adj1" fmla="val 50000"/>
            </a:avLst>
          </a:prstGeom>
          <a:ln w="22225">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p:cNvCxnSpPr>
            <a:stCxn id="8" idx="3"/>
          </p:cNvCxnSpPr>
          <p:nvPr/>
        </p:nvCxnSpPr>
        <p:spPr>
          <a:xfrm flipV="1">
            <a:off x="2470245" y="3057100"/>
            <a:ext cx="1709003" cy="1068579"/>
          </a:xfrm>
          <a:prstGeom prst="bentConnector3">
            <a:avLst>
              <a:gd name="adj1" fmla="val 46007"/>
            </a:avLst>
          </a:prstGeom>
          <a:ln w="22225">
            <a:tailEnd type="triangle" w="lg" len="lg"/>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3244601" y="3114903"/>
            <a:ext cx="869149" cy="307777"/>
          </a:xfrm>
          <a:prstGeom prst="rect">
            <a:avLst/>
          </a:prstGeom>
          <a:noFill/>
        </p:spPr>
        <p:txBody>
          <a:bodyPr wrap="none" rtlCol="0">
            <a:spAutoFit/>
          </a:bodyPr>
          <a:lstStyle/>
          <a:p>
            <a:r>
              <a:rPr lang="en-US" sz="1400" dirty="0"/>
              <a:t>Sample 8</a:t>
            </a:r>
            <a:endParaRPr lang="en-US" sz="1400" dirty="0"/>
          </a:p>
        </p:txBody>
      </p:sp>
      <p:pic>
        <p:nvPicPr>
          <p:cNvPr id="32" name="Picture 31" descr="A white paper with black text&#10;&#10;Description automatically generated"/>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5272" y="2013511"/>
            <a:ext cx="4596289" cy="2052711"/>
          </a:xfrm>
          <a:prstGeom prst="rect">
            <a:avLst/>
          </a:prstGeom>
        </p:spPr>
      </p:pic>
      <p:sp>
        <p:nvSpPr>
          <p:cNvPr id="33" name="Diamond 32"/>
          <p:cNvSpPr/>
          <p:nvPr/>
        </p:nvSpPr>
        <p:spPr>
          <a:xfrm>
            <a:off x="2732119" y="4585627"/>
            <a:ext cx="3944203" cy="1583140"/>
          </a:xfrm>
          <a:prstGeom prst="diamond">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Similarity with existing</a:t>
            </a:r>
            <a:endParaRPr lang="en-US" dirty="0">
              <a:solidFill>
                <a:schemeClr val="tx1"/>
              </a:solidFill>
            </a:endParaRPr>
          </a:p>
          <a:p>
            <a:pPr algn="ctr"/>
            <a:r>
              <a:rPr lang="en-US" dirty="0">
                <a:solidFill>
                  <a:schemeClr val="tx1"/>
                </a:solidFill>
              </a:rPr>
              <a:t>Instructions &lt; threshold</a:t>
            </a:r>
            <a:endParaRPr lang="en-US" dirty="0">
              <a:solidFill>
                <a:schemeClr val="tx1"/>
              </a:solidFill>
            </a:endParaRPr>
          </a:p>
        </p:txBody>
      </p:sp>
      <p:cxnSp>
        <p:nvCxnSpPr>
          <p:cNvPr id="37" name="Elbow Connector 36"/>
          <p:cNvCxnSpPr>
            <a:stCxn id="33" idx="1"/>
            <a:endCxn id="8" idx="2"/>
          </p:cNvCxnSpPr>
          <p:nvPr/>
        </p:nvCxnSpPr>
        <p:spPr>
          <a:xfrm rot="10800000">
            <a:off x="1615745" y="4844489"/>
            <a:ext cx="1116375" cy="532708"/>
          </a:xfrm>
          <a:prstGeom prst="bentConnector2">
            <a:avLst/>
          </a:prstGeom>
          <a:ln w="22225">
            <a:tailEnd type="triangle" w="lg" len="lg"/>
          </a:ln>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1801845" y="5377197"/>
            <a:ext cx="503023" cy="369332"/>
          </a:xfrm>
          <a:prstGeom prst="rect">
            <a:avLst/>
          </a:prstGeom>
          <a:noFill/>
        </p:spPr>
        <p:txBody>
          <a:bodyPr wrap="none" rtlCol="0">
            <a:spAutoFit/>
          </a:bodyPr>
          <a:lstStyle/>
          <a:p>
            <a:r>
              <a:rPr lang="en-US" dirty="0"/>
              <a:t>yes</a:t>
            </a:r>
            <a:endParaRPr lang="en-US" dirty="0"/>
          </a:p>
        </p:txBody>
      </p:sp>
      <p:sp>
        <p:nvSpPr>
          <p:cNvPr id="44" name="Rounded Rectangle 43"/>
          <p:cNvSpPr/>
          <p:nvPr/>
        </p:nvSpPr>
        <p:spPr>
          <a:xfrm>
            <a:off x="9416955" y="2513217"/>
            <a:ext cx="1528549" cy="1039258"/>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Pre-trained LLM such as GPT-3</a:t>
            </a:r>
            <a:endParaRPr lang="en-US" dirty="0">
              <a:solidFill>
                <a:schemeClr val="tx1"/>
              </a:solidFill>
            </a:endParaRPr>
          </a:p>
        </p:txBody>
      </p:sp>
      <p:cxnSp>
        <p:nvCxnSpPr>
          <p:cNvPr id="46" name="Straight Arrow Connector 45"/>
          <p:cNvCxnSpPr>
            <a:endCxn id="44" idx="1"/>
          </p:cNvCxnSpPr>
          <p:nvPr/>
        </p:nvCxnSpPr>
        <p:spPr>
          <a:xfrm>
            <a:off x="8639033" y="3032846"/>
            <a:ext cx="777922" cy="0"/>
          </a:xfrm>
          <a:prstGeom prst="straightConnector1">
            <a:avLst/>
          </a:prstGeom>
          <a:ln w="22225">
            <a:tailEnd type="triangle" w="lg" len="lg"/>
          </a:ln>
        </p:spPr>
        <p:style>
          <a:lnRef idx="1">
            <a:schemeClr val="accent1"/>
          </a:lnRef>
          <a:fillRef idx="0">
            <a:schemeClr val="accent1"/>
          </a:fillRef>
          <a:effectRef idx="0">
            <a:schemeClr val="accent1"/>
          </a:effectRef>
          <a:fontRef idx="minor">
            <a:schemeClr val="tx1"/>
          </a:fontRef>
        </p:style>
      </p:cxnSp>
      <p:cxnSp>
        <p:nvCxnSpPr>
          <p:cNvPr id="58" name="Elbow Connector 57"/>
          <p:cNvCxnSpPr>
            <a:stCxn id="44" idx="2"/>
            <a:endCxn id="59" idx="0"/>
          </p:cNvCxnSpPr>
          <p:nvPr/>
        </p:nvCxnSpPr>
        <p:spPr>
          <a:xfrm rot="5400000">
            <a:off x="9089979" y="3586024"/>
            <a:ext cx="1124801" cy="1057702"/>
          </a:xfrm>
          <a:prstGeom prst="bentConnector3">
            <a:avLst>
              <a:gd name="adj1" fmla="val 50000"/>
            </a:avLst>
          </a:prstGeom>
          <a:ln w="25400">
            <a:tailEnd type="triangle" w="lg" len="lg"/>
          </a:ln>
        </p:spPr>
        <p:style>
          <a:lnRef idx="1">
            <a:schemeClr val="accent1"/>
          </a:lnRef>
          <a:fillRef idx="0">
            <a:schemeClr val="accent1"/>
          </a:fillRef>
          <a:effectRef idx="0">
            <a:schemeClr val="accent1"/>
          </a:effectRef>
          <a:fontRef idx="minor">
            <a:schemeClr val="tx1"/>
          </a:fontRef>
        </p:style>
      </p:cxnSp>
      <p:sp>
        <p:nvSpPr>
          <p:cNvPr id="59" name="Rectangle 58"/>
          <p:cNvSpPr/>
          <p:nvPr/>
        </p:nvSpPr>
        <p:spPr>
          <a:xfrm>
            <a:off x="8304662" y="4677276"/>
            <a:ext cx="1637731" cy="63567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Generated Instructions</a:t>
            </a:r>
            <a:endParaRPr lang="en-US" dirty="0">
              <a:solidFill>
                <a:schemeClr val="tx1"/>
              </a:solidFill>
            </a:endParaRPr>
          </a:p>
        </p:txBody>
      </p:sp>
      <p:cxnSp>
        <p:nvCxnSpPr>
          <p:cNvPr id="65" name="Elbow Connector 64"/>
          <p:cNvCxnSpPr>
            <a:stCxn id="59" idx="1"/>
            <a:endCxn id="33" idx="3"/>
          </p:cNvCxnSpPr>
          <p:nvPr/>
        </p:nvCxnSpPr>
        <p:spPr>
          <a:xfrm rot="10800000" flipV="1">
            <a:off x="6676322" y="4995113"/>
            <a:ext cx="1628340" cy="382083"/>
          </a:xfrm>
          <a:prstGeom prst="bentConnector3">
            <a:avLst/>
          </a:prstGeom>
          <a:ln w="22225">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Self-Instruct Process – Classification Task Identification</a:t>
            </a:r>
            <a:endParaRPr lang="en-US" dirty="0"/>
          </a:p>
        </p:txBody>
      </p:sp>
      <p:sp>
        <p:nvSpPr>
          <p:cNvPr id="4" name="TextBox 3"/>
          <p:cNvSpPr txBox="1"/>
          <p:nvPr/>
        </p:nvSpPr>
        <p:spPr>
          <a:xfrm>
            <a:off x="1023583" y="2115404"/>
            <a:ext cx="8293232" cy="3416320"/>
          </a:xfrm>
          <a:prstGeom prst="rect">
            <a:avLst/>
          </a:prstGeom>
          <a:noFill/>
          <a:ln>
            <a:solidFill>
              <a:schemeClr val="accent1">
                <a:shade val="15000"/>
              </a:schemeClr>
            </a:solidFill>
          </a:ln>
        </p:spPr>
        <p:txBody>
          <a:bodyPr wrap="none" rtlCol="0">
            <a:spAutoFit/>
          </a:bodyPr>
          <a:lstStyle/>
          <a:p>
            <a:r>
              <a:rPr lang="en-US" b="1" dirty="0"/>
              <a:t>Can the following task be regarded as a classification task with finite output labels?</a:t>
            </a:r>
            <a:endParaRPr lang="en-US" b="1" dirty="0"/>
          </a:p>
          <a:p>
            <a:br>
              <a:rPr lang="en-US" dirty="0"/>
            </a:br>
            <a:r>
              <a:rPr lang="en-US" dirty="0"/>
              <a:t>Task: Given my personality and the job, tell me if I would be suitable.</a:t>
            </a:r>
            <a:endParaRPr lang="en-US" dirty="0"/>
          </a:p>
          <a:p>
            <a:r>
              <a:rPr lang="en-US" dirty="0"/>
              <a:t>Is it classification? Yes</a:t>
            </a:r>
            <a:endParaRPr lang="en-US" dirty="0"/>
          </a:p>
          <a:p>
            <a:br>
              <a:rPr lang="en-US" dirty="0"/>
            </a:br>
            <a:r>
              <a:rPr lang="en-US" dirty="0"/>
              <a:t>Task: Give me an example of a time when you had to use your sense of humor.</a:t>
            </a:r>
            <a:endParaRPr lang="en-US" dirty="0"/>
          </a:p>
          <a:p>
            <a:r>
              <a:rPr lang="en-US" dirty="0"/>
              <a:t>Is it classification? No</a:t>
            </a:r>
            <a:br>
              <a:rPr lang="en-US" dirty="0"/>
            </a:br>
            <a:r>
              <a:rPr lang="en-US" dirty="0"/>
              <a:t>.</a:t>
            </a:r>
            <a:br>
              <a:rPr lang="en-US" dirty="0"/>
            </a:br>
            <a:r>
              <a:rPr lang="en-US" dirty="0"/>
              <a:t>.</a:t>
            </a:r>
            <a:br>
              <a:rPr lang="en-US" dirty="0"/>
            </a:br>
            <a:r>
              <a:rPr lang="en-US" dirty="0"/>
              <a:t>.</a:t>
            </a:r>
            <a:br>
              <a:rPr lang="en-US" dirty="0"/>
            </a:br>
            <a:r>
              <a:rPr lang="en-US" dirty="0"/>
              <a:t>Task: {instruction for the target task}</a:t>
            </a:r>
            <a:br>
              <a:rPr lang="en-US" dirty="0"/>
            </a:br>
            <a:r>
              <a:rPr lang="en-US" dirty="0"/>
              <a:t>Is it classification?</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Self-Instruct Process – Instance Generation</a:t>
            </a:r>
            <a:endParaRPr lang="en-US" dirty="0"/>
          </a:p>
        </p:txBody>
      </p:sp>
      <p:sp>
        <p:nvSpPr>
          <p:cNvPr id="3" name="Content Placeholder 2"/>
          <p:cNvSpPr>
            <a:spLocks noGrp="1"/>
          </p:cNvSpPr>
          <p:nvPr>
            <p:ph idx="1"/>
          </p:nvPr>
        </p:nvSpPr>
        <p:spPr/>
        <p:txBody>
          <a:bodyPr/>
          <a:lstStyle/>
          <a:p>
            <a:r>
              <a:rPr lang="en-US" sz="2000" dirty="0"/>
              <a:t>Given an instruction, generate instances that follow the instruction.</a:t>
            </a:r>
            <a:endParaRPr lang="en-US" sz="2000" dirty="0"/>
          </a:p>
          <a:p>
            <a:r>
              <a:rPr lang="en-US" sz="2000" dirty="0"/>
              <a:t>In-context learning can be used to generate instances for an instruction</a:t>
            </a:r>
            <a:endParaRPr lang="en-US" sz="2000" dirty="0"/>
          </a:p>
          <a:p>
            <a:r>
              <a:rPr lang="en-US" sz="2000" dirty="0"/>
              <a:t>Input-First</a:t>
            </a:r>
            <a:endParaRPr lang="en-US" sz="2000" dirty="0"/>
          </a:p>
        </p:txBody>
      </p:sp>
      <p:sp>
        <p:nvSpPr>
          <p:cNvPr id="4" name="TextBox 3"/>
          <p:cNvSpPr txBox="1"/>
          <p:nvPr/>
        </p:nvSpPr>
        <p:spPr>
          <a:xfrm>
            <a:off x="1446663" y="2967018"/>
            <a:ext cx="8632171" cy="3046988"/>
          </a:xfrm>
          <a:prstGeom prst="rect">
            <a:avLst/>
          </a:prstGeom>
          <a:noFill/>
          <a:ln w="22225">
            <a:solidFill>
              <a:schemeClr val="accent1">
                <a:shade val="15000"/>
              </a:schemeClr>
            </a:solidFill>
          </a:ln>
        </p:spPr>
        <p:txBody>
          <a:bodyPr wrap="none" rtlCol="0">
            <a:spAutoFit/>
          </a:bodyPr>
          <a:lstStyle/>
          <a:p>
            <a:r>
              <a:rPr lang="en-US" sz="1600" b="1" dirty="0"/>
              <a:t>Come up with examples for the following tasks. Try to generate multiple examples when possible.</a:t>
            </a:r>
            <a:endParaRPr lang="en-US" sz="1600" b="1" dirty="0"/>
          </a:p>
          <a:p>
            <a:r>
              <a:rPr lang="en-US" sz="1600" b="1" dirty="0"/>
              <a:t>If the task doesn’t require additional input, you can generate the output directly.</a:t>
            </a:r>
            <a:endParaRPr lang="en-US" sz="1600" b="1" dirty="0"/>
          </a:p>
          <a:p>
            <a:br>
              <a:rPr lang="en-US" sz="1600" dirty="0"/>
            </a:br>
            <a:r>
              <a:rPr lang="en-US" sz="1600" dirty="0"/>
              <a:t>Task: Which exercises are best for reducing belly fat at home?</a:t>
            </a:r>
            <a:endParaRPr lang="en-US" sz="1600" dirty="0"/>
          </a:p>
          <a:p>
            <a:r>
              <a:rPr lang="en-US" sz="1600" dirty="0"/>
              <a:t>Output:</a:t>
            </a:r>
            <a:endParaRPr lang="en-US" sz="1600" dirty="0"/>
          </a:p>
          <a:p>
            <a:r>
              <a:rPr lang="en-US" sz="1600" dirty="0"/>
              <a:t>- Lying Leg Raises</a:t>
            </a:r>
            <a:endParaRPr lang="en-US" sz="1600" dirty="0"/>
          </a:p>
          <a:p>
            <a:r>
              <a:rPr lang="en-US" sz="1600" dirty="0"/>
              <a:t>- Leg In And Out</a:t>
            </a:r>
            <a:endParaRPr lang="en-US" sz="1600" dirty="0"/>
          </a:p>
          <a:p>
            <a:r>
              <a:rPr lang="en-US" sz="1600" dirty="0"/>
              <a:t>- Plank</a:t>
            </a:r>
            <a:endParaRPr lang="en-US" sz="1600" dirty="0"/>
          </a:p>
          <a:p>
            <a:r>
              <a:rPr lang="en-US" sz="1600" dirty="0"/>
              <a:t>- Side Plank</a:t>
            </a:r>
            <a:endParaRPr lang="en-US" sz="1600" dirty="0"/>
          </a:p>
          <a:p>
            <a:r>
              <a:rPr lang="en-US" sz="1600" dirty="0"/>
              <a:t>- Sit-ups</a:t>
            </a:r>
            <a:br>
              <a:rPr lang="en-US" sz="1600" dirty="0"/>
            </a:br>
            <a:br>
              <a:rPr lang="en-US" sz="1600" dirty="0"/>
            </a:br>
            <a:r>
              <a:rPr lang="en-US" sz="1600" dirty="0"/>
              <a:t>Task: {Instruction for the target task}</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Self-Instruct Process – Instance Generation - II</a:t>
            </a:r>
            <a:endParaRPr lang="en-US" dirty="0"/>
          </a:p>
        </p:txBody>
      </p:sp>
      <p:sp>
        <p:nvSpPr>
          <p:cNvPr id="7" name="TextBox 6"/>
          <p:cNvSpPr txBox="1"/>
          <p:nvPr/>
        </p:nvSpPr>
        <p:spPr>
          <a:xfrm>
            <a:off x="747551" y="2710537"/>
            <a:ext cx="10385945" cy="3139321"/>
          </a:xfrm>
          <a:prstGeom prst="rect">
            <a:avLst/>
          </a:prstGeom>
          <a:noFill/>
          <a:ln w="22225">
            <a:solidFill>
              <a:schemeClr val="accent1">
                <a:shade val="15000"/>
              </a:schemeClr>
            </a:solidFill>
          </a:ln>
        </p:spPr>
        <p:txBody>
          <a:bodyPr wrap="square">
            <a:spAutoFit/>
          </a:bodyPr>
          <a:lstStyle/>
          <a:p>
            <a:r>
              <a:rPr lang="en-US" b="1" dirty="0"/>
              <a:t>Given the classification task definition and the class labels, generate an input that corresponds to each of the class labels. If the task doesn’t require input, just generate the correct class label.</a:t>
            </a:r>
            <a:endParaRPr lang="en-US" b="1" dirty="0"/>
          </a:p>
          <a:p>
            <a:br>
              <a:rPr lang="en-US" dirty="0"/>
            </a:br>
            <a:r>
              <a:rPr lang="en-US" dirty="0"/>
              <a:t>Task: Classify the sentiment of the sentence into positive, negative, or mixed.</a:t>
            </a:r>
            <a:endParaRPr lang="en-US" dirty="0"/>
          </a:p>
          <a:p>
            <a:r>
              <a:rPr lang="en-US" dirty="0"/>
              <a:t>Class label: mixed</a:t>
            </a:r>
            <a:endParaRPr lang="en-US" dirty="0"/>
          </a:p>
          <a:p>
            <a:r>
              <a:rPr lang="en-US" dirty="0"/>
              <a:t>Sentence: I enjoy the flavor of the restaurant but their service is too slow.</a:t>
            </a:r>
            <a:endParaRPr lang="en-US" dirty="0"/>
          </a:p>
          <a:p>
            <a:r>
              <a:rPr lang="en-US" dirty="0"/>
              <a:t>Class label: Positive</a:t>
            </a:r>
            <a:endParaRPr lang="en-US" dirty="0"/>
          </a:p>
          <a:p>
            <a:r>
              <a:rPr lang="en-US" dirty="0"/>
              <a:t>Sentence: I had a great day today. The weather was beautiful and I spent time with friends.</a:t>
            </a:r>
            <a:endParaRPr lang="en-US" dirty="0"/>
          </a:p>
          <a:p>
            <a:r>
              <a:rPr lang="en-US" dirty="0"/>
              <a:t>Class label: Negative</a:t>
            </a:r>
            <a:br>
              <a:rPr lang="en-US" dirty="0"/>
            </a:br>
            <a:br>
              <a:rPr lang="en-US" dirty="0"/>
            </a:br>
            <a:r>
              <a:rPr lang="en-US" dirty="0"/>
              <a:t>Task: {instruction for the target task}</a:t>
            </a:r>
            <a:endParaRPr lang="en-US" dirty="0"/>
          </a:p>
        </p:txBody>
      </p:sp>
      <p:sp>
        <p:nvSpPr>
          <p:cNvPr id="8" name="TextBox 7"/>
          <p:cNvSpPr txBox="1"/>
          <p:nvPr/>
        </p:nvSpPr>
        <p:spPr>
          <a:xfrm>
            <a:off x="747551" y="1962765"/>
            <a:ext cx="1293303" cy="369332"/>
          </a:xfrm>
          <a:prstGeom prst="rect">
            <a:avLst/>
          </a:prstGeom>
          <a:noFill/>
        </p:spPr>
        <p:txBody>
          <a:bodyPr wrap="none" rtlCol="0">
            <a:spAutoFit/>
          </a:bodyPr>
          <a:lstStyle/>
          <a:p>
            <a:r>
              <a:rPr lang="en-US" dirty="0"/>
              <a:t>Output First</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hlinkClick r:id="rId1" tooltip="" action="ppaction://hlinkfile"/>
              </a:rPr>
              <a:t>Self-Instruct</a:t>
            </a:r>
            <a:r>
              <a:rPr lang="en-US" dirty="0"/>
              <a:t>: The complete pipeline</a:t>
            </a:r>
            <a:endParaRPr lang="en-US" dirty="0"/>
          </a:p>
        </p:txBody>
      </p:sp>
      <p:pic>
        <p:nvPicPr>
          <p:cNvPr id="5" name="Picture 4" descr="A screenshot of a computer&#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0753" y="1741930"/>
            <a:ext cx="8592662" cy="4090141"/>
          </a:xfrm>
          <a:prstGeom prst="rect">
            <a:avLst/>
          </a:prstGeom>
        </p:spPr>
      </p:pic>
      <p:sp>
        <p:nvSpPr>
          <p:cNvPr id="6" name="TextBox 5"/>
          <p:cNvSpPr txBox="1"/>
          <p:nvPr/>
        </p:nvSpPr>
        <p:spPr>
          <a:xfrm>
            <a:off x="6954591" y="5832071"/>
            <a:ext cx="3429144" cy="430887"/>
          </a:xfrm>
          <a:prstGeom prst="rect">
            <a:avLst/>
          </a:prstGeom>
          <a:noFill/>
        </p:spPr>
        <p:txBody>
          <a:bodyPr wrap="none" rtlCol="0">
            <a:spAutoFit/>
          </a:bodyPr>
          <a:lstStyle/>
          <a:p>
            <a:r>
              <a:rPr lang="en-US" sz="1100" dirty="0"/>
              <a:t>Image Credit: SELF-INSTRUCT: Aligning Language Models</a:t>
            </a:r>
            <a:endParaRPr lang="en-US" sz="1100" dirty="0"/>
          </a:p>
          <a:p>
            <a:r>
              <a:rPr lang="en-US" sz="1100" dirty="0"/>
              <a:t>with Self-Generated Instructions</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Evaluation results on unseen tasks from SUPERNI </a:t>
            </a:r>
            <a:endParaRPr lang="en-US" dirty="0"/>
          </a:p>
        </p:txBody>
      </p:sp>
      <p:graphicFrame>
        <p:nvGraphicFramePr>
          <p:cNvPr id="10" name="Content Placeholder 9"/>
          <p:cNvGraphicFramePr>
            <a:graphicFrameLocks noGrp="1"/>
          </p:cNvGraphicFramePr>
          <p:nvPr>
            <p:ph idx="1"/>
          </p:nvPr>
        </p:nvGraphicFramePr>
        <p:xfrm>
          <a:off x="1683269" y="1761469"/>
          <a:ext cx="7979410" cy="4567555"/>
        </p:xfrm>
        <a:graphic>
          <a:graphicData uri="http://schemas.openxmlformats.org/drawingml/2006/table">
            <a:tbl>
              <a:tblPr/>
              <a:tblGrid>
                <a:gridCol w="4750435"/>
                <a:gridCol w="1641475"/>
                <a:gridCol w="1587436"/>
              </a:tblGrid>
              <a:tr h="485138">
                <a:tc>
                  <a:txBody>
                    <a:bodyPr/>
                    <a:lstStyle/>
                    <a:p>
                      <a:pPr algn="l" fontAlgn="b"/>
                      <a:r>
                        <a:rPr lang="en-IN" sz="2000" b="1" i="0" u="none" strike="noStrike">
                          <a:solidFill>
                            <a:srgbClr val="000000"/>
                          </a:solidFill>
                          <a:effectLst/>
                          <a:latin typeface="Aptos Narrow" panose="020B0004020202020204" pitchFamily="34" charset="0"/>
                        </a:rPr>
                        <a:t>Model</a:t>
                      </a:r>
                      <a:endParaRPr lang="en-IN" sz="2000" b="1" i="0" u="none" strike="noStrike">
                        <a:solidFill>
                          <a:srgbClr val="000000"/>
                        </a:solidFill>
                        <a:effectLst/>
                        <a:latin typeface="Aptos Narrow" panose="020B0004020202020204" pitchFamily="34" charset="0"/>
                      </a:endParaRPr>
                    </a:p>
                  </a:txBody>
                  <a:tcPr marL="9525" marR="9525" marT="9525" marB="0" anchor="b">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IN" sz="2000" b="1" i="0" u="none" strike="noStrike">
                          <a:solidFill>
                            <a:srgbClr val="000000"/>
                          </a:solidFill>
                          <a:effectLst/>
                          <a:latin typeface="Aptos Narrow" panose="020B0004020202020204" pitchFamily="34" charset="0"/>
                        </a:rPr>
                        <a:t># Params</a:t>
                      </a:r>
                      <a:endParaRPr lang="en-IN" sz="2000" b="1" i="0" u="none" strike="noStrike">
                        <a:solidFill>
                          <a:srgbClr val="000000"/>
                        </a:solidFill>
                        <a:effectLst/>
                        <a:latin typeface="Aptos Narrow" panose="020B0004020202020204" pitchFamily="34" charset="0"/>
                      </a:endParaRPr>
                    </a:p>
                  </a:txBody>
                  <a:tcPr marL="9525" marR="9525" marT="9525" marB="0" anchor="b">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r" fontAlgn="b"/>
                      <a:r>
                        <a:rPr lang="en-IN" sz="2000" b="1" i="0" u="none" strike="noStrike">
                          <a:solidFill>
                            <a:srgbClr val="000000"/>
                          </a:solidFill>
                          <a:effectLst/>
                          <a:latin typeface="Aptos Narrow" panose="020B0004020202020204" pitchFamily="34" charset="0"/>
                        </a:rPr>
                        <a:t>ROUGE-L</a:t>
                      </a:r>
                      <a:endParaRPr lang="en-IN" sz="2000" b="1" i="0" u="none" strike="noStrike">
                        <a:solidFill>
                          <a:srgbClr val="000000"/>
                        </a:solidFill>
                        <a:effectLst/>
                        <a:latin typeface="Aptos Narrow" panose="020B0004020202020204" pitchFamily="34" charset="0"/>
                      </a:endParaRPr>
                    </a:p>
                  </a:txBody>
                  <a:tcPr marL="9525" marR="9525" marT="9525" marB="0" anchor="b">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485138">
                <a:tc>
                  <a:txBody>
                    <a:bodyPr/>
                    <a:lstStyle/>
                    <a:p>
                      <a:pPr algn="l" fontAlgn="b"/>
                      <a:r>
                        <a:rPr lang="en-IN" sz="2000" b="0" i="0" u="none" strike="noStrike">
                          <a:solidFill>
                            <a:srgbClr val="000000"/>
                          </a:solidFill>
                          <a:effectLst/>
                          <a:highlight>
                            <a:srgbClr val="DAF2D0"/>
                          </a:highlight>
                          <a:latin typeface="Aptos Narrow" panose="020B0004020202020204" pitchFamily="34" charset="0"/>
                        </a:rPr>
                        <a:t>GPT3</a:t>
                      </a:r>
                      <a:endParaRPr lang="en-IN" sz="2000" b="0" i="0" u="none" strike="noStrike">
                        <a:solidFill>
                          <a:srgbClr val="000000"/>
                        </a:solidFill>
                        <a:effectLst/>
                        <a:highlight>
                          <a:srgbClr val="DAF2D0"/>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DAF2D0"/>
                    </a:solidFill>
                  </a:tcPr>
                </a:tc>
                <a:tc>
                  <a:txBody>
                    <a:bodyPr/>
                    <a:lstStyle/>
                    <a:p>
                      <a:pPr algn="r" fontAlgn="b"/>
                      <a:r>
                        <a:rPr lang="en-IN" sz="2000" b="0" i="0" u="none" strike="noStrike">
                          <a:solidFill>
                            <a:srgbClr val="000000"/>
                          </a:solidFill>
                          <a:effectLst/>
                          <a:highlight>
                            <a:srgbClr val="DAF2D0"/>
                          </a:highlight>
                          <a:latin typeface="Aptos Narrow" panose="020B0004020202020204" pitchFamily="34" charset="0"/>
                        </a:rPr>
                        <a:t>175B</a:t>
                      </a:r>
                      <a:endParaRPr lang="en-IN" sz="2000" b="0" i="0" u="none" strike="noStrike">
                        <a:solidFill>
                          <a:srgbClr val="000000"/>
                        </a:solidFill>
                        <a:effectLst/>
                        <a:highlight>
                          <a:srgbClr val="DAF2D0"/>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DAF2D0"/>
                    </a:solidFill>
                  </a:tcPr>
                </a:tc>
                <a:tc>
                  <a:txBody>
                    <a:bodyPr/>
                    <a:lstStyle/>
                    <a:p>
                      <a:pPr algn="r" fontAlgn="b"/>
                      <a:r>
                        <a:rPr lang="en-IN" sz="2000" b="0" i="0" u="none" strike="noStrike" dirty="0">
                          <a:solidFill>
                            <a:srgbClr val="000000"/>
                          </a:solidFill>
                          <a:effectLst/>
                          <a:highlight>
                            <a:srgbClr val="DAF2D0"/>
                          </a:highlight>
                          <a:latin typeface="Aptos Narrow" panose="020B0004020202020204" pitchFamily="34" charset="0"/>
                        </a:rPr>
                        <a:t>6.8</a:t>
                      </a:r>
                      <a:endParaRPr lang="en-IN" sz="2000" b="0" i="0" u="none" strike="noStrike" dirty="0">
                        <a:solidFill>
                          <a:srgbClr val="000000"/>
                        </a:solidFill>
                        <a:effectLst/>
                        <a:highlight>
                          <a:srgbClr val="DAF2D0"/>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DAF2D0"/>
                    </a:solidFill>
                  </a:tcPr>
                </a:tc>
              </a:tr>
              <a:tr h="485138">
                <a:tc>
                  <a:txBody>
                    <a:bodyPr/>
                    <a:lstStyle/>
                    <a:p>
                      <a:pPr algn="l" fontAlgn="b"/>
                      <a:r>
                        <a:rPr lang="en-IN" sz="2000" b="0" i="0" u="none" strike="noStrike" dirty="0">
                          <a:solidFill>
                            <a:srgbClr val="000000"/>
                          </a:solidFill>
                          <a:effectLst/>
                          <a:highlight>
                            <a:srgbClr val="DAF2D0"/>
                          </a:highlight>
                          <a:latin typeface="Aptos Narrow" panose="020B0004020202020204" pitchFamily="34" charset="0"/>
                        </a:rPr>
                        <a:t>InstructGPT001</a:t>
                      </a:r>
                      <a:endParaRPr lang="en-IN" sz="2000" b="0" i="0" u="none" strike="noStrike" dirty="0">
                        <a:solidFill>
                          <a:srgbClr val="000000"/>
                        </a:solidFill>
                        <a:effectLst/>
                        <a:highlight>
                          <a:srgbClr val="DAF2D0"/>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IN" sz="2000" b="0" i="0" u="none" strike="noStrike">
                          <a:solidFill>
                            <a:srgbClr val="000000"/>
                          </a:solidFill>
                          <a:effectLst/>
                          <a:highlight>
                            <a:srgbClr val="DAF2D0"/>
                          </a:highlight>
                          <a:latin typeface="Aptos Narrow" panose="020B0004020202020204" pitchFamily="34" charset="0"/>
                        </a:rPr>
                        <a:t>175B</a:t>
                      </a:r>
                      <a:endParaRPr lang="en-IN" sz="2000" b="0" i="0" u="none" strike="noStrike">
                        <a:solidFill>
                          <a:srgbClr val="000000"/>
                        </a:solidFill>
                        <a:effectLst/>
                        <a:highlight>
                          <a:srgbClr val="DAF2D0"/>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DAF2D0"/>
                    </a:solidFill>
                  </a:tcPr>
                </a:tc>
                <a:tc>
                  <a:txBody>
                    <a:bodyPr/>
                    <a:lstStyle/>
                    <a:p>
                      <a:pPr algn="r" fontAlgn="b"/>
                      <a:r>
                        <a:rPr lang="en-IN" sz="2000" b="0" i="0" u="none" strike="noStrike">
                          <a:solidFill>
                            <a:srgbClr val="000000"/>
                          </a:solidFill>
                          <a:effectLst/>
                          <a:highlight>
                            <a:srgbClr val="DAF2D0"/>
                          </a:highlight>
                          <a:latin typeface="Aptos Narrow" panose="020B0004020202020204" pitchFamily="34" charset="0"/>
                        </a:rPr>
                        <a:t>40.8</a:t>
                      </a:r>
                      <a:endParaRPr lang="en-IN" sz="2000" b="0" i="0" u="none" strike="noStrike">
                        <a:solidFill>
                          <a:srgbClr val="000000"/>
                        </a:solidFill>
                        <a:effectLst/>
                        <a:highlight>
                          <a:srgbClr val="DAF2D0"/>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DAF2D0"/>
                    </a:solidFill>
                  </a:tcPr>
                </a:tc>
              </a:tr>
              <a:tr h="610870">
                <a:tc>
                  <a:txBody>
                    <a:bodyPr/>
                    <a:lstStyle/>
                    <a:p>
                      <a:pPr algn="l" fontAlgn="b"/>
                      <a:r>
                        <a:rPr lang="en-IN" sz="2000" b="0" i="0" u="none" strike="noStrike">
                          <a:solidFill>
                            <a:srgbClr val="000000"/>
                          </a:solidFill>
                          <a:effectLst/>
                          <a:highlight>
                            <a:srgbClr val="DAE9F8"/>
                          </a:highlight>
                          <a:latin typeface="Aptos Narrow" panose="020B0004020202020204" pitchFamily="34" charset="0"/>
                        </a:rPr>
                        <a:t>GPT3 + T0 Training</a:t>
                      </a:r>
                      <a:endParaRPr lang="en-IN" sz="2000" b="0" i="0" u="none" strike="noStrike">
                        <a:solidFill>
                          <a:srgbClr val="000000"/>
                        </a:solidFill>
                        <a:effectLst/>
                        <a:highlight>
                          <a:srgbClr val="DAE9F8"/>
                        </a:highlight>
                        <a:latin typeface="Aptos Narrow" panose="020B0004020202020204" pitchFamily="34" charset="0"/>
                      </a:endParaRPr>
                    </a:p>
                  </a:txBody>
                  <a:tcPr marL="9525" marR="9525" marT="9525" marB="0" anchor="ctr" anchorCtr="0">
                    <a:lnL w="12700" cap="flat" cmpd="sng" algn="ctr">
                      <a:solidFill>
                        <a:schemeClr val="tx1"/>
                      </a:solidFill>
                      <a:prstDash val="solid"/>
                      <a:round/>
                      <a:headEnd type="none" w="med" len="med"/>
                      <a:tailEnd type="none" w="med" len="me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DAE9F8"/>
                    </a:solidFill>
                  </a:tcPr>
                </a:tc>
                <a:tc>
                  <a:txBody>
                    <a:bodyPr/>
                    <a:lstStyle/>
                    <a:p>
                      <a:pPr algn="r" fontAlgn="b"/>
                      <a:r>
                        <a:rPr lang="en-IN" sz="2000" b="0" i="0" u="none" strike="noStrike">
                          <a:solidFill>
                            <a:srgbClr val="000000"/>
                          </a:solidFill>
                          <a:effectLst/>
                          <a:highlight>
                            <a:srgbClr val="DAE9F8"/>
                          </a:highlight>
                          <a:latin typeface="Aptos Narrow" panose="020B0004020202020204" pitchFamily="34" charset="0"/>
                        </a:rPr>
                        <a:t>175B</a:t>
                      </a:r>
                      <a:endParaRPr lang="en-IN" sz="2000" b="0" i="0" u="none" strike="noStrike">
                        <a:solidFill>
                          <a:srgbClr val="000000"/>
                        </a:solidFill>
                        <a:effectLst/>
                        <a:highlight>
                          <a:srgbClr val="DAE9F8"/>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DAE9F8"/>
                    </a:solidFill>
                  </a:tcPr>
                </a:tc>
                <a:tc>
                  <a:txBody>
                    <a:bodyPr/>
                    <a:lstStyle/>
                    <a:p>
                      <a:pPr algn="r" fontAlgn="b"/>
                      <a:r>
                        <a:rPr lang="en-IN" sz="2000" b="0" i="0" u="none" strike="noStrike" dirty="0">
                          <a:solidFill>
                            <a:srgbClr val="000000"/>
                          </a:solidFill>
                          <a:effectLst/>
                          <a:highlight>
                            <a:srgbClr val="DAE9F8"/>
                          </a:highlight>
                          <a:latin typeface="Aptos Narrow" panose="020B0004020202020204" pitchFamily="34" charset="0"/>
                        </a:rPr>
                        <a:t>37.9</a:t>
                      </a:r>
                      <a:endParaRPr lang="en-IN" sz="2000" b="0" i="0" u="none" strike="noStrike" dirty="0">
                        <a:solidFill>
                          <a:srgbClr val="000000"/>
                        </a:solidFill>
                        <a:effectLst/>
                        <a:highlight>
                          <a:srgbClr val="DAE9F8"/>
                        </a:highlight>
                        <a:latin typeface="Aptos Narrow" panose="020B0004020202020204" pitchFamily="34" charset="0"/>
                      </a:endParaRPr>
                    </a:p>
                  </a:txBody>
                  <a:tcPr marL="9525" marR="9525" marT="9525" marB="0" anchor="ctr" anchorCtr="0">
                    <a:lnL w="12700">
                      <a:solidFill>
                        <a:schemeClr val="tx1"/>
                      </a:solidFill>
                      <a:prstDash val="soli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a:solidFill>
                        <a:schemeClr val="tx1"/>
                      </a:solidFill>
                      <a:prstDash val="solid"/>
                    </a:lnB>
                    <a:solidFill>
                      <a:srgbClr val="DAE9F8"/>
                    </a:solidFill>
                  </a:tcPr>
                </a:tc>
              </a:tr>
              <a:tr h="605155">
                <a:tc>
                  <a:txBody>
                    <a:bodyPr/>
                    <a:lstStyle/>
                    <a:p>
                      <a:pPr algn="l" fontAlgn="b"/>
                      <a:r>
                        <a:rPr lang="en-IN" sz="2000" b="0" i="0" u="none" strike="noStrike" dirty="0">
                          <a:solidFill>
                            <a:srgbClr val="000000"/>
                          </a:solidFill>
                          <a:effectLst/>
                          <a:highlight>
                            <a:srgbClr val="DAE9F8"/>
                          </a:highlight>
                          <a:latin typeface="Aptos Narrow" panose="020B0004020202020204" pitchFamily="34" charset="0"/>
                        </a:rPr>
                        <a:t>GPT3 SELF-INST</a:t>
                      </a:r>
                      <a:endParaRPr lang="en-IN" sz="2000" b="0" i="0" u="none" strike="noStrike" dirty="0">
                        <a:solidFill>
                          <a:srgbClr val="000000"/>
                        </a:solidFill>
                        <a:effectLst/>
                        <a:highlight>
                          <a:srgbClr val="DAE9F8"/>
                        </a:highlight>
                        <a:latin typeface="Aptos Narrow" panose="020B0004020202020204" pitchFamily="34" charset="0"/>
                      </a:endParaRPr>
                    </a:p>
                  </a:txBody>
                  <a:tcPr marL="9525" marR="9525" marT="9525" marB="0" anchor="ctr" anchorCtr="0">
                    <a:lnL w="12700" cap="flat" cmpd="sng" algn="ctr">
                      <a:solidFill>
                        <a:schemeClr val="tx1"/>
                      </a:solidFill>
                      <a:prstDash val="solid"/>
                      <a:round/>
                      <a:headEnd type="none" w="med" len="med"/>
                      <a:tailEnd type="none" w="med" len="me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DAE9F8"/>
                    </a:solidFill>
                  </a:tcPr>
                </a:tc>
                <a:tc>
                  <a:txBody>
                    <a:bodyPr/>
                    <a:lstStyle/>
                    <a:p>
                      <a:pPr algn="r" fontAlgn="b"/>
                      <a:r>
                        <a:rPr lang="en-IN" sz="2000" b="0" i="0" u="none" strike="noStrike">
                          <a:solidFill>
                            <a:srgbClr val="000000"/>
                          </a:solidFill>
                          <a:effectLst/>
                          <a:highlight>
                            <a:srgbClr val="DAE9F8"/>
                          </a:highlight>
                          <a:latin typeface="Aptos Narrow" panose="020B0004020202020204" pitchFamily="34" charset="0"/>
                        </a:rPr>
                        <a:t>175B</a:t>
                      </a:r>
                      <a:endParaRPr lang="en-IN" sz="2000" b="0" i="0" u="none" strike="noStrike">
                        <a:solidFill>
                          <a:srgbClr val="000000"/>
                        </a:solidFill>
                        <a:effectLst/>
                        <a:highlight>
                          <a:srgbClr val="DAE9F8"/>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a:solidFill>
                        <a:schemeClr val="tx1"/>
                      </a:solidFill>
                      <a:prstDash val="solid"/>
                    </a:lnT>
                    <a:lnB w="12700" cap="flat" cmpd="sng" algn="ctr">
                      <a:solidFill>
                        <a:schemeClr val="tx1"/>
                      </a:solidFill>
                      <a:prstDash val="solid"/>
                      <a:round/>
                      <a:headEnd type="none" w="med" len="med"/>
                      <a:tailEnd type="none" w="med" len="med"/>
                    </a:lnB>
                    <a:solidFill>
                      <a:srgbClr val="DAE9F8"/>
                    </a:solidFill>
                  </a:tcPr>
                </a:tc>
                <a:tc>
                  <a:txBody>
                    <a:bodyPr/>
                    <a:lstStyle/>
                    <a:p>
                      <a:pPr algn="r" fontAlgn="b"/>
                      <a:r>
                        <a:rPr lang="en-IN" sz="2000" b="0" i="0" u="none" strike="noStrike">
                          <a:solidFill>
                            <a:srgbClr val="000000"/>
                          </a:solidFill>
                          <a:effectLst/>
                          <a:highlight>
                            <a:srgbClr val="DAE9F8"/>
                          </a:highlight>
                          <a:latin typeface="Aptos Narrow" panose="020B0004020202020204" pitchFamily="34" charset="0"/>
                        </a:rPr>
                        <a:t>39.9</a:t>
                      </a:r>
                      <a:endParaRPr lang="en-IN" sz="2000" b="0" i="0" u="none" strike="noStrike">
                        <a:solidFill>
                          <a:srgbClr val="000000"/>
                        </a:solidFill>
                        <a:effectLst/>
                        <a:highlight>
                          <a:srgbClr val="DAE9F8"/>
                        </a:highlight>
                        <a:latin typeface="Aptos Narrow" panose="020B0004020202020204" pitchFamily="34" charset="0"/>
                      </a:endParaRPr>
                    </a:p>
                  </a:txBody>
                  <a:tcPr marL="9525" marR="9525" marT="9525" marB="0" anchor="ctr" anchorCtr="0">
                    <a:lnL w="12700">
                      <a:solidFill>
                        <a:schemeClr val="tx1"/>
                      </a:solidFill>
                      <a:prstDash val="solid"/>
                    </a:lnL>
                    <a:lnR w="12700" cap="flat" cmpd="sng" algn="ctr">
                      <a:solidFill>
                        <a:schemeClr val="tx1"/>
                      </a:solidFill>
                      <a:prstDash val="solid"/>
                      <a:round/>
                      <a:headEnd type="none" w="med" len="med"/>
                      <a:tailEnd type="none" w="med" len="med"/>
                    </a:lnR>
                    <a:lnT w="12700">
                      <a:solidFill>
                        <a:schemeClr val="tx1"/>
                      </a:solidFill>
                      <a:prstDash val="solid"/>
                    </a:lnT>
                    <a:lnB w="12700" cap="flat" cmpd="sng" algn="ctr">
                      <a:solidFill>
                        <a:schemeClr val="tx1"/>
                      </a:solidFill>
                      <a:prstDash val="solid"/>
                      <a:round/>
                      <a:headEnd type="none" w="med" len="med"/>
                      <a:tailEnd type="none" w="med" len="med"/>
                    </a:lnB>
                    <a:solidFill>
                      <a:srgbClr val="DAE9F8"/>
                    </a:solidFill>
                  </a:tcPr>
                </a:tc>
              </a:tr>
              <a:tr h="514985">
                <a:tc>
                  <a:txBody>
                    <a:bodyPr/>
                    <a:lstStyle/>
                    <a:p>
                      <a:pPr algn="l" fontAlgn="b"/>
                      <a:r>
                        <a:rPr lang="en-IN" sz="2000" b="0" i="0" u="none" strike="noStrike">
                          <a:solidFill>
                            <a:srgbClr val="000000"/>
                          </a:solidFill>
                          <a:effectLst/>
                          <a:highlight>
                            <a:srgbClr val="FBE2D5"/>
                          </a:highlight>
                          <a:latin typeface="Aptos Narrow" panose="020B0004020202020204" pitchFamily="34" charset="0"/>
                        </a:rPr>
                        <a:t>GPT3 + SUPERNI Training</a:t>
                      </a:r>
                      <a:endParaRPr lang="en-IN" sz="2000" b="0" i="0" u="none" strike="noStrike">
                        <a:solidFill>
                          <a:srgbClr val="000000"/>
                        </a:solidFill>
                        <a:effectLst/>
                        <a:highlight>
                          <a:srgbClr val="FBE2D5"/>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FBE2D5"/>
                    </a:solidFill>
                  </a:tcPr>
                </a:tc>
                <a:tc>
                  <a:txBody>
                    <a:bodyPr/>
                    <a:lstStyle/>
                    <a:p>
                      <a:pPr algn="r" fontAlgn="b"/>
                      <a:r>
                        <a:rPr lang="en-IN" sz="2000" b="0" i="0" u="none" strike="noStrike">
                          <a:solidFill>
                            <a:srgbClr val="000000"/>
                          </a:solidFill>
                          <a:effectLst/>
                          <a:highlight>
                            <a:srgbClr val="FBE2D5"/>
                          </a:highlight>
                          <a:latin typeface="Aptos Narrow" panose="020B0004020202020204" pitchFamily="34" charset="0"/>
                        </a:rPr>
                        <a:t>175B</a:t>
                      </a:r>
                      <a:endParaRPr lang="en-IN" sz="2000" b="0" i="0" u="none" strike="noStrike">
                        <a:solidFill>
                          <a:srgbClr val="000000"/>
                        </a:solidFill>
                        <a:effectLst/>
                        <a:highlight>
                          <a:srgbClr val="FBE2D5"/>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FBE2D5"/>
                    </a:solidFill>
                  </a:tcPr>
                </a:tc>
                <a:tc>
                  <a:txBody>
                    <a:bodyPr/>
                    <a:lstStyle/>
                    <a:p>
                      <a:pPr algn="r" fontAlgn="b"/>
                      <a:r>
                        <a:rPr lang="en-IN" sz="2000" b="0" i="0" u="none" strike="noStrike">
                          <a:solidFill>
                            <a:srgbClr val="000000"/>
                          </a:solidFill>
                          <a:effectLst/>
                          <a:highlight>
                            <a:srgbClr val="FBE2D5"/>
                          </a:highlight>
                          <a:latin typeface="Aptos Narrow" panose="020B0004020202020204" pitchFamily="34" charset="0"/>
                        </a:rPr>
                        <a:t>49.5</a:t>
                      </a:r>
                      <a:endParaRPr lang="en-IN" sz="2000" b="0" i="0" u="none" strike="noStrike">
                        <a:solidFill>
                          <a:srgbClr val="000000"/>
                        </a:solidFill>
                        <a:effectLst/>
                        <a:highlight>
                          <a:srgbClr val="FBE2D5"/>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cap="flat" cmpd="sng" algn="ctr">
                      <a:solidFill>
                        <a:schemeClr val="tx1"/>
                      </a:solidFill>
                      <a:prstDash val="solid"/>
                      <a:round/>
                      <a:headEnd type="none" w="med" len="med"/>
                      <a:tailEnd type="none" w="med" len="med"/>
                    </a:lnT>
                    <a:lnB w="12700">
                      <a:solidFill>
                        <a:schemeClr val="tx1"/>
                      </a:solidFill>
                      <a:prstDash val="solid"/>
                    </a:lnB>
                    <a:solidFill>
                      <a:srgbClr val="FBE2D5"/>
                    </a:solidFill>
                  </a:tcPr>
                </a:tc>
              </a:tr>
              <a:tr h="485140">
                <a:tc>
                  <a:txBody>
                    <a:bodyPr/>
                    <a:lstStyle/>
                    <a:p>
                      <a:pPr algn="l" fontAlgn="b"/>
                      <a:r>
                        <a:rPr lang="en-IN" sz="2000" b="0" i="0" u="none" strike="noStrike" dirty="0">
                          <a:solidFill>
                            <a:srgbClr val="000000"/>
                          </a:solidFill>
                          <a:effectLst/>
                          <a:highlight>
                            <a:srgbClr val="FBE2D5"/>
                          </a:highlight>
                          <a:latin typeface="Aptos Narrow" panose="020B0004020202020204" pitchFamily="34" charset="0"/>
                        </a:rPr>
                        <a:t>GPT3 SELF-INST + SUPERNI Training</a:t>
                      </a:r>
                      <a:endParaRPr lang="en-IN" sz="2000" b="0" i="0" u="none" strike="noStrike" dirty="0">
                        <a:solidFill>
                          <a:srgbClr val="000000"/>
                        </a:solidFill>
                        <a:effectLst/>
                        <a:highlight>
                          <a:srgbClr val="FBE2D5"/>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BE2D5"/>
                    </a:solidFill>
                  </a:tcPr>
                </a:tc>
                <a:tc>
                  <a:txBody>
                    <a:bodyPr/>
                    <a:lstStyle/>
                    <a:p>
                      <a:pPr algn="r" fontAlgn="b"/>
                      <a:r>
                        <a:rPr lang="en-IN" sz="2000" b="0" i="0" u="none" strike="noStrike">
                          <a:solidFill>
                            <a:srgbClr val="000000"/>
                          </a:solidFill>
                          <a:effectLst/>
                          <a:highlight>
                            <a:srgbClr val="FBE2D5"/>
                          </a:highlight>
                          <a:latin typeface="Aptos Narrow" panose="020B0004020202020204" pitchFamily="34" charset="0"/>
                        </a:rPr>
                        <a:t>175B</a:t>
                      </a:r>
                      <a:endParaRPr lang="en-IN" sz="2000" b="0" i="0" u="none" strike="noStrike">
                        <a:solidFill>
                          <a:srgbClr val="000000"/>
                        </a:solidFill>
                        <a:effectLst/>
                        <a:highlight>
                          <a:srgbClr val="FBE2D5"/>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BE2D5"/>
                    </a:solidFill>
                  </a:tcPr>
                </a:tc>
                <a:tc>
                  <a:txBody>
                    <a:bodyPr/>
                    <a:lstStyle/>
                    <a:p>
                      <a:pPr algn="r" fontAlgn="b"/>
                      <a:r>
                        <a:rPr lang="en-IN" sz="2000" b="0" i="0" u="none" strike="noStrike" dirty="0">
                          <a:solidFill>
                            <a:srgbClr val="000000"/>
                          </a:solidFill>
                          <a:effectLst/>
                          <a:highlight>
                            <a:srgbClr val="FBE2D5"/>
                          </a:highlight>
                          <a:latin typeface="Aptos Narrow" panose="020B0004020202020204" pitchFamily="34" charset="0"/>
                        </a:rPr>
                        <a:t>51.6</a:t>
                      </a:r>
                      <a:endParaRPr lang="en-IN" sz="2000" b="0" i="0" u="none" strike="noStrike" dirty="0">
                        <a:solidFill>
                          <a:srgbClr val="000000"/>
                        </a:solidFill>
                        <a:effectLst/>
                        <a:highlight>
                          <a:srgbClr val="FBE2D5"/>
                        </a:highlight>
                        <a:latin typeface="Aptos Narrow" panose="020B0004020202020204" pitchFamily="34" charset="0"/>
                      </a:endParaRPr>
                    </a:p>
                  </a:txBody>
                  <a:tcPr marL="9525" marR="9525" marT="9525" marB="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solidFill>
                      <a:srgbClr val="FBE2D5"/>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Human evaluation on 252 instructions</a:t>
            </a:r>
            <a:endParaRPr lang="en-US" dirty="0"/>
          </a:p>
        </p:txBody>
      </p:sp>
      <p:pic>
        <p:nvPicPr>
          <p:cNvPr id="5" name="Content Placeholder 4" descr="A graph with numbers and text&#10;&#10;Description automatically generated"/>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299626" y="1726276"/>
            <a:ext cx="9372797" cy="4351337"/>
          </a:xfrm>
        </p:spPr>
      </p:pic>
      <p:sp>
        <p:nvSpPr>
          <p:cNvPr id="6" name="TextBox 5"/>
          <p:cNvSpPr txBox="1"/>
          <p:nvPr/>
        </p:nvSpPr>
        <p:spPr>
          <a:xfrm>
            <a:off x="6812924" y="5788677"/>
            <a:ext cx="3429144" cy="430887"/>
          </a:xfrm>
          <a:prstGeom prst="rect">
            <a:avLst/>
          </a:prstGeom>
          <a:noFill/>
        </p:spPr>
        <p:txBody>
          <a:bodyPr wrap="none" rtlCol="0">
            <a:spAutoFit/>
          </a:bodyPr>
          <a:lstStyle/>
          <a:p>
            <a:r>
              <a:rPr lang="en-US" sz="1100" dirty="0"/>
              <a:t>Image Credit: SELF-INSTRUCT: Aligning Language Models</a:t>
            </a:r>
            <a:endParaRPr lang="en-US" sz="1100" dirty="0"/>
          </a:p>
          <a:p>
            <a:r>
              <a:rPr lang="en-US" sz="1100" dirty="0"/>
              <a:t>with Self-Generated Instructions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1325562"/>
          </a:xfrm>
        </p:spPr>
        <p:txBody>
          <a:bodyPr wrap="square" anchor="b">
            <a:normAutofit/>
          </a:bodyPr>
          <a:lstStyle/>
          <a:p>
            <a:pPr algn="l"/>
            <a:r>
              <a:rPr lang="en-US" dirty="0" err="1">
                <a:hlinkClick r:id="rId1" tooltip="" action="ppaction://hlinkfile"/>
              </a:rPr>
              <a:t>Evol</a:t>
            </a:r>
            <a:r>
              <a:rPr lang="en-US" dirty="0">
                <a:hlinkClick r:id="rId1" tooltip="" action="ppaction://hlinkfile"/>
              </a:rPr>
              <a:t>-Instruct</a:t>
            </a:r>
            <a:endParaRPr lang="en-US" dirty="0"/>
          </a:p>
        </p:txBody>
      </p:sp>
      <p:graphicFrame>
        <p:nvGraphicFramePr>
          <p:cNvPr id="7" name="Content Placeholder 2"/>
          <p:cNvGraphicFramePr>
            <a:graphicFrameLocks noGrp="1"/>
          </p:cNvGraphicFramePr>
          <p:nvPr>
            <p:ph idx="1"/>
          </p:nvPr>
        </p:nvGraphicFramePr>
        <p:xfrm>
          <a:off x="441325" y="1808163"/>
          <a:ext cx="11307763"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Evolver – In-Depth Evolution</a:t>
            </a:r>
            <a:endParaRPr lang="en-US" dirty="0"/>
          </a:p>
        </p:txBody>
      </p:sp>
      <p:sp>
        <p:nvSpPr>
          <p:cNvPr id="3" name="Content Placeholder 2"/>
          <p:cNvSpPr>
            <a:spLocks noGrp="1"/>
          </p:cNvSpPr>
          <p:nvPr>
            <p:ph idx="1"/>
          </p:nvPr>
        </p:nvSpPr>
        <p:spPr>
          <a:xfrm>
            <a:off x="441326" y="1808163"/>
            <a:ext cx="4649290" cy="1754326"/>
          </a:xfrm>
        </p:spPr>
        <p:txBody>
          <a:bodyPr/>
          <a:lstStyle/>
          <a:p>
            <a:r>
              <a:rPr lang="en-US" dirty="0"/>
              <a:t>Add constraints</a:t>
            </a:r>
            <a:endParaRPr lang="en-US" dirty="0"/>
          </a:p>
          <a:p>
            <a:r>
              <a:rPr lang="en-US" dirty="0"/>
              <a:t>Deepening</a:t>
            </a:r>
            <a:endParaRPr lang="en-US" dirty="0"/>
          </a:p>
          <a:p>
            <a:r>
              <a:rPr lang="en-US" dirty="0"/>
              <a:t>Concretizing</a:t>
            </a:r>
            <a:endParaRPr lang="en-US" dirty="0"/>
          </a:p>
          <a:p>
            <a:r>
              <a:rPr lang="en-US" dirty="0"/>
              <a:t>Increase Reasoning</a:t>
            </a:r>
            <a:endParaRPr lang="en-US" dirty="0"/>
          </a:p>
        </p:txBody>
      </p:sp>
      <p:sp>
        <p:nvSpPr>
          <p:cNvPr id="5" name="TextBox 4"/>
          <p:cNvSpPr txBox="1"/>
          <p:nvPr/>
        </p:nvSpPr>
        <p:spPr>
          <a:xfrm>
            <a:off x="4501831" y="1825223"/>
            <a:ext cx="6107372" cy="3970318"/>
          </a:xfrm>
          <a:prstGeom prst="rect">
            <a:avLst/>
          </a:prstGeom>
          <a:noFill/>
          <a:ln w="19050">
            <a:solidFill>
              <a:schemeClr val="accent1">
                <a:shade val="15000"/>
              </a:schemeClr>
            </a:solidFill>
          </a:ln>
        </p:spPr>
        <p:txBody>
          <a:bodyPr wrap="square">
            <a:spAutoFit/>
          </a:bodyPr>
          <a:lstStyle/>
          <a:p>
            <a:r>
              <a:rPr lang="en-US" dirty="0"/>
              <a:t>I want you act as a Prompt Rewriter.</a:t>
            </a:r>
            <a:endParaRPr lang="en-US" dirty="0"/>
          </a:p>
          <a:p>
            <a:r>
              <a:rPr lang="en-US" dirty="0"/>
              <a:t>Your objective is to rewrite a given prompt into a more complex version to make those famous AI systems</a:t>
            </a:r>
            <a:endParaRPr lang="en-US" dirty="0"/>
          </a:p>
          <a:p>
            <a:r>
              <a:rPr lang="en-US" dirty="0"/>
              <a:t>(e.g., ChatGPT and GPT4) a bit harder to handle.</a:t>
            </a:r>
            <a:endParaRPr lang="en-US" dirty="0"/>
          </a:p>
          <a:p>
            <a:r>
              <a:rPr lang="en-US" dirty="0"/>
              <a:t>But the rewritten prompt must be reasonable and must be understood and responded by humans.</a:t>
            </a:r>
            <a:br>
              <a:rPr lang="en-US" dirty="0"/>
            </a:br>
            <a:r>
              <a:rPr lang="en-US" dirty="0"/>
              <a:t>…</a:t>
            </a:r>
            <a:br>
              <a:rPr lang="en-US" dirty="0"/>
            </a:br>
            <a:r>
              <a:rPr lang="en-US" dirty="0">
                <a:solidFill>
                  <a:schemeClr val="accent1"/>
                </a:solidFill>
              </a:rPr>
              <a:t>You SHOULD complicate the given prompt using the following method: Please add one more constraints/requirements into #Given Prompt#</a:t>
            </a:r>
            <a:br>
              <a:rPr lang="en-US" dirty="0">
                <a:solidFill>
                  <a:schemeClr val="accent1"/>
                </a:solidFill>
              </a:rPr>
            </a:br>
            <a:br>
              <a:rPr lang="en-US" dirty="0"/>
            </a:br>
            <a:r>
              <a:rPr lang="en-US" dirty="0"/>
              <a:t>#Given Prompt#:</a:t>
            </a:r>
            <a:endParaRPr lang="en-US" dirty="0"/>
          </a:p>
          <a:p>
            <a:r>
              <a:rPr lang="en-US" dirty="0"/>
              <a:t>&lt;Here is instruction.&gt;</a:t>
            </a:r>
            <a:endParaRPr lang="en-US" dirty="0"/>
          </a:p>
          <a:p>
            <a:r>
              <a:rPr lang="en-US" dirty="0"/>
              <a:t>#Rewritten Prompt#:</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Instruction Evolver – In-Breadth Evolution</a:t>
            </a:r>
            <a:endParaRPr lang="en-US" dirty="0"/>
          </a:p>
        </p:txBody>
      </p:sp>
      <p:sp>
        <p:nvSpPr>
          <p:cNvPr id="3" name="Content Placeholder 2"/>
          <p:cNvSpPr>
            <a:spLocks noGrp="1"/>
          </p:cNvSpPr>
          <p:nvPr>
            <p:ph idx="1"/>
          </p:nvPr>
        </p:nvSpPr>
        <p:spPr>
          <a:xfrm>
            <a:off x="441326" y="1808163"/>
            <a:ext cx="4649290" cy="1754326"/>
          </a:xfrm>
        </p:spPr>
        <p:txBody>
          <a:bodyPr/>
          <a:lstStyle/>
          <a:p>
            <a:r>
              <a:rPr lang="en-US" dirty="0"/>
              <a:t>Enhance</a:t>
            </a:r>
            <a:endParaRPr lang="en-US" dirty="0"/>
          </a:p>
          <a:p>
            <a:pPr lvl="1"/>
            <a:r>
              <a:rPr lang="en-US" dirty="0"/>
              <a:t>Topic Coverage</a:t>
            </a:r>
            <a:endParaRPr lang="en-US" dirty="0"/>
          </a:p>
          <a:p>
            <a:pPr lvl="1"/>
            <a:r>
              <a:rPr lang="en-US" dirty="0"/>
              <a:t>Skill Coverage</a:t>
            </a:r>
            <a:endParaRPr lang="en-US" dirty="0"/>
          </a:p>
        </p:txBody>
      </p:sp>
      <p:sp>
        <p:nvSpPr>
          <p:cNvPr id="5" name="TextBox 4"/>
          <p:cNvSpPr txBox="1"/>
          <p:nvPr/>
        </p:nvSpPr>
        <p:spPr>
          <a:xfrm>
            <a:off x="4107976" y="2078167"/>
            <a:ext cx="7169968" cy="3692525"/>
          </a:xfrm>
          <a:prstGeom prst="rect">
            <a:avLst/>
          </a:prstGeom>
          <a:noFill/>
          <a:ln w="19050">
            <a:solidFill>
              <a:schemeClr val="accent1">
                <a:shade val="15000"/>
              </a:schemeClr>
            </a:solidFill>
          </a:ln>
        </p:spPr>
        <p:txBody>
          <a:bodyPr wrap="square">
            <a:spAutoFit/>
          </a:bodyPr>
          <a:lstStyle/>
          <a:p>
            <a:r>
              <a:rPr lang="en-US" dirty="0"/>
              <a:t>I want you act as a Prompt Creator. Your goal is to draw inspiration from the #Given Prompt# to create a </a:t>
            </a:r>
            <a:r>
              <a:rPr lang="en-US" dirty="0">
                <a:solidFill>
                  <a:schemeClr val="accent1"/>
                </a:solidFill>
              </a:rPr>
              <a:t>brand new </a:t>
            </a:r>
            <a:r>
              <a:rPr lang="en-US" dirty="0"/>
              <a:t>prompt. This new prompt should belong to the same domain as the #Given Prompt# but be even more rare. The LENGTH and difficulty level of the #Created Prompt# should be similar to that of the #Given Prompt#.</a:t>
            </a:r>
            <a:endParaRPr lang="en-US" dirty="0"/>
          </a:p>
          <a:p>
            <a:r>
              <a:rPr lang="en-US" dirty="0"/>
              <a:t>The #Created Prompt# must be reasonable and must be understood and responded by humans. ‘#Given Prompt#’, ‘#Created Prompt#’, ‘given prompt’ and ‘created prompt’ are not allowed to appear in #Created Prompt#.</a:t>
            </a:r>
            <a:endParaRPr lang="en-US" dirty="0"/>
          </a:p>
          <a:p>
            <a:br>
              <a:rPr lang="en-US" dirty="0"/>
            </a:br>
            <a:r>
              <a:rPr lang="en-US" dirty="0"/>
              <a:t>#Given Prompt#:</a:t>
            </a:r>
            <a:endParaRPr lang="en-US" dirty="0"/>
          </a:p>
          <a:p>
            <a:r>
              <a:rPr lang="en-US" dirty="0"/>
              <a:t>&lt;Here is instruction.&gt;</a:t>
            </a:r>
            <a:endParaRPr lang="en-US" dirty="0"/>
          </a:p>
          <a:p>
            <a:r>
              <a:rPr lang="en-US" dirty="0"/>
              <a:t>#Created Prompt#:</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white text on a white background&#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432926" y="4596609"/>
            <a:ext cx="2673851" cy="1372468"/>
          </a:xfrm>
          <a:prstGeom prst="rect">
            <a:avLst/>
          </a:prstGeom>
        </p:spPr>
      </p:pic>
      <p:sp>
        <p:nvSpPr>
          <p:cNvPr id="2" name="Title 1"/>
          <p:cNvSpPr>
            <a:spLocks noGrp="1"/>
          </p:cNvSpPr>
          <p:nvPr>
            <p:ph type="title"/>
          </p:nvPr>
        </p:nvSpPr>
        <p:spPr/>
        <p:txBody>
          <a:bodyPr/>
          <a:lstStyle/>
          <a:p>
            <a:r>
              <a:rPr lang="en-US" dirty="0"/>
              <a:t>Orca</a:t>
            </a:r>
            <a:endParaRPr lang="en-US" dirty="0"/>
          </a:p>
        </p:txBody>
      </p:sp>
      <p:sp>
        <p:nvSpPr>
          <p:cNvPr id="3" name="Content Placeholder 2"/>
          <p:cNvSpPr>
            <a:spLocks noGrp="1"/>
          </p:cNvSpPr>
          <p:nvPr>
            <p:ph idx="1"/>
          </p:nvPr>
        </p:nvSpPr>
        <p:spPr/>
        <p:txBody>
          <a:bodyPr/>
          <a:lstStyle/>
          <a:p>
            <a:r>
              <a:rPr lang="en-US" dirty="0"/>
              <a:t>How can we improve the information content in the response?</a:t>
            </a:r>
            <a:endParaRPr lang="en-US" dirty="0"/>
          </a:p>
          <a:p>
            <a:endParaRPr lang="en-US" dirty="0"/>
          </a:p>
          <a:p>
            <a:endParaRPr lang="en-US" dirty="0"/>
          </a:p>
          <a:p>
            <a:endParaRPr lang="en-US" dirty="0"/>
          </a:p>
          <a:p>
            <a:r>
              <a:rPr lang="en-US" dirty="0"/>
              <a:t>Add a system instruction from a diverse instruction set including chain-of-thought, reasoning steps, explain like I’m five, being helpful and informative, etc.</a:t>
            </a:r>
            <a:endParaRPr lang="en-US" dirty="0"/>
          </a:p>
        </p:txBody>
      </p:sp>
      <p:pic>
        <p:nvPicPr>
          <p:cNvPr id="5" name="Picture 4" descr="A blue square with black 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853" y="2228935"/>
            <a:ext cx="9826388" cy="1248138"/>
          </a:xfrm>
          <a:prstGeom prst="rect">
            <a:avLst/>
          </a:prstGeom>
        </p:spPr>
      </p:pic>
      <p:pic>
        <p:nvPicPr>
          <p:cNvPr id="7" name="Picture 6" descr="A white text on a white background&#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923" y="4357910"/>
            <a:ext cx="4662152" cy="1848144"/>
          </a:xfrm>
          <a:prstGeom prst="rect">
            <a:avLst/>
          </a:prstGeom>
        </p:spPr>
      </p:pic>
      <p:pic>
        <p:nvPicPr>
          <p:cNvPr id="9" name="Picture 8" descr="A blue square with black text and green arrows&#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59076" y="4629065"/>
            <a:ext cx="2673850" cy="130583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1325562"/>
          </a:xfrm>
        </p:spPr>
        <p:txBody>
          <a:bodyPr wrap="square" anchor="b">
            <a:normAutofit/>
          </a:bodyPr>
          <a:lstStyle/>
          <a:p>
            <a:r>
              <a:rPr lang="en-US" dirty="0"/>
              <a:t>Instruction Back-Translation</a:t>
            </a:r>
            <a:endParaRPr lang="en-US" dirty="0"/>
          </a:p>
        </p:txBody>
      </p:sp>
      <p:graphicFrame>
        <p:nvGraphicFramePr>
          <p:cNvPr id="6" name="Content Placeholder 2"/>
          <p:cNvGraphicFramePr>
            <a:graphicFrameLocks noGrp="1"/>
          </p:cNvGraphicFramePr>
          <p:nvPr>
            <p:ph idx="1"/>
          </p:nvPr>
        </p:nvGraphicFramePr>
        <p:xfrm>
          <a:off x="441325" y="1666491"/>
          <a:ext cx="11307763" cy="435133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 name="Right Arrow 3"/>
          <p:cNvSpPr/>
          <p:nvPr/>
        </p:nvSpPr>
        <p:spPr>
          <a:xfrm>
            <a:off x="2485623" y="3940931"/>
            <a:ext cx="270456" cy="2189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p:cNvSpPr/>
          <p:nvPr/>
        </p:nvSpPr>
        <p:spPr>
          <a:xfrm>
            <a:off x="4800377" y="3953810"/>
            <a:ext cx="270456" cy="2189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p:cNvSpPr/>
          <p:nvPr/>
        </p:nvSpPr>
        <p:spPr>
          <a:xfrm>
            <a:off x="7115131" y="3940930"/>
            <a:ext cx="270456" cy="2189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ight Arrow 8"/>
          <p:cNvSpPr/>
          <p:nvPr/>
        </p:nvSpPr>
        <p:spPr>
          <a:xfrm>
            <a:off x="9429885" y="3940929"/>
            <a:ext cx="270456" cy="21894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p:cNvSpPr txBox="1"/>
          <p:nvPr/>
        </p:nvSpPr>
        <p:spPr>
          <a:xfrm>
            <a:off x="6780727" y="5884550"/>
            <a:ext cx="2784386" cy="430887"/>
          </a:xfrm>
          <a:prstGeom prst="rect">
            <a:avLst/>
          </a:prstGeom>
          <a:noFill/>
        </p:spPr>
        <p:txBody>
          <a:bodyPr wrap="square" rtlCol="0">
            <a:spAutoFit/>
          </a:bodyPr>
          <a:lstStyle/>
          <a:p>
            <a:r>
              <a:rPr lang="en-US" sz="1100" dirty="0"/>
              <a:t>Content Credit: Instruction Tuning for Large Language Models: A Survey</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Popular Instruction-Tuned Models on Known Datasets</a:t>
            </a:r>
            <a:endParaRPr lang="en-US" dirty="0"/>
          </a:p>
        </p:txBody>
      </p:sp>
      <p:sp>
        <p:nvSpPr>
          <p:cNvPr id="3" name="Content Placeholder 2"/>
          <p:cNvSpPr>
            <a:spLocks noGrp="1"/>
          </p:cNvSpPr>
          <p:nvPr>
            <p:ph idx="1"/>
          </p:nvPr>
        </p:nvSpPr>
        <p:spPr/>
        <p:txBody>
          <a:bodyPr/>
          <a:lstStyle/>
          <a:p>
            <a:r>
              <a:rPr lang="en-US" dirty="0"/>
              <a:t>Flan-T5 (11B)</a:t>
            </a:r>
            <a:endParaRPr lang="en-US" dirty="0"/>
          </a:p>
          <a:p>
            <a:pPr lvl="1"/>
            <a:r>
              <a:rPr lang="en-US" dirty="0"/>
              <a:t>Fine-tuned T5-11B on </a:t>
            </a:r>
            <a:r>
              <a:rPr lang="en-US" dirty="0">
                <a:solidFill>
                  <a:schemeClr val="accent1"/>
                </a:solidFill>
              </a:rPr>
              <a:t>Flan</a:t>
            </a:r>
            <a:r>
              <a:rPr lang="en-US" dirty="0"/>
              <a:t> dataset </a:t>
            </a:r>
            <a:endParaRPr lang="en-US" dirty="0"/>
          </a:p>
          <a:p>
            <a:r>
              <a:rPr lang="en-US" dirty="0"/>
              <a:t>Alpaca (7B)</a:t>
            </a:r>
            <a:endParaRPr lang="en-US" dirty="0"/>
          </a:p>
          <a:p>
            <a:pPr lvl="1"/>
            <a:r>
              <a:rPr lang="en-US" dirty="0"/>
              <a:t>Finetuned LLaMa-7B on synthetic dataset generated from text-davinci-003 generated using </a:t>
            </a:r>
            <a:r>
              <a:rPr lang="en-US" dirty="0">
                <a:solidFill>
                  <a:schemeClr val="accent1"/>
                </a:solidFill>
              </a:rPr>
              <a:t>Self-Instruct</a:t>
            </a:r>
            <a:endParaRPr lang="en-US" dirty="0">
              <a:solidFill>
                <a:schemeClr val="accent1"/>
              </a:solidFill>
            </a:endParaRPr>
          </a:p>
          <a:p>
            <a:r>
              <a:rPr lang="en-US" dirty="0" err="1"/>
              <a:t>WizardLM</a:t>
            </a:r>
            <a:r>
              <a:rPr lang="en-US" dirty="0"/>
              <a:t> (7B)</a:t>
            </a:r>
            <a:endParaRPr lang="en-US" dirty="0"/>
          </a:p>
          <a:p>
            <a:pPr lvl="1"/>
            <a:r>
              <a:rPr lang="en-US" dirty="0"/>
              <a:t>Finetuned LLaMa-7B on on an instruction dataset generated from ChatGPT using </a:t>
            </a:r>
            <a:r>
              <a:rPr lang="en-US" dirty="0" err="1">
                <a:solidFill>
                  <a:schemeClr val="accent1"/>
                </a:solidFill>
              </a:rPr>
              <a:t>Evol</a:t>
            </a:r>
            <a:r>
              <a:rPr lang="en-US" dirty="0">
                <a:solidFill>
                  <a:schemeClr val="accent1"/>
                </a:solidFill>
              </a:rPr>
              <a:t>-Instruct </a:t>
            </a:r>
            <a:r>
              <a:rPr lang="en-US" dirty="0"/>
              <a:t>.</a:t>
            </a:r>
            <a:endParaRPr lang="en-US" dirty="0"/>
          </a:p>
          <a:p>
            <a:pPr algn="l"/>
            <a:r>
              <a:rPr lang="en-IN" i="0" dirty="0">
                <a:solidFill>
                  <a:srgbClr val="000000"/>
                </a:solidFill>
                <a:effectLst/>
                <a:highlight>
                  <a:srgbClr val="FFFFFF"/>
                </a:highlight>
                <a:latin typeface="+mj-lt"/>
              </a:rPr>
              <a:t>Mistral-7B-OpenOrca</a:t>
            </a:r>
            <a:endParaRPr lang="en-IN" i="0" dirty="0">
              <a:solidFill>
                <a:srgbClr val="000000"/>
              </a:solidFill>
              <a:effectLst/>
              <a:highlight>
                <a:srgbClr val="FFFFFF"/>
              </a:highlight>
              <a:latin typeface="+mj-lt"/>
            </a:endParaRPr>
          </a:p>
          <a:p>
            <a:pPr lvl="1"/>
            <a:r>
              <a:rPr lang="en-IN" dirty="0">
                <a:solidFill>
                  <a:srgbClr val="000000"/>
                </a:solidFill>
                <a:highlight>
                  <a:srgbClr val="FFFFFF"/>
                </a:highlight>
                <a:latin typeface="+mj-lt"/>
              </a:rPr>
              <a:t>Finetuned Mistral-7B on </a:t>
            </a:r>
            <a:r>
              <a:rPr lang="en-IN" dirty="0">
                <a:solidFill>
                  <a:schemeClr val="accent1"/>
                </a:solidFill>
                <a:highlight>
                  <a:srgbClr val="FFFFFF"/>
                </a:highlight>
                <a:latin typeface="+mj-lt"/>
              </a:rPr>
              <a:t>Orca style</a:t>
            </a:r>
            <a:r>
              <a:rPr lang="en-IN" dirty="0">
                <a:solidFill>
                  <a:srgbClr val="000000"/>
                </a:solidFill>
                <a:highlight>
                  <a:srgbClr val="FFFFFF"/>
                </a:highlight>
                <a:latin typeface="+mj-lt"/>
              </a:rPr>
              <a:t> completions from GPT-4 &amp; GPT-3.5</a:t>
            </a:r>
            <a:endParaRPr lang="en-IN" i="0" dirty="0">
              <a:solidFill>
                <a:srgbClr val="000000"/>
              </a:solidFill>
              <a:effectLst/>
              <a:highlight>
                <a:srgbClr val="FFFFFF"/>
              </a:highlight>
              <a:latin typeface="+mj-lt"/>
            </a:endParaRPr>
          </a:p>
          <a:p>
            <a:endParaRPr lang="en-US" dirty="0"/>
          </a:p>
          <a:p>
            <a:pPr lvl="1"/>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i="0" dirty="0">
                <a:solidFill>
                  <a:srgbClr val="000000"/>
                </a:solidFill>
                <a:effectLst/>
                <a:highlight>
                  <a:srgbClr val="FFFFFF"/>
                </a:highlight>
              </a:rPr>
              <a:t>Instruction Tuned Models are Quick Learners</a:t>
            </a:r>
            <a:endParaRPr lang="en-US" dirty="0"/>
          </a:p>
        </p:txBody>
      </p:sp>
      <p:pic>
        <p:nvPicPr>
          <p:cNvPr id="5" name="Content Placeholder 4" descr="A diagram of a process&#10;&#10;Description automatically generated with medium confidence"/>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282540" y="1743769"/>
            <a:ext cx="7857153" cy="4351337"/>
          </a:xfr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Superficial Alignment Hypothesis</a:t>
            </a:r>
            <a:endParaRPr lang="en-US" dirty="0"/>
          </a:p>
        </p:txBody>
      </p:sp>
      <p:sp>
        <p:nvSpPr>
          <p:cNvPr id="3" name="Content Placeholder 2"/>
          <p:cNvSpPr>
            <a:spLocks noGrp="1"/>
          </p:cNvSpPr>
          <p:nvPr>
            <p:ph idx="1"/>
          </p:nvPr>
        </p:nvSpPr>
        <p:spPr/>
        <p:txBody>
          <a:bodyPr/>
          <a:lstStyle/>
          <a:p>
            <a:r>
              <a:rPr lang="en-US" dirty="0"/>
              <a:t>A model’s knowledge and capabilities are learnt almost entirely during pretraining, while alignment teaches it which sub-distribution of formats should be used when interacting with users</a:t>
            </a:r>
            <a:endParaRPr lang="en-US" dirty="0"/>
          </a:p>
          <a:p>
            <a:r>
              <a:rPr lang="en-US" dirty="0"/>
              <a:t>Corollary: A small number of examples should be sufficient for instruction-tuning.</a:t>
            </a:r>
            <a:endParaRPr lang="en-US" dirty="0"/>
          </a:p>
        </p:txBody>
      </p:sp>
      <p:pic>
        <p:nvPicPr>
          <p:cNvPr id="5" name="Picture 4" descr="A white paper with numbers and 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45803" y="3429000"/>
            <a:ext cx="7721600" cy="2438400"/>
          </a:xfrm>
          <a:prstGeom prst="rect">
            <a:avLst/>
          </a:prstGeom>
        </p:spPr>
      </p:pic>
      <p:sp>
        <p:nvSpPr>
          <p:cNvPr id="6" name="TextBox 5"/>
          <p:cNvSpPr txBox="1"/>
          <p:nvPr/>
        </p:nvSpPr>
        <p:spPr>
          <a:xfrm>
            <a:off x="7263685" y="5913135"/>
            <a:ext cx="2456122" cy="261610"/>
          </a:xfrm>
          <a:prstGeom prst="rect">
            <a:avLst/>
          </a:prstGeom>
          <a:noFill/>
        </p:spPr>
        <p:txBody>
          <a:bodyPr wrap="none" rtlCol="0">
            <a:spAutoFit/>
          </a:bodyPr>
          <a:lstStyle/>
          <a:p>
            <a:r>
              <a:rPr lang="en-US" sz="1100" dirty="0"/>
              <a:t>Credit: LIMA: Less Is More for Alignment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LIMA (Less is More For Alignment)</a:t>
            </a:r>
            <a:endParaRPr lang="en-US" dirty="0"/>
          </a:p>
        </p:txBody>
      </p:sp>
      <p:pic>
        <p:nvPicPr>
          <p:cNvPr id="5" name="Content Placeholder 4" descr="A comparison of blue and white bars&#10;&#10;Description automatically generated"/>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03300" y="1651939"/>
            <a:ext cx="10083800" cy="4343400"/>
          </a:xfr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325" y="258763"/>
            <a:ext cx="11307763" cy="1325562"/>
          </a:xfrm>
        </p:spPr>
        <p:txBody>
          <a:bodyPr wrap="square" anchor="b">
            <a:normAutofit/>
          </a:bodyPr>
          <a:lstStyle/>
          <a:p>
            <a:r>
              <a:rPr lang="en-US" dirty="0"/>
              <a:t>Main Takeaways</a:t>
            </a:r>
            <a:endParaRPr lang="en-US" dirty="0"/>
          </a:p>
        </p:txBody>
      </p:sp>
      <p:graphicFrame>
        <p:nvGraphicFramePr>
          <p:cNvPr id="5" name="Content Placeholder 2"/>
          <p:cNvGraphicFramePr>
            <a:graphicFrameLocks noGrp="1"/>
          </p:cNvGraphicFramePr>
          <p:nvPr>
            <p:ph idx="1"/>
          </p:nvPr>
        </p:nvGraphicFramePr>
        <p:xfrm>
          <a:off x="441325" y="1808163"/>
          <a:ext cx="11307763" cy="4351337"/>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theme/theme1.xml><?xml version="1.0" encoding="utf-8"?>
<a:theme xmlns:a="http://schemas.openxmlformats.org/drawingml/2006/main" name="1_Office Theme">
  <a:themeElements>
    <a:clrScheme name="iitd">
      <a:dk1>
        <a:srgbClr val="000000"/>
      </a:dk1>
      <a:lt1>
        <a:srgbClr val="FFFFFF"/>
      </a:lt1>
      <a:dk2>
        <a:srgbClr val="44546A"/>
      </a:dk2>
      <a:lt2>
        <a:srgbClr val="E7E6E6"/>
      </a:lt2>
      <a:accent1>
        <a:srgbClr val="C21717"/>
      </a:accent1>
      <a:accent2>
        <a:srgbClr val="F1E3E3"/>
      </a:accent2>
      <a:accent3>
        <a:srgbClr val="A5A5A5"/>
      </a:accent3>
      <a:accent4>
        <a:srgbClr val="333333"/>
      </a:accent4>
      <a:accent5>
        <a:srgbClr val="5B9BD5"/>
      </a:accent5>
      <a:accent6>
        <a:srgbClr val="E08080"/>
      </a:accent6>
      <a:hlink>
        <a:srgbClr val="0563C1"/>
      </a:hlink>
      <a:folHlink>
        <a:srgbClr val="954F72"/>
      </a:folHlink>
    </a:clrScheme>
    <a:fontScheme name="Aptos">
      <a:majorFont>
        <a:latin typeface="Aptos Display"/>
        <a:ea typeface=""/>
        <a:cs typeface=""/>
      </a:majorFont>
      <a:minorFont>
        <a:latin typeface="Aptos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NPTEL_Template</Template>
  <TotalTime>0</TotalTime>
  <Words>7673</Words>
  <Application>WPS Presentation</Application>
  <PresentationFormat>Widescreen</PresentationFormat>
  <Paragraphs>347</Paragraphs>
  <Slides>30</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30</vt:i4>
      </vt:variant>
    </vt:vector>
  </HeadingPairs>
  <TitlesOfParts>
    <vt:vector size="47" baseType="lpstr">
      <vt:lpstr>Arial</vt:lpstr>
      <vt:lpstr>SimSun</vt:lpstr>
      <vt:lpstr>Wingdings</vt:lpstr>
      <vt:lpstr>Aptos Display</vt:lpstr>
      <vt:lpstr>Clear Sans Thin</vt:lpstr>
      <vt:lpstr>Aptos Display</vt:lpstr>
      <vt:lpstr>Comfortaa Light</vt:lpstr>
      <vt:lpstr>Microsoft YaHei</vt:lpstr>
      <vt:lpstr>Droid Sans Fallback</vt:lpstr>
      <vt:lpstr>Arial Unicode MS</vt:lpstr>
      <vt:lpstr>Calibri</vt:lpstr>
      <vt:lpstr>Cambria Math</vt:lpstr>
      <vt:lpstr>DejaVu Math TeX Gyre</vt:lpstr>
      <vt:lpstr>-apple-system</vt:lpstr>
      <vt:lpstr>Aptos Narrow</vt:lpstr>
      <vt:lpstr>OpenSymbol</vt:lpstr>
      <vt:lpstr>1_Office Theme</vt:lpstr>
      <vt:lpstr>Large Language Models: Introduction and Recent Advances ELL881 · AIL821</vt:lpstr>
      <vt:lpstr>How to make ChatGPT ?</vt:lpstr>
      <vt:lpstr>How to make ChatGPT ?</vt:lpstr>
      <vt:lpstr>Table of Contents</vt:lpstr>
      <vt:lpstr>Why Do We Need Instruction Training?</vt:lpstr>
      <vt:lpstr>PowerPoint 演示文稿</vt:lpstr>
      <vt:lpstr>How to train? (Decoder-only models)</vt:lpstr>
      <vt:lpstr>How to train? (Encoder-Decoder Models)</vt:lpstr>
      <vt:lpstr>PowerPoint 演示文稿</vt:lpstr>
      <vt:lpstr>Where does the data come from?	</vt:lpstr>
      <vt:lpstr>SuperNatural Instructions</vt:lpstr>
      <vt:lpstr>Synthetic Instruction-Tuning Data</vt:lpstr>
      <vt:lpstr>Self-Instruct</vt:lpstr>
      <vt:lpstr>The Self-Instruct Process – Instruction Generation</vt:lpstr>
      <vt:lpstr>The Self-Instruct Process – Classification Task Identification</vt:lpstr>
      <vt:lpstr>The Self-Instruct Process – Instance Generation</vt:lpstr>
      <vt:lpstr>The Self-Instruct Process – Instance Generation - II</vt:lpstr>
      <vt:lpstr>Self-Instruct: The complete pipeline</vt:lpstr>
      <vt:lpstr>Evaluation results on unseen tasks from SUPERNI </vt:lpstr>
      <vt:lpstr>Human evaluation on 252 instructions</vt:lpstr>
      <vt:lpstr>Evol-Instruct</vt:lpstr>
      <vt:lpstr>Instruction Evolver – In-Depth Evolution</vt:lpstr>
      <vt:lpstr>Instruction Evolver – In-Breadth Evolution</vt:lpstr>
      <vt:lpstr>Orca</vt:lpstr>
      <vt:lpstr>Instruction Back-Translation</vt:lpstr>
      <vt:lpstr>Popular Instruction-Tuned Models on Known Datasets</vt:lpstr>
      <vt:lpstr>Instruction Tuned Models are Quick Learners</vt:lpstr>
      <vt:lpstr>Superficial Alignment Hypothesis</vt:lpstr>
      <vt:lpstr>LIMA (Less is More For Alignment)</vt:lpstr>
      <vt:lpstr>Main Takeaways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Anwoy Chatterjee</dc:creator>
  <cp:lastModifiedBy>soumen</cp:lastModifiedBy>
  <cp:revision>96</cp:revision>
  <dcterms:created xsi:type="dcterms:W3CDTF">2026-03-09T08:29:33Z</dcterms:created>
  <dcterms:modified xsi:type="dcterms:W3CDTF">2026-03-09T08:29:33Z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
  </property>
  <property fmtid="{D5CDD505-2E9C-101B-9397-08002B2CF9AE}" pid="3" name="KSOProductBuildVer">
    <vt:lpwstr>1033-11.1.0.11723</vt:lpwstr>
  </property>
</Properties>
</file>