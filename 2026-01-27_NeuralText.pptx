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5.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6.xml" ContentType="application/inkml+xml"/>
  <Override PartName="/ppt/notesSlides/notesSlide6.xml" ContentType="application/vnd.openxmlformats-officedocument.presentationml.notesSlide+xml"/>
  <Override PartName="/ppt/ink/ink7.xml" ContentType="application/inkml+xml"/>
  <Override PartName="/ppt/ink/ink8.xml" ContentType="application/inkml+xml"/>
  <Override PartName="/ppt/ink/ink9.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2"/>
  </p:notesMasterIdLst>
  <p:handoutMasterIdLst>
    <p:handoutMasterId r:id="rId83"/>
  </p:handoutMasterIdLst>
  <p:sldIdLst>
    <p:sldId id="256" r:id="rId2"/>
    <p:sldId id="257" r:id="rId3"/>
    <p:sldId id="267" r:id="rId4"/>
    <p:sldId id="397" r:id="rId5"/>
    <p:sldId id="398" r:id="rId6"/>
    <p:sldId id="268" r:id="rId7"/>
    <p:sldId id="399" r:id="rId8"/>
    <p:sldId id="442" r:id="rId9"/>
    <p:sldId id="358" r:id="rId10"/>
    <p:sldId id="269" r:id="rId11"/>
    <p:sldId id="400" r:id="rId12"/>
    <p:sldId id="276" r:id="rId13"/>
    <p:sldId id="443" r:id="rId14"/>
    <p:sldId id="270" r:id="rId15"/>
    <p:sldId id="271" r:id="rId16"/>
    <p:sldId id="273" r:id="rId17"/>
    <p:sldId id="486" r:id="rId18"/>
    <p:sldId id="274" r:id="rId19"/>
    <p:sldId id="275" r:id="rId20"/>
    <p:sldId id="272" r:id="rId21"/>
    <p:sldId id="277" r:id="rId22"/>
    <p:sldId id="278" r:id="rId23"/>
    <p:sldId id="299" r:id="rId24"/>
    <p:sldId id="280" r:id="rId25"/>
    <p:sldId id="485" r:id="rId26"/>
    <p:sldId id="487" r:id="rId27"/>
    <p:sldId id="488" r:id="rId28"/>
    <p:sldId id="489" r:id="rId29"/>
    <p:sldId id="490" r:id="rId30"/>
    <p:sldId id="491" r:id="rId31"/>
    <p:sldId id="320" r:id="rId32"/>
    <p:sldId id="322" r:id="rId33"/>
    <p:sldId id="321" r:id="rId34"/>
    <p:sldId id="281" r:id="rId35"/>
    <p:sldId id="357" r:id="rId36"/>
    <p:sldId id="323" r:id="rId37"/>
    <p:sldId id="288" r:id="rId38"/>
    <p:sldId id="289" r:id="rId39"/>
    <p:sldId id="291" r:id="rId40"/>
    <p:sldId id="533" r:id="rId41"/>
    <p:sldId id="568" r:id="rId42"/>
    <p:sldId id="526" r:id="rId43"/>
    <p:sldId id="527" r:id="rId44"/>
    <p:sldId id="528" r:id="rId45"/>
    <p:sldId id="529" r:id="rId46"/>
    <p:sldId id="530" r:id="rId47"/>
    <p:sldId id="531" r:id="rId48"/>
    <p:sldId id="532" r:id="rId49"/>
    <p:sldId id="298" r:id="rId50"/>
    <p:sldId id="605" r:id="rId51"/>
    <p:sldId id="609" r:id="rId52"/>
    <p:sldId id="606" r:id="rId53"/>
    <p:sldId id="607" r:id="rId54"/>
    <p:sldId id="610" r:id="rId55"/>
    <p:sldId id="608" r:id="rId56"/>
    <p:sldId id="301" r:id="rId57"/>
    <p:sldId id="302" r:id="rId58"/>
    <p:sldId id="303" r:id="rId59"/>
    <p:sldId id="550" r:id="rId60"/>
    <p:sldId id="551" r:id="rId61"/>
    <p:sldId id="552" r:id="rId62"/>
    <p:sldId id="553" r:id="rId63"/>
    <p:sldId id="554" r:id="rId64"/>
    <p:sldId id="555" r:id="rId65"/>
    <p:sldId id="556" r:id="rId66"/>
    <p:sldId id="557" r:id="rId67"/>
    <p:sldId id="558" r:id="rId68"/>
    <p:sldId id="559" r:id="rId69"/>
    <p:sldId id="560" r:id="rId70"/>
    <p:sldId id="561" r:id="rId71"/>
    <p:sldId id="562" r:id="rId72"/>
    <p:sldId id="306" r:id="rId73"/>
    <p:sldId id="304" r:id="rId74"/>
    <p:sldId id="308" r:id="rId75"/>
    <p:sldId id="309" r:id="rId76"/>
    <p:sldId id="574" r:id="rId77"/>
    <p:sldId id="570" r:id="rId78"/>
    <p:sldId id="571" r:id="rId79"/>
    <p:sldId id="572" r:id="rId80"/>
    <p:sldId id="569" r:id="rId8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71AFF"/>
    <a:srgbClr val="E169FF"/>
    <a:srgbClr val="DA9EFF"/>
    <a:srgbClr val="D7BBDF"/>
    <a:srgbClr val="FFD966"/>
    <a:srgbClr val="DAE3F3"/>
    <a:srgbClr val="FFF2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5" d="100"/>
          <a:sy n="115" d="100"/>
        </p:scale>
        <p:origin x="144" y="5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slide" Target="slides/slide38.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slide" Target="slides/slide41.xml" /><Relationship Id="rId47" Type="http://schemas.openxmlformats.org/officeDocument/2006/relationships/slide" Target="slides/slide46.xml" /><Relationship Id="rId50" Type="http://schemas.openxmlformats.org/officeDocument/2006/relationships/slide" Target="slides/slide49.xml" /><Relationship Id="rId55" Type="http://schemas.openxmlformats.org/officeDocument/2006/relationships/slide" Target="slides/slide54.xml" /><Relationship Id="rId63" Type="http://schemas.openxmlformats.org/officeDocument/2006/relationships/slide" Target="slides/slide62.xml" /><Relationship Id="rId68" Type="http://schemas.openxmlformats.org/officeDocument/2006/relationships/slide" Target="slides/slide67.xml" /><Relationship Id="rId76" Type="http://schemas.openxmlformats.org/officeDocument/2006/relationships/slide" Target="slides/slide75.xml" /><Relationship Id="rId84" Type="http://schemas.openxmlformats.org/officeDocument/2006/relationships/presProps" Target="presProps.xml" /><Relationship Id="rId7" Type="http://schemas.openxmlformats.org/officeDocument/2006/relationships/slide" Target="slides/slide6.xml" /><Relationship Id="rId71" Type="http://schemas.openxmlformats.org/officeDocument/2006/relationships/slide" Target="slides/slide70.xml" /><Relationship Id="rId2" Type="http://schemas.openxmlformats.org/officeDocument/2006/relationships/slide" Target="slides/slide1.xml" /><Relationship Id="rId16" Type="http://schemas.openxmlformats.org/officeDocument/2006/relationships/slide" Target="slides/slide15.xml" /><Relationship Id="rId29" Type="http://schemas.openxmlformats.org/officeDocument/2006/relationships/slide" Target="slides/slide28.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slide" Target="slides/slide39.xml" /><Relationship Id="rId45" Type="http://schemas.openxmlformats.org/officeDocument/2006/relationships/slide" Target="slides/slide44.xml" /><Relationship Id="rId53" Type="http://schemas.openxmlformats.org/officeDocument/2006/relationships/slide" Target="slides/slide52.xml" /><Relationship Id="rId58" Type="http://schemas.openxmlformats.org/officeDocument/2006/relationships/slide" Target="slides/slide57.xml" /><Relationship Id="rId66" Type="http://schemas.openxmlformats.org/officeDocument/2006/relationships/slide" Target="slides/slide65.xml" /><Relationship Id="rId74" Type="http://schemas.openxmlformats.org/officeDocument/2006/relationships/slide" Target="slides/slide73.xml" /><Relationship Id="rId79" Type="http://schemas.openxmlformats.org/officeDocument/2006/relationships/slide" Target="slides/slide78.xml" /><Relationship Id="rId87" Type="http://schemas.openxmlformats.org/officeDocument/2006/relationships/tableStyles" Target="tableStyles.xml" /><Relationship Id="rId5" Type="http://schemas.openxmlformats.org/officeDocument/2006/relationships/slide" Target="slides/slide4.xml" /><Relationship Id="rId61" Type="http://schemas.openxmlformats.org/officeDocument/2006/relationships/slide" Target="slides/slide60.xml" /><Relationship Id="rId82" Type="http://schemas.openxmlformats.org/officeDocument/2006/relationships/notesMaster" Target="notesMasters/notesMaster1.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slide" Target="slides/slide42.xml" /><Relationship Id="rId48" Type="http://schemas.openxmlformats.org/officeDocument/2006/relationships/slide" Target="slides/slide47.xml" /><Relationship Id="rId56" Type="http://schemas.openxmlformats.org/officeDocument/2006/relationships/slide" Target="slides/slide55.xml" /><Relationship Id="rId64" Type="http://schemas.openxmlformats.org/officeDocument/2006/relationships/slide" Target="slides/slide63.xml" /><Relationship Id="rId69" Type="http://schemas.openxmlformats.org/officeDocument/2006/relationships/slide" Target="slides/slide68.xml" /><Relationship Id="rId77" Type="http://schemas.openxmlformats.org/officeDocument/2006/relationships/slide" Target="slides/slide76.xml" /><Relationship Id="rId8" Type="http://schemas.openxmlformats.org/officeDocument/2006/relationships/slide" Target="slides/slide7.xml" /><Relationship Id="rId51" Type="http://schemas.openxmlformats.org/officeDocument/2006/relationships/slide" Target="slides/slide50.xml" /><Relationship Id="rId72" Type="http://schemas.openxmlformats.org/officeDocument/2006/relationships/slide" Target="slides/slide71.xml" /><Relationship Id="rId80" Type="http://schemas.openxmlformats.org/officeDocument/2006/relationships/slide" Target="slides/slide79.xml" /><Relationship Id="rId85" Type="http://schemas.openxmlformats.org/officeDocument/2006/relationships/viewProps" Target="viewProps.xml" /><Relationship Id="rId3" Type="http://schemas.openxmlformats.org/officeDocument/2006/relationships/slide" Target="slides/slide2.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46" Type="http://schemas.openxmlformats.org/officeDocument/2006/relationships/slide" Target="slides/slide45.xml" /><Relationship Id="rId59" Type="http://schemas.openxmlformats.org/officeDocument/2006/relationships/slide" Target="slides/slide58.xml" /><Relationship Id="rId67" Type="http://schemas.openxmlformats.org/officeDocument/2006/relationships/slide" Target="slides/slide66.xml" /><Relationship Id="rId20" Type="http://schemas.openxmlformats.org/officeDocument/2006/relationships/slide" Target="slides/slide19.xml" /><Relationship Id="rId41" Type="http://schemas.openxmlformats.org/officeDocument/2006/relationships/slide" Target="slides/slide40.xml" /><Relationship Id="rId54" Type="http://schemas.openxmlformats.org/officeDocument/2006/relationships/slide" Target="slides/slide53.xml" /><Relationship Id="rId62" Type="http://schemas.openxmlformats.org/officeDocument/2006/relationships/slide" Target="slides/slide61.xml" /><Relationship Id="rId70" Type="http://schemas.openxmlformats.org/officeDocument/2006/relationships/slide" Target="slides/slide69.xml" /><Relationship Id="rId75" Type="http://schemas.openxmlformats.org/officeDocument/2006/relationships/slide" Target="slides/slide74.xml" /><Relationship Id="rId83" Type="http://schemas.openxmlformats.org/officeDocument/2006/relationships/handoutMaster" Target="handoutMasters/handoutMaster1.xml" /><Relationship Id="rId1" Type="http://schemas.openxmlformats.org/officeDocument/2006/relationships/slideMaster" Target="slideMasters/slideMaster1.xml" /><Relationship Id="rId6" Type="http://schemas.openxmlformats.org/officeDocument/2006/relationships/slide" Target="slides/slide5.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49" Type="http://schemas.openxmlformats.org/officeDocument/2006/relationships/slide" Target="slides/slide48.xml" /><Relationship Id="rId57" Type="http://schemas.openxmlformats.org/officeDocument/2006/relationships/slide" Target="slides/slide56.xml" /><Relationship Id="rId10" Type="http://schemas.openxmlformats.org/officeDocument/2006/relationships/slide" Target="slides/slide9.xml" /><Relationship Id="rId31" Type="http://schemas.openxmlformats.org/officeDocument/2006/relationships/slide" Target="slides/slide30.xml" /><Relationship Id="rId44" Type="http://schemas.openxmlformats.org/officeDocument/2006/relationships/slide" Target="slides/slide43.xml" /><Relationship Id="rId52" Type="http://schemas.openxmlformats.org/officeDocument/2006/relationships/slide" Target="slides/slide51.xml" /><Relationship Id="rId60" Type="http://schemas.openxmlformats.org/officeDocument/2006/relationships/slide" Target="slides/slide59.xml" /><Relationship Id="rId65" Type="http://schemas.openxmlformats.org/officeDocument/2006/relationships/slide" Target="slides/slide64.xml" /><Relationship Id="rId73" Type="http://schemas.openxmlformats.org/officeDocument/2006/relationships/slide" Target="slides/slide72.xml" /><Relationship Id="rId78" Type="http://schemas.openxmlformats.org/officeDocument/2006/relationships/slide" Target="slides/slide77.xml" /><Relationship Id="rId81" Type="http://schemas.openxmlformats.org/officeDocument/2006/relationships/slide" Target="slides/slide80.xml" /><Relationship Id="rId86" Type="http://schemas.openxmlformats.org/officeDocument/2006/relationships/theme" Target="theme/theme1.xml"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22F6167-F243-4C0C-ACF1-09702CD692DB}" type="datetimeFigureOut">
              <a:rPr lang="en-US" smtClean="0"/>
              <a:t>2/10/2026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1B11B56-D779-43CA-8C0E-B7265818CB55}"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1-30T23:37:52"/>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12349 5056 32 0,'0'0'3'0,"0"0"4"0,0 0 6 0,11-13 3 0,-11 13-3 0,0 0-3 0,0-11 0 0,13-1 1 0,-13-12-1 0,0 12 0 0,-13-14-2 0,13 15-3 0,-11-13-2 0,-25-12-1 0,24 24-2 0,-12 12 1 0,12-12-1 0,0 12 0 0,-1 12 1 0,-11 24 0 0,24 0 0 0,-12 1 1 0,12-1 1 0,0 11-1 0,0 3 1 0,0-2 0 0,12 72 1 0,0-59-1 0,-12 0-1 0,12-14-1 0,-12 3 1 0,0 9 0 0,13-22-1 0,-26-24 1 0,13 22-1 0,0-22-1 0,-12-13-2 0,12 0-103 0,0-13 38 0</inkml:trace>
  <inkml:trace contextRef="#ctx0" brushRef="#br0">12047 5322 63 0,'-11'0'13'0,"11"0"-3"0,11 0 10 0,0 0 3 0,26 0-6 0,11-12-2 0,25 12 0 0,0-12-3 0,-2 12-7 0,-8-13-2 0,-4 13-1 0,-47 0-3 0,-12 0-17 0,0 13-42 0,0-13-37 0</inkml:trace>
  <inkml:trace contextRef="#ctx0" brushRef="#br0">29936 9240 24 0,'0'0'0'0,"0"0"12"0,0 0 0 0,0-11 6 0,12 11-2 0,0-13-4 0,-12 2-1 0,12 11 0 0,-12-13-1 0,0-10 3 0,0 9-9 0,-12 3-2 0,-36 22-3 0,11 3 1 0,0-2 0 0,15 12 0 0,-16 11 1 0,13-11-1 0,14 26 1 0,0-15 0 0,11 2 0 0,-13 0 0 0,26-1-1 0,-2-12 1 0,0 11 0 0,14-22-1 0,0 12 0 0,35-1-2 0,-36-24-7 0,-12 0-17 0,12 0-37 0</inkml:trace>
  <inkml:trace contextRef="#ctx0" brushRef="#br0">30286 9325 60 0,'-12'-11'21'0,"24"11"3"0,1 0-7 0,11-13 5 0,-12 13-17 0,12 0 0 0,12 0-3 0,-11-11-1 0,-13 11 0 0,12 0-2 0,-24 0-2 0,12 0-8 0,-12 0-112 0</inkml:trace>
  <inkml:trace contextRef="#ctx0" brushRef="#br0">30250 9518 54 0,'0'0'9'0,"24"13"10"0,1-13 8 0,-1 0-10 0,12 13-9 0,-12-13-6 0,0 0-2 0,1 0-11 0,-13 0-39 0,0 0-19 0</inkml:trace>
  <inkml:trace contextRef="#ctx0" brushRef="#br0">30964 9072 40 0,'0'-12'13'0,"0"12"0"0,-11-24 2 0,11 10 20 0,0 14-28 0,0 0-5 0,0 0 1 0,0 26 2 0,0 10 1 0,0 0 0 0,0 25-1 0,0-2-1 0,11 2-2 0,-11 0-1 0,13 0 1 0,-13-13-2 0,0-12 1 0,0-12 0 0,11 1 1 0,-11-25-1 0,0 12-1 0,-11-12-14 0,11 12-31 0,-13-12-45 0</inkml:trace>
  <inkml:trace contextRef="#ctx0" brushRef="#br0">30999 9290 38 0,'0'0'4'0,"0"-13"7"0,13 0 9 0,11 2 2 0,0-2-8 0,0 2-4 0,13 11-6 0,-13 11-2 0,0 13-1 0,1 2 1 0,-13 9 1 0,-12-11 0 0,0 25-1 0,0-24 0 0,-24-1 1 0,-13 0-1 0,1-12 0 0,0 0-1 0,11-12-4 0,1 12-13 0,12-12-18 0,-1 0-15 0,13-12 16 0</inkml:trace>
  <inkml:trace contextRef="#ctx0" brushRef="#br0">31375 9048 46 0,'0'0'0'0,"0"-12"8"0,-13-13 3 0,13 13 11 0,0 0-2 0,13 0-11 0,-13 24-4 0,0 0 3 0,0 25-4 0,11 11-1 0,-11 23-1 0,0-10 1 0,0 13-1 0,0-2 1 0,0-11-1 0,0-1-1 0,0-25 0 0,13-9 0 0,-13-26-1 0,0 12 3 0,0-12 2 0,0-12-2 0,12-1-4 0,0-23 1 0,1 12-2 0,-2-13-1 0,38-35-1 0,-37 48 1 0,12 11 3 0,-12 2-1 0,1 11 2 0,-13 11 1 0,12 13-1 0,0 61 3 0,-12-48-2 0,12-25-1 0,-12 12-5 0,12-13-11 0,-12 2-16 0,12 0-15 0,0-1 9 0,1-12 16 0</inkml:trace>
  <inkml:trace contextRef="#ctx0" brushRef="#br0">31810 9349 31 0,'0'0'0'0,"-12"0"16"0,12 0 4 0,0 0-2 0,-12 0-6 0,12 0-2 0,0 0-4 0,0 25-2 0,0 11-2 0,0-12-1 0,12 13 1 0,0-13-2 0,12-1 0 0,1 3 1 0,-1-14 0 0,0-12 0 0,13 0 1 0,-25 0 0 0,24-38 4 0,-36 27-2 0,0-25-2 0,-61-12-2 0,25 23-2 0,12 13-5 0,0 0-21 0,-13 12-18 0,25 12-1 0</inkml:trace>
  <inkml:trace contextRef="#ctx0" brushRef="#br0">32040 9374 38 0,'0'0'13'0,"0"-12"3"0,0-1 1 0,0-11 21 0,11 13-29 0,-11-2-5 0,13 13 0 0,0 0 1 0,-1 13-2 0,0 11-1 0,1 0 0 0,-2 12-1 0,-11 0 0 0,11 13 0 0,-11-14 0 0,13 3-1 0,-13-14 1 0,0-12 1 0,12 0 8 0,-12-12-9 0,38-36-1 0,-27-1-1 0,13 13 1 0,-12-24 0 0,12 12 0 0,-12-1-1 0,12 0 4 0,-24 13-5 0,12 0 3 0,-12 13-4 0,0 11 3 0,0 11 2 0,0 2-3 0,0 22 3 0,0 2-2 0,13 0 1 0,-1-13 0 0,0 0 0 0,0 0-1 0,12-12 0 0,1-1 0 0,-3-11 0 0,16 0-1 0,-2-11 1 0,-12-1 0 0,37-36 0 0,-37 24 0 0,-12-1 0 0,-12-11 0 0,0 23-1 0,-25-35 1 0,14 48 0 0,-14 0 1 0,1 13 0 0,-1 11 0 0,3 0-1 0,-3 61 2 0,37-14-1 0,36-21 4 0,37-38-6 0,24-24-42 0,-61 0-74 0</inkml:trace>
  <inkml:trace contextRef="#ctx0" brushRef="#br0">30940 9651 11 0,'0'0'7'0,"0"0"2"0,0 0 0 0,0-11 4 0,0 11 2 0,0-13 1 0,0 2 0 0,0 11 1 0,0-12-2 0,0 12-1 0,0-12-3 0,0 24 5 0,0 11-11 0,0 51 2 0,0-39-2 0,13 2-2 0,-2 48 3 0,-11-49-3 0,0-12-2 0,0 1 0 0,-11-13-3 0,-2 0-22 0,13-12-63 0,0 12 26 0</inkml:trace>
  <inkml:trace contextRef="#ctx0" brushRef="#br0">29851 10643 42 0,'0'0'0'0,"0"-11"33"0,0 11-7 0,-13 0 0 0,13 24-15 0,0 13-4 0,0-2-1 0,13-11-1 0,-1 0-2 0,0-11 2 0,0-1 1 0,0 0 1 0,-12-12 0 0,0-12 2 0,0 12-5 0,0-25-2 0,0 14-1 0,0-13 0 0,-12 0-1 0,0 12 0 0,-25 0 0 0,26 12-1 0,-25 0 1 0,11 12 0 0,-23 11 1 0,24 14-1 0,-12-1 0 0,24 13 1 0,12-1-1 0,-13 0 1 0,26 1 0 0,23-13 0 0,-12 1-1 0,23-25 0 0,3 0 0 0,-15 0-8 0,14-12-35 0,-13 0-91 0</inkml:trace>
  <inkml:trace contextRef="#ctx0" brushRef="#br0">30432 10861 55 0,'0'0'15'0,"-12"0"7"0,-1 0 5 0,26 0 13 0,-1 0-30 0,12 0-3 0,12 13-1 0,-1-13-1 0,3 0-2 0,-13 0-1 0,-3-13-2 0,-9 13 0 0,-13 0-1 0,12 0-35 0,-12 0-9 0,-12 13-22 0,12-13 33 0</inkml:trace>
  <inkml:trace contextRef="#ctx0" brushRef="#br0">30407 11031 46 0,'-12'0'19'0,"12"23"1"0,0-9 8 0,25-2 16 0,11-12-29 0,35 0-2 0,-33 0-13 0,-13 0-13 0,-14 0-45 0,0 0-35 0</inkml:trace>
  <inkml:trace contextRef="#ctx0" brushRef="#br0">31460 9022 8 0,'0'0'4'0,"-13"0"2"0,13 0-1 0,0-11 0 0,-11 11 1 0,22-12 2 0,-11 12 2 0,0-12 1 0,13 12 0 0,-2 0-2 0,-11 0-3 0,13-12-4 0,-13 12 2 0,0 12 0 0,0 12-1 0,0 1 0 0,-13 11-3 0,-11 12 0 0,13-13 0 0,-2 15-2 0,13-15-18 0,-12 2-46 0</inkml:trace>
  <inkml:trace contextRef="#ctx0" brushRef="#br0">31242 10801 61 0,'0'-12'15'0,"-12"12"3"0,12-13-4 0,0 26-3 0,0-1-6 0,12 24-2 0,1 49 6 0,-13-36-5 0,0-1-1 0,0 13-1 0,0-13 3 0,-25-13 3 0,13 3 0 0,-12-26-2 0,-1-1-2 0,1 2-2 0,0-13-3 0,0 0-10 0,0-13-20 0,11 2-14 0,1-1 45 0</inkml:trace>
  <inkml:trace contextRef="#ctx0" brushRef="#br0">31194 10378 102 0,'-12'0'17'0,"12"-13"-16"0,0-11-1 0,12 24-1 0,-12-11-5 0,24 11-24 0,-12 11-20 0,13-11 23 0</inkml:trace>
  <inkml:trace contextRef="#ctx0" brushRef="#br0">31447 10741 35 0,'0'0'0'0,"-11"0"22"0,-2 0-15 0,13 0 8 0,0 24 3 0,0 0-10 0,0 0-3 0,13 13-3 0,-2 11 0 0,2-12-1 0,-2-11 0 0,14-1 1 0,-13-12 1 0,12 0 2 0,-12-12 0 0,1-12-1 0,-1 0-1 0,0 12-1 0,-12-24-1 0,12-1 0 0,0-11-1 0,0-1 1 0,-12 13-1 0,12 0 4 0,-12 12 0 0,13 0 2 0,-13 12-1 0,0 12-2 0,11 0-1 0,-11 12-1 0,11 0 0 0,2 13-1 0,0-13-1 0,11 0-3 0,-11 1-10 0,-2-1-18 0,0-12-66 0</inkml:trace>
  <inkml:trace contextRef="#ctx0" brushRef="#br0">32040 10801 72 0,'0'0'11'0,"0"-12"-3"0,-11 12 6 0,-2-13 5 0,13 13-10 0,-12 0-6 0,12 0 0 0,0 0 2 0,0 37 2 0,0-13-5 0,12 0-2 0,-12 13 1 0,13-13-1 0,-13 13 0 0,0-13-8 0,0-12-12 0,11 0-24 0,-11 0-36 0</inkml:trace>
  <inkml:trace contextRef="#ctx0" brushRef="#br0">32004 10534 52 0,'0'0'0'0,"0"0"18"0,0 0-9 0,-12-11-9 0,12 11-1 0,12 0-70 0</inkml:trace>
  <inkml:trace contextRef="#ctx0" brushRef="#br0">32391 10776 59 0,'0'0'7'0,"-12"-11"15"0,-12-13 9 0,0 11-14 0,-13 13-3 0,1 48-2 0,-1 13-6 0,26 12-4 0,35-24 0 0,36-13 1 0,13-12-3 0,24-36 0 0,-13-24 0 0,-24-13-1 0,-47-23-1 0,-26 11 2 0,-35 37 5 0,0 35 2 0,24 39 0 0,12 22-2 0,48-11 1 0,38-25-4 0,-15-12-1 0,-11-24-27 0,1-24-139 0</inkml:trace>
  <inkml:trace contextRef="#ctx0" brushRef="#br0">29936 12084 21 0,'0'0'34'0,"0"0"-20"0,-13 0 6 0,26 12-1 0,-13-12-14 0,12 0 2 0,-12 0 1 0,12 0 0 0,0 0-1 0,0-12 9 0,-12-13-11 0,0 13-1 0,-36-12-1 0,24 24-2 0,-25 0-2 0,1 0 3 0,0 24 0 0,12-1 1 0,-1 15 0 0,-11-14-2 0,36 12 0 0,-24 13-1 0,24-13 0 0,0 12 0 0,13-24 0 0,9 13 1 0,-9-26-1 0,24 13 0 0,-2-11 0 0,2-13 0 0,-13 0-2 0,13 0-4 0,-1 0-26 0,12-24-41 0,-23 11 11 0</inkml:trace>
  <inkml:trace contextRef="#ctx0" brushRef="#br0">30371 12144 53 0,'0'-12'33'0,"24"12"-17"0,13-12 7 0,-25 0-5 0,12 12-8 0,-12 0-4 0,13-12-4 0,-14 12-1 0,0 0-1 0,27 0-1 0,-38 12-17 0,0-12-42 0,0 0-18 0</inkml:trace>
  <inkml:trace contextRef="#ctx0" brushRef="#br0">30347 12288 71 0,'-12'0'21'0,"12"13"-6"0,0-13 0 0,12 11 5 0,12-11-5 0,12 0-5 0,49 0-2 0,-61 0-8 0,0 0-2 0,-11 0-25 0,-13 0-97 0</inkml:trace>
  <inkml:trace contextRef="#ctx0" brushRef="#br0">31206 11914 40 0,'0'-12'13'0,"0"-24"10"0,0 12-1 0,0-1-2 0,0 13-10 0,0 12-2 0,0 0-4 0,0 37 2 0,0 11-3 0,0 12 2 0,12 1-3 0,-12-2 0 0,0 3 0 0,12-2-2 0,-12-12 1 0,0-11-1 0,0-13 1 0,0-13 0 0,12-11 2 0,-12 0 0 0,0-24-2 0,13 13-1 0,-13-13 0 0,24 0-1 0,-24-13 0 0,22 13 0 0,4 0 1 0,-13 12-1 0,9 0 1 0,-9 0-1 0,23 24 1 0,-24 0 0 0,1 11 1 0,-2-10-1 0,2 22 0 0,-2-21 0 0,2 22 0 0,-1-25 1 0,-12 13-2 0,12-11-6 0,-12-13-19 0,0 0-26 0,0 11-10 0</inkml:trace>
  <inkml:trace contextRef="#ctx0" brushRef="#br0">31664 12096 49 0,'0'0'49'0,"13"0"-41"0,-13 0 7 0,13 0 1 0,-13 12-8 0,0 12-4 0,0-12-1 0,0 12-2 0,0 0 0 0,0 13-1 0,0-13-2 0,12 0-22 0,-12 0-37 0,0-13-4 0</inkml:trace>
  <inkml:trace contextRef="#ctx0" brushRef="#br0">31702 11890 97 0,'0'0'9'0,"0"-13"-6"0,0 13-3 0,0 0-1 0,0-11-16 0,12 11-20 0,1 11 6 0,9 2 10 0</inkml:trace>
  <inkml:trace contextRef="#ctx0" brushRef="#br0">31895 12084 14 0,'0'0'19'0,"0"12"-1"0,0 0 1 0,0 0-5 0,12 0-4 0,-12 11-3 0,0 1 0 0,12 14 0 0,-12-2-3 0,12-1-2 0,-12 63 0 0,0-38-1 0,13 37 1 0,-13-48 0 0,-13-25 8 0,13-12-2 0,-12 0-4 0,12-12-2 0,-12 0-1 0,12-12-1 0,0-24 1 0,-12 10-1 0,12-21 0 0,0-1 0 0,0-13 0 0,24-72 0 0,-12 73 0 0,13 11 0 0,11-11 1 0,1 48-1 0,-2 12 0 0,-10 12 1 0,0 12 0 0,-3-1 0 0,-9 1 2 0,-13 14 1 0,0-15 0 0,-24 14-2 0,13-26 0 0,-26 2-3 0,-24 11-36 0,37-24-11 0,0-13-28 0</inkml:trace>
  <inkml:trace contextRef="#ctx0" brushRef="#br0">32306 12168 77 0,'0'0'0'0,"0"0"18"0,0 0 3 0,-12 0 3 0,12 0-11 0,0 0-9 0,0 0 1 0,0 24-2 0,0 1 3 0,0 11-3 0,12 12-2 0,-12 0 1 0,12 0-1 0,-12 1 0 0,13 0-1 0,-13-1-2 0,0-12-7 0,-13-11-18 0,1-1-20 0,0-12-41 0</inkml:trace>
  <inkml:trace contextRef="#ctx0" brushRef="#br0">32331 12047 69 0,'12'0'21'0,"0"-12"6"0,12 12-10 0,-12 0-5 0,24 0-3 0,-11 12-3 0,-1 11-2 0,-24 3-2 0,12-2 0 0,-24 11 0 0,0-11-1 0,-14 0-1 0,-9 2-3 0,-1-15-15 0,12 2-23 0,-1-2-26 0,13-11 32 0</inkml:trace>
  <inkml:trace contextRef="#ctx0" brushRef="#br0">32657 12096 64 0,'0'0'15'0,"0"0"-9"0,-12 0 5 0,0 0 6 0,0 12-6 0,-1 12-6 0,13-12-4 0,0 12 0 0,0 0 1 0,13 13 0 0,23-13 1 0,-12-13 4 0,13-11 3 0,-1 0 1 0,-12-11 0 0,1-13-1 0,-3-13-3 0,-22 13-5 0,0-12-2 0,-22 12-10 0,-15 12-66 0,25 12 0 0</inkml:trace>
  <inkml:trace contextRef="#ctx0" brushRef="#br0">6603 4621 63 0,'0'0'21'0,"-11"0"-5"0,22 0 21 0,-11 11-26 0,13-11 0 0,-13 0-3 0,0 0 1 0,12 0 0 0,0-11 3 0,0-1-8 0,-12 0-2 0,0-1 1 0,0 13-2 0,-12-13 1 0,0 13-2 0,0 0 0 0,-23 26 0 0,-2-2 0 0,0 11 0 0,1 14 0 0,-24 36 1 0,47-37-1 0,1-11 3 0,0 35 0 0,24-47-2 0,13-1 2 0,11-12 2 0,0 0-1 0,12 0-1 0,2-12-2 0,-3 0-1 0,-11-12-6 0,1 12-30 0,-25 0-114 0</inkml:trace>
  <inkml:trace contextRef="#ctx0" brushRef="#br0">22146 2685 43 0,'0'0'6'0,"-12"0"7"0,0 0 2 0,-1 0-1 0,13 0-4 0,-11 0-1 0,11 0-4 0,11 0 11 0,2-12-6 0,-1 12-4 0,24-12-4 0,13 12 0 0,-1 0-2 0,13 0 1 0,11 0-1 0,24 0 0 0,26 0 1 0,-1 0-1 0,24-13 2 0,12 2-1 0,1 11 0 0,-13-13-2 0,157 13 1 0,-181 0 0 0,12 0-1 0,-24 0 1 0,0 0 0 0,-24 0 0 0,-12 0 0 0,-13 0 0 0,-13 0 0 0,-10 0 1 0,-13 0 0 0,-24 0 2 0,13 0 2 0,-13 0 2 0,0 0-6 0,0 0-1 0,0 0 0 0,0 0 1 0,0 13 0 0,11-13 1 0,-11 11 0 0,0 2 0 0,0 35 1 0,13-24-2 0,-13 1 0 0,0 11-1 0,0 13 1 0,0-13 0 0,0 11 0 0,11 15 2 0,-11-2-1 0,0 1 1 0,0-2 0 0,0 15 1 0,13 71 2 0,-1-72-4 0,0 22-1 0,12-21 1 0,-12 11-1 0,1-37 0 0,-1 61 0 0,0 60 0 0,0-108 0 0,-12 59 0 0,0-35 0 0,0 0 0 0,0 0 0 0,0-1 0 0,0-12 0 0,0 13 0 0,12 12 0 0,0-24 1 0,0 12-2 0,1-1 1 0,-2 1 0 0,0 0-1 0,-11-13 1 0,13 13 0 0,-13-14 0 0,0 15 1 0,13 59-1 0,-1-60-1 0,-12-13 0 0,12 1 0 0,1-14 1 0,-13 15-1 0,11-15 0 0,0 2 0 0,-11 0 0 0,0-13 0 0,0 13-2 0,0-13 2 0,0 1 1 0,0 48-2 0,0-50 2 0,0-10-1 0,0 0 0 0,0-2 0 0,0 2 0 0,0-13 0 0,0 0 1 0,13 0-2 0,-13-11 1 0,0-1 1 0,0-12-1 0,0 12 0 0,-13-12 1 0,13 0 0 0,0 0 0 0,-11 0-1 0,0 0 0 0,-2 0 0 0,1 0-1 0,-13 12 2 0,-23-12-2 0,0 0 1 0,11 0 0 0,-11 0 0 0,-12 12 0 0,-1-12 0 0,-24 0 0 0,13 0 0 0,-25 12 0 0,0-12 0 0,1 12 1 0,-110 1-1 0,109-13 0 0,-12 0 1 0,0 0-2 0,-10 0 0 0,9 0 3 0,-11 0-2 0,12 0 0 0,12 0 0 0,-12 0 0 0,13 0 0 0,-1 12 0 0,-12-12 0 0,24 0 0 0,-72 12 0 0,84-12 0 0,12 0-1 0,-11 0 2 0,37 0-1 0,10 0 0 0,1 12 0 0,24-12 0 0,-12 0 0 0,24 0 0 0,-12-12-1 0,-12 0 1 0,12-13 0 0,-13-11 0 0,1 0-1 0,0-12 2 0,0-2-2 0,-12-106 2 0,12 70-1 0,0-9 0 0,-1-112 0 0,13 87 0 0,0 11 0 0,13-12 0 0,-13-12 0 0,12 0 0 0,12 0 0 0,-12-1 0 0,0 1 0 0,-12-11 0 0,12-1 1 0,-12 12-1 0,0 0-1 0,0 0 3 0,0 12-2 0,0 12 0 0,0-121 0 0,0 133 1 0,0 12-2 0,0 1 3 0,12-1-3 0,-12 13 1 0,0 11 0 0,0-72 1 0,13 60-2 0,-13 12 2 0,0 26-2 0,0-15 1 0,0 15 1 0,-13 11-1 0,1-12 0 0,0-2-1 0,12 3 1 0,-12-1 1 0,0-2-2 0,12 3 1 0,-12-38 1 0,0 49 0 0,0-24-3 0,-1 35-16 0,2 2-40 0,22 35-91 0</inkml:trace>
  <inkml:trace contextRef="#ctx0" brushRef="#br0">22859 3290 25 0,'0'-48'6'0,"0"0"8"0,0 11 6 0,13 13-1 0,-13 11-2 0,0 13-4 0,0 0-3 0,0 0-1 0,0 24-2 0,0 13-1 0,12 24-2 0,-12-1 1 0,0 25-1 0,12 0-2 0,12-2 0 0,0-9-2 0,13-39 2 0,11 2-2 0,1-24 1 0,-1-13 1 0,0-13 4 0,13-11 0 0,-13-24-2 0,13 0 1 0,-13-13 0 0,-24-11 0 0,-12-1-3 0,-12-12-2 0,13 13 1 0,-26 22-1 0,1 2 3 0,0 37-4 0,12-2-2 0,0 13-26 0,0 13-74 0,0-2 50 0</inkml:trace>
  <inkml:trace contextRef="#ctx0" brushRef="#br0">25884 2903 31 0,'0'-12'24'0,"0"0"-19"0,0 12 1 0,25-12 8 0,-25 12-2 0,11 0 1 0,0 0 0 0,14-12-2 0,0 12-3 0,10 0-2 0,14 0-2 0,12 0 0 0,11 0-1 0,13 0-2 0,0 0 0 0,23 0 0 0,14 0-1 0,10-12 2 0,26 0 0 0,11-1 1 0,12-11 0 0,-11 24-2 0,-13-24 3 0,-12 24-3 0,-13-12-1 0,-22 0 1 0,-25 12-1 0,-25 0 0 0,-11 0 0 0,-13 0 0 0,-11 12 0 0,-14-12 1 0,0 0-1 0,-11 0 1 0,13 0 1 0,-13 0 1 0,0 0 0 0,-13 0 0 0,13 0-1 0,0 0 0 0,0 0-1 0,0 0-1 0,0 12 0 0,0-12 0 0,0 12 1 0,0 0-2 0,13 12 2 0,-13 1-1 0,12 11 0 0,-12 0 1 0,0 13-1 0,0 11 1 0,0 1 0 0,0 11 0 0,0 0-1 0,0 1 1 0,-12 12 0 0,12 0 0 0,0-2 0 0,12 2 1 0,-12 13-1 0,0-2 0 0,0 1-1 0,13-1 1 0,-13 2 0 0,12 11-1 0,-12-13 1 0,0 1 0 0,13 12 1 0,-13 0-1 0,0 0-1 0,11-13 2 0,-11 12-1 0,11 1 0 0,2 0 0 0,-1-11 0 0,0 11 0 0,0-12-1 0,0-1 1 0,1 0-1 0,-2 2 1 0,2-2-1 0,-13-11 0 0,12 0 1 0,0 12 1 0,-12-14-2 0,12-9 1 0,-12-2 0 0,12 1-1 0,-12-12 1 0,0-1 0 0,0-13-1 0,0 3 1 0,12-2-1 0,-12-12 1 0,0-11-1 0,0 10 0 0,0-22 1 0,0 11-1 0,-12-12 1 0,12 0-1 0,0 0 0 0,-12 13 0 0,12-13-1 0,0 0 2 0,-12 12-1 0,12-12-1 0,0 12 0 0,0-13 1 0,0 3 0 0,0-2 0 0,0 0 0 0,-12 0 0 0,12 0 0 0,0 0 0 0,0-1 0 0,0 2 0 0,0-2 1 0,0-11-2 0,0 13 2 0,0-13-1 0,0 11 0 0,0 3 0 0,0-14 0 0,-12 12 0 0,12-12 0 0,0 0 1 0,-13 0 0 0,2 0-1 0,-26 0 0 0,25 0 0 0,-13 0 0 0,-10 0 0 0,-2 0 1 0,-11 0-1 0,0 0 0 0,-13 0 0 0,-24 11 1 0,37-11-1 0,-49 0 0 0,13 0 0 0,11 0 0 0,-12 0 0 0,1 0 1 0,-1 0-1 0,0 0 1 0,25 0-1 0,-49 0 0 0,24 13 1 0,13-2-1 0,0-11 0 0,-1 0 0 0,12 13 0 0,-11-13 0 0,11 0 0 0,13 0 1 0,-13 0 0 0,13 0-1 0,12 0 0 0,-13 0 1 0,0 0-1 0,14 0-1 0,-15 0 1 0,28 0 0 0,-15 0 1 0,13 0-1 0,0 0 0 0,11 0 0 0,1 0 0 0,0 0 0 0,0 0 0 0,12 0 0 0,0 0 0 0,0 0 1 0,0 0-1 0,0 0-1 0,-12 0 1 0,12 0 0 0,0 0 0 0,-12 0 0 0,12 0 1 0,0 0-1 0,0 0 0 0,0 0 2 0,0 0-2 0,-12 0 0 0,12 0 0 0,-12 0 1 0,12 0-1 0,-13 0 0 0,13 0 0 0,-12 0 0 0,12 0 0 0,-12 0 0 0,12 0-1 0,0 0 2 0,0 0-1 0,-12 0 1 0,12-13-2 0,0 13 2 0,0 0-1 0,0 0 0 0,-12 0 0 0,12-11-1 0,-12 11 1 0,12 0 0 0,-12 0 0 0,12 0-1 0,0 0 2 0,-13 0-1 0,2 0 0 0,0 0-1 0,11-13 1 0,-13 13 0 0,0 0 0 0,13 0 0 0,0 0 0 0,0-11 1 0,0 11-1 0,-12-12 0 0,12 12 0 0,0-14-1 0,0 3 1 0,0 11 0 0,0-13 0 0,0 2 0 0,0-2 0 0,0 2 0 0,0-13 0 0,0 12 0 0,0-26 1 0,0 15-2 0,0-13 1 0,12 24 0 0,-12-25 0 0,13 13 0 0,-13-12 1 0,0 11-1 0,13 1 0 0,-2-12 1 0,0 0-1 0,-11-1 0 0,13 2-1 0,-1-15 1 0,-12 3 1 0,0-2-1 0,12 13 0 0,-12 0 1 0,0-13-1 0,0 13 0 0,0-13 0 0,0 14 1 0,0-15-1 0,0 15 0 0,0-15-1 0,0 2 1 0,0-11 0 0,0 10 1 0,-12-11-1 0,12-13-1 0,-12 1 1 0,-1-2 0 0,13 15 0 0,0-2 0 0,0-11 0 0,-11 11-2 0,11-12 3 0,0 1-2 0,0-2 1 0,-11-9 0 0,-2 9-1 0,13-22 1 0,-13-1 0 0,13 12 0 0,-12-11 1 0,0 11-1 0,-1 1 0 0,13-13-1 0,-11 24 2 0,11-12-2 0,-11 13 1 0,11-12 0 0,0 11 0 0,-13-12 0 0,1 13-2 0,12-1 2 0,-12 1-1 0,12-13 1 0,-12 11-1 0,12 15 1 0,0-15 1 0,0 3-3 0,0-2 3 0,12 13-2 0,-12 10 1 0,12 2 0 0,-12 13-1 0,0-2 2 0,12 0-1 0,-12 14-1 0,0 23 1 0,0-12-2 0,-12 0-3 0,12 0-18 0,-12 12-35 0,12 36-71 0</inkml:trace>
  <inkml:trace contextRef="#ctx0" brushRef="#br0">26622 3073 55 0,'0'0'0'0,"-12"-25"30"0,12 25-19 0,0 0-1 0,12 11 2 0,-12 3 2 0,24 22-4 0,0 23 0 0,0-9-1 0,26 10 1 0,-15 13-5 0,13-13-3 0,-11 1 0 0,-1-13-1 0,-24-13 0 0,12 3-13 0,-24-38-3 0,0-12-74 0,0-1 32 0</inkml:trace>
  <inkml:trace contextRef="#ctx0" brushRef="#br0">27131 3000 81 0,'0'0'13'0,"0"0"-1"0,0 0 6 0,0 35 1 0,-13 26-8 0,-13 11-2 0,2-11-2 0,-11 12-2 0,11 12-2 0,-13-12-3 0,13-25-5 0,12-12-26 0,-12-12-87 0</inkml:trace>
  <inkml:trace contextRef="#ctx0" brushRef="#br0">21179 4669 73 0,'0'-13'19'0,"0"26"-6"0,12-2-1 0,-12 26-6 0,12-13-2 0,-12 25-1 0,12-13-2 0,1-12 1 0,-13-11-1 0,11-1 1 0,-11-12 2 0,11 0 3 0,-11 0 2 0,0 0-4 0,13-25-3 0,-13 13-1 0,13-12-1 0,-1 0 1 0,0-1-1 0,-12 1 0 0,13 13 0 0,-13 11 0 0,11 0 0 0,13 0-1 0,-12 24 1 0,0 0 0 0,12 12 0 0,-11-12 0 0,-2-12 0 0,2 13 0 0,-1-25 0 0,0 12 2 0,-12-24 6 0,12 0 2 0,12-13-4 0,-12-11 1 0,0-1-2 0,1 2-3 0,-1-2-1 0,0 0 1 0,-12 2-2 0,0 23-12 0,0-13-40 0,12 25-59 0</inkml:trace>
  <inkml:trace contextRef="#ctx0" brushRef="#br0">23041 2019 42 0,'0'0'0'0,"0"-11"26"0,0-13-3 0,0 0 2 0,13 24-4 0,-13-12-10 0,0 12-9 0,0 24 2 0,0 12-1 0,0 13 0 0,0 11-1 0,12-12-2 0,-12 37 1 0,12-37-3 0,-12-24-7 0,0-11-27 0,-12-1-25 0,12-12 27 0</inkml:trace>
  <inkml:trace contextRef="#ctx0" brushRef="#br0">22933 1936 47 0,'11'0'19'0,"2"0"-5"0,35 0 6 0,1 0-3 0,-1 24-7 0,0 11-3 0,1 2-3 0,-13 11-2 0,-12 0 0 0,0 2 1 0,-24 9-1 0,-24-22 1 0,-24-13 0 0,11-11-4 0,-23-2-37 0,24 2-50 0</inkml:trace>
  <inkml:trace contextRef="#ctx0" brushRef="#br0">25412 4838 71 0,'0'0'0'0,"-12"-12"17"0,12 0-5 0,0 12 8 0,0 24-16 0,0 1 1 0,12 23-3 0,0-12-1 0,1 1-1 0,9-1 1 0,4-24 2 0,-14-12 0 0,-12 0 4 0,12 0 1 0,1-24-3 0,-2 12-2 0,-11-12-2 0,24-37 1 0,-12 37-2 0,-12 12 0 0,12 12 0 0,-12 0-1 0,13 0-1 0,0 24 2 0,-2 0 0 0,0 11 0 0,14-9 0 0,-13-2 1 0,0-12-1 0,0-12 1 0,12-12 3 0,1-38 15 0,-25 15-12 0,0-13-3 0,0 11-1 0,0 1-3 0,0-1 0 0,0 26 0 0,0-2-9 0,0 13-36 0,36-11-87 0</inkml:trace>
  <inkml:trace contextRef="#ctx0" brushRef="#br0">27009 2032 46 0,'0'0'8'0,"0"0"11"0,0 0-12 0,-12 0 3 0,12 25-1 0,0 11-2 0,0-1-2 0,0 26-2 0,12 24 0 0,-12-37-1 0,0-11-2 0,12-1-1 0,-12-36-20 0,0 0-67 0</inkml:trace>
  <inkml:trace contextRef="#ctx0" brushRef="#br0">26997 1984 39 0,'0'0'26'0,"0"-12"-13"0,0 0-3 0,24 12 5 0,1 0-5 0,-3 24-1 0,28 0-5 0,-15 11 0 0,2 15-1 0,-1 9-1 0,1 26 0 0,-25-36-1 0,-12-13 2 0,-12-23 6 0,-25 11 1 0,1-12 0 0,-12-12-5 0,-2 12-3 0,15-12-6 0,24 0-46 0,11 12-49 0</inkml:trace>
  <inkml:trace contextRef="#ctx0" brushRef="#br0">13571 5492 90 0,'-11'-12'15'0,"-14"12"-4"0,12-13-7 0,13 13 0 0,0 0-3 0,25-24-1 0,10 12-1 0,26-12 1 0,12-13-1 0,24-11 1 0,37 0 0 0,34 0 0 0,243-61-1 0,-169 59 1 0,24 3 0 0,1-1-1 0,-1 23 1 0,25 1 0 0,288 0 1 0,-264 24 0 0,-13 0-1 0,13 24 1 0,-25 11-1 0,-24 27-1 0,218 107 0 0,-291-73 2 0,-35 14 0 0,-13-1 3 0,-13 0 0 0,14-1 0 0,-12-11 0 0,-2-24 1 0,1-13-1 0,0 1 0 0,0-25 0 0,1-12-2 0,10 0-1 0,-23-13 0 0,12 3 0 0,1-14 0 0,-2-14-1 0,123-10 0 0,-147 13 1 0,-11-2 0 0,-24 13 0 0,-13 0 1 0,-36 0 2 0,1 0 0 0,-13 0 0 0,-12 0 1 0,0 13-3 0,0-13-1 0,0 11 1 0,0-11-2 0,-12 13 0 0,0-2 1 0,-1 3-1 0,0-2 0 0,2-1 0 0,0 2-31 0,11-2-49 0,11-11 23 0</inkml:trace>
  <inkml:trace contextRef="#ctx0" brushRef="#br0">21978 5927 39 0,'0'0'22'0,"-13"-12"-2"0,13 12 0 0,0 0 9 0,24 12-10 0,0 0-7 0,1-12-1 0,22 12-1 0,26-12-3 0,24 0-2 0,13 0-1 0,34-12-1 0,26 0-1 0,217 12 1 0,-170-12-2 0,13 12 3 0,0 0-1 0,12 0-1 0,-12-12 1 0,-13 12 1 0,-23 0-1 0,-13 0-1 0,-48-12-2 0,-23 12 1 0,-123 0-3 0,-47 0-11 0,-49 0-26 0,-11 12-85 0</inkml:trace>
  <inkml:trace contextRef="#ctx0" brushRef="#br0">21445 5757 78 0,'0'-11'11'0,"0"-2"3"0,0-11 3 0,-12 0-4 0,12 11-3 0,-24-22-3 0,11 23-3 0,-11-13 0 0,12 12-1 0,-24 13-1 0,36 0 1 0,-24 13-1 0,24 0 0 0,-12 22 1 0,0 2-1 0,24 24 1 0,-12 11 1 0,12 1 0 0,1 10-1 0,-2 26-1 0,0-35-1 0,-11 11 0 0,0-26 0 0,0-22-1 0,0-13 1 0,0 0 0 0,-11-24-5 0,11 0-18 0,-11-24-37 0,-2 12-41 0</inkml:trace>
  <inkml:trace contextRef="#ctx0" brushRef="#br0">21167 6048 62 0,'0'0'22'0,"12"0"-9"0,37-12 11 0,-1 12 0 0,0 0-17 0,0 0-8 0,-11 0-27 0,-1 12-79 0</inkml:trace>
  <inkml:trace contextRef="#ctx0" brushRef="#br0">22013 6277 42 0,'0'0'0'0,"-24"0"22"0,13 0-10 0,11 0 2 0,-13 0 1 0,1 0-1 0,0 0-3 0,0 0-2 0,0 0-1 0,12 0-1 0,-13 0 0 0,1 0-2 0,12 0 0 0,0 0-1 0,0 0 3 0,49-11-1 0,-12 11-4 0,-2 0-1 0,26 0 0 0,11 11 0 0,62-11-1 0,119-11 1 0,-95 11-1 0,23-13 1 0,13 13-1 0,-1-11 0 0,13-2 1 0,-13 0-1 0,-23 13 0 0,-13 0 0 0,-24 0 0 0,-24 0 0 0,-12 0 2 0,-14 0-2 0,-9 0 0 0,-14 0 0 0,49-11 1 0,-74-2-2 0,-9 13 2 0,-2 0-1 0,-24 0 0 0,0 0 1 0,0 0 2 0,0 0 9 0,0-11-10 0,13-2 0 0,-13 2-1 0,0 11-1 0,0-13-3 0,-13 2-51 0,1 11-75 0</inkml:trace>
  <inkml:trace contextRef="#ctx0" brushRef="#br0">7729 4004 74 0,'-36'-12'15'0,"0"12"-8"0,23 0 0 0,13 0-5 0,35-36-1 0,15-1 1 0,35-23-2 0,23-13-1 0,38-12 2 0,35-11-1 0,25-13 0 0,35-24-1 0,13-1 1 0,37-10-2 0,23-15 1 0,13 15 2 0,11 10-1 0,13 1 0 0,12 1-2 0,-98 35-1 0,2 13 2 0,96-14-3 0,36-22 1 0,0 23-1 0,13-12 2 0,-1 24 1 0,1 0 2 0,-14 26 0 0,-59 22 5 0,-110 13-1 0,38 0 0 0,46 24-1 0,148-12 2 0,204 12-3 0,-133 36 1 0,-131-1-2 0,-28 3 0 0,15-2 1 0,-26 12 2 0,13 13-2 0,-23-1-2 0,-2 13-1 0,1-2 1 0,-25 3-2 0,13 11 0 0,-13-2-1 0,182 76 0 0,-193-51 1 0,-13-12 0 0,-25 13 1 0,15-11 0 0,-26 11 1 0,0-14-1 0,0 14-2 0,-12-11 3 0,0-13-2 0,-12-1 1 0,-12-11 0 0,-13-13 0 0,-35-11 0 0,-12-13 0 0,-38-12 2 0,-23 0-1 0,0 1 2 0,-12-2-1 0,-25-10 1 0,1-13 0 0,-25 11 0 0,-24-11 0 0,-11 0 3 0,-1 0 4 0,-12-24-4 0,-12 1-2 0,-1-2-1 0,-11 12 0 0,12 2 0 0,0-2-2 0,0 13 0 0,12 0 0 0,0 0-3 0,0 0 2 0,0 0 0 0,0 0 0 0,0 13-2 0,0-13-3 0,0 11-4 0,0-11-7 0,0 0-2 0,0 13-4 0,12-13-4 0,0 13-6 0,0-13 21 0,0 12 8 0,0 0 3 0,1-12 5 0,-1 0 8 0,-12 0 32 0,0-12-38 0,-12 12 0 0,12 0-3 0,0 0-1 0,0 0 3 0,0 0-1 0,12 0 2 0,0 0-3 0,0 12 0 0,12-12-1 0,0 0-2 0,25 0 1 0,0 0 0 0,23-12-1 0,12 12 2 0,13 0-2 0,24 0 1 0,12-12 0 0,12 12-1 0,-1 0 0 0,2 0 0 0,12 0 0 0,11 0 0 0,1 0-1 0,0 0 2 0,-2 0 0 0,1 0 0 0,-12 0-1 0,-11 12-1 0,-25-12 1 0,-1 0-1 0,-35 12 1 0,-12-12-2 0,-25 0 3 0,-24 0-2 0,2 0 3 0,-39 0 0 0,13 0 0 0,0 0-3 0,-13 0 0 0,-11 11 0 0,13 2 0 0,-2 11 1 0,13-13-1 0,-11 14 0 0,11-13 0 0,-13 1 0 0,13-2 1 0,0 2-2 0,0-2 3 0,-12-11-3 0,0 13 2 0,-12-1-2 0,11-12 2 0,-11 12-1 0,0-12-1 0,0 0 2 0,-1 12-1 0,-23-12 0 0,0 0 0 0,-26 12 0 0,-21 0 1 0,-27 0-1 0,-10 1-1 0,-13-1 0 0,-1 0 1 0,-10 0 0 0,-2-12-1 0,14 0 2 0,-15 0-1 0,14 12 0 0,12-12 1 0,0-12 0 0,0 12 0 0,36 0-1 0,1 0 1 0,23 0-1 0,12 0 0 0,1 0 1 0,0 0-2 0,10 0 2 0,3 0-1 0,23 0-1 0,12 0 4 0,-1 0-1 0,13 0 5 0,0-12-5 0,0 0 0 0,0-13-2 0,-11 13 2 0,-2-12-2 0,-11 0 0 0,0-1 2 0,12 1-4 0,0 13 3 0,12 11-17 0,0 0-62 0,24 24-31 0</inkml:trace>
  <inkml:trace contextRef="#ctx0" brushRef="#br0">28872 3581 31 0,'0'0'4'0,"36"0"2"0,-24-13 6 0,0 13 4 0,0-13 2 0,1 13-2 0,-2-11-1 0,2-2 1 0,9 13-4 0,-9-11-3 0,0-1-2 0,0 12-2 0,-26 0 9 0,-13 0-14 0,4 0 1 0,-15 12 1 0,13-1-1 0,-24 13 3 0,23 14-2 0,-11 9 1 0,24 2-1 0,-1 0 0 0,13-13 0 0,13-12 3 0,23-24 6 0,12 12-4 0,26-12-4 0,22 0-5 0,-12-12-29 0,1 12-119 0</inkml:trace>
  <inkml:trace contextRef="#ctx0" brushRef="#br0">27226 3798 12 0,'0'0'9'0,"12"-24"5"0,-12 12 4 0,0-1 2 0,0 2 1 0,0 11-3 0,0 0 0 0,0 11-13 0,-12 14-1 0,-12-13 1 0,-12 12-2 0,12 0 0 0,-26 1-1 0,4 11 1 0,-28 0-1 0,2 25-1 0,-13-13 1 0,-12 24-2 0,-23-11 2 0,-14 24 1 0,1-13-2 0,-24 1 1 0,-12 12-1 0,12-13 1 0,-1 13-1 0,-47 35 0 0,35-22 0 0,61-38 0 0,-108 84-1 0,47-46 1 0,14-2 0 0,-2 2 0 0,14-14-1 0,10-11 1 0,12-2-2 0,2-10 2 0,23-13 0 0,0-11-1 0,24-13 1 0,13 13 0 0,13-25 2 0,-2 12 0 0,0 0-3 0,25 1 1 0,-12-13-1 0,11 0 0 0,1 0 1 0,24-12 1 0,0 0 2 0,12-24-4 0,25 12-2 0,-1-25-3 0,1 13-4 0,-1 0 0 0,-12 0 5 0,-12 11 3 0,-12 2 3 0,0-2-1 0,-24 13 2 0,-13 13 0 0,-11 11 2 0,-13 12 0 0,1 12 0 0,12-11 1 0,23-13 0 0,1-12-1 0,24-12-3 0,12 0-1 0,14 0 0 0,33-24-6 0,26-13-28 0,24-11-99 0</inkml:trace>
  <inkml:trace contextRef="#ctx0" brushRef="#br0">26766 3871 70 0,'0'0'0'0,"-22"-24"27"0,-4 11-2 0,26 1-4 0,0 12-14 0,0 0-3 0,37 0 3 0,11 0 0 0,49 0 1 0,-25 0-3 0,-23 0-2 0,-2 25 2 0,-23 23 2 0,-24-24-3 0,-24 49 4 0,-11-25-4 0,-13 1-2 0,-1-2-3 0,25-23-12 0,12-11-34 0,12 24-85 0</inkml:trace>
  <inkml:trace contextRef="#ctx0" brushRef="#br0">23441 5552 88 0,'0'-12'17'0,"24"-12"1"0,-12 24-3 0,12 0-3 0,-12 47 3 0,-24 3 1 0,-12 9-4 0,0 2-2 0,-25 36-3 0,25-24-5 0,12-49 0 0,0 12 0 0,36-36-1 0,37 0 1 0,35-12-6 0,37-12-24 0,61 0-118 0</inkml:trace>
</inkml:ink>
</file>

<file path=ppt/ink/ink2.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1-30T23:37:52"/>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27553 7258 35 0,'0'0'0'0,"0"0"8"0,0-13 7 0,0 0 7 0,-13 13 3 0,13 0-7 0,0 0-8 0,0 0-4 0,0 0-2 0,0 0 0 0,-11 13 4 0,11 0-4 0,0-2 2 0,-37-11 8 0,25 0-8 0,-13 0 0 0,3 0-3 0,9-11 1 0,1-2-1 0,0 0 0 0,0-11-2 0,12 0 0 0,0 0-1 0,12 1 0 0,12 9 0 0,-11-10 0 0,22 13 1 0,-11-2-1 0,13 13 0 0,-13 0 1 0,0 0-1 0,12 13 0 0,-24-2-1 0,13 27 1 0,-13-15 0 0,-12 1 0 0,-12 50 2 0,0-63-1 0,-13 13 1 0,1 0 0 0,12-11 1 0,-12-13 0 0,0 0-1 0,13 0 0 0,-15-13 0 0,14-11 0 0,0 13-1 0,-12-39 0 0,13 15-2 0,11-2 2 0,-13-11-1 0,26 0-1 0,9 12 1 0,3 12 0 0,72-1 0 0,-61 13 0 0,13 24 0 0,-1-1 0 0,1 63-1 0,-37-39 0 0,0 3 0 0,-36 57 0 0,11-58 2 0,-23-13-1 0,-12 0 0 0,11 1 1 0,-11-25-1 0,0 12 0 0,11-24 1 0,13 12 1 0,0-36-2 0,13 12 1 0,-2-13-1 0,37-24 0 0,-13 14 0 0,74-15 0 0,-36 51 1 0,0 11-2 0,-13 0 0 0,-12 24 1 0,-12 0-2 0,-12 48 2 0,0-35 1 0,-36 0-2 0,12-13 2 0,-13 0-1 0,1-13 1 0,12-11 1 0,0 0-1 0,0-59 1 0,24 22-1 0,13-11-1 0,58-13 0 0,-35 48 1 0,13 2-2 0,-37 35-25 0,12 37-143 0</inkml:trace>
</inkml:ink>
</file>

<file path=ppt/ink/ink3.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4-09-24T09:24:29"/>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5636 10813 14 0,'0'0'9'0,"-12"-24"11"0,12 24-10 0,0 0 27 0,0 24-32 0,0 85 20 0,0-85-22 0,-12 61 8 0,12-24-7 0,0-14-1 0,12 1-1 0,-12 2-1 0,0-26 0 0,-12 0 0 0,12-13-1 0,0 2 1 0,0 0-2 0,-12-13-29 0</inkml:trace>
  <inkml:trace contextRef="#ctx0" brushRef="#br0">5938 10910 25 0,'0'-12'51'0,"-11"24"-31"0,-14 0-6 0,-11 12-7 0,-36 37 0 0,60-37-6 0,-2-12 0 0,14-1-1 0,14 3 1 0,11-2 1 0,10-12-1 0,50 12 1 0,-61 0-2 0,0 12 0 0,-24 0 1 0,0-13-1 0,-24 13 2 0,0-10 2 0,-13-2 1 0,0-1-1 0,13-11-2 0,2 13-2 0,9-13 0 0,1 0-5 0,12-13-49 0,0 13 0 0</inkml:trace>
  <inkml:trace contextRef="#ctx0" brushRef="#br0">6109 10837 44 0,'0'-11'13'0,"0"-2"34"0,0 13-35 0,0 13-3 0,-13 11-2 0,1 24-2 0,12 0 1 0,-12 13 1 0,0 71 1 0,12-70-6 0,0 107 0 0,0-133-2 0,12 0-9 0,-12-23-31 0,12-13-46 0</inkml:trace>
  <inkml:trace contextRef="#ctx0" brushRef="#br0">6374 11043 78 0,'0'-12'32'0,"12"0"-20"0,49-12 16 0,-37 24-17 0,1-12-7 0,10 12-1 0,26 12-2 0,-37 0-1 0,0 0-17 0,-12-12-63 0,-12 0 30 0</inkml:trace>
  <inkml:trace contextRef="#ctx0" brushRef="#br0">6518 11224 44 0,'0'0'19'0,"0"0"7"0,26 0 1 0,-2 0-2 0,11 0-7 0,2-11-9 0,11-1-6 0,1 12-3 0,-13 0-20 0,-11 0-89 0</inkml:trace>
  <inkml:trace contextRef="#ctx0" brushRef="#br0">7039 10898 51 0,'0'-12'18'0,"0"12"19"0,0-12-10 0,0 12-2 0,0 0 3 0,25 0-24 0,83 24 11 0,-71-24-14 0,11 0 0 0,1 0 0 0,0 0 0 0,-2-12 0 0,-35 12 0 0,-12 0 3 0,0-12 2 0,0 12-5 0,-12 12 0 0,12 0-1 0,-12 12 0 0,-12 25 0 0,0 23 1 0,-12 13-3 0,-13 0 2 0,1 11 0 0,11 1 2 0,-35 36-2 0,60-109 1 0,12-11 0 0,-13-1 0 0,13-12-3 0,0 12-31 0,0-12-94 0</inkml:trace>
  <inkml:trace contextRef="#ctx0" brushRef="#br0">13039 11455 2 0,'0'0'5'0,"0"0"14"0,0 0 2 0,0 0 1 0,0-13-2 0,0 13-3 0,-12 0 18 0,12 0-29 0,12 0-1 0,-12-12 0 0,12-12 7 0,0 12-8 0,0-1-1 0,12 2-1 0,-13-2 0 0,2 2 0 0,-2 11 0 0,-11-13 5 0,0 13-3 0,0 13-2 0,-11-2-2 0,11 2 1 0,-24 11-1 0,13-24 0 0,11 12 0 0,-13 0 2 0,13-12-1 0,0 0 0 0,-12 0 2 0,12-12-1 0,25-13 2 0,-14 14-4 0,13-2-2 0,13 13-155 0</inkml:trace>
  <inkml:trace contextRef="#ctx0" brushRef="#br0">13003 11926 10 0,'0'0'15'0,"11"-12"13"0,2 12 5 0,-13-12-20 0,0 12-2 0,0 0-2 0,12 0 7 0,0-12-8 0,0-1 0 0,13-11 7 0,-14 0-9 0,0 24-3 0,-11-12-1 0,0 12-2 0,0 0-6 0,0 0-19 0,0 25-85 0</inkml:trace>
  <inkml:trace contextRef="#ctx0" brushRef="#br0">12990 12422 6 0,'0'0'7'0,"0"0"39"0,0 0-9 0,13 0-27 0,-13-12 1 0,24 12-2 0,-12-13 1 0,0 2-3 0,12-26-4 0,-24 37-30 0</inkml:trace>
  <inkml:trace contextRef="#ctx0" brushRef="#br0">12954 12833 5 0,'0'0'0'0,"-12"0"32"0,12 0-9 0,0 0-8 0,12-12-1 0,12-1 2 0,1 2-2 0,-14-2 0 0,14-11-2 0,24-11 13 0,-49 22-24 0,11 0 0 0,0 13-134 0</inkml:trace>
  <inkml:trace contextRef="#ctx0" brushRef="#br0">18058 7282 30 0,'0'0'30'0,"13"-13"-6"0,-13 13-3 0,0 0-7 0,0 13-8 0,0-2-1 0,0 2 0 0,0-2-1 0,-13 26-2 0,1-13 0 0,0 0-1 0,0 1-1 0,12-1 1 0,0 0-1 0,0-13 0 0,12-11 0 0,12 13 2 0,-11-13-1 0,9 0-1 0,4-13 1 0,-2 13-4 0,-11-11-6 0,-2-1-3 0,13 0-13 0,-24-12 8 0,0 12 6 0,0-1 8 0,0 2 3 0,0-2 4 0,0 13 7 0,0-12 22 0,0 12-13 0,0 12-11 0,-13 25-3 0,13-13-1 0,0 12-3 0,-11 1 0 0,11-1-2 0,0-12-1 0,0 12-17 0,0-25-48 0,0 2 12 0</inkml:trace>
  <inkml:trace contextRef="#ctx0" brushRef="#br0">17744 9169 7 0,'0'-14'13'0,"0"3"32"0,0-2-32 0,0 13-3 0,12-11 1 0,-12 11-9 0,0 11 1 0,0-11 0 0,0 13 1 0,-12 24 1 0,0-13-4 0,0-13 1 0,12 13-1 0,0-11 0 0,0 11 1 0,12-11-1 0,0-13 3 0,24 0 3 0,12 0-4 0,-36 0-3 0,2 0-1 0,-3 0-7 0,-11 0-23 0,0-13 18 0,0 0 7 0,0-11 3 0,0 0 2 0,0 13 4 0,0-2 8 0,11 13 2 0,-11-11-1 0,0 11-1 0,0 24-4 0,-11 61 8 0,11-61-13 0,-11 24-1 0,11-12-1 0,-14 25-110 0</inkml:trace>
  <inkml:trace contextRef="#ctx0" brushRef="#br0">18058 11201 32 0,'0'0'0'0,"0"-14"28"0,13 14 2 0,-2-11-19 0,14 11-4 0,-1 0-3 0,1 0-2 0,-3 0 0 0,3 11 0 0,-13-11-2 0,1 0-2 0,-13 0-38 0,-25 0-17 0,13 0 40 0</inkml:trace>
  <inkml:trace contextRef="#ctx0" brushRef="#br0">18093 11187 25 0,'-11'0'21'0,"0"0"-4"0,11 0-2 0,0 26-1 0,-13 33 0 0,13-22-11 0,0 0-1 0,0-13 4 0,0-24 0 0,13 11 1 0,-2-11-1 0,0-11-3 0,15 11-2 0,-2 0 0 0,0 0-1 0,0 60 1 0,-37-24 1 0,2-11 2 0,-37 11 7 0,36-36-7 0,-13 12-2 0,1-12-9 0,12 0-45 0,0 0-7 0</inkml:trace>
  <inkml:trace contextRef="#ctx0" brushRef="#br0">18711 13219 30 0,'-12'0'16'0,"-12"-11"12"0,24-2-6 0,0 13 0 0,0 0-10 0,36-11 3 0,1 11-11 0,-13 0-3 0,12 0 1 0,-24 0-2 0,0 0-1 0,-12 0-9 0,0 0-52 0,-24 0 17 0,24 0 18 0</inkml:trace>
  <inkml:trace contextRef="#ctx0" brushRef="#br0">18699 13195 17 0,'0'0'13'0,"-12"13"13"0,0-2-6 0,12 3-3 0,-25 57 7 0,25-47-19 0,0-11 0 0,0 0 0 0,0-13 0 0,0 0 1 0,13 0 1 0,-13 0-2 0,24 0-3 0,-12-13-1 0,0 13 0 0,49 85-1 0,-61-61 0 0,0 13-1 0,0-26 2 0,0 2 3 0,-12-1 5 0,-49 0 5 0,37-12-9 0,-1 0-2 0,14-12-2 0,11 12-13 0,0 0-51 0</inkml:trace>
  <inkml:trace contextRef="#ctx0" brushRef="#br0">17224 14684 35 0,'0'0'0'0,"-13"-12"17"0,1 12 1 0,0-12-1 0,0 12-5 0,0 0-4 0,-12 24-2 0,11-1 2 0,-9 27 0 0,-4 9 0 0,2-10-2 0,11 0-2 0,13 11-2 0,13-24 0 0,24 1-2 0,-24-25 1 0,22 0 0 0,-23 0 0 0,12-12 2 0,-12-12 0 0,0-12 3 0,-12 12 0 0,-12-25-1 0,0 13-2 0,-12 12 1 0,-1 0-3 0,3 24 0 0,9 12-3 0,0 13-19 0,26-1-81 0,809 1996 76 0,-822-2044 49 0,0 0 0 0,0 12 6 0,0-12-4 0,0 12-7 0,0 0-9 0,-12 0-4 0,0 0 0 0,-12 36 2 0,-1-12-1 0,-11 37-2 0,12-13-1 0,0 25-2 0,12-13 0 0,0 1-1 0,12-13-1 0,12-12 1 0,13-24-1 0,-3 0 2 0,2-12-1 0,1 0 0 0,0-24 0 0,-14-1 2 0,2 1 0 0,-13-11 1 0,-13 9 5 0,2 2-1 0,-14 13-4 0,0 22-2 0,1 2-4 0,2 24-21 0,22 11-147 0</inkml:trace>
  <inkml:trace contextRef="#ctx0" brushRef="#br0">24057 12579 59 0,'0'-13'10'0,"0"2"16"0,0-1-11 0,0 12-4 0,13 0 3 0,11 36-9 0,-13 1-1 0,14 11 1 0,35 85 6 0,-35-48-6 0,-1-1-2 0,0 13-1 0,0 11-1 0,-24-10 1 0,-11 204 2 0,-14-217 1 0,-11 0 2 0,-13-13 1 0,13-11-1 0,0-1 0 0,12-24-2 0,-1-24-1 0,13 0 4 0,12-12-15 0,0 0-34 0,12-12-109 0</inkml:trace>
  <inkml:trace contextRef="#ctx0" brushRef="#br0">25013 12699 49 0,'0'0'5'0,"0"-11"5"0,24-2-1 0,11 2 13 0,3-1-7 0,9 12-7 0,-10 0-6 0,-11 12 0 0,-26 12 0 0,0 0 2 0,0 13 0 0,-74 47 2 0,26-35-3 0,0-1-2 0,-1 0 10 0,49-35-6 0,0-13-1 0,12 12 0 0,36-12 1 0,-11 0-2 0,22 0-3 0,87 12-103 0,-109-12 38 0</inkml:trace>
  <inkml:trace contextRef="#ctx0" brushRef="#br0">25448 12930 32 0,'0'-12'11'0,"0"12"-11"0,37 0 1 0,-13 0 0 0,11 0-9 0,-10 0-19 0</inkml:trace>
  <inkml:trace contextRef="#ctx0" brushRef="#br0">25981 12808 25 0,'0'0'0'0,"0"0"11"0,0-11 12 0,-13 11 9 0,1 0-13 0,-13 0-6 0,-10 11-2 0,11 2-4 0,0 11-2 0,0 13-3 0,11-13-1 0,13 0-1 0,13 0 0 0,11 0 0 0,12-11-1 0,0-1-1 0,12-12 2 0,0-12-3 0,-11-1 0 0,11-11 1 0,-23 0 1 0,-1-24 0 0,-12-1 2 0,-12 0 0 0,0-10 0 0,0-14-1 0,-12 13 2 0,0 23 0 0,0 1 10 0,12 36-6 0,-12 0-3 0,-13 73 5 0,13-25-5 0,0 11-1 0,12-9-1 0,0 22 0 0,0-24-1 0,0 13 0 0,12-25 0 0,0 1-6 0,13-1-15 0,-1-12-12 0,12-12-12 0,12-12-20 0</inkml:trace>
  <inkml:trace contextRef="#ctx0" brushRef="#br0">26488 12882 49 0,'-12'-13'18'0,"-12"2"16"0,12-2-16 0,-71 37 20 0,57 0-33 0,2 1-2 0,0 35-1 0,24-35-2 0,0-1 0 0,13-12 0 0,22-12 0 0,-9 0 0 0,-2-24 0 0,-2 12 0 0,3 0 0 0,-13-1 0 0,0 13 0 0,0 13 0 0,-12 23 0 0,12-24 0 0,0 12-5 0,25-12-13 0,-1-1-15 0,-12-11-8 0,13 0-8 0,-25 0 30 0</inkml:trace>
  <inkml:trace contextRef="#ctx0" brushRef="#br0">26815 12893 21 0,'0'-11'13'0,"0"-26"20"0,-12 13 2 0,-1 24-9 0,-11 0-8 0,-24 0-5 0,13 24-5 0,-2 0-4 0,13 0-3 0,12 13-1 0,12-13 0 0,12 0-1 0,25 1 0 0,-2-13-1 0,1 0 0 0,13 0 1 0,-1 12 1 0,-60-24 1 0,-13 12 0 0,-10-1-1 0,-2-11-1 0,13 0-12 0,-11 14-15 0,22-14-11 0,13 0-32 0</inkml:trace>
  <inkml:trace contextRef="#ctx0" brushRef="#br0">27166 12845 102 0,'0'0'9'0,"-35"-12"6"0,-4 0-5 0,4 12 5 0,-25 12-4 0,24-12-5 0,23 36-5 0,1-23-1 0,24 23 0 0,12-12 1 0,13 0-1 0,11 13 1 0,-13-25 0 0,4 0 0 0,-39 0 0 0,-13 0 1 0,-37 0-3 0,-21 0-22 0,-14 13-74 0,49-25 52 0</inkml:trace>
  <inkml:trace contextRef="#ctx0" brushRef="#br0">25473 13450 54 0,'-14'-37'33'0,"3"13"-6"0,0 13-4 0,11-2-5 0,-13 13-10 0,13 24-4 0,-12 25 2 0,12 11-2 0,0 1 1 0,12 12-3 0,1-1 0 0,-13-11-2 0,22-26 1 0,-8 2-1 0,-14-25 1 0,12-12 2 0,-12 0 1 0,24-12-2 0,-11-25-1 0,9 13-1 0,3-11 0 0,-13-2-2 0,14 1-1 0,-15 24 0 0,0 0 2 0,-11 12 0 0,13 24 0 0,-13 12 2 0,0 13-1 0,12-13 0 0,12-1 0 0,0 2 1 0,13-13-1 0,-1-11 1 0,0-2 1 0,-12-22 1 0,13-2 1 0,-25-23-1 0,13 11 0 0,-25-10 0 0,0-1-1 0,0-2-1 0,-25 14-1 0,1 1 0 0,12 23-1 0,-25 0-2 0,13 0-1 0,0 23-7 0,12-10-13 0,12 11-22 0,12 1-62 0</inkml:trace>
  <inkml:trace contextRef="#ctx0" brushRef="#br0">26138 13765 49 0,'0'0'0'0,"0"-37"36"0,0 24-17 0,0-11 7 0,0 13-2 0,-24-1-8 0,11 12-7 0,1 0-1 0,-12 0-2 0,12 12-2 0,0 12-3 0,0-13 0 0,12 2-1 0,0 0 1 0,24 11-1 0,0 11 0 0,-12 2-1 0,0 0 2 0,1 35-1 0,-1-11-1 0,-12-13 1 0,-12-12 1 0,-1 13-1 0,-11-13 2 0,0-12 4 0,-13 0-1 0,15-13-2 0,-4-11 1 0,2 0-2 0,11-11 0 0,13-13-1 0,13-12-1 0,48-61-5 0,-13 37-2 0,73-49-5 0,-48 60 8 0,-24 0 4 0,23 14 1 0,-48 23 2 0,-24 12 0 0,0 12 2 0,0-12-3 0,-11 59 1 0,11-46-2 0,11 24 0 0,0-26-1 0,2-11 0 0,11 13-14 0,-12-13-15 0,-12 0-31 0,12-13-30 0</inkml:trace>
  <inkml:trace contextRef="#ctx0" brushRef="#br0">26357 13547 125 0,'0'0'0'0,"-26"-24"15"0,13 12-7 0,26-1-2 0,24 13-5 0,-2 0-35 0,14 25-67 0</inkml:trace>
  <inkml:trace contextRef="#ctx0" brushRef="#br0">26755 13474 83 0,'-11'-61'54'0,"11"50"-24"0,0 11-14 0,0 0-11 0,0 24 1 0,0 0 1 0,0 24 0 0,-14-11-1 0,14 23-1 0,-12-11-1 0,-1-2-1 0,13 51 0 0,0-63-3 0,13-10 1 0,-13 0 0 0,26-14-1 0,9 13 1 0,-24-24-2 0,2-11-8 0,11 11-8 0,0-24-14 0,13-13-137 0</inkml:trace>
  <inkml:trace contextRef="#ctx0" brushRef="#br0">26513 13632 89 0,'-12'0'21'0,"109"-50"49"0,-1 39-59 0,0-1-8 0,99 24-84 0,-159-12 6 0</inkml:trace>
  <inkml:trace contextRef="#ctx0" brushRef="#br0">15167 3266 34 0,'0'-24'6'0,"-12"-24"2"0,12 22 3 0,12-9 23 0,-12 22-17 0,0 13-7 0,13 24 10 0,-2 13-9 0,-11 11-6 0,13-11 0 0,11-13-1 0,-12-12 5 0,24 0 4 0,13-36 3 0,23-37-3 0,13-11-5 0,11-12-4 0,-11-1-2 0,-12 12-2 0,-14 13 0 0,-21 11-11 0,107 37-196 0</inkml:trace>
  <inkml:trace contextRef="#ctx0" brushRef="#br0">20514 10934 15 0,'0'-12'7'0,"25"0"-1"0,-25-24 28 0,0 36-26 0,-13 0 2 0,1 12 2 0,-1-12-1 0,1 12-2 0,12-12-3 0,-13 12-2 0,13 0-1 0,-11 12 0 0,0 1-2 0,-2 11 1 0,-11 0 0 0,0 1 0 0,-13-1 0 0,-72 96 10 0,85-71-8 0,-12 0-1 0,23-1 0 0,-9 1-1 0,-4 11 0 0,13-11 1 0,-22 83 0 0,24-46-2 0,11-2-1 0,-13 1 0 0,-11 84 0 0,12-83 1 0,0-26 1 0,-12 13 3 0,24-14-1 0,-13 15-1 0,1 168 1 0,12-182-4 0,0 13 0 0,12 12 0 0,-12-12 1 0,0 11-1 0,0-35 0 0,0 35 1 0,0-47 0 0,-12 48 0 0,12-26 1 0,0-10-1 0,12 24 2 0,1-12-2 0,11 48 3 0,-12-48-3 0,12-14 0 0,-12 74-1 0,-12-59 1 0,13-14 0 0,-13 13 0 0,0-13 0 0,0 1-1 0,11-2 1 0,13 3-1 0,13 34 2 0,-2-36-1 0,-10-11-1 0,23 36 1 0,-23-37-1 0,-13 1 0 0,12-2 0 0,12 51 1 0,-11-63-1 0,-1 2 0 0,0 0 0 0,13 35 2 0,-2-35-1 0,-10-1 0 0,11 0-1 0,24 13 1 0,-24-25 0 0,-11 0 0 0,-1-12 0 0,-12 0-1 0,12-1 1 0,-24-11-1 0,0 0-5 0,0-11-22 0,0-37-92 0,0 36 61 0</inkml:trace>
  <inkml:trace contextRef="#ctx0" brushRef="#br0">20659 10064 53 0,'-13'-61'35'0,"13"25"-18"0,0 12-2 0,13 11 0 0,11 50 12 0,-24 23-20 0,0 25-4 0,-12 11-1 0,12 13 0 0,-12 0 0 0,12-12-1 0,-13-24-4 0,13-26-8 0,0-10-13 0,0-24-101 0</inkml:trace>
  <inkml:trace contextRef="#ctx0" brushRef="#br0">20719 9918 79 0,'24'-36'11'0,"1"36"-7"0,11 0 5 0,-24 24 5 0,0 0-4 0,-12 13-4 0,0 11-3 0,-24-11 0 0,-24-1-1 0,-1-1-1 0,13-11-6 0,-1 0-22 0,13-10-18 0,12-2-10 0</inkml:trace>
  <inkml:trace contextRef="#ctx0" brushRef="#br0">21033 9979 87 0,'0'0'0'0,"-24"0"5"0,0 24 0 0,24 0 4 0,-24 13 2 0,24-1-6 0,0-13-3 0,24 1 0 0,13-11 1 0,-1-13-1 0,-12 0 1 0,12-24 1 0,-11 0 2 0,-1-24 6 0,-24 22-8 0,-12 3 0 0,-25 11-3 0,1 12-1 0,0 0-7 0,-1 12-25 0,25 0-29 0,12-1 17 0</inkml:trace>
  <inkml:trace contextRef="#ctx0" brushRef="#br0">21396 9967 83 0,'0'0'0'0,"-36"-12"4"0,24 12 1 0,-1 12 7 0,-9 0 1 0,22 12-5 0,35 49 0 0,1-61-6 0,-11-12 0 0,11 0 1 0,-12-12 4 0,12-26 17 0,-11 15-13 0,-25-1-4 0,-13 0-2 0,-11 0-3 0,-12 11-1 0,-86 13-17 0,87 25-21 0,23-1-29 0,12-12-2 0</inkml:trace>
  <inkml:trace contextRef="#ctx0" brushRef="#br0">21711 9616 65 0,'0'-12'13'0,"-11"0"27"0,-2 12-27 0,13 24 3 0,0 24-6 0,35 146 15 0,-10-134-20 0,-13-11 0 0,0-1-2 0,0-25 0 0,-12-9-1 0,0 10 0 0,0 12-168 0</inkml:trace>
  <inkml:trace contextRef="#ctx0" brushRef="#br0">27964 13245 66 0,'0'0'10'0,"-12"-12"17"0,24-2 47 0,12 14-64 0,0 14-2 0,25-14-1 0,-1 0-1 0,37 0-1 0,24 0 0 0,24 0 0 0,25-14-1 0,-14 3-1 0,99-2 1 0,-147 2-3 0,-36 11 0 0,-23-13 0 0,-37 13 0 0,0 0 0 0,0 0 0 0,-12 0-2 0,-25-11-1 0,13 11-3 0,-13 0 0 0,-11-24 0 0,35 12 4 0,2 0 2 0,11 12-1 0,24 0 2 0,-11 12 1 0,35 0 0 0,49 36 5 0,-73-24-6 0,-24 1-1 0,-12-2 0 0,-12-10 0 0,-61 46-11 0,50-46-38 0,-4 24-114 0</inkml:trace>
  <inkml:trace contextRef="#ctx0" brushRef="#br0">9181 13511 62 0,'0'0'0'0,"0"-13"21"0,0 13-8 0,22 0 12 0,4-11-5 0,22 11-3 0,13-13-4 0,11 1-4 0,25-12-2 0,-12 12-1 0,-2-12-2 0,27 0-1 0,-86 11-3 0,-12 13-4 0,-12 0-19 0,-24 0-25 0,-24 13-33 0,24-2 46 0</inkml:trace>
  <inkml:trace contextRef="#ctx0" brushRef="#br0">9156 13715 54 0,'-36'26'27'0,"36"-14"-14"0,12-12 12 0,24 0 5 0,25-12-7 0,23-25-9 0,13 1-6 0,36 0-4 0,-12 12-2 0,-12 11-5 0,-49 13-49 0,-35 0-60 0</inkml:trace>
</inkml:ink>
</file>

<file path=ppt/ink/ink4.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2-07T13:37:01"/>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24239 2492 53 0,'-12'-12'35'0,"12"-12"-22"0,12 24-7 0,-12 0 6 0,12 12 0 0,-12 24-3 0,12 242 9 0,-24-205-16 0,12-13 1 0,0-11-1 0,-12-25 2 0,12-1-2 0,0-23 1 0,0 0 1 0,12 0 4 0,37-85-2 0,-25 38-5 0,0-1-2 0,0 11 1 0,11-11 1 0,-10 24-2 0,0 11 1 0,-1 2-1 0,0 11 2 0,-12 24-1 0,12 0 0 0,0 12 1 0,-11 13 1 0,-1-13 0 0,0 12 0 0,0-11 1 0,0-1-1 0,0-13-2 0,-12 1 1 0,12-24-1 0,-12-24-51 0,0 13-84 0</inkml:trace>
  <inkml:trace contextRef="#ctx0" brushRef="#br0">24638 2335 64 0,'0'0'33'0,"0"-13"-23"0,36 13 6 0,-12-11-4 0,26 11 6 0,9 0-12 0,-11 0-2 0,1 0-1 0,-1 0-1 0,-11 0-1 0,-37 0-2 0,0-13-29 0,-12 13-14 0,-37-36-48 0</inkml:trace>
  <inkml:trace contextRef="#ctx0" brushRef="#br0">24748 2152 28 0,'-13'0'16'0,"13"-11"9"0,-12-2 14 0,12 26-12 0,12-2-15 0,1 15-4 0,22 22-4 0,-11 0-2 0,2-24 0 0,-4 13-1 0,3-13 0 0,-13-12-1 0,0 0-4 0,0 0-10 0,-12-12-9 0,0 0-7 0,0-24-4 0,0 12 10 0,0-25 12 0,0 13 5 0,0 0 3 0,0-13 6 0,0 13 6 0,0-24 6 0,0 24 10 0,0 0 4 0,0 24-7 0,0 0-8 0,-12 11 2 0,0 13-3 0,-12 13-3 0,-11 24-5 0,9-13-1 0,13-11-2 0,2-13-1 0,11 0-14 0,-13-12-122 0</inkml:trace>
  <inkml:trace contextRef="#ctx0" brushRef="#br0">29198 15543 255 0</inkml:trace>
  <inkml:trace contextRef="#ctx0" brushRef="#br0">25327 2152 51 0,'0'0'14'0,"0"-11"2"0,0 11 0 0,-12 0-7 0,0 0-5 0,-24 24 0 0,0 13-2 0,-1 47 0 0,13-23-1 0,11-2 0 0,26-9-1 0,-1-2 2 0,26-24-2 0,-3 0 0 0,25-11-24 0,-35-13-4 0,23-13-37 0</inkml:trace>
  <inkml:trace contextRef="#ctx0" brushRef="#br0">25544 2117 53 0,'0'0'0'0,"0"-13"13"0,0 13-3 0,0-11 7 0,0 11-5 0,0 0-9 0,0 24 0 0,-11 0-1 0,11 24-1 0,-11 13 1 0,-2 0-1 0,13-25-1 0,0-12 1 0,13-12 1 0,9 0 2 0,3-1 0 0,13-11-2 0,-16 0-1 0,15 0-3 0,-1-11-14 0,1-1-15 0,-1 0-10 0,-24-12 3 0</inkml:trace>
  <inkml:trace contextRef="#ctx0" brushRef="#br0">25727 2213 20 0,'0'0'0'0,"-13"0"28"0,13 0-20 0,0 0 3 0,0 13 7 0,0 23-5 0,0 0-6 0,0-12-4 0,0 25-2 0,0-14 0 0,0-9-7 0,13 10-24 0,-13-24-39 0</inkml:trace>
  <inkml:trace contextRef="#ctx0" brushRef="#br0">25848 2008 41 0,'0'-13'13'0,"12"13"-1"0,12 0 10 0,1 13 2 0,10 11-5 0,-11 24-5 0,2 13-5 0,-4 24-2 0,-9 11-2 0,-13-23-1 0,0-24-2 0,-24-1 1 0,0-12-2 0,-1-12-6 0,-11 1-54 0,12-13-34 0</inkml:trace>
  <inkml:trace contextRef="#ctx0" brushRef="#br0">25050 3399 6 0,'0'0'3'0,"11"-12"7"0,-11 0 4 0,0 0 1 0,0 0 3 0,11-1 0 0,-11 2 0 0,0-2-1 0,0 1-3 0,0 0-2 0,0 12-2 0,0 0-4 0,0 12-5 0,-11 24 0 0,11 13 0 0,0-1 1 0,-11 13-1 0,11-2 1 0,-13 2 1 0,13 0-1 0,0 11 0 0,0 1-2 0,0 0 2 0,13 0-1 0,-2-1 0 0,0 0 0 0,-11 0 0 0,14 2 1 0,-14-2-1 0,12-11 1 0,-12-1-1 0,0 1-1 0,0-2 1 0,0-9 0 0,0-2-1 0,12 0 2 0,-12 0-1 0,12-11 0 0,-12-1 0 0,0-11 0 0,0-1 0 0,13 0 0 0,-2 0 2 0,-11-1 0 0,0 3 0 0,0 10 0 0,11-13-2 0,-11 1 1 0,0 0-1 0,0 2-1 0,13-15 1 0,-13 2-1 0,0-2 0 0,0 2 1 0,0-13-2 0,0 11-1 0,0-11-4 0,-13 13-6 0,13-13-10 0,0 0-19 0,0 0-28 0,0 0 11 0</inkml:trace>
  <inkml:trace contextRef="#ctx0" brushRef="#br0">24928 4984 70 0,'-12'-12'17'0,"0"-2"5"0,0 3 4 0,12 11-8 0,12 11-5 0,12 15-6 0,0 10-3 0,13 0-1 0,-13-12 1 0,13 13-3 0,-1-26 0 0,-12 13-1 0,12-11-5 0,-25-2-11 0,26-11-14 0,-11-11-12 0,-4-2-2 0,3-22-2 0</inkml:trace>
  <inkml:trace contextRef="#ctx0" brushRef="#br0">25388 4875 34 0,'-12'0'22'0,"12"-12"22"0,0 12-6 0,-24 48 11 0,-13-1-40 0,1 15-1 0,-1-15-2 0,1 14-4 0,0-24-3 0,12 11-15 0,13-11-49 0,-2-26-41 0</inkml:trace>
  <inkml:trace contextRef="#ctx0" brushRef="#br0">26985 6107 46 0,'0'0'0'0,"0"0"8"0,24 0 7 0,-12-11-3 0,24-13-6 0,-12-12 1 0,0 0-1 0,2-13 1 0,-4-11 0 0,-9-1-1 0,-1-12-1 0,-12 1-2 0,0 0-1 0,-12 11 2 0,-1 37 2 0,13 0 1 0,-11 24-3 0,11 12-4 0,0 35 1 0,0 15-1 0,11 9 0 0,2 14 1 0,-1 13-2 0,0-26 2 0,12-11-2 0,-12-25 1 0,13-1 0 0,-13-35 0 0,0 0 0 0,12 0-1 0,-12-24 2 0,12 1-1 0,0-13 0 0,13-61 1 0,-25 85-1 0,-12 0 0 0,0 12-1 0,12 36 1 0,-12 0 1 0,13 1-1 0,9-1 0 0,-9-1 0 0,24-11-1 0,-24-11 1 0,9-2 0 0,3-11 0 0,-13-11 0 0,12-13 1 0,-12 0-1 0,0-12 1 0,1-2 0 0,-13 3 0 0,-13-13 0 0,-11 11 0 0,12 13 0 0,-24 12 1 0,1 12-2 0,-3 0 1 0,13 12-3 0,-10 12-13 0,23 1-20 0,0-1-30 0,12-24 30 0</inkml:trace>
  <inkml:trace contextRef="#ctx0" brushRef="#br0">27927 5806 79 0,'0'-12'23'0,"-11"-12"-18"0,0 24 2 0,-2 0 3 0,1 0-5 0,-13 0-4 0,12 24 0 0,-9-12-1 0,9 24 0 0,13-12 1 0,0 13-2 0,13-13 2 0,9 0-1 0,16-12-1 0,9-1 1 0,-10 3 1 0,-13-2-1 0,-12 0 0 0,-12 0 1 0,0 0 4 0,-24 0 3 0,0-12-3 0,-12 11-2 0,-25-11-1 0,26 0-2 0,-2 13-2 0,0-13-7 0,26 0-17 0,11 0-26 0,0 0-5 0</inkml:trace>
  <inkml:trace contextRef="#ctx0" brushRef="#br0">28339 5746 99 0,'-12'-13'11'0,"-12"1"-5"0,-50 12 6 0,39 12-9 0,-25 25 1 0,11-13-3 0,25 12-1 0,24 0 0 0,0-11 0 0,61 23 0 0,-1-36 0 0,0 0 0 0,1-1 0 0,-13 3 1 0,-24 10-1 0,-48 12 24 0,-13-25-17 0,-10 13-2 0,-2-11-3 0,1-2-2 0,0 3-142 0</inkml:trace>
  <inkml:trace contextRef="#ctx0" brushRef="#br0">25702 6277 11 0,'0'0'0'0,"-12"0"12"0,0 0-6 0,12-11 16 0,-12 11-3 0,12-13 29 0,0 13-17 0,0 13-18 0,0-13-7 0,12 0 0 0,0 11 0 0,0-11-1 0,0 0-2 0,49 24-1 0,-12-11-1 0,11 23-2 0,97 37 2 0,-72-26 0 0,24 3-1 0,24 9-1 0,-13 15 1 0,14-15 0 0,-1-9-2 0,-24-2 3 0,-12 0 0 0,-12-24 2 0,-13 1 1 0,-24-1 0 0,-12-24 0 0,-12 12 8 0,-36-12-14 0,12 0-33 0,-24-12-100 0</inkml:trace>
  <inkml:trace contextRef="#ctx0" brushRef="#br0">27759 6749 38 0,'0'-12'11'0,"0"0"10"0,0-1 3 0,0 13-5 0,-13 0-10 0,26 37 1 0,-13 0-3 0,12 11-3 0,-12 0 0 0,12 1-3 0,-12 10 0 0,12-21-1 0,-12-2-1 0,0-12-6 0,12-13-10 0,-12 2-14 0,0-13-12 0,13 0-1 0</inkml:trace>
  <inkml:trace contextRef="#ctx0" brushRef="#br0">28037 6712 60 0,'0'-11'21'0,"-12"-2"-7"0,12 2 5 0,-13 11-4 0,13 11-7 0,-12 26-4 0,0 0-1 0,0 11-1 0,0 0-1 0,-12 13 0 0,-11-1 0 0,10-11 0 0,-13-13-2 0,16-12-6 0,-3 0-9 0,13-13-9 0,0-11-9 0,12 0-23 0</inkml:trace>
  <inkml:trace contextRef="#ctx0" brushRef="#br0">28061 6725 89 0,'0'0'0'0,"-12"-13"11"0,12 13-3 0,0 13 12 0,12 11-4 0,12 13-7 0,-12 11-6 0,13 0-2 0,-1 1 0 0,0 10-1 0,13-9 0 0,-26-15-4 0,0-11-10 0,-11-11-13 0,13-13-14 0,-13 0-25 0</inkml:trace>
  <inkml:trace contextRef="#ctx0" brushRef="#br0">28412 6603 55 0,'0'-11'14'0,"0"-2"0"0,0 13 19 0,0 37-13 0,-13 11-11 0,-11 13-3 0,0 0 0 0,12-1-2 0,-24 1-1 0,12-13-1 0,-1 1-1 0,-11-13 0 0,25-12-1 0,-2-24-2 0,1 11-20 0,12-11-30 0,12-11-31 0</inkml:trace>
  <inkml:trace contextRef="#ctx0" brushRef="#br0">28786 6314 27 0,'-11'-24'16'0,"-2"11"-3"0,1 2 5 0,-12 11 1 0,12 0-5 0,-23 24-5 0,11 12-4 0,-2 37 0 0,2 72 0 0,48-110-5 0,-11 2-4 0,24-24-17 0,-2-1-17 0,-11-12-20 0</inkml:trace>
  <inkml:trace contextRef="#ctx0" brushRef="#br0">28847 6375 36 0,'0'0'9'0,"0"0"2"0,-12 24 27 0,12 12-22 0,-12-1-8 0,12 3-5 0,-12-2-2 0,12-1-1 0,0 2-11 0,-12-12-13 0,24-13-11 0,-12-1-5 0</inkml:trace>
  <inkml:trace contextRef="#ctx0" brushRef="#br0">28992 6277 63 0,'0'-11'6'0,"37"11"9"0,-2 24 9 0,-11 12-5 0,1 0-9 0,-37 72-1 0,-1-34-8 0,-11-15-10 0,2 2-23 0,-4-13-21 0,26-35 15 0</inkml:trace>
  <inkml:trace contextRef="#ctx0" brushRef="#br0">29536 6797 79 0,'0'0'0'0,"-12"-48"44"0,24 24-43 0,13 11 8 0,-25 13 3 0,0 0-4 0,0 37-1 0,12 11-4 0,-12 13 0 0,0 0-2 0,12-1-2 0,-12-11 1 0,24-13 1 0,-12-12-1 0,-12 0-1 0,12-24 2 0,-12 0 0 0,0 0 4 0,13 0-4 0,-13-24 2 0,24-36 1 0,-12 48-3 0,0-49 1 0,36-36 0 0,-37 49-2 0,27 11 0 0,-13 1 0 0,-25 24 1 0,11 12-1 0,-11 0 0 0,11 37 3 0,-11-2-3 0,0 14 1 0,13-13-1 0,11 61 0 0,0-48 0 0,-11-13 1 0,-2-12-3 0,14 0 1 0,-25-13 1 0,12-11 1 0,-12 0 3 0,12-11 0 0,-12-13 2 0,12-12 0 0,0-49 4 0,0 37-8 0,0-13-1 0,13 0-1 0,-25 1 1 0,24 0-2 0,-12 12-3 0,0 22-4 0,-12 2-5 0,0 13-32 0,0-1-47 0,12 12 45 0</inkml:trace>
  <inkml:trace contextRef="#ctx0" brushRef="#br0">30335 6253 39 0,'-49'-11'54'0,"25"46"-33"0,0 2-8 0,11 11-4 0,13 1-3 0,0-1-4 0,0 1 0 0,25-1-2 0,-1-1-6 0,1-9-15 0,-1-26-14 0,0-1-40 0</inkml:trace>
  <inkml:trace contextRef="#ctx0" brushRef="#br0">30468 6350 62 0,'0'0'0'0,"0"-24"7"0,12 12-1 0,0 12 3 0,-12 0-3 0,13 0 0 0,-2 0 10 0,13 0-5 0,-11 0-6 0,-1 24-3 0,-12 0-1 0,-12 13 0 0,-14-1 0 0,15-12 0 0,-25 13 0 0,24-13-1 0,12 0 0 0,-12-12 0 0,24 0 1 0,0-1 0 0,61 2-17 0,-25-13-23 0,0 0-34 0</inkml:trace>
  <inkml:trace contextRef="#ctx0" brushRef="#br0">30782 6253 74 0,'-12'0'11'0,"12"-11"-8"0,0 11 7 0,12 11 12 0,0 13-4 0,13 13-7 0,-13 11-5 0,12 13-4 0,-24 12-5 0,0-1-34 0,-24 1-65 0</inkml:trace>
  <inkml:trace contextRef="#ctx0" brushRef="#br0">31036 7245 99 0,'0'0'3'0,"-12"13"0"0,-13-2-2 0,14 26 1 0,-13-26 0 0,13 26-2 0,-14-25-9 0,25 13-25 0,-14-14-26 0</inkml:trace>
  <inkml:trace contextRef="#ctx0" brushRef="#br0">29234 7149 103 0,'0'0'10'0,"-36"0"-3"0,12 0 6 0,-1 24 0 0,1 11-7 0,12 2-5 0,0 0 0 0,-1 11-10 0,13 13-46 0,0-25-21 0</inkml:trace>
  <inkml:trace contextRef="#ctx0" brushRef="#br0">31871 6386 128 0,'0'0'0'0,"0"-24"5"0,0 12 1 0,12-12 8 0,-12-1 3 0,12 14-7 0,0-2-8 0,-12 13 1 0,0 24 0 0,-12 13 1 0,0 24 1 0,-12 10-3 0,-1 27-1 0,1-13 0 0,0 11-1 0,0 1 1 0,11-36-1 0,2-37 4 0,11 0 6 0,0-24-9 0,11-24-1 0,2-12 0 0,-2-1 0 0,26 1 1 0,0 11-2 0,-1-10 0 0,12 22 1 0,1 13 0 0,-13 0 0 0,-1 24 0 0,3 49 4 0,-26-24 0 0,-24-1 4 0,0-12-1 0,-25-11-2 0,1-13-2 0,0 0-1 0,-13-12-3 0,13 0-19 0,12-12-91 0,12 0 30 0</inkml:trace>
</inkml:ink>
</file>

<file path=ppt/ink/ink5.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7281 13354 15 0,'0'0'6'0,"0"-13"12"0,11 0 2 0,-11 13 0 0,14-11-2 0,-14 11-4 0,-14 0-6 0,3-13-2 0,-13 13-1 0,0-11-1 0,-12 11-1 0,-1 0-1 0,1 0-1 0,0 0-1 0,12 0 1 0,-13 11-1 0,13 2 0 0,11-2 1 0,2 50 1 0,22-37 0 0,2 13 1 0,-1-13-1 0,-12 13 0 0,0 11 0 0,0-12-1 0,0 1 0 0,0-13 0 0,0 0 1 0,0-13-1 0,0 13 2 0,12-11-2 0,-12 0 1 0,0-1-2 0,0 0 1 0,12-1 0 0,-12 2-1 0,14-2 1 0,8 2 1 0,3-13 0 0,-1 0-1 0,12 0 0 0,37 0-2 0,-36-13 1 0,-1 13-5 0,-12-11-7 0,1 11-7 0,-14-13-36 0,0 13-15 0</inkml:trace>
  <inkml:trace contextRef="#ctx0" brushRef="#br0">7112 13582 56 0,'0'0'16'0,"24"-23"42"0,0 23-42 0,13-12-4 0,-1 0-2 0,-12 12-6 0,0-12-2 0,-13 12-1 0,15 12-13 0,-14-12-58 0,-12 12 5 0</inkml:trace>
  <inkml:trace contextRef="#ctx0" brushRef="#br0">7547 13715 11 0,'0'0'7'0,"-12"-11"15"0,12-2-1 0,0 13 1 0,0-11-3 0,0 11-4 0,0 0-3 0,0 11-10 0,-12 2 1 0,12 24-1 0,-12-2 1 0,12 13-1 0,0 2-1 0,0 10 0 0,0 0-1 0,0-11 1 0,0-13-1 0,12-13 2 0,0-9 0 0,0-2 0 0,37 0 5 0,-37-12-6 0,24-12-23 0,-12 0-8 0,-13 12-56 0</inkml:trace>
  <inkml:trace contextRef="#ctx0" brushRef="#br0">7426 13934 61 0,'0'0'5'0,"0"0"3"0,0-12 6 0,25 12 7 0,-1-13-8 0,24 2-8 0,1-2-3 0,-1 13-7 0,-11 0-48 0,-15 0 2 0</inkml:trace>
  <inkml:trace contextRef="#ctx0" brushRef="#br0">6979 17514 67 0,'0'0'0'0,"0"-12"36"0,-11 0-14 0,-2-1-5 0,13 2-4 0,0-2-6 0,0 2-6 0,13 11 0 0,9-13 1 0,3 13 0 0,13 0 0 0,-3 13-1 0,-11-2 1 0,12 13 0 0,-24 1 1 0,0 11-1 0,-12 1 1 0,0-1-2 0,-24-1 0 0,12-9 0 0,0-2-1 0,-12-12 0 0,12 0 0 0,-12 0 0 0,13 0 0 0,-3-12 0 0,2 0 0 0,38-24 6 0,21-12-7 0,-11-2 1 0,0 3-1 0,13 11 0 0,-13-12 2 0,-1 11-1 0,3 1 1 0,-13-1-1 0,-14 14 0 0,0-26 3 0,-22 26-2 0,0 11 0 0,-14 0-1 0,1 11-1 0,-1 13 1 0,1 13 0 0,0-13 0 0,12 13 0 0,0-1-1 0,12 0 1 0,0-13-1 0,24 3-5 0,0-2-7 0,-11-12 13 0,23 0-1 0,0 0-1 0,-1 0-1 0</inkml:trace>
  <inkml:trace contextRef="#ctx0" brushRef="#br0">7596 17720 44 0,'0'-12'25'0,"0"0"6"0,0-12-4 0,0-2-7 0,0 15-7 0,12-1-4 0,-12 0-1 0,0 12-2 0,0 0-2 0,0 24 0 0,0 0-2 0,0 1-1 0,-12-1-1 0,12 12 0 0,0 12 0 0,0 0 0 0,0 0 0 0,0 2 0 0,0-2 0 0,12-12 0 0,0-12 0 0,0 1 0 0,13-13 0 0,-3 0 0 0,4-12 0 0,11 0-2 0,-2-12-1 0</inkml:trace>
  <inkml:trace contextRef="#ctx0" brushRef="#br0">7523 17864 91 0,'0'0'0'0,"0"0"22"0,24-11-6 0,1 11-4 0,11-13-6 0,24-10-5 0,-10 11-27 0,9-1-84 0</inkml:trace>
  <inkml:trace contextRef="#ctx0" brushRef="#br0">5249 13680 32 0,'0'0'5'0,"-12"-12"6"0,-12-12 22 0,24 24-20 0,-12 0-6 0,0 12-4 0,12 12 4 0,0 11 1 0,0 15-2 0,12 9-1 0,-12 2-2 0,12 0 0 0,0 0-1 0,-12-13 1 0,0-12-1 0,0 1-1 0,0-25 1 0,0 12-1 0,0-24 0 0,0 0 4 0,0 0 6 0,0-24-10 0,24-61 0 0,-24 49-2 0,12-1 1 0,1-11 0 0,-1 23 0 0,0 14 0 0,0 11-1 0,0 0 1 0,0 11 0 0,13 14 0 0,-14 11 0 0,13 1 1 0,-11 11-1 0,24 108 3 0,-37-143-3 0,0-2 1 0,0 3-1 0,0-14 0 0,0 12-10 0,0-12-30 0,0-12-58 0</inkml:trace>
  <inkml:trace contextRef="#ctx0" brushRef="#br0">5673 14102 65 0,'-12'0'24'0,"12"-11"-5"0,-13 11-1 0,1 0-7 0,12 49-1 0,0-13-6 0,0-1-1 0,0 15-1 0,0 9 0 0,0-22-1 0,0 11 0 0,0-24-1 0,12 13 0 0,1-25 1 0,11 0-1 0,-12-12 1 0,13 0 1 0,-1-12-1 0,-2 12-1 0,4-12-11 0,9 0-25 0,-22 0-26 0,-2 12 22 0</inkml:trace>
  <inkml:trace contextRef="#ctx0" brushRef="#br0">5636 14320 32 0,'0'0'0'0,"12"0"26"0,1 0-5 0,11 0-5 0,13 0 4 0,-2 0-12 0,-24 0-3 0,3-11-2 0,11 11-2 0,-14 0-1 0,0 0-3 0,13 0-26 0,-11 0-42 0,-13 0 46 0</inkml:trace>
  <inkml:trace contextRef="#ctx0" brushRef="#br0">5963 14261 25 0,'0'0'10'0,"12"0"3"0,12 0 5 0,-12 0-1 0,13-12-7 0,-1 12-6 0,-12 12-3 0,12-12 0 0,0 0-1 0,0 0-6 0,1 11-16 0,0-11-19 0,-14 0 17 0</inkml:trace>
  <inkml:trace contextRef="#ctx0" brushRef="#br0">6301 14116 46 0,'0'-14'15'0,"-11"14"7"0,11-11-9 0,0 11-4 0,-13 11-1 0,13 3-2 0,0 22 0 0,0 12 0 0,0-13 0 0,0 15-2 0,0-2-2 0,0 0 0 0,0 0-2 0,0-11 0 0,0-13-3 0,0-11-28 0,0-2-64 0</inkml:trace>
  <inkml:trace contextRef="#ctx0" brushRef="#br0">8236 13426 45 0,'0'-24'22'0,"0"0"7"0,0 0-4 0,-11 11-6 0,11 0-9 0,0 13-7 0,-13 0-2 0,13 37 0 0,-11 11 1 0,11 26-1 0,0-2-1 0,0 13 1 0,11-14 0 0,-11 3 0 0,13-26-1 0,-2-11 0 0,-11-26 1 0,0 2 3 0,0-13 7 0,0-13 3 0,13 2-13 0,-13-14 0 0,12 0-1 0,0 1 0 0,12 0 0 0,1-11 0 0,11 22 0 0,-12 0-1 0,1 2 1 0,-3 11-1 0,-22 24 1 0,13-11 0 0,-13 22 0 0,13-11 0 0,-13 13 1 0,12-13-1 0,-12 13 0 0,0-13 0 0,0 0-1 0,12 0 0 0,-12-12-14 0,0 13-26 0,0-1-83 0</inkml:trace>
  <inkml:trace contextRef="#ctx0" brushRef="#br0">8612 14031 68 0,'0'0'0'0,"0"-24"45"0,12 24-28 0,-12-13 0 0,12 13-6 0,-12 25 7 0,0 11-13 0,0 0-1 0,0 13-1 0,-12-2-2 0,12 1 1 0,0 2-2 0,0-15 1 0,0 2 0 0,12-13 0 0,12 0 0 0,-12 0 0 0,12-11-1 0,-11-13 1 0,23 12-1 0,-12-24-1 0,12-1-9 0,-11 2-27 0,-1-13-55 0,1 24 48 0</inkml:trace>
  <inkml:trace contextRef="#ctx0" brushRef="#br0">8588 14211 71 0,'0'0'0'0,"-11"-11"47"0,22 11-45 0,13 0 4 0,12-13-1 0,25 2-4 0,11-1-27 0,-37 12-57 0</inkml:trace>
  <inkml:trace contextRef="#ctx0" brushRef="#br0">7342 12179 21 0,'0'-11'6'0,"0"-37"9"0,-12 12 1 0,12 11 3 0,0 13 0 0,0 12-7 0,0 0-1 0,0 37-4 0,0 23-3 0,0-25-3 0,0 74 2 0,0 0-1 0,0-24-1 0,0 73 0 0,0-49-1 0,-12-25 0 0,12-11 0 0,-12-25 0 0,12-24 1 0,0-24-4 0,0 13-21 0,0-26-36 0,0 13 20 0</inkml:trace>
  <inkml:trace contextRef="#ctx0" brushRef="#br0">7112 11757 67 0,'-24'0'8'0,"0"-13"7"0,24 13-5 0,0 0-8 0,0 0 4 0,36 37 4 0,0 11-3 0,13 0-2 0,23 13-1 0,1 0-2 0,-13-1-1 0,73 36 1 0,-84-48-1 0,-13-11-1 0,-12-24 0 0,-12 11-21 0,-24-24-42 0,0 0 31 0</inkml:trace>
  <inkml:trace contextRef="#ctx0" brushRef="#br0">7088 12192 60 0,'-13'0'8'0,"-9"11"5"0,22-11 3 0,0-11 13 0,11-26-18 0,37-10 1 0,25-38 0 0,23-12-2 0,13-12-4 0,-12 25-5 0,-12 34-5 0,-25 3-43 0,-24 23-56 0</inkml:trace>
  <inkml:trace contextRef="#ctx0" brushRef="#br0">25110 13354 20 0,'0'0'15'0,"-12"-26"11"0,12 15-4 0,0-2 0 0,12 13-10 0,-12 0-6 0,0 37 0 0,12 0 0 0,-12 132 7 0,0-96-12 0,0-13 0 0,0-12-1 0,13-11 1 0,-13-13-1 0,11-13 0 0,-11 2-5 0,0-13-15 0,0 0-14 0,11-24-16 0,-11 24 18 0</inkml:trace>
  <inkml:trace contextRef="#ctx0" brushRef="#br0">25013 13378 42 0,'0'0'0'0,"0"-24"6"0,12 24 6 0,24-26 7 0,1 15-7 0,11 11-6 0,0 0-2 0,0 24-1 0,13 0-1 0,0 37 0 0,-25 0-1 0,-12-1-1 0,-11 1 1 0,-13-1 0 0,-13-13 1 0,-84 51 24 0,37-87-19 0,13 2-2 0,-16-13-3 0,28 0-2 0,-1 0-3 0,22-13-13 0,3 2-22 0,11-2-27 0,11 13 39 0</inkml:trace>
  <inkml:trace contextRef="#ctx0" brushRef="#br0">25544 13632 65 0,'0'-12'13'0,"-11"0"-2"0,11 12 7 0,0 24-10 0,0 0-5 0,0 24 0 0,-11-11 2 0,11 11-1 0,-13 0 0 0,13 0-2 0,0-11 3 0,0-1-1 0,0-12 0 0,13-12-1 0,-2 1 0 0,13-1 1 0,0-12 0 0,-11 0-2 0,22-12-1 0,-10 12-2 0,-1-13-10 0,0 1-19 0,-12 12-24 0,1-12-4 0</inkml:trace>
  <inkml:trace contextRef="#ctx0" brushRef="#br0">25569 13898 43 0,'0'0'0'0,"97"-37"2"0,-24 25-18 0,-49 0-7 0</inkml:trace>
  <inkml:trace contextRef="#ctx0" brushRef="#br0">25279 14261 31 0,'0'0'0'0,"0"-26"23"0,0 2-1 0,12 0-1 0,0 13-5 0,-12 11-7 0,12 0-6 0,-12 24 4 0,12 11 2 0,-12 26-2 0,0 13 2 0,13 22-1 0,11 13-4 0,0 132-2 0,-12-143-2 0,0-14 0 0,0-11 0 0,-12-12 1 0,0-25 1 0,0 12-1 0,0-13 0 0,-12-9-2 0,-12 33-160 0</inkml:trace>
  <inkml:trace contextRef="#ctx0" brushRef="#br0">25122 14478 25 0,'0'0'0'0,"0"0"13"0,-12-12 0 0,48-36 35 0,0 11-41 0,-12 0 3 0,12 2 0 0,-11-2-1 0,-1 26 0 0,0-1 1 0,-12 12-3 0,13 12 1 0,-13 23-1 0,83 123 2 0,-57-122-9 0,9-23-13 0,3-2-131 0</inkml:trace>
  <inkml:trace contextRef="#ctx0" brushRef="#br0">25459 15336 5 0,'0'0'9'0,"0"0"3"0,0-11 4 0,-11 11-1 0,0 0 14 0,-2 24-17 0,1 0-1 0,12 24-2 0,-24 50 1 0,12-38-8 0,12-25-2 0,0 3 1 0,0-26-1 0,0 0-5 0,0 0-24 0,0 0-57 0</inkml:trace>
  <inkml:trace contextRef="#ctx0" brushRef="#br0">25037 16341 39 0,'0'0'10'0,"0"-24"9"0,0 0 0 0,24-2-2 0,13 2-7 0,-13 13-5 0,24 11-1 0,-12 0 2 0,-11 11-1 0,-1 2-1 0,-12 24 0 0,-12-2-1 0,0 2-1 0,-25 11 1 0,3-11-1 0,-16-13 0 0,13 12 2 0,3-36 0 0,-3 12 0 0,25-12 0 0,0-12 0 0,12-12-4 0,23-12 1 0,2 12-1 0,0-13-2 0,11-11 1 0,-12 11 0 0,1 0 1 0,-13 13 0 0,-24 13 3 0,-12 22-2 0,-25 2 0 0,13 24 1 0,0-2-1 0,12 39-1 0,12-39 0 0,12 2-1 0,12-25 1 0,-12 24-5 0,25-23-12 0,48 23-133 0</inkml:trace>
  <inkml:trace contextRef="#ctx0" brushRef="#br0">25557 16510 45 0,'0'0'0'0,"0"-24"22"0,12 12-1 0,0-1 3 0,-12 13-8 0,0 0 0 0,-24 61-6 0,11-37-5 0,2 25-2 0,0-14-1 0,11 3-1 0,0 10 0 0,0-25-1 0,11 1 0 0,13 2 0 0,-12-14 1 0,13 0-1 0,-12-12 1 0,9 0-4 0,-9 0-9 0,11 0-16 0,0-12-20 0,-24 0-22 0</inkml:trace>
  <inkml:trace contextRef="#ctx0" brushRef="#br0">25459 16656 62 0,'0'0'0'0,"-11"0"26"0,22-13-5 0,3 13-3 0,35-13-8 0,-2-10-5 0,2 23-4 0,-1-12-15 0,13 12-98 0</inkml:trace>
  <inkml:trace contextRef="#ctx0" brushRef="#br0">22933 11370 29 0,'0'0'4'0,"0"-13"8"0,0 13-4 0,0-11 1 0,0 22 24 0,0 13-26 0,0 1-1 0,0 11-1 0,11 85 4 0,-11-60-6 0,0-13-1 0,0 13 1 0,0 23 0 0,0-48-2 0,0 61 0 0,0-36-1 0,0 12 2 0,13-13-2 0,-13 13 1 0,0-13 0 0,0 1 0 0,0 108 0 0,12-121-1 0,-12-11 1 0,0 11 0 0,0-24-1 0,12 11 1 0,-12-22 0 0,0 24 1 0,0-26 2 0,0 26-1 0,0-26-1 0,0 14 0 0,0-13-1 0,0 1 0 0,0-13-27 0,0-37-37 0,0 24 11 0</inkml:trace>
  <inkml:trace contextRef="#ctx0" brushRef="#br0">22752 11503 28 0,'-13'0'16'0,"13"0"-5"0,0 0 5 0,0-12-8 0,0 0-1 0,13-25 0 0,-2 25 2 0,13-24 0 0,-11 12 1 0,11 0-3 0,0 11 0 0,-13 13 0 0,14 0 0 0,-1 24-1 0,12 13-2 0,-11-13-1 0,-1 13-3 0,12-1-1 0,-24-24-12 0,25 0-26 0,-25-36-61 0</inkml:trace>
  <inkml:trace contextRef="#ctx0" brushRef="#br0">22387 10378 53 0,'0'0'0'0,"-22"-13"14"0,22 13-1 0,0 13-4 0,11 11-5 0,0 0-1 0,13-11-2 0,2-2 0 0,22 2 6 0,-37-37-1 0,14 11 0 0,-13-48 3 0,-12 26-5 0,0-2 1 0,0 13-1 0,0 0 1 0,0 11 0 0,0 13 0 0,0 13 0 0,0 35-5 0,24 0-1 0,1 13 1 0,-1 12 0 0,-12 12 0 0,0 11 0 0,0-11 0 0,-12-13-1 0,0-24 2 0,-12-11-1 0,0-13 2 0,-12-12 0 0,-13 0 3 0,13-24 0 0,-13-12-1 0,13 0-1 0,2-25-2 0,9 1-1 0,13 0 0 0,0-13-6 0,24 13-11 0,11 12-12 0,15 12-18 0,10 12-30 0</inkml:trace>
  <inkml:trace contextRef="#ctx0" brushRef="#br0">22859 10572 40 0,'0'-12'17'0,"-11"-14"-5"0,11-9 5 0,0 11 1 0,0 12-4 0,0-1-5 0,0 13-4 0,0 0 2 0,-11 37-5 0,11 10 0 0,-13 3-1 0,13 9 0 0,0-9 0 0,0 83 0 0,13-109-1 0,-2 0 0 0,0-12 0 0,2 0 0 0,-13-12 0 0,24 0 0 0,-12-12 0 0,13 12 0 0,-1-12-3 0,-12-1-10 0,0 13-14 0,12-11-18 0,-12-2-6 0</inkml:trace>
  <inkml:trace contextRef="#ctx0" brushRef="#br0">22774 10741 40 0,'0'0'8'0,"-11"0"1"0,0-13 0 0,11 13 5 0,0 0-5 0,11 0-3 0,0 0 5 0,2 0-1 0,12 0-2 0,0 13-3 0,-3-13-3 0,3 0-1 0,-1 0-1 0,12 0-5 0,-11 0-20 0,-1-13-32 0,0 13 22 0</inkml:trace>
  <inkml:trace contextRef="#ctx0" brushRef="#br0">23139 10693 61 0,'-13'0'11'0,"1"0"1"0,0 0 8 0,12 0 5 0,24-13-15 0,11 13-3 0,3-13-3 0,-13 2-1 0,10-2-1 0,-11 2-1 0,-12 11-1 0,2 0 0 0,-3 0-4 0,0 0-8 0,2 11-17 0,-1-11-6 0,12-11-31 0</inkml:trace>
  <inkml:trace contextRef="#ctx0" brushRef="#br0">23489 10487 45 0,'0'0'0'0,"-12"-24"28"0,12 24-8 0,0-13 6 0,-12 13-6 0,12 13-11 0,0 11 0 0,0 12 0 0,0 13-1 0,0-1-4 0,0-1-1 0,12 3-2 0,-12 9-1 0,0-22-6 0,12 0-27 0,-12-26-55 0,0 2 44 0</inkml:trace>
  <inkml:trace contextRef="#ctx0" brushRef="#br0">23199 11709 45 0,'0'0'5'0,"12"0"-5"0,-12 0-12 0,13 12-6 0,-13 0 2 0</inkml:trace>
  <inkml:trace contextRef="#ctx0" brushRef="#br0">23453 12059 41 0,'0'0'19'0,"-25"-12"12"0,25 12-30 0,0 0-4 0,0 0-20 0,25 12-12 0,-13-1 5 0</inkml:trace>
  <inkml:trace contextRef="#ctx0" brushRef="#br0">23586 12410 56 0,'0'0'0'0,"0"0"17"0,0 12-5 0,0-12 5 0,0 0-5 0,12 0-13 0,-12 0-7 0,13 0-23 0,-2 24-38 0</inkml:trace>
  <inkml:trace contextRef="#ctx0" brushRef="#br0">23949 13148 35 0,'-14'-12'16'0,"3"-12"1"0,0 12 1 0,11-2-1 0,0 3-5 0,0 11-7 0,0 0-5 0,22 11 1 0,-8 15-6 0,22 22-20 0,-12 0-29 0,-13-23 24 0</inkml:trace>
  <inkml:trace contextRef="#ctx0" brushRef="#br0">24166 13753 70 0,'-24'0'15'0,"24"0"2"0,-12 0-3 0,12 0-8 0,12 23-28 0,12 14-29 0,-24-26 18 0</inkml:trace>
  <inkml:trace contextRef="#ctx0" brushRef="#br0">24348 14261 75 0,'0'0'0'0,"-37"0"44"0,13 0-21 0,13-12-6 0,11 12-14 0,24 12-27 0,0-1-31 0,13 2-18 0</inkml:trace>
  <inkml:trace contextRef="#ctx0" brushRef="#br0">24541 14816 76 0,'-12'-11'9'0,"-12"-13"5"0,11 24-1 0,13-12-4 0,0 24-9 0,25-1-1 0,11 26-1 0,13 11-20 0,-13 13-23 0,-11-25 0 0</inkml:trace>
  <inkml:trace contextRef="#ctx0" brushRef="#br0">24833 15301 58 0,'0'0'17'0,"-14"0"6"0,2 0-12 0,24 0-11 0,2 11-12 0,21 2-33 0,-11 11-3 0</inkml:trace>
  <inkml:trace contextRef="#ctx0" brushRef="#br0">25157 15712 108 0,'0'0'0'0,"-71"0"66"0,46 0-53 0,25 0-11 0,0-12-21 0,11 12-50 0,3 12-21 0</inkml:trace>
  <inkml:trace contextRef="#ctx0" brushRef="#br0">23356 13680 23 0,'0'-12'12'0,"0"-12"5"0,0 12-2 0,0-12-2 0,0 24-3 0,0 0-2 0,12 72 9 0,-12-37-12 0,0 26-1 0,12 0-1 0,-12 0-2 0,0-1 0 0,0 1 0 0,0-25 0 0,0-12-1 0,0-24 1 0,0 12 0 0,0-12 4 0,0-12-2 0,12-12-2 0,-12-12 0 0,12-1 0 0,25-60-1 0,-13 61 1 0,-12 11-1 0,12 14 0 0,12 11-1 0,-25 11 1 0,3 26 0 0,-14 11 0 0,12 1 1 0,0 0 0 0,-12-13 0 0,0 0 0 0,0 1 0 0,0-25 0 0,0 12-1 0,0-24 0 0,0 12-5 0,0-12-16 0,0 12-22 0,0-12-29 0</inkml:trace>
  <inkml:trace contextRef="#ctx0" brushRef="#br0">23731 13994 51 0,'0'0'0'0,"-13"0"62"0,13 13-58 0,0 11 0 0,13 0 1 0,-13 0-1 0,0 13-1 0,0-1-1 0,0-1-1 0,0 2-1 0,0 0 1 0,0-13-1 0,0-13 0 0,12 2 1 0,0-13-1 0,12 0 0 0,49-13-24 0,-49-11-16 0,0 13-30 0</inkml:trace>
  <inkml:trace contextRef="#ctx0" brushRef="#br0">23670 14235 32 0,'-12'0'12'0,"12"0"-2"0,0-11 11 0,0 11-8 0,12-13-4 0,0 13-1 0,13 0-1 0,-1 0-1 0,0 0-1 0,0 0-1 0,13-11-2 0,-25 11-1 0,0 0-1 0,0 0-2 0,0-13-16 0,0 13-24 0,-12 0-10 0</inkml:trace>
  <inkml:trace contextRef="#ctx0" brushRef="#br0">23888 14164 52 0,'0'0'10'0,"0"0"1"0,0 12 11 0,47-12-11 0,16 0-9 0,20-12-47 0,-70 12-8 0</inkml:trace>
  <inkml:trace contextRef="#ctx0" brushRef="#br0">24276 13982 62 0,'-13'0'7'0,"-23"25"48"0,24-1-41 0,12 12-4 0,0 13-3 0,12-1-1 0,0-12-3 0,12 60-8 0,-11-59-33 0,-13-13-55 0</inkml:trace>
  <inkml:trace contextRef="#ctx0" brushRef="#br0">24178 13535 17 0,'0'0'5'0,"0"0"10"0,0 0 2 0,0 0 0 0,-12 12 2 0,12-12-14 0,12 0 4 0,13 12-1 0,-1-12-2 0,12 0 1 0,12 0 0 0,24-12 0 0,2 0-2 0,-14 12-1 0,-12 0-2 0,1 0-2 0,-37 0-2 0,-12 12-20 0,-24-12-68 0</inkml:trace>
  <inkml:trace contextRef="#ctx0" brushRef="#br0">25909 13535 7 0,'0'0'0'0,"0"0"9"0,0 0 12 0,0 0-13 0,0 0-1 0,0-12 13 0,0 12-10 0,0 0 8 0,11 0 23 0,63 0-35 0,-27 0-5 0,-11 0 0 0,25 0-1 0,-13 12 1 0,13-12-1 0,-1 0 1 0,-10 0-1 0,-4-12 2 0,-21 12 3 0,-13-12 6 0,-12 12-4 0,0 0-3 0,0 0-3 0,0 0-1 0,-12 0-14 0,12 0-47 0,0 0-28 0</inkml:trace>
  <inkml:trace contextRef="#ctx0" brushRef="#br0">26525 13450 52 0,'0'0'15'0,"-24"-12"6"0,24 12-10 0,24 0-8 0,0 12 1 0,49 12 1 0,-49-11-2 0,0 11 6 0,-24-12 1 0,-24 0-3 0,0 12-4 0,-24-1-4 0,11 3-14 0,1 10-34 0,11 0-17 0</inkml:trace>
  <inkml:trace contextRef="#ctx0" brushRef="#br0">26403 13934 51 0,'-22'-12'34'0,"-2"12"-17"0,10 0-1 0,14 0-7 0,0 0-6 0,0 36 2 0,25 0-1 0,-12 1 3 0,-13 11-1 0,11 13-3 0,-11-14 0 0,0-10 0 0,0-12 2 0,0-13 0 0,0-1-2 0,0-11 0 0,0 0 4 0,0-11-5 0,24-15-1 0,-12 15 0 0,12-26-1 0,-12 2-1 0,0-1 0 0,13 11 0 0,-1 1 1 0,-12 12-1 0,0 12 0 0,0 0 0 0,1 12 1 0,-2 23 1 0,2 3-1 0,-13-2 0 0,12-1 0 0,0 3-5 0,0-15-11 0,0 14-13 0,-12-26-18 0,24 2-1 0,-11-13 13 0</inkml:trace>
  <inkml:trace contextRef="#ctx0" brushRef="#br0">26766 14272 36 0,'0'0'10'0,"0"-11"52"0,0 22-34 0,0 2-19 0,0 11-4 0,-11 0-2 0,11 13-1 0,0-26 0 0,0 26 0 0,0-26-2 0,0 2 0 0,0-1 1 0,11-12-2 0,2 12-2 0,-2-12-13 0,14 0-18 0,-13 0-21 0,-12 0 7 0</inkml:trace>
  <inkml:trace contextRef="#ctx0" brushRef="#br0">26755 14344 62 0,'0'0'10'0,"0"0"7"0,0-11 2 0,24-2-2 0,12 2-11 0,0-2-5 0,1 2-15 0,-13 11-84 0</inkml:trace>
  <inkml:trace contextRef="#ctx0" brushRef="#br0">25931 13450 17 0,'0'0'9'0,"-22"0"3"0,22 0 4 0,-13 0 1 0,13 12-4 0,0-12 16 0,13 0-16 0,-13 0-6 0,0 0 4 0,11 0-5 0,0 0 0 0,2 0-2 0,11 0-2 0,37-12 1 0,-25-12-3 0,-12 11 0 0,1 2 1 0,-1-13-1 0,-12 11 1 0,0-11 0 0,12 0 0 0,-12 0-1 0,1 0 1 0,-2 0 0 0,2 12 0 0,-13-2 0 0,0-10 0 0,0 13 0 0,12-13 0 0,-12 0 0 0,0 0 0 0,0-13 1 0,0 25 1 0,0-12 1 0,0 12 1 0,0 0-1 0,0 12-1 0,0 0 0 0,0 0-2 0,0-12 6 0,0 0-4 0,0 12-1 0,-12-13 0 0,12 1 0 0,0 0 1 0,-13 12 0 0,13-12-1 0,0 12 0 0,0 0-1 0,0 0 0 0,0 0 1 0,0 0-3 0,0 0-4 0,0 0-23 0,0 0-55 0,0 0 5 0</inkml:trace>
  <inkml:trace contextRef="#ctx0" brushRef="#br0">25835 12155 19 0,'0'0'9'0,"-24"-11"10"0,12 11 2 0,0 0-4 0,12 0-5 0,12 0-4 0,13 0-3 0,11 0-1 0,13 11 1 0,10-11-2 0,14 0-1 0,0 0 0 0,-1 0 2 0,1 0 1 0,-14-11-2 0,-20 11-2 0,-28-12 1 0,2 12 4 0,-13 0 12 0,-13 0-15 0,13 0 0 0,-11 0-1 0,11 0-1 0,0 12-1 0,0-1 1 0,0 26-1 0,0 11 1 0,0 24 1 0,0 2-1 0,11-2 0 0,-11 1-1 0,0 0 1 0,13-25-1 0,-13-12 1 0,0-25 1 0,0 2 1 0,0-13 2 0,0 0 0 0,0 0 3 0,0 0-7 0,0-13 0 0,-13 13 0 0,2-11-1 0,-15 11 0 0,2 0 0 0,-11 0 0 0,-2 0 0 0,-12 11 0 0,1 2 0 0,-1-13 0 0,-11 13 0 0,-1-1 0 0,13 0 1 0,12-12-2 0,12 11 2 0,-1-11-2 0,25 0 1 0,0-11 0 0,0-1 1 0,0-13 0 0,13 1 0 0,-13-24 0 0,0 0 1 0,-13-13-2 0,-11 1 0 0,0-14 0 0,12 15 0 0,0 9 0 0,0 15 0 0,12 11-4 0,0 12-22 0,36-2-39 0,1 28-30 0</inkml:trace>
  <inkml:trace contextRef="#ctx0" brushRef="#br0">26114 12288 43 0,'0'0'9'0,"-13"-11"10"0,1 11-2 0,0 0 2 0,-12 0-4 0,12 0-5 0,-13 24-2 0,3 13 1 0,9-2-2 0,0 2-3 0,13-1-1 0,0 0-2 0,48 13 1 0,-23-37 2 0,48-24 8 0,-49-12-6 0,0-12 1 0,0-1 0 0,-24 0-4 0,0 2-1 0,-24-15-1 0,0 15 0 0,-13-2-2 0,1 14-7 0,24-2-18 0,-12 25-136 0</inkml:trace>
  <inkml:trace contextRef="#ctx0" brushRef="#br0">26307 12482 24 0,'0'0'9'0,"0"-11"11"0,-11 11 38 0,-2 0-46 0,13 11 1 0,-11 26-3 0,-2-13-3 0,13 12-2 0,13 13-1 0,11-37-4 0,-13 0 0 0,13 0-3 0,2-12-9 0,-2-12-16 0,-13-12-21 0,0 0-18 0</inkml:trace>
  <inkml:trace contextRef="#ctx0" brushRef="#br0">26331 12386 6 0,'0'0'0'0,"0"-13"6"0,0-11-15 0</inkml:trace>
  <inkml:trace contextRef="#ctx0" brushRef="#br0">26211 12192 19 0,'-13'-24'13'0,"13"0"0"0,0 12 5 0,0-12 0 0,0 0-3 0,0 10-1 0,-12 3-1 0,12-13-3 0,-12 12-3 0,-12-49 5 0,12 49-9 0,12-12 0 0,-24 0-2 0,-1-12 1 0,-11 23 1 0,-1-23-1 0,-23 24 0 0,0-25-1 0,-1 26 1 0,1-25-1 0,12 24 2 0,11-1 0 0,1 0 0 0,24 2-1 0,12-13-1 0,0 0 0 0,0 12 0 0,0 0 0 0,0 0 1 0,-13 12-2 0,2-12 2 0,11 12-2 0,-11 0 0 0,-2 0 1 0,13 0-1 0,13 0 0 0,-13 0 0 0,0-13 0 0,0 13 0 0,0 0 1 0,0 0-1 0,0 0 0 0,-13 13 1 0,13-26 0 0,0 13-1 0,0-24 0 0,0 12 0 0,0 0 0 0,0 0 1 0,0 0 1 0,0 12 0 0,0 12-1 0,-13 12 0 0,1 12 0 0,0 1-1 0,12-1 0 0,0-13 0 0,0-10 0 0,0-13 1 0,0 11 1 0,0-22 3 0,0-2-3 0,0-10-1 0,-13-13 0 0,13-1-1 0,0 13 0 0,0-12 0 0,-11 12 0 0,11 11-2 0,11 2-6 0,2-2-11 0,11 1-26 0,13 12-69 0</inkml:trace>
  <inkml:trace contextRef="#ctx0" brushRef="#br0">25544 10390 41 0,'0'-25'5'0,"0"-10"12"0,-11-26 14 0,0 61-19 0,-2 0-4 0,1 0-6 0,0 37 1 0,0 11-2 0,-2 0 1 0,3 0 2 0,0 13-2 0,11-25 0 0,0 25 0 0,11-13 0 0,0-11-2 0,-11-13 1 0,14 11-1 0,-14-11 1 0,12-11 0 0,0-13 0 0,-12 12 1 0,12-12 1 0,1-12 0 0,-2-12-1 0,25-48 0 0,-11 35-1 0,-1 1 0 0,0 0-1 0,12-25 1 0,-24 25-1 0,0 24 0 0,-12-13 1 0,0 25 0 0,-12-11 0 0,12 11 0 0,0-13 1 0,0 26-2 0,0-2 0 0,-12 14 0 0,12 23 0 0,0 13 0 0,12-2 1 0,-12 26-1 0,12 158 0 0,-24-171 0 0,-60 13 6 0,48-74-1 0,11-22-1 0,-11-1-2 0,11-24 0 0,13-13-1 0,0 1-1 0,25-1 0 0,-13 1-3 0,36-1-17 0,1 1-23 0,24 24-29 0,-49 11 38 0</inkml:trace>
  <inkml:trace contextRef="#ctx0" brushRef="#br0">26077 10741 39 0,'-12'0'11'0,"0"-13"1"0,0 2 3 0,0-1 4 0,12 12-5 0,-13 0-9 0,13 12-1 0,0 23 0 0,0 2 0 0,0 0 0 0,0 23 1 0,0 0-1 0,0 86 1 0,0-86-6 0,0 1 1 0,13-13 1 0,-1-13-1 0,12-22 0 0,0 0 1 0,13-13-2 0,11-26-8 0,13-22-26 0,-24 24 9 0,-2 1-36 0</inkml:trace>
  <inkml:trace contextRef="#ctx0" brushRef="#br0">26065 10971 60 0,'-24'0'10'0,"12"12"3"0,-1 0 4 0,26-12 3 0,-1 12-4 0,36-12-5 0,1-12-4 0,11 0-3 0,1 0-3 0,-13 0-7 0,-12 12-52 0,-22 0-6 0</inkml:trace>
  <inkml:trace contextRef="#ctx0" brushRef="#br0">23150 11999 48 0,'0'0'0'0,"-24"-12"26"0,24 0-11 0,13-13-3 0,9 13 0 0,41 0-4 0,8 12-5 0,-10 0-1 0,72 12 0 0,-85 0 0 0,1-12 2 0,-37 0 2 0,-12 0 1 0,0 12 1 0,0 1-4 0,-61 96 0 0,50-61-4 0,11-1 0 0,-13 14 1 0,13 0-1 0,0-13 0 0,0-11 0 0,0-13 1 0,0 0 2 0,-24 0-1 0,0-11 0 0,-61-2 0 0,49-11-2 0,-62 0 2 0,51-24-1 0,9 0 0 0,3-13 0 0,-1-11 0 0,24-24-1 0,0 12 0 0,0-2 0 0,12 15 0 0,12 9-1 0,12 27-5 0,12 11-21 0,12 0-33 0,-11 25-5 0</inkml:trace>
  <inkml:trace contextRef="#ctx0" brushRef="#br0">23090 12277 21 0,'0'0'0'0,"0"-13"9"0,0-11-4 0,0-13-1 0,0 13-3 0,0 0-3 0,0-11-7 0,0-1-3 0,0-1-1 0</inkml:trace>
  <inkml:trace contextRef="#ctx0" brushRef="#br0">23090 11962 3 0,'0'-12'4'0,"0"0"-3"0,12 0-7 0</inkml:trace>
  <inkml:trace contextRef="#ctx0" brushRef="#br0">23090 11696 16 0,'0'0'0'0,"-73"-72"33"0,37 60-18 0,12 0 4 0,11 0-2 0,2 12-4 0,11 0-9 0,0 24 4 0,11 47 5 0,2-10-5 0,-1 0 1 0,0 11-3 0,0 50 1 0,-12-62-6 0,24-11 0 0,0-13 0 0,13-25 0 0,11 2 0 0,13-2-2 0,-2-22-17 0,26-2-18 0,0 2-12 0,-12 11 10 0,-25 0 22 0,-23 0 14 0,-25 0 11 0,-25 24 7 0,-11-13 3 0,0 2-1 0,-1-2 2 0,13 3-5 0,24-2-8 0,0-12-6 0,37 24 5 0,-25-24-2 0,0 11 3 0,0-11 3 0,0 13 1 0,12-2-2 0,-11-11-2 0,23 13-2 0,-12-2-3 0,1-11 0 0,22 26 0 0,-35-2-2 0,0-13 1 0,2 26 0 0,-3-1-1 0,0 13 1 0,14-1 0 0,-13 13-1 0,24-13 0 0,1 12 1 0,-13-12 2 0,0 13-1 0,0-13 3 0,-24 13 2 0,0 0 0 0,-36-1 0 0,-61 73 2 0,37-61-7 0,-1-11 0 0,1 0-2 0,0-13 1 0,11-24-5 0,25 24-202 0</inkml:trace>
</inkml:ink>
</file>

<file path=ppt/ink/ink6.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2-07T13:37:01"/>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23295 5552 1 0,'0'0'0'0,"0"0"16"0,0-12-4 0,0 12-1 0,0 0 2 0,-12-12 0 0,12 12-1 0,-12 0 0 0,12 0 0 0,0 0-2 0,0 0 28 0,0 0-25 0,0 0-12 0,0 0 2 0,0 12-2 0,12-12 1 0,0 12 1 0,-12-1-1 0,14 2 0 0,-3-2-1 0,0 2 1 0,2 0 0 0,35 11 0 0,-36-13-1 0,12 2 0 0,1-2 0 0,-1 13 0 0,-12-24 0 0,12 25-1 0,-11-25 1 0,-2 12 1 0,14-12-1 0,-13 13 1 0,12-13 0 0,0 11-1 0,12 2 0 0,-24-13 0 0,25 11-1 0,-13 2 1 0,0-13-1 0,0 12 0 0,0 0 1 0,1 0-1 0,-1 0 0 0,12-12 1 0,-11 12-1 0,-3-12 0 0,28 12 1 0,-26-12-1 0,12 13 0 0,0-13 1 0,-12 12-1 0,13-12 1 0,-25 12-1 0,24-12 0 0,-23 12 0 0,35-12 4 0,-12 12-4 0,1-12 1 0,0 0-1 0,-2 0 2 0,1 0-3 0,0 12 1 0,1-12 1 0,-13 0-1 0,0 0 1 0,13 0-1 0,-1 0 0 0,-12 0 0 0,11 0 0 0,39 0 0 0,-50 0 1 0,12 0-1 0,13 0 0 0,-13-12 0 0,0 12 1 0,1 0-1 0,11-12 0 0,-12 12 2 0,1-12-2 0,0 12 0 0,-2-12 0 0,15 12 1 0,-15-12-1 0,-11-1 0 0,12 1 1 0,1 12-2 0,11-12 2 0,-11 0-1 0,-1 0 0 0,0 12 0 0,-12-12 0 0,12 0 0 0,-11-1 1 0,-1 2-1 0,12-2 0 0,0-11 0 0,-24 12 1 0,13-13 0 0,-13 14 0 0,12 11-1 0,-12-13 0 0,0 2 0 0,0 11 1 0,0-13 0 0,1 13 0 0,-2-11 1 0,-11 11-1 0,0 0 0 0,0-12 3 0,0 12-162 0</inkml:trace>
</inkml:ink>
</file>

<file path=ppt/ink/ink7.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2-07T13:37:01"/>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19860 15132 20 0,'0'0'12'0,"-12"12"8"0,12-12-7 0,0 0 4 0,24 0 0 0,1 0-3 0,-1-26-1 0,24 3-1 0,13-1-1 0,-2-12-3 0,4 11-2 0,-4 1-4 0,-23 0-1 0,25 0 1 0,-61 24-2 0,12 0-1 0,-24 0-31 0,0 0-15 0,-12 12-20 0</inkml:trace>
  <inkml:trace contextRef="#ctx0" brushRef="#br0">19848 15349 56 0,'-12'0'26'0,"0"0"-5"0,24 0-3 0,12 0 2 0,13-13-5 0,35-22-6 0,26 11-3 0,-13-13-2 0,-2 13-1 0,-22-12-2 0,-13 24-2 0,-23 0-11 0,-14 12-36 0,-11 0-48 0</inkml:trace>
  <inkml:trace contextRef="#ctx0" brushRef="#br0">20816 16535 66 0,'0'0'0'0,"0"-13"12"0,0 13-6 0,0 0 17 0,-12 24-14 0,0 25-3 0,12-14 0 0,-12 27 1 0,12-2-3 0,-12 1-2 0,12-26 1 0,0 2-2 0,0 0-1 0,0-13-1 0,0 0-3 0,-12-12-14 0,12-12-22 0,0 0-27 0</inkml:trace>
  <inkml:trace contextRef="#ctx0" brushRef="#br0">20586 16474 72 0,'0'-13'5'0,"24"2"-1"0,25-2 7 0,11 2 4 0,13 11-5 0,-2 24-4 0,3 0-4 0,-14 12 0 0,-11 25-1 0,-13-13 0 0,0 13 0 0,-11-2 1 0,-25 3 0 0,0-26 1 0,-25-1 0 0,1 2 0 0,-24 0 1 0,-1-13 1 0,-11 0-1 0,-1-12-1 0,-11-12-1 0,11 0-1 0,13 0-1 0,12 0-1 0,11-12-6 0,13 0-20 0,12 12-32 0,12-12 11 0</inkml:trace>
  <inkml:trace contextRef="#ctx0" brushRef="#br0">21167 16789 79 0,'0'-13'12'0,"24"0"-1"0,-12 13 4 0,0 0-2 0,1 0-6 0,-13 38-2 0,0-2 0 0,11-12 1 0,-11 12-1 0,0 13-2 0,0-13-1 0,0 0 0 0,0 1-1 0,0-25-1 0,11 0 0 0,-11 0-8 0,0-12-20 0,13 0-47 0,-13 0 33 0</inkml:trace>
  <inkml:trace contextRef="#ctx0" brushRef="#br0">21288 16510 77 0,'0'0'0'0,"0"-12"17"0,0 24-25 0,12 0 1 0,-12 12-7 0,13 1-43 0</inkml:trace>
  <inkml:trace contextRef="#ctx0" brushRef="#br0">21433 16885 58 0,'0'0'5'0,"0"0"16"0,0 0-5 0,24 12 10 0,0-24-16 0,25-1-6 0,11-11-2 0,-13 13-1 0,-8-13 1 0,-15 12-1 0,-13-13 0 0,-11-12 1 0,-11 26-1 0,-13-13 0 0,-15 12 0 0,4 12 0 0,-13 24 1 0,-1 12 1 0,13 1 0 0,24 11 1 0,12-13 0 0,0 15-1 0,12-2 0 0,24-12 2 0,25-12-2 0,-12 1-1 0,23-13-1 0,-12 0-2 0,0-12-16 0,-23-12-29 0,-13 0-45 0</inkml:trace>
  <inkml:trace contextRef="#ctx0" brushRef="#br0">21324 16450 54 0,'0'-13'28'0,"0"2"-18"0,11 11 7 0,-11 0-8 0,13 24-3 0,-1 0-2 0,-12 0 1 0,0-12-1 0,0 0 1 0,0 1 2 0,0-13 4 0,-12 0-2 0,-1-13-4 0,-9 13-1 0,9-12 0 0,-11-12 0 0,24 24 1 0,0-12-1 0,0-1-1 0,12 13-2 0,13 0-1 0,-3 13-1 0,-22 23-29 0,13 0-88 0</inkml:trace>
  <inkml:trace contextRef="#ctx0" brushRef="#br0">22365 14031 29 0,'-13'0'12'0,"-11"12"-9"0,12 24 6 0,-24-13 2 0,-13 27-3 0,1 9-4 0,-13-9 0 0,13 22-1 0,-13-11-2 0,1-13-1 0,24 0 2 0,11-35-2 0,13-2-10 0,12-11-29 0</inkml:trace>
  <inkml:trace contextRef="#ctx0" brushRef="#br0">22546 14102 66 0,'0'0'0'0,"-50"0"11"0,-9 38-3 0,9 9 4 0,-9 1-2 0,-75 74 0 0,86-61-10 0,0-1 1 0,13 13-1 0,10-13-9 0,11-11-75 0</inkml:trace>
  <inkml:trace contextRef="#ctx0" brushRef="#br0">23513 16267 24 0,'-12'-35'33'0,"12"11"-11"0,0 12-2 0,0 12-4 0,-12-12-7 0,12 36-6 0,0 11 0 0,0 15 1 0,0 9-2 0,0 2 0 0,-12 0-1 0,12-13 0 0,-12 13-1 0,12-37 1 0,0-12-17 0,0-12-7 0,0-12-23 0,0 0-4 0</inkml:trace>
  <inkml:trace contextRef="#ctx0" brushRef="#br0">23755 16111 70 0,'0'0'0'0,"12"-24"21"0,12 24-9 0,-12-12-1 0,-12 24-4 0,0-12 1 0,0 36-4 0,-24 1-2 0,0 11-1 0,-13-13 0 0,-11 3-1 0,11-2 1 0,-10-1-1 0,-2 2 0 0,38-24 0 0,-2-13 0 0,1 11-1 0,24 26 2 0,1-26 0 0,23 14 0 0,0-1-1 0,12 1 0 0,-12-1 0 0,0 12-6 0,1-12-12 0,-1 0-20 0,-11-11-14 0</inkml:trace>
  <inkml:trace contextRef="#ctx0" brushRef="#br0">23974 16510 31 0,'0'-24'15'0,"-13"-1"10"0,1 1-4 0,-2 13-4 0,-8-2-5 0,-3 13-5 0,1 24-3 0,0 0-2 0,12 13-2 0,0-13 0 0,12 13 0 0,0-13 0 0,84-12 1 0,-49-36 0 0,-9-1 0 0,11-11-1 0,-26 12 1 0,13 12 0 0,-24-12 0 0,12 24 0 0,-12 11 2 0,0 14-3 0,12-1 0 0,1 12 0 0,11 1 0 0,-13-13 0 0,14-12-1 0,-13-1 1 0,0-11 0 0,0-11 0 0,0-13 0 0,0-12 1 0,1-1-1 0,-1-11 1 0,0-13-1 0,0-24 1 0,0 0 0 0,0 2 0 0,1 22 0 0,-13 13-1 0,0 23 3 0,0 13 4 0,0 24-1 0,0 25-1 0,-13 23-2 0,1 13-1 0,12-2-1 0,0 3-1 0,12 11 0 0,12-25 0 0,-24 0-3 0,13-23-5 0,-2-13-8 0,-11-12-8 0,0-1-22 0,0-11-21 0</inkml:trace>
  <inkml:trace contextRef="#ctx0" brushRef="#br0">24081 16341 66 0,'0'0'0'0,"13"-13"26"0,35 2-10 0,13-2 1 0,12 2-6 0,-13-1-5 0,11 12-3 0,27 0 1 0,-62 0-3 0,-12 0 1 0,1 23 3 0,-25 1 0 0,-12 13-2 0,-25-13-1 0,25 0 0 0,-25 0-2 0,13 13 1 0,0-25-1 0,12 12 0 0,12-12 0 0,-12 1 0 0,24-13 0 0,13 11 0 0,10-11 1 0,14-11-1 0,12-2 0 0,11-11-1 0,-11 12 2 0,37-24-1 0,-76 12 1 0,-22 11-1 0,0-11 1 0,-22 11 0 0,-17 13-1 0,4 0 1 0,-1 13 2 0,-2 24-2 0,27 11 0 0,11-24 0 0,37 0 1 0,11-11 2 0,12-13-2 0,1 0-1 0,-1 0-2 0,-11-13-22 0,-13 13-110 0</inkml:trace>
</inkml:ink>
</file>

<file path=ppt/ink/ink8.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2-07T09:38:15"/>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2963 17442 41 0,'0'0'0'0,"-12"0"3"0,12 11 2 0,-12 38 7 0,12-13 0 0,12 25-5 0,-12-25-5 0,0 1-2 0,12 11 0 0,-12 0 0 0,0 13 0 0,0-13 0 0,0-24-2 0,0-12 2 0</inkml:trace>
  <inkml:trace contextRef="#ctx0" brushRef="#br0">2915 17442 58 0,'0'0'0'0,"-12"-13"14"0,12 2-6 0,36 22 16 0,1 2-16 0,-1 22-4 0,13 14-2 0,36 48 0 0,-50-61-2 0,-11 1 0 0,13-1 0 0,-1 11 0 0,0-9 0 0,-11-15 0 0,-14 1 0 0,2-11 1 0,-1-13-1 0,-12 0 1 0,0-24 0 0,-25-121 2 0,1 60-2 0,12 13 0 0,0-50 1 0,0 74-1 0,12 11 0 0,0 26 0 0,0 11 0 0,0 0-1 0,0 0-32 0,12 24-51 0</inkml:trace>
  <inkml:trace contextRef="#ctx0" brushRef="#br0">3520 17405 34 0,'0'0'0'0,"0"-24"36"0,0-24-24 0,24 12 7 0,0 11-2 0,-24 1-4 0,12 11-6 0,-12 13-5 0,12 13 5 0,-12 22-2 0,0 15-3 0,0 9-1 0,0 15-2 0,0-2 1 0,0-11 1 0,0-14-1 0,0 51 0 0,0-50 0 0,0-11 0 0,12-13 0 0,0-13 1 0,1-11-1 0,-1 13 1 0,0-13-1 0,12-13 1 0,0 13-1 0,12 0 1 0,1 0-1 0,35-11 1 0,-35 11-2 0,-2 0 0 0,-22 0-1 0</inkml:trace>
  <inkml:trace contextRef="#ctx0" brushRef="#br0">4354 17392 86 0,'-12'-11'13'0,"12"-13"-11"0,0 0 1 0,0 24 7 0,0 11 0 0,24 74-5 0,-24-12-4 0,0-13 1 0,12 1-1 0,-12-25-1 0,0 13 0 0,0-13 1 0,-24 49-1 0,12-61 0 0,-12-13 0 0,-36 2 0 0,47-13 0 0,-12 0 0 0,25 0 1 0,0-13-1 0,0 13 0 0,38-11 0 0,22-2 0 0,-24 13-1 0,13 0-1 0,-37 0 1 0</inkml:trace>
  <inkml:trace contextRef="#ctx0" brushRef="#br0">4209 17381 85 0,'0'0'5'0,"36"-37"19"0,24 13-9 0,1 13-8 0,60-1-29 0,-84 12-66 0</inkml:trace>
  <inkml:trace contextRef="#ctx0" brushRef="#br0">5951 17973 26 0,'-13'0'31'0,"13"0"-13"0,0 0-1 0,0-11-7 0,0 11-1 0,0-13 0 0,13 2 2 0,11-26 1 0,12 13 0 0,-11-24-3 0,23-13-5 0,49-96-3 0,-97 121 0 0,0 12 0 0,-37 11-1 0,2 13-1 0,-2 0 1 0,1 24-1 0,11 13 1 0,13-1 0 0,12-12 0 0,25 1 0 0,23 35 0 0,-11-25 0 0,-2 3 0 0,15-15 0 0,-39-10 0 0,-11 11 0 0,-74-13 0 0,39-11 0 0,11 0 0 0,0 0-3 0</inkml:trace>
  <inkml:trace contextRef="#ctx0" brushRef="#br0">6496 17853 102 0,'0'0'3'0,"-13"0"5"0,13-13-3 0,0 13 4 0,0 0 12 0,35 48-9 0,-22 2-6 0,0-15-1 0,-13 14-3 0,0-13 1 0,0 1-1 0,0-1-2 0,0-24 0 0,0 0-4 0,-13-1-15 0,13-11-26 0</inkml:trace>
  <inkml:trace contextRef="#ctx0" brushRef="#br0">7318 17684 65 0,'0'0'39'0,"0"-12"-36"0,0 12 0 0,24-13 11 0,11 13-2 0,-10 0-3 0,120 0-1 0,-96 13-8 0,-13-13 0 0,-11 0-5 0,11 0-70 0</inkml:trace>
  <inkml:trace contextRef="#ctx0" brushRef="#br0">7245 17877 63 0,'0'0'4'0,"0"0"44"0,12 0-32 0,12 11-8 0,13-11-5 0,71-11 0 0,-59 11-3 0,-1 0-3 0,13-13-28 0,-25 13-29 0,-24 0 21 0</inkml:trace>
  <inkml:trace contextRef="#ctx0" brushRef="#br0">7547 17551 66 0,'0'0'0'0,"-12"-13"30"0,0-11-21 0,12 12-1 0,12 12 3 0,0 0-3 0,37 0-4 0,-1 12-3 0,1 12-1 0,0 13 1 0,-2-1 0 0,-9-12 3 0,-16 0-4 0,-22 1 0 0,13 11 1 0,-13-1-1 0,0-11 1 0,-35 14 0 0,-3-2-1 0,-9-12 1 0,-2 0 0 0,0 0-1 0,-11 0-2 0</inkml:trace>
  <inkml:trace contextRef="#ctx0" brushRef="#br0">8285 17998 89 0,'0'0'0'0,"0"0"8"0,12-12-7 0,0-1 4 0,25 2 9 0,-1-13-3 0,11-13-6 0,16 0-1 0,-4 2 0 0,14-39-2 0,24-9 1 0,-49-2-1 0,-36 49 0 0,-24-1 0 0,-12 25 0 0,-12 12-1 0,-13 0 0 0,1 12 0 0,-1 25-2 0,24-1 1 0,25 0-1 0,0-24 1 0,0 12 0 0,25 1-1 0,0 11 1 0,11-12 0 0,12 11 3 0,1 3 8 0,-37-26-3 0,-12-1-4 0,-12-11-3 0,-37 13 1 0,13-13-2 0,-23 0-7 0,20 0-19 0,-7 0-25 0,33 0-28 0</inkml:trace>
  <inkml:trace contextRef="#ctx0" brushRef="#br0">8938 17888 79 0,'0'0'5'0,"0"0"0"0,0-11 9 0,0-2 6 0,0 13-8 0,0-11-3 0,12-2 0 0,24 13-1 0,-11 0-2 0,11 0-3 0,-12 13-2 0,13 11-1 0,-25 0 1 0,0 13 1 0,-12-13-1 0,-12 12 0 0,0-12 0 0,-12 0 0 0,11-12 2 0,13 1 3 0,73-1-15 0,-14-12-35 0,-21 0-54 0</inkml:trace>
  <inkml:trace contextRef="#ctx0" brushRef="#br0">9942 17418 110 0,'0'-13'10'0,"13"-24"-6"0,11 13-1 0,24 13 3 0,-13 11 5 0,-10 0-2 0,0 0-5 0,-12 11-3 0,-2 26 1 0,-11 0 3 0,0 11-1 0,-35 12-3 0,9-11 0 0,2-13-1 0,13-1-1 0,-2 3 1 0,2-2-2 0,-2-1-1 0</inkml:trace>
  <inkml:trace contextRef="#ctx0" brushRef="#br0">10003 18010 61 0,'0'12'29'0,"0"-12"-1"0,0 12-7 0,0-12-4 0,0 12-11 0,13 0-8 0,-2 1-58 0,2-13-9 0</inkml:trace>
  <inkml:trace contextRef="#ctx0" brushRef="#br0">7221 10341 55 0,'-12'-11'3'0,"0"-2"10"0,12 2 1 0,0-2 1 0,0 13-4 0,0 0 8 0,24 13-9 0,0-13-2 0,12 0-2 0,13 11 0 0,-2-22 1 0,16-26-1 0,-4-11 1 0,14-13 0 0,12-23 1 0,22-13-4 0,-9 12-2 0,-26 25-1 0,-35 11 1 0,-13 13-8 0,-12 36-27 0,-12-13-89 0</inkml:trace>
  <inkml:trace contextRef="#ctx0" brushRef="#br0">9543 11322 115 0,'0'0'3'0,"12"35"15"0,-12-11-10 0,49 25 11 0,-13-49-7 0,12-36 2 0,24-25 0 0,26-24-4 0,35-11-5 0,-12-2-3 0,-1 15-11 0,51-51-170 0</inkml:trace>
  <inkml:trace contextRef="#ctx0" brushRef="#br0">7789 14914 30 0,'0'0'14'0,"-12"-13"5"0,-1 13 0 0,26 13 13 0,11-2-25 0,13 26-2 0,47 36 3 0,-11-25-6 0,0 1-1 0,10-1 1 0,27-12-1 0,143 49 1 0,-71-50-1 0,121 26 0 0,-158-37 0 0,24-11-1 0,1-2-1 0,-13 2 2 0,12-1-1 0,1-12 0 0,180-12 0 0,-180-1 3 0,-25-22 4 0,-12 11 2 0,-13-2 0 0,-35-9-1 0,12-2 0 0,-84 37-7 0,-13-11-2 0,-13 22-87 0,1 2 0 0</inkml:trace>
  <inkml:trace contextRef="#ctx0" brushRef="#br0">9616 15990 66 0,'0'-12'11'0,"0"-49"23"0,-12 25-22 0,-13 11-4 0,1 14-3 0,0 11-3 0,-12 0-1 0,-1 11-1 0,13 14 1 0,-12 24 0 0,36 23-1 0,12-48 0 0,49-11 3 0,-25-26 0 0,0 1-1 0,-11-24 0 0,-14 24 1 0,2-13 0 0,-13 14 2 0,0 11 0 0,0 0-4 0,12 36 0 0,24 217 4 0,-23-179-5 0,-13-15 1 0,0 2-1 0,-13-24 1 0,-59 11 1 0,11-48 2 0,12-12-2 0,13 0 1 0,12-25-2 0,-1 13 0 0,14-24-1 0,120-109-3 0,-37 109 1 0,13-1 2 0,12 1 0 0,157-74-2 0,-193 87 2 0,-39-2 1 0,-9 0-1 0,-26 13 2 0,-143 24 2 0,120 24-4 0,11 25 0 0,13 36 0 0,37-37 0 0,11-11 2 0,0-13-2 0,0-12 0 0,1 0 0 0,0-12 2 0,-2-24-1 0,-9 0 0 0,-15-1-1 0,13-11-1 0,0 0 1 0,-12 23 0 0,12-11 0 0,25 13-1 0,-13 22 1 0,-36 13 0 0,24 13 0 0,-24-13 0 0,13 13 2 0,-2-13-2 0,2-12 1 0,-13 0-1 0,0-12 2 0,12-12 4 0,12 0-6 0,-12-12 1 0,121-61 0 0,-109 85-1 0,0 0 0 0,13 24 0 0,-25 0 1 0,0 0 1 0,12 13-2 0,12-13 0 0,-36-12-13 0,13 0-47 0,-13 0-52 0</inkml:trace>
  <inkml:trace contextRef="#ctx0" brushRef="#br0">18131 14925 46 0,'0'0'0'0,"-49"-24"26"0,25 24-4 0,12-11-7 0,12 11-9 0,0 11-2 0,25 2 3 0,23 23-1 0,0 0-1 0,26 1-1 0,9-1 0 0,2-12-1 0,24 11-1 0,12 3 0 0,12-2-1 0,12-12-1 0,12 11 0 0,13-9 0 0,10-2 1 0,15-13 0 0,22 2-1 0,14-13 0 0,10 0 2 0,25-13 0 0,1 2 0 0,-26-2-1 0,-10 13 0 0,-14-23-1 0,-25 9 2 0,-34-21 2 0,-14-1 3 0,-22 0-1 0,-13-1 0 0,-12 1-2 0,-12 0-2 0,-13 11-1 0,-24 13-1 0,-23 12 1 0,-25 0-7 0,-12 12-79 0,-1 13 15 0</inkml:trace>
  <inkml:trace contextRef="#ctx0" brushRef="#br0">20152 15954 109 0,'0'-24'10'0,"59"-74"15"0,-59 63-17 0,12-2 1 0,-36 13-3 0,-1 11-3 0,-23 13-1 0,-11 24 0 0,-2 26 0 0,12-2-1 0,25 0-1 0,12 0 0 0,24-11 0 0,24-37 2 0,1 0 1 0,59-61 3 0,-72 25-3 0,2-13 3 0,-26 14-1 0,11 23-1 0,-11 0-2 0,0 24-2 0,11 35 1 0,2 2 0 0,-1 24-1 0,36 96-1 0,-23-11 1 0,-25-87 0 0,-13-21-1 0,-11-15 2 0,-37-11 2 0,13-24-1 0,11-24 0 0,-10-11 1 0,23-2-3 0,-1-61 2 0,38 39-2 0,23 11 0 0,24-13-2 0,85-36 1 0,-60 61 0 0,-12 11 2 0,-2-10-2 0,-8-2 1 0,20-24 0 0,-71 26 1 0,0-2-1 0,-24 1 0 0,-12 24 1 0,-47 0 0 0,33 36-1 0,13 12 0 0,14 1 0 0,47 96-1 0,-11-109 1 0,59 0 1 0,-48-37 0 0,13 2-1 0,-13-26 0 0,1 0 0 0,-1 13 1 0,-12-11-1 0,11 11-1 0,-22 11 1 0,12 0 0 0,-13 13-1 0,1 13 2 0,-2 12-2 0,-11-2 1 0,48 50 0 0,-48-61 0 0,12-12 1 0,0 0-1 0,1 0 1 0,-2-24 0 0,14 11-1 0,-13 2 0 0,12-2 0 0,-12 2 0 0,0 11-1 0,0 0 1 0,37 48 1 0,-25-36-2 0,23 0 2 0,3 1-1 0,22-38-1 0,1 13-10 0,-13-25-48 0,-48 13-64 0</inkml:trace>
  <inkml:trace contextRef="#ctx0" brushRef="#br0">14018 16643 43 0,'-24'0'16'0,"-1"13"-2"0,25-1-2 0,0-12 4 0,13 0-1 0,108-38 5 0,-85 15-17 0,1-1 0 0,-1-13 0 0,1 13 0 0,-37-12 0 0,11 0 0 0,-22 12 1 0,-2 11 1 0,-11 2-1 0,-49 35 1 0,49 0-4 0,0 24-1 0,12 61-1 0,24-48 1 0,12-13 0 0,12-25 0 0,1 1 0 0,-1-11 1 0,0-13 1 0,13-24 0 0,-13 11-1 0,-12-22 1 0,0 11-1 0,2-13 0 0,-4 1 0 0,-9 24 0 0,11-12-1 0,-24 12 1 0,12 12-1 0,0 0 0 0,0 24 0 0,12 12-1 0,-11-12 1 0,-1 13 0 0,12 22 0 0,-12-46 0 0,0-13 0 0,0 0 2 0,1 0 0 0,9-24-1 0,-8 0 1 0,11-12-2 0,-1 11 1 0,-2 1-1 0,3 0 1 0,-13 12-1 0,12 12-1 0,-11 0 1 0,-2 24 0 0,2-1 0 0,-13 3-1 0,12 10 1 0,12 0-4 0,-12-1-12 0,61 39-124 0</inkml:trace>
  <inkml:trace contextRef="#ctx0" brushRef="#br0">15240 16619 48 0,'-12'-24'28'0,"12"-12"-6"0,-13 23-5 0,2 2-4 0,-13 11-4 0,-13 0-2 0,13 24 0 0,-11 24-1 0,10-12-1 0,25 13-1 0,0-2-2 0,12-10 0 0,23 0 0 0,14-26 0 0,60-11 2 0,-48-11-8 0,0-1-34 0,-13 0-84 0</inkml:trace>
  <inkml:trace contextRef="#ctx0" brushRef="#br0">1464 10534 65 0,'0'0'8'0,"12"0"-3"0,0 13 6 0,13 0 5 0,-14 11-1 0,13-12-4 0,12 0-2 0,-11-12-1 0,11 0 0 0,0-12-4 0,-12 0-1 0,-11-12-1 0,-1-2-1 0,-24 3 0 0,-1 11 0 0,-23-12-1 0,12 24 0 0,-12 0 0 0,-1 12-1 0,13 24-1 0,11 1 2 0,2 23 2 0,11-13-1 0,11 3-1 0,13-2 1 0,15-12 1 0,-4-24 1 0,1 1 1 0,0-13-1 0,1-13 0 0,-13-11-1 0,0-13-1 0,12 2 0 0,-25-2 0 0,27 0 0 0,-26 14 1 0,12-1-1 0,0 24-1 0,-12 0 1 0,13 0 0 0,-12 24-1 0,-2-1 0 0,0 1 0 0,2 14 1 0,-1-15-1 0,12-10 0 0,-12 11 2 0,0-24 1 0,0 11-2 0,-12-22 1 0,13-2-2 0,-1-11 1 0,0 13-1 0,12-26 1 0,-24 24-2 0,24-11 1 0,-12 1 0 0,1 23-1 0,11 0 1 0,-12 0 0 0,0 12-1 0,-12 12 1 0,12-13 0 0,13 27-3 0,-14-15-9 0,0 1-14 0,39 13-21 0,-2-13-36 0,-36-24 56 0</inkml:trace>
  <inkml:trace contextRef="#ctx0" brushRef="#br0">2721 10534 70 0,'0'0'0'0,"0"-23"34"0,-12 11-14 0,-1-12-4 0,2 24-7 0,-25 0-1 0,0 12-2 0,-1 35-1 0,13 3-2 0,12-2 0 0,0 13 0 0,24-13-1 0,12 0 0 0,25-24 0 0,12-11-3 0,11 11-36 0,-24-24-80 0</inkml:trace>
  <inkml:trace contextRef="#ctx0" brushRef="#br0">2455 15700 52 0,'-12'0'22'0,"0"0"-8"0,0 23 15 0,36-10-23 0,0-2-2 0,1 2 0 0,-1 0 0 0,49-26 6 0,-37-11-6 0,-12 11 1 0,1-22-2 0,-3 11-1 0,-9-13 0 0,-13 1 0 0,0 12 0 0,-24 0 1 0,13 11-2 0,-14 13-1 0,13 25 0 0,-12-1 0 0,0 11 0 0,11 15-1 0,26 107 0 0,11-133 1 0,12-13 1 0,-11 2 0 0,107-61 3 0,-96 12-2 0,1-2-2 0,-1 3 1 0,-12-1 0 0,13 12 0 0,-13-14-1 0,0 38 0 0,0 13-1 0,-11 12 1 0,-13 11 0 0,0-1 0 0,11 27 0 0,0-26 0 0,2-25 1 0,-1-11 0 0,-12 13 3 0,14-26 0 0,-3 2-3 0,13-13 1 0,-13 0-1 0,14-13 0 0,-1-23-1 0,12 36 1 0,-11 12-1 0,11-1 1 0,-24 13-2 0,12 0 1 0,-11 13 0 0,-13 11-1 0,12 0 1 0,0 11 0 0,0-11-2 0,0 14-11 0,12-2-16 0,0-1-18 0,13-35-32 0</inkml:trace>
  <inkml:trace contextRef="#ctx0" brushRef="#br0">3833 15664 34 0,'0'0'0'0,"0"-37"27"0,-11 13-5 0,-13 12-3 0,-12 0-7 0,0 12-4 0,-25 48 5 0,37-11-5 0,12-1-1 0,-1 11 0 0,1-9-1 0,24-2 0 0,13-12 1 0,11-13 0 0,0 2-3 0,25-13-2 0,11 0-2 0,-11-13-36 0,-25 26-78 0</inkml:trace>
  <inkml:trace contextRef="#ctx0" brushRef="#br0">25956 14043 43 0,'0'0'9'0,"0"0"5"0,12-12-3 0,25 12 0 0,-1-12-3 0,24 0-3 0,25-13-2 0,36 1-1 0,12-12 2 0,37-12 1 0,47-26 1 0,122-11 0 0,-146 26-5 0,243-62-1 0,-85 12 1 0,24-13 0 0,12-22-1 0,12-13 1 0,0-1-3 0,-12 1 0 0,-24 0 1 0,-133 60-2 0,-13 12 0 0,25-24-2 0,-47 37-3 0,-99 36-6 0,-12 12-7 0,-11 0-17 0,-61 24 11 0</inkml:trace>
  <inkml:trace contextRef="#ctx0" brushRef="#br0">25956 12179 59 0,'0'0'0'0,"-12"0"3"0,73 74 14 0,23-15-6 0,62 2-1 0,59 12 1 0,49 24-3 0,61 12-4 0,35 12-3 0,62 24-2 0,11 12 2 0,-1-13 0 0,4 2-1 0,-4-13 0 0,-35-11-2 0,-48-1 3 0,-37-25-3 0,-119-24 0 0,-27-11-9 0,12-12-12 0,-10-1-11 0,-73-48-12 0</inkml:trace>
  <inkml:trace contextRef="#ctx0" brushRef="#br0">31279 12277 59 0,'0'0'1'0,"-37"48"10"0,-36 37 4 0,-72 36-2 0,-556 314 7 0,338-230-16 0,0 2-1 0,25-3-10 0,-327 172-96 0</inkml:trace>
  <inkml:trace contextRef="#ctx0" brushRef="#br0">25473 10112 74 0,'0'0'0'0,"-14"0"23"0,14-12-6 0,14 12 0 0,22-36-2 0,24-13-5 0,37-23-3 0,12-1-4 0,-12 13-2 0,-13 10-4 0,-24 26-14 0,-35 13-28 0</inkml:trace>
  <inkml:trace contextRef="#ctx0" brushRef="#br0">25242 10728 63 0,'0'0'5'0,"-11"-11"12"0,11 11 1 0,0 0-3 0,0 0-15 0,0 24 0 0,-11 0 0 0,11 0 0 0,0 13 0 0,0-26 0 0,0 26 1 0,0-50 3 0,0 2-2 0,0-13-1 0,0-13 2 0,-14 13 1 0,14-13 1 0,0-11-1 0,0 0-1 0,0 0-1 0,14 11-1 0,-3 13-1 0,13-12 2 0,-12 24-2 0,0 0 0 0,0-1 0 0,61 13-87 0,-73 13 30 0</inkml:trace>
  <inkml:trace contextRef="#ctx0" brushRef="#br0">25194 10837 42 0,'0'0'0'0,"-12"-11"16"0,12-2 2 0,12-11-9 0,61-37 1 0,-49 50-10 0,-12-1-3 0,12 12-70 0</inkml:trace>
  <inkml:trace contextRef="#ctx0" brushRef="#br0">25581 10717 25 0,'0'0'9'0,"0"11"-4"0,0 2 1 0,0 11 0 0,0 12-3 0,0-11-1 0,13 10-1 0,-13 2-1 0,0-1 0 0,13-24 1 0,-2 1 2 0,-11-1 6 0,0-12 4 0,11-12-6 0,2-1-4 0,-13-23-1 0,12 0 0 0,-12-1 0 0,-12-11-1 0,12 0 3 0,-13 0 2 0,13-25 0 0,-11 13-2 0,11 11 0 0,0 1 1 0,24 24-3 0,-12 11-2 0,12 1 0 0,-12 12-5 0,25 0-18 0,-1 0-62 0</inkml:trace>
  <inkml:trace contextRef="#ctx0" brushRef="#br0">25581 10741 81 0,'0'0'12'0,"0"0"-1"0,37 0 5 0,23-24-9 0,49 12-25 0,-61 0-63 0</inkml:trace>
  <inkml:trace contextRef="#ctx0" brushRef="#br0">24698 16413 39 0,'0'0'0'0,"-24"0"34"0,24-11-15 0,-24-26 26 0,24 24-37 0,0 26-1 0,24 48-5 0,13 229-3 0,-25-169 0 0,-12-49 1 0,-25 195-4 0,25-184 4 0,-13-9-1 0,13-26 0 0,-11-11-1 0,0-13-15 0,11-24 0 0,-13-13-11 0,13-11-20 0,0 11 20 0</inkml:trace>
  <inkml:trace contextRef="#ctx0" brushRef="#br0">24432 16716 30 0,'-12'12'11'0,"-1"-12"5"0,13 0 13 0,13-24-16 0,11-12-2 0,13-2-2 0,11-21 0 0,13-2 2 0,-13 1-2 0,-1 12 0 0,3 22-2 0,-2 26-2 0,13 26-3 0,-13 33-2 0,0 15-4 0,-11-2-21 0,-1 13-87 0</inkml:trace>
  <inkml:trace contextRef="#ctx0" brushRef="#br0">26755 19461 255 0</inkml:trace>
  <inkml:trace contextRef="#ctx0" brushRef="#br0">24251 17755 34 0,'0'0'0'0,"0"0"20"0,-12-23 8 0,0 23-24 0,-12 0 2 0,-61 12 15 0,48 12-16 0,1 0-2 0,11 13 1 0,14-2-3 0,0 2-1 0,11 11 0 0,0-11-2 0,22-1-9 0,3-12-23 0,11-12-27 0</inkml:trace>
  <inkml:trace contextRef="#ctx0" brushRef="#br0">24492 17635 35 0,'0'0'25'0,"0"0"-13"0,0 0 0 0,-11 11 1 0,11 2-5 0,0 0-8 0,0 11 0 0,-13 12 0 0,13 0 0 0,-11 13 0 0,11-2 0 0,-13 51 0 0,1-50 0 0,12-12 0 0,0-11 0 0,12-13 0 0,-12 12 0 0,13-24 1 0,22 12-2 0,-10-12 1 0,-1 0-1 0,0 0 0 0</inkml:trace>
  <inkml:trace contextRef="#ctx0" brushRef="#br0">25206 17805 46 0,'0'0'4'0,"-12"0"4"0,0 0-2 0,-13 0-3 0,3-13-2 0,-15 13-1 0,11 0 0 0,-9 0 0 0,11 13 0 0,0-1 1 0,0 11 0 0,-1 1-1 0,13-11 0 0,0 11 0 0,12 0-1 0,12 0-1 0,12 37-9 0,13-37 5 0,-13 13 2 0,0-13 2 0,25 12 4 0,-37-12 0 0,-12-13-2 0,-26 15-46 0</inkml:trace>
  <inkml:trace contextRef="#ctx0" brushRef="#br0">24057 18119 59 0,'0'0'11'0,"0"-12"19"0,-12 12-1 0,12 0-11 0,0-12-4 0,12 0-6 0,12 0-6 0,0-1-10 0,49-11-148 0</inkml:trace>
</inkml:ink>
</file>

<file path=ppt/ink/ink9.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2-07T09:38:15"/>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25607 6822 34 0,'0'-12'13'0,"0"-12"3"0,0 0 4 0,0-13 0 0,11 0-4 0,0 2-6 0,2-2-3 0,35-23 4 0,-11 60-5 0,-13-12 0 0,49 24-1 0,-37 24-5 0,-12 13 1 0,1-2-1 0,-3 2 1 0,-22 11-1 0,0 13 0 0,-11-12 1 0,-13-2-1 0,-182 39 36 0,145-98-23 0,-46-60 5 0,70 11-15 0,11-11-1 0,15-1-8 0,11 13-27 0,37 24-127 0</inkml:trace>
  <inkml:trace contextRef="#ctx0" brushRef="#br0">27807 6242 1 0,'0'0'2'0,"0"0"23"0,0 0-17 0,-12-13 8 0,12 13-9 0,0 0 4 0,0 0-8 0,0 0-2 0,0 0-1 0,-12 13 1 0,12-13-1 0,0 0 1 0,0 0 7 0,0 0 0 0,0 0-2 0,-12 0-2 0,12 0-2 0,-12 0-1 0,-1 0 2 0,13 0 2 0,0 0-2 0,0 0 19 0,-24 0-14 0,24 0-6 0,-12 11-1 0,0-11 0 0,-12 13 0 0,12-13 0 0,0 11 0 0,0-11 0 0,-13 13 1 0,13-13 0 0,-12 0 1 0,12 0 0 0,0 11-1 0,-12-11 1 0,13 0-3 0,11 13 1 0,0-13-1 0,0 0 0 0,0 0 1 0,-13 0 1 0,26 0 1 0,-13 0-3 0,0 0 1 0,0 0-1 0,0 0 1 0,0 0 0 0,11 0-1 0,-11-13 0 0,0 13 0 0,11 0 1 0,2-11-2 0,-1 11 2 0,-12 0-1 0,0-13 0 0,12 13 0 0,-12 0 0 0,12 0 0 0,-12 0 1 0,0 0-1 0,12 0-1 0,-12 0 2 0,12 0-2 0,-12 0 2 0,0 0 1 0,0 0 5 0,-12 0-6 0,12 0-1 0,-12 0 1 0,12 0-2 0,-12 0 2 0,0 13-1 0,0-13 0 0,-1 0 0 0,13 11 0 0,-11-11 0 0,0 0 0 0,-2 0 0 0,13 13 0 0,-13-13 0 0,13 0 1 0,-12 0-1 0,12 0 0 0,0 0 1 0,0 0-1 0,0 0 0 0,-12 0 0 0,12 0 1 0,-13 0-1 0,13 0 0 0,-11 0 0 0,11 0 0 0,0 12 0 0,-11-12 0 0,11 0 1 0,-13 0-1 0,1 0 0 0,-12 12 0 0,-12-12 1 0,23 12-1 0,1-12 0 0,-12 0 1 0,12 0-2 0,0 12 1 0,-12-12 0 0,11 13 0 0,-11-13 1 0,12 11-1 0,-12 2 0 0,-1-13 0 0,3 12 0 0,-4-12 0 0,-11 12 1 0,15-12-2 0,-15 12 2 0,0-12-1 0,13 12 0 0,0 0 0 0,0-12 0 0,0 11 0 0,-1-11 1 0,-11 0-1 0,24 13-1 0,-1-13 2 0,2 0-1 0,-2 0 0 0,2 13-1 0,11-13 2 0,-11 0-1 0,11 0 2 0,11 0 4 0,-22 0-6 0,11 0 2 0,0 0-1 0,0 0 0 0,0 0 5 0,0 0-7 0,0 0 2 0,0 0-1 0,0 0 0 0,-14 0 0 0,14-13 0 0,0 13 0 0,0 0 1 0,0 0-1 0,-12 0-1 0,12 0 1 0,0 0 0 0,0 0 1 0,0 0-1 0,0 0 0 0,-13 0 0 0,26 0 1 0,-13 0-2 0,-13 0-15 0,-9 25-48 0,9-13-49 0</inkml:trace>
  <inkml:trace contextRef="#ctx0" brushRef="#br0">24081 5200 1 0,'0'-11'5'0,"0"11"2"0,0 0-3 0,0 0 1 0,0 0 9 0,0 0-13 0,-24 0 3 0,24 0 1 0,0 0 2 0,-12-13-1 0,12 13 2 0,0 0 6 0,0 0 17 0,0 0-28 0,0 0-1 0,0-11 0 0,0 11-1 0,0 0 0 0,0 0-1 0,0 0 2 0,0-24 2 0,0 24-2 0,0-13 0 0,0-10 0 0,0 9-1 0,0 3-1 0,0-2 1 0,0 2 0 0,0-2-1 0,12 2 1 0,1-25-1 0,11 12 1 0,0-13-1 0,12-11 1 0,13 11-1 0,-1 1 0 0,1 0 1 0,-1 12-1 0,-13 11 1 0,14 2-1 0,-13 11 0 0,13-13 0 0,-1 26 0 0,13-2 0 0,-2 13 0 0,15 13-1 0,0-1 1 0,-3 13 0 0,-10-1-1 0,-1 13 1 0,-13-1 0 0,3 12 0 0,-26-11 1 0,0 11-1 0,0 1 0 0,2 24 1 0,-15 0 1 0,0 0-1 0,2 11-1 0,-13 13 0 0,0-12-1 0,-24 11 1 0,13 13 0 0,-3 1-1 0,2 12 1 0,0-1 0 0,12-13-1 0,12 14 1 0,0-1 0 0,13-1-1 0,11 2 1 0,-12 12 0 0,12-13 0 0,1 11 0 0,11-10 0 0,-1 10 0 0,3-10 0 0,22-13 0 0,-11 13 0 0,24-13 0 0,-1-1-1 0,14 2 1 0,-2-13 0 0,13 0 0 0,-1-12 0 0,13-1 0 0,0 1-1 0,0-12 0 0,12 0 0 0,0-1 1 0,1 1 0 0,12-12 0 0,-2-12-1 0,25-13 0 0,-12-1-1 0,1 2 1 0,23-24 1 0,1 11-2 0,10-11 0 0,-10-13 1 0,12 0 1 0,-1-12 0 0,1 13-1 0,12-25 2 0,-25 0-1 0,25-25-1 0,-1 13 0 0,-11-25 1 0,11 2 0 0,-11-2 0 0,-50 0 0 0,-10 2 0 0,23-15 0 0,13-9 0 0,-1-15 0 0,-49 15 0 0,-35-2 0 0,0-12 0 0,0-12 0 0,0-11-1 0,-1-24 1 0,1-1 0 0,-12-1 0 0,-25 2 1 0,-11-1-1 0,-15 12 1 0,4 24 0 0,-14 0 0 0,0 24-1 0,1 14-1 0</inkml:trace>
  <inkml:trace contextRef="#ctx0" brushRef="#br0">22582 5226 17 0,'0'0'16'0,"-36"-13"-2"0,23 13 0 0,1 0-3 0,0-13-6 0,-1 2-1 0,2-2-1 0,-13 2 0 0,13-2 1 0,-2 2 2 0,13-25 0 0,-12 11 0 0,12 1-1 0,12-24-1 0,1-2 0 0,22 3-1 0,1-14-2 0,0-11 1 0,13 11-1 0,12 13 0 0,-13 0 0 0,11 11-1 0,15 13 1 0,-14 0-1 0,1 0 1 0,11 12-1 0,1 0 0 0,24 12 0 0,12 0-1 0,24 0 1 0,0 12 0 0,-1 24 0 0,-10-1 0 0,-13 26 0 0,-13-13-1 0,1 26 1 0,-12-2-1 0,-1 13 1 0,1 12 1 0,0 0-2 0,12-2 2 0,10 15-2 0,-9-1 1 0,-1 12 2 0,12-13-2 0,-37 25 0 0,2-11 0 0,-3-1 0 0,-22 12-1 0,11 0 1 0,-11 12 0 0,-1 12 0 0,-1-12 0 0,3 13 0 0,10-1-1 0,-11 12 0 0,11 1 0 0,1-1-2 0,-13-1 2 0,13 2 0 0,0-12 1 0,-14 23 0 0,26-24 0 0,-1 1 1 0,1-14-2 0,25 14 0 0,-2-13 1 0,12 0 0 0,14-12-1 0,-2 0 0 0,13-12 0 0,13-12 1 0,10-13 0 0,14-11-1 0,-1 0 0 0,1-12 0 0,23 0 1 0,1-25-1 0,-1-1-1 0,1-9 2 0,-14-15 1 0,15-10-2 0,-3-2 1 0,-9-11 0 0,-3 0 0 0,3-24-1 0,10 13 1 0,-12-39-1 0,-11 3 1 0,47-38 0 0,-59 0 0 0,-36 0 0 0,276-326 1 0,-313 291-1 0,-13-2 1 0,25-59 0 0,-60 121 0 0,-26 36-2 0,-11 11 1 0</inkml:trace>
  <inkml:trace contextRef="#ctx0" brushRef="#br0">20731 5285 35 0,'-12'-11'22'0,"-24"-37"-5"0,24 11-7 0,12-11-1 0,36-13-1 0,0-11-2 0,13-13-3 0,35 0 0 0,1 1-2 0,12 10 0 0,12 15 1 0,0-2-2 0,-1 25 0 0,1 24 0 0,0 0 0 0,0 12-1 0,0 24 1 0,24 12-1 0,-1 13 0 0,14 11 1 0,23 25-1 0,-12-1-1 0,13 1 1 0,-13 24 0 0,13 0 1 0,-13 11-1 0,0 14-1 0,-24 11 2 0,36 72 1 0,-48-47-2 0,1-1 1 0,-2 25-2 0,-11-1 2 0,12 25-1 0,-1-24 0 0,-11-1 1 0,13 1 0 0,-1-1-1 0,-1 1 1 0,14-13 0 0,-1 25 1 0,0-14 0 0,12 3-1 0,-1-14 0 0,14 13-1 0,0-1 1 0,-2-12 0 0,14-11 0 0,1-1-2 0,9-23 0 0,1-2 0 0,13-22 2 0,-1-27 0 0,1 3 0 0,12-26-2 0,-1-11 2 0,12-13-1 0,14 0 0 0,-14-23 0 0,2-13 1 0,-2-12 0 0,1-12 0 0,-1-37 2 0,-12-12 1 0,14-11-1 0,-14-13 1 0,-35-23-3 0,-1-1 0 0,-12-37 0 0,-23 13 0 0,-49 50 1 0,-26-2-1 0,14 0 0 0,-13 1 0 0,-23 23-2 0</inkml:trace>
  <inkml:trace contextRef="#ctx0" brushRef="#br0">19449 5467 64 0,'-36'-36'4'0,"-13"-25"1"0,37 1 0 0,-12-159 0 0,24 124-5 0,11-2 0 0,2-12 0 0,13-1 0 0,20 1 1 0,3 14 0 0,12 10-1 0,24 0 0 0,11 24 0 0,25 13 0 0,12 11 0 0,11 26 0 0,15 11 0 0,10 24 0 0,12 24 0 0,1 0-1 0,-1 26-1 0,13 10 0 0,-1 13-1 0,-11 11 0 0,-1 1 0 0,-12 13 3 0,1 11-1 0,-1-1 1 0,-12 14 0 0,-11 11 0 0,-13-1 1 0,0 27 0 0,-12-2-1 0,0 1 0 0,-14 23 0 0,15 13 0 0,-13-1-1 0,12 0 1 0,-1 1 0 0,2 1 0 0,11 11 0 0,-1-25-1 0,-10 13 1 0,-1 0 0 0,-1-14 0 0,2 3 1 0,11 11-1 0,-1-1 1 0,2 1-1 0,12 0-2 0,10-1 2 0,2-11 1 0,22-24-1 0,-10-13-1 0,12-12 2 0,-1-25 2 0,14-10 0 0,9-13-2 0,3-24 0 0,71 24 1 0,-61-61-1 0,1-12-2 0,-1-36 0 0,1-13 1 0,-12-22 0 0,-1-26-1 0,-35-23 0 0,-1-25 2 0,-12-24 0 0,-36-24 0 0,-23-1 4 0,-39-12 6 0,-22 14 0 0,-26 10-1 0,13-11-4 0,-35 24-3 0,22 24-1 0,-11 12-1 0,13 25-5 0,-1 11-26 0,12 37-52 0</inkml:trace>
  <inkml:trace contextRef="#ctx0" brushRef="#br0">27735 6266 8 0,'0'0'5'0,"0"-13"4"0,0 2 0 0,0-2 0 0,0 13 0 0,11-13-2 0,-11 13 0 0,0 0 41 0,0 0-41 0,0 0 2 0,0-11-4 0,0-2 4 0,-11 13-5 0,-2 0-3 0,-11 0 0 0,24 0-1 0,0 13 1 0,0-13 3 0,-12 0-2 0,0 0-1 0,12 0 2 0,-12 0-2 0,0 0 1 0,0 0 0 0,12 0-1 0,-13 0-1 0,1 0 1 0,-12 0-1 0,12 0 1 0,-12 11-1 0,0-11 0 0,-13 13 0 0,0 0 2 0,15-13-2 0,-27 11 0 0,0 13 2 0,1-11-3 0,-13-2 2 0,13 2 0 0,-25 11 1 0,1 0-1 0,0 0-1 0,-13 1 0 0,-1 11 1 0,1-13-1 0,2 3 2 0,-14-2-2 0,-36 12 1 0,37-13-1 0,-14 14 1 0,1 0-1 0,13-13 0 0,-13 11 1 0,-12 2 0 0,24-13 0 0,0 13-1 0,-1-13 0 0,-9 12 0 0,22 1 0 0,-12-13-1 0,13 12 1 0,-1-13-2 0,-12 15 2 0,12-2 0 0,14-12 1 0,-14 0-1 0,0 13 1 0,12-2-2 0,0-11 2 0,2 13-2 0,10-13 1 0,0-11 0 0,12-2 0 0,1 2 1 0,0-2-1 0,11 2 0 0,13-1 0 0,11 0 0 0,2-12-5 0,22 0-10 0,14-12-12 0,35 0-35 0,-23-1 23 0</inkml:trace>
  <inkml:trace contextRef="#ctx0" brushRef="#br0">27650 6277 18 0,'0'0'0'0,"-12"-24"15"0,-1 13 2 0,13-2 2 0,0 0 10 0,0 2-21 0,0 11-3 0,-12 0-3 0,0 0-1 0,-12 0-1 0,-13 11 1 0,2 2 1 0,-2-13 1 0,-35 13-2 0,-1-2 1 0,-24 2 1 0,-11 11-2 0,-159 0 6 0,121 0-3 0,-10-12-1 0,-1 13 1 0,-13-1-1 0,13-12-1 0,-12 12-1 0,12-12 1 0,-60 0-1 0,47-1 0 0,-388 51-3 0,366-50 3 0,-3 23 0 0,3-22-1 0,-3 24 1 0,3-2 1 0,-14-11-1 0,12 25-1 0,-10-13 0 0,-3 1 1 0,14 11-1 0,-1-11 0 0,-193 58 1 0,194-45-1 0,11-15-1 0,1 13 2 0,-256 61 1 0,342-96-2 0,34 0 0 0,49-2-10 0,12-11-15 0,61 0-21 0,-1-11-8 0</inkml:trace>
  <inkml:trace contextRef="#ctx0" brushRef="#br0">27686 6181 22 0,'-48'0'3'0,"-98"0"7"0,-23 0 1 0,-12 0 1 0,-13-13-3 0,-10 13-2 0,-27 0-2 0,-10 13-2 0,-15-2-2 0,-9 13 0 0,-38 2 0 0,-10 9-2 0,-39 2 1 0,-24 11 0 0,-433 73 1 0,398-60-1 0,-13 11 0 0,-422 49 7 0,446-61-2 0,1 1-3 0,37 0 1 0,-534 84 19 0,667-110-19 0,-122 26 0 0,230-37-2 0,48-11-1 0,49-2-5 0,24-11-23 0,48 0-52 0</inkml:trace>
  <inkml:trace contextRef="#ctx0" brushRef="#br0">27916 6242 41 0,'0'0'0'0,"0"-13"9"0,0 13-5 0,-11 0 3 0,11 0-4 0,-38 13-1 0,-46-2 1 0,36 2-1 0,-1-2 0 0,-12 2 2 0,-72-13 9 0,61-13-5 0,-25-22-1 0,25 22-3 0,-13-11-2 0,0-13 0 0,-11 2 0 0,11-26 1 0,-12 13 0 0,12-13 0 0,-35-96 2 0,71 72-3 0,-24-120 0 0,49 96-2 0,12-13 1 0,12-120-1 0,0 110-1 0,0 11 1 0,-12 11 0 0,0 14 1 0,-23 0-1 0,-3 11 0 0,-22 25 0 0,-97-49 0 0,60 85 1 0,-12 11-1 0,-157 26 1 0,134 11 0 0,-26 24 0 0,0-12-1 0,2 13 0 0,-2 11 1 0,-11 1-1 0,11-2 1 0,25 15-1 0,37-2 1 0,11 0 0 0,24 1-1 0,25-12 0 0,24 12-9 0,36-13-34 0,25-12-38 0</inkml:trace>
  <inkml:trace contextRef="#ctx0" brushRef="#br0">27408 5988 64 0,'-49'-25'16'0,"-11"1"-8"0,12 12-4 0,-1-12-1 0,0 0-2 0,-168-37 2 0,120 13-2 0,2-1 0 0,-27 0 3 0,13 2 2 0,-23-15 1 0,23-9 0 0,-13-2-2 0,-119-229 3 0,204 181-8 0,25-25 0 0,0 1 0 0,24 0 1 0,24-121-1 0,-23 156 0 0,-13 1 0 0,-37-132 0 0,0 181 0 0,-23 11-1 0,-13 13 0 0,-11 24 1 0,-37-1 0 0,-24 13 0 0,-170 37-1 0,122 24 2 0,-1-1 0 0,-229 122 0 0,205-85 0 0,-24 12 0 0,1-13-1 0,-14-11 1 0,1 12 0 0,24-25-1 0,-387 122 5 0,460-146-5 0,36-12 0 0,-24 13 1 0,120-37-1 0,25-12-5 0,13 12-15 0,48 0-31 0,-1-12-14 0</inkml:trace>
  <inkml:trace contextRef="#ctx0" brushRef="#br0">26912 5927 38 0,'-24'-36'15'0,"-25"-13"-12"0,0-12 0 0,-23-24 1 0,0-24 0 0,-25 2 3 0,0-27-1 0,-12-12 1 0,1 13-3 0,-13-35-3 0,1 10 0 0,-14-23 0 0,1 0 0 0,0 12 0 0,12-1-1 0,0 13 2 0,11 23 0 0,14 14 0 0,-195-110-1 0,195 182-1 0,-25 24-1 0,-12 11 0 0,-24 13 1 0,-73 49 0 0,36 10 1 0,-23 3-1 0,-13 9 1 0,-12 14 1 0,-12 0-1 0,-24 24-2 0,-14-12 1 0,3 23 0 0,-13 2 0 0,-13-1 1 0,1-12-1 0,11 12 0 0,1-13 3 0,0 1 2 0,36-24 2 0,24-12 1 0,36-14-2 0,25-9-2 0,36-15-3 0,36-11-3 0,48 0-42 0,24-10-36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12B7DF-21A3-4D49-8582-4EF3E0377338}" type="datetimeFigureOut">
              <a:rPr lang="en-US" smtClean="0"/>
              <a:t>2/10/2026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D16F8B-C1BF-4A55-91D4-7BC4F121A8BD}" type="slidenum">
              <a:rPr lang="en-US" smtClean="0"/>
              <a:t>‹#›</a:t>
            </a:fld>
            <a:endParaRPr 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9.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2.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5.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6.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2.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Slide Number Placeholder 3"/>
          <p:cNvSpPr>
            <a:spLocks noGrp="1"/>
          </p:cNvSpPr>
          <p:nvPr>
            <p:ph type="sldNum" sz="quarter" idx="5"/>
          </p:nvPr>
        </p:nvSpPr>
        <p:spPr/>
        <p:txBody>
          <a:bodyPr/>
          <a:lstStyle/>
          <a:p>
            <a:fld id="{F9D16F8B-C1BF-4A55-91D4-7BC4F121A8BD}" type="slidenum">
              <a:rPr lang="en-US" smtClean="0"/>
              <a:t>7</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F9D16F8B-C1BF-4A55-91D4-7BC4F121A8BD}" type="slidenum">
              <a:rPr lang="en-US" smtClean="0"/>
              <a:t>49</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F9D16F8B-C1BF-4A55-91D4-7BC4F121A8BD}" type="slidenum">
              <a:rPr lang="en-US" smtClean="0"/>
              <a:t>52</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F9D16F8B-C1BF-4A55-91D4-7BC4F121A8BD}" type="slidenum">
              <a:rPr lang="en-US" smtClean="0"/>
              <a:t>55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F9D16F8B-C1BF-4A55-91D4-7BC4F121A8BD}" type="slidenum">
              <a:rPr lang="en-US" smtClean="0"/>
              <a:t>56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F9D16F8B-C1BF-4A55-91D4-7BC4F121A8BD}" type="slidenum">
              <a:rPr lang="en-US" smtClean="0"/>
              <a:t>72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标题 1"/>
          <p:cNvSpPr>
            <a:spLocks noGrp="1"/>
          </p:cNvSpPr>
          <p:nvPr>
            <p:ph type="ctrTitle"/>
          </p:nvPr>
        </p:nvSpPr>
        <p:spPr>
          <a:xfrm>
            <a:off x="471805" y="1322705"/>
            <a:ext cx="11255375" cy="2186940"/>
          </a:xfrm>
        </p:spPr>
        <p:txBody>
          <a:bodyPr anchor="b">
            <a:normAutofit/>
          </a:bodyPr>
          <a:lstStyle>
            <a:lvl1pPr algn="ctr">
              <a:lnSpc>
                <a:spcPct val="130000"/>
              </a:lnSpc>
              <a:defRPr sz="6000">
                <a:solidFill>
                  <a:schemeClr val="accent5"/>
                </a:solidFill>
                <a:effectLst>
                  <a:outerShdw blurRad="38100" dist="38100" dir="2700000" algn="tl">
                    <a:srgbClr val="000000">
                      <a:alpha val="43137"/>
                    </a:srgbClr>
                  </a:outerShdw>
                </a:effectLst>
              </a:defRPr>
            </a:lvl1pPr>
          </a:lstStyle>
          <a:p>
            <a:r>
              <a:rPr lang="zh-CN" altLang="en-US" dirty="0">
                <a:sym typeface="+mn-ea"/>
              </a:rPr>
              <a:t>Click to edit Master title style</a:t>
            </a:r>
          </a:p>
        </p:txBody>
      </p:sp>
      <p:sp>
        <p:nvSpPr>
          <p:cNvPr id="3" name="副标题 2"/>
          <p:cNvSpPr>
            <a:spLocks noGrp="1"/>
          </p:cNvSpPr>
          <p:nvPr>
            <p:ph type="subTitle" idx="1"/>
          </p:nvPr>
        </p:nvSpPr>
        <p:spPr>
          <a:xfrm>
            <a:off x="1524000" y="3602355"/>
            <a:ext cx="9144000" cy="1956435"/>
          </a:xfrm>
        </p:spPr>
        <p:txBody>
          <a:bodyPr>
            <a:normAutofit/>
          </a:bodyPr>
          <a:lstStyle>
            <a:lvl1pPr marL="0" indent="0" algn="ctr">
              <a:buNone/>
              <a:defRPr sz="36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Click to edit Master subtitle style</a:t>
            </a:r>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标题占位符 1"/>
          <p:cNvSpPr>
            <a:spLocks noGrp="1"/>
          </p:cNvSpPr>
          <p:nvPr>
            <p:ph type="title"/>
          </p:nvPr>
        </p:nvSpPr>
        <p:spPr>
          <a:xfrm>
            <a:off x="74295" y="58420"/>
            <a:ext cx="12056110" cy="854075"/>
          </a:xfrm>
          <a:prstGeom prst="rect">
            <a:avLst/>
          </a:prstGeom>
        </p:spPr>
        <p:txBody>
          <a:bodyPr vert="horz" lIns="91440" tIns="45720" rIns="91440" bIns="45720" rtlCol="0" anchor="ctr">
            <a:normAutofit/>
          </a:bodyPr>
          <a:lstStyle>
            <a:lvl1pPr>
              <a:defRPr>
                <a:solidFill>
                  <a:schemeClr val="accent5">
                    <a:lumMod val="75000"/>
                  </a:schemeClr>
                </a:solidFill>
              </a:defRPr>
            </a:lvl1pPr>
          </a:lstStyle>
          <a:p>
            <a:r>
              <a:rPr lang="zh-CN" altLang="en-US" dirty="0"/>
              <a:t>Click to edit Master title style</a:t>
            </a:r>
          </a:p>
        </p:txBody>
      </p:sp>
      <p:sp>
        <p:nvSpPr>
          <p:cNvPr id="8" name="文本占位符 2"/>
          <p:cNvSpPr>
            <a:spLocks noGrp="1"/>
          </p:cNvSpPr>
          <p:nvPr>
            <p:ph type="body" idx="1"/>
          </p:nvPr>
        </p:nvSpPr>
        <p:spPr>
          <a:xfrm>
            <a:off x="74930" y="913130"/>
            <a:ext cx="12055475" cy="5859780"/>
          </a:xfrm>
          <a:prstGeom prst="rect">
            <a:avLst/>
          </a:prstGeom>
        </p:spPr>
        <p:txBody>
          <a:bodyPr vert="horz" lIns="91440" tIns="45720" rIns="91440" bIns="45720" rtlCol="0">
            <a:normAutofit/>
          </a:bodyPr>
          <a:lstStyle/>
          <a:p>
            <a:pPr lvl="0"/>
            <a:r>
              <a:rPr lang="zh-CN" altLang="en-US" dirty="0">
                <a:sym typeface="+mn-ea"/>
              </a:rPr>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标题 1"/>
          <p:cNvSpPr>
            <a:spLocks noGrp="1"/>
          </p:cNvSpPr>
          <p:nvPr>
            <p:ph type="title"/>
          </p:nvPr>
        </p:nvSpPr>
        <p:spPr>
          <a:xfrm>
            <a:off x="76835" y="84455"/>
            <a:ext cx="12024995" cy="805815"/>
          </a:xfrm>
        </p:spPr>
        <p:txBody>
          <a:bodyPr/>
          <a:lstStyle>
            <a:lvl1pPr>
              <a:defRPr>
                <a:solidFill>
                  <a:schemeClr val="accent5">
                    <a:lumMod val="75000"/>
                  </a:schemeClr>
                </a:solidFill>
              </a:defRPr>
            </a:lvl1pPr>
          </a:lstStyle>
          <a:p>
            <a:r>
              <a:rPr lang="zh-CN" altLang="en-US"/>
              <a:t>Click to edit Master title style</a:t>
            </a:r>
          </a:p>
        </p:txBody>
      </p:sp>
      <p:sp>
        <p:nvSpPr>
          <p:cNvPr id="4" name="内容占位符 3"/>
          <p:cNvSpPr>
            <a:spLocks noGrp="1"/>
          </p:cNvSpPr>
          <p:nvPr>
            <p:ph sz="half" idx="2"/>
          </p:nvPr>
        </p:nvSpPr>
        <p:spPr>
          <a:xfrm>
            <a:off x="76200" y="890270"/>
            <a:ext cx="6095365" cy="5862320"/>
          </a:xfrm>
        </p:spPr>
        <p:txBody>
          <a:bodyPr/>
          <a:lstStyle>
            <a:lvl1pPr>
              <a:defRPr sz="4000"/>
            </a:lvl1pPr>
            <a:lvl2pPr>
              <a:defRPr sz="3600"/>
            </a:lvl2pPr>
            <a:lvl3pPr>
              <a:defRPr sz="3200"/>
            </a:lvl3pPr>
            <a:lvl4pPr>
              <a:defRPr sz="3200"/>
            </a:lvl4pPr>
            <a:lvl5pPr>
              <a:defRPr sz="2400"/>
            </a:lvl5pPr>
          </a:lstStyle>
          <a:p>
            <a:pPr lvl="0"/>
            <a:r>
              <a:rPr lang="zh-CN" altLang="en-US" dirty="0">
                <a:sym typeface="+mn-ea"/>
              </a:rPr>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
        <p:nvSpPr>
          <p:cNvPr id="6" name="内容占位符 5"/>
          <p:cNvSpPr>
            <a:spLocks noGrp="1"/>
          </p:cNvSpPr>
          <p:nvPr>
            <p:ph sz="quarter" idx="4"/>
          </p:nvPr>
        </p:nvSpPr>
        <p:spPr>
          <a:xfrm>
            <a:off x="6172200" y="889635"/>
            <a:ext cx="5929630" cy="5863590"/>
          </a:xfrm>
        </p:spPr>
        <p:txBody>
          <a:bodyPr/>
          <a:lstStyle>
            <a:lvl1pPr>
              <a:defRPr sz="4000"/>
            </a:lvl1pPr>
            <a:lvl2pPr>
              <a:defRPr sz="3600"/>
            </a:lvl2pPr>
            <a:lvl3pPr>
              <a:defRPr sz="3200"/>
            </a:lvl3pPr>
            <a:lvl4pPr>
              <a:defRPr sz="3200"/>
            </a:lvl4pPr>
            <a:lvl5pPr>
              <a:defRPr sz="2400"/>
            </a:lvl5pPr>
          </a:lstStyle>
          <a:p>
            <a:pPr lvl="0"/>
            <a:r>
              <a:rPr lang="zh-CN" altLang="en-US" dirty="0">
                <a:sym typeface="+mn-ea"/>
              </a:rPr>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标题占位符 1"/>
          <p:cNvSpPr>
            <a:spLocks noGrp="1"/>
          </p:cNvSpPr>
          <p:nvPr>
            <p:ph type="title"/>
          </p:nvPr>
        </p:nvSpPr>
        <p:spPr>
          <a:xfrm>
            <a:off x="74295" y="58420"/>
            <a:ext cx="12056110" cy="854075"/>
          </a:xfrm>
          <a:prstGeom prst="rect">
            <a:avLst/>
          </a:prstGeom>
        </p:spPr>
        <p:txBody>
          <a:bodyPr vert="horz" lIns="91440" tIns="45720" rIns="91440" bIns="45720" rtlCol="0" anchor="ctr">
            <a:normAutofit/>
          </a:bodyPr>
          <a:lstStyle>
            <a:lvl1pPr>
              <a:defRPr>
                <a:solidFill>
                  <a:schemeClr val="accent5">
                    <a:lumMod val="75000"/>
                  </a:schemeClr>
                </a:solidFill>
              </a:defRPr>
            </a:lvl1pPr>
          </a:lstStyle>
          <a:p>
            <a:r>
              <a:rPr lang="zh-CN" altLang="en-US" dirty="0"/>
              <a:t>Click to edit Master title style</a:t>
            </a:r>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标题 1"/>
          <p:cNvSpPr>
            <a:spLocks noGrp="1"/>
          </p:cNvSpPr>
          <p:nvPr>
            <p:ph type="ctrTitle"/>
          </p:nvPr>
        </p:nvSpPr>
        <p:spPr>
          <a:xfrm>
            <a:off x="471805" y="1322705"/>
            <a:ext cx="11255375" cy="2186940"/>
          </a:xfrm>
        </p:spPr>
        <p:txBody>
          <a:bodyPr anchor="b">
            <a:normAutofit/>
          </a:bodyPr>
          <a:lstStyle>
            <a:lvl1pPr algn="ctr">
              <a:lnSpc>
                <a:spcPct val="130000"/>
              </a:lnSpc>
              <a:defRPr sz="6000">
                <a:solidFill>
                  <a:schemeClr val="accent6">
                    <a:lumMod val="75000"/>
                  </a:schemeClr>
                </a:solidFill>
                <a:effectLst>
                  <a:outerShdw blurRad="38100" dist="38100" dir="2700000" algn="tl">
                    <a:srgbClr val="000000">
                      <a:alpha val="43137"/>
                    </a:srgbClr>
                  </a:outerShdw>
                </a:effectLst>
              </a:defRPr>
            </a:lvl1pPr>
          </a:lstStyle>
          <a:p>
            <a:r>
              <a:rPr lang="zh-CN" altLang="en-US" dirty="0">
                <a:sym typeface="+mn-ea"/>
              </a:rPr>
              <a:t>Click to edit Master title style</a:t>
            </a:r>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p:spPr>
        <p:txBody>
          <a:bodyPr/>
          <a:lstStyle/>
          <a:p>
            <a:fld id="{FDE934FF-F4E1-47C5-9CA5-30A81DDE2BE4}" type="datetimeFigureOut">
              <a:rPr lang="en-US" smtClean="0"/>
              <a:t>2/10/2026</a:t>
            </a:fld>
            <a:endParaRPr lang="en-US"/>
          </a:p>
        </p:txBody>
      </p:sp>
      <p:sp>
        <p:nvSpPr>
          <p:cNvPr id="4" name="Footer Placeholder 3"/>
          <p:cNvSpPr>
            <a:spLocks noGrp="1"/>
          </p:cNvSpPr>
          <p:nvPr>
            <p:ph type="ftr" sz="quarter" idx="11"/>
          </p:nvPr>
        </p:nvSpPr>
        <p:spPr>
          <a:xfrm>
            <a:off x="4038600" y="6356350"/>
            <a:ext cx="4114800" cy="365125"/>
          </a:xfrm>
        </p:spPr>
        <p:txBody>
          <a:bodyPr/>
          <a:lstStyle/>
          <a:p>
            <a:endParaRPr lang="en-US"/>
          </a:p>
        </p:txBody>
      </p:sp>
      <p:sp>
        <p:nvSpPr>
          <p:cNvPr id="5" name="Slide Number Placeholder 4"/>
          <p:cNvSpPr>
            <a:spLocks noGrp="1"/>
          </p:cNvSpPr>
          <p:nvPr>
            <p:ph type="sldNum" sz="quarter" idx="12"/>
          </p:nvPr>
        </p:nvSpPr>
        <p:spPr>
          <a:xfrm>
            <a:off x="8610600" y="6356350"/>
            <a:ext cx="2743200" cy="365125"/>
          </a:xfrm>
        </p:spPr>
        <p:txBody>
          <a:bodyPr/>
          <a:lstStyle/>
          <a:p>
            <a:fld id="{B3561BA9-CDCF-4958-B8AB-66F3BF063E1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p:spPr>
        <p:txBody>
          <a:bodyPr/>
          <a:lstStyle/>
          <a:p>
            <a:fld id="{FDE934FF-F4E1-47C5-9CA5-30A81DDE2BE4}" type="datetimeFigureOut">
              <a:rPr lang="en-US" smtClean="0"/>
              <a:t>2/10/2026</a:t>
            </a:fld>
            <a:endParaRPr lang="en-US"/>
          </a:p>
        </p:txBody>
      </p:sp>
      <p:sp>
        <p:nvSpPr>
          <p:cNvPr id="4" name="Footer Placeholder 3"/>
          <p:cNvSpPr>
            <a:spLocks noGrp="1"/>
          </p:cNvSpPr>
          <p:nvPr>
            <p:ph type="ftr" sz="quarter" idx="11"/>
          </p:nvPr>
        </p:nvSpPr>
        <p:spPr>
          <a:xfrm>
            <a:off x="4038600" y="6356350"/>
            <a:ext cx="4114800" cy="365125"/>
          </a:xfrm>
        </p:spPr>
        <p:txBody>
          <a:bodyPr/>
          <a:lstStyle/>
          <a:p>
            <a:endParaRPr lang="en-US"/>
          </a:p>
        </p:txBody>
      </p:sp>
      <p:sp>
        <p:nvSpPr>
          <p:cNvPr id="5" name="Slide Number Placeholder 4"/>
          <p:cNvSpPr>
            <a:spLocks noGrp="1"/>
          </p:cNvSpPr>
          <p:nvPr>
            <p:ph type="sldNum" sz="quarter" idx="12"/>
          </p:nvPr>
        </p:nvSpPr>
        <p:spPr>
          <a:xfrm>
            <a:off x="8610600" y="6356350"/>
            <a:ext cx="2743200" cy="365125"/>
          </a:xfrm>
        </p:spPr>
        <p:txBody>
          <a:bodyPr/>
          <a:lstStyle/>
          <a:p>
            <a:fld id="{B3561BA9-CDCF-4958-B8AB-66F3BF063E1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p:spPr>
        <p:txBody>
          <a:bodyPr/>
          <a:lstStyle/>
          <a:p>
            <a:fld id="{FDE934FF-F4E1-47C5-9CA5-30A81DDE2BE4}" type="datetimeFigureOut">
              <a:rPr lang="en-US" smtClean="0"/>
              <a:t>2/10/2026</a:t>
            </a:fld>
            <a:endParaRPr lang="en-US"/>
          </a:p>
        </p:txBody>
      </p:sp>
      <p:sp>
        <p:nvSpPr>
          <p:cNvPr id="4" name="Footer Placeholder 3"/>
          <p:cNvSpPr>
            <a:spLocks noGrp="1"/>
          </p:cNvSpPr>
          <p:nvPr>
            <p:ph type="ftr" sz="quarter" idx="11"/>
          </p:nvPr>
        </p:nvSpPr>
        <p:spPr>
          <a:xfrm>
            <a:off x="4038600" y="6356350"/>
            <a:ext cx="4114800" cy="365125"/>
          </a:xfrm>
        </p:spPr>
        <p:txBody>
          <a:bodyPr/>
          <a:lstStyle/>
          <a:p>
            <a:endParaRPr lang="en-US"/>
          </a:p>
        </p:txBody>
      </p:sp>
      <p:sp>
        <p:nvSpPr>
          <p:cNvPr id="5" name="Slide Number Placeholder 4"/>
          <p:cNvSpPr>
            <a:spLocks noGrp="1"/>
          </p:cNvSpPr>
          <p:nvPr>
            <p:ph type="sldNum" sz="quarter" idx="12"/>
          </p:nvPr>
        </p:nvSpPr>
        <p:spPr>
          <a:xfrm>
            <a:off x="8610600" y="6356350"/>
            <a:ext cx="2743200" cy="365125"/>
          </a:xfrm>
        </p:spPr>
        <p:txBody>
          <a:bodyPr/>
          <a:lstStyle/>
          <a:p>
            <a:fld id="{B3561BA9-CDCF-4958-B8AB-66F3BF063E1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p:spPr>
        <p:txBody>
          <a:bodyPr/>
          <a:lstStyle/>
          <a:p>
            <a:fld id="{FDE934FF-F4E1-47C5-9CA5-30A81DDE2BE4}" type="datetimeFigureOut">
              <a:rPr lang="en-US" smtClean="0"/>
              <a:t>2/10/2026</a:t>
            </a:fld>
            <a:endParaRPr lang="en-US"/>
          </a:p>
        </p:txBody>
      </p:sp>
      <p:sp>
        <p:nvSpPr>
          <p:cNvPr id="4" name="Footer Placeholder 3"/>
          <p:cNvSpPr>
            <a:spLocks noGrp="1"/>
          </p:cNvSpPr>
          <p:nvPr>
            <p:ph type="ftr" sz="quarter" idx="11"/>
          </p:nvPr>
        </p:nvSpPr>
        <p:spPr>
          <a:xfrm>
            <a:off x="4038600" y="6356350"/>
            <a:ext cx="4114800" cy="365125"/>
          </a:xfrm>
        </p:spPr>
        <p:txBody>
          <a:bodyPr/>
          <a:lstStyle/>
          <a:p>
            <a:endParaRPr lang="en-US"/>
          </a:p>
        </p:txBody>
      </p:sp>
      <p:sp>
        <p:nvSpPr>
          <p:cNvPr id="5" name="Slide Number Placeholder 4"/>
          <p:cNvSpPr>
            <a:spLocks noGrp="1"/>
          </p:cNvSpPr>
          <p:nvPr>
            <p:ph type="sldNum" sz="quarter" idx="12"/>
          </p:nvPr>
        </p:nvSpPr>
        <p:spPr>
          <a:xfrm>
            <a:off x="8610600" y="6356350"/>
            <a:ext cx="2743200" cy="365125"/>
          </a:xfrm>
        </p:spPr>
        <p:txBody>
          <a:bodyPr/>
          <a:lstStyle/>
          <a:p>
            <a:fld id="{B3561BA9-CDCF-4958-B8AB-66F3BF063E1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p:spPr>
        <p:txBody>
          <a:bodyPr/>
          <a:lstStyle/>
          <a:p>
            <a:fld id="{FDE934FF-F4E1-47C5-9CA5-30A81DDE2BE4}" type="datetimeFigureOut">
              <a:rPr lang="en-US" smtClean="0"/>
              <a:t>2/10/2026</a:t>
            </a:fld>
            <a:endParaRPr lang="en-US"/>
          </a:p>
        </p:txBody>
      </p:sp>
      <p:sp>
        <p:nvSpPr>
          <p:cNvPr id="4" name="Footer Placeholder 3"/>
          <p:cNvSpPr>
            <a:spLocks noGrp="1"/>
          </p:cNvSpPr>
          <p:nvPr>
            <p:ph type="ftr" sz="quarter" idx="11"/>
          </p:nvPr>
        </p:nvSpPr>
        <p:spPr>
          <a:xfrm>
            <a:off x="4038600" y="6356350"/>
            <a:ext cx="4114800" cy="365125"/>
          </a:xfrm>
        </p:spPr>
        <p:txBody>
          <a:bodyPr/>
          <a:lstStyle/>
          <a:p>
            <a:endParaRPr lang="en-US"/>
          </a:p>
        </p:txBody>
      </p:sp>
      <p:sp>
        <p:nvSpPr>
          <p:cNvPr id="5" name="Slide Number Placeholder 4"/>
          <p:cNvSpPr>
            <a:spLocks noGrp="1"/>
          </p:cNvSpPr>
          <p:nvPr>
            <p:ph type="sldNum" sz="quarter" idx="12"/>
          </p:nvPr>
        </p:nvSpPr>
        <p:spPr>
          <a:xfrm>
            <a:off x="8610600" y="6356350"/>
            <a:ext cx="2743200" cy="365125"/>
          </a:xfrm>
        </p:spPr>
        <p:txBody>
          <a:bodyPr/>
          <a:lstStyle/>
          <a:p>
            <a:fld id="{B3561BA9-CDCF-4958-B8AB-66F3BF063E1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74295" y="58420"/>
            <a:ext cx="12056110" cy="854075"/>
          </a:xfrm>
          <a:prstGeom prst="rect">
            <a:avLst/>
          </a:prstGeom>
        </p:spPr>
        <p:txBody>
          <a:bodyPr vert="horz" lIns="91440" tIns="45720" rIns="91440" bIns="45720" rtlCol="0" anchor="ctr">
            <a:normAutofit/>
          </a:bodyPr>
          <a:lstStyle/>
          <a:p>
            <a:r>
              <a:rPr lang="zh-CN" altLang="en-US" dirty="0"/>
              <a:t>Click to edit Master title style</a:t>
            </a:r>
          </a:p>
        </p:txBody>
      </p:sp>
      <p:sp>
        <p:nvSpPr>
          <p:cNvPr id="3" name="文本占位符 2"/>
          <p:cNvSpPr>
            <a:spLocks noGrp="1"/>
          </p:cNvSpPr>
          <p:nvPr>
            <p:ph type="body" idx="1"/>
          </p:nvPr>
        </p:nvSpPr>
        <p:spPr>
          <a:xfrm>
            <a:off x="74930" y="913130"/>
            <a:ext cx="12055475" cy="5859780"/>
          </a:xfrm>
          <a:prstGeom prst="rect">
            <a:avLst/>
          </a:prstGeom>
        </p:spPr>
        <p:txBody>
          <a:bodyPr vert="horz" lIns="91440" tIns="45720" rIns="91440" bIns="45720" rtlCol="0">
            <a:normAutofit/>
          </a:bodyPr>
          <a:lstStyle/>
          <a:p>
            <a:pPr lvl="0"/>
            <a:r>
              <a:rPr lang="zh-CN" altLang="en-US" dirty="0">
                <a:sym typeface="+mn-ea"/>
              </a:rPr>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b="0" kern="1200">
          <a:solidFill>
            <a:schemeClr val="tx1"/>
          </a:solidFill>
          <a:latin typeface="+mn-ea"/>
          <a:ea typeface="+mj-ea"/>
          <a:cs typeface="+mn-ea"/>
        </a:defRPr>
      </a:lvl1pPr>
    </p:titleStyle>
    <p:bodyStyle>
      <a:lvl1pPr marL="228600" indent="-228600" algn="l" defTabSz="914400" rtl="0" eaLnBrk="1" latinLnBrk="0" hangingPunct="1">
        <a:lnSpc>
          <a:spcPct val="90000"/>
        </a:lnSpc>
        <a:spcBef>
          <a:spcPts val="1000"/>
        </a:spcBef>
        <a:buClr>
          <a:srgbClr val="CC0000"/>
        </a:buClr>
        <a:buFont typeface="Arial" panose="020B0604020202020204" pitchFamily="34" charset="0"/>
        <a:buChar char="•"/>
        <a:defRPr sz="4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5B9BD5"/>
        </a:buClr>
        <a:buFont typeface="Arial" panose="020B0604020202020204" pitchFamily="34" charset="0"/>
        <a:buChar char="•"/>
        <a:defRPr sz="3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70AD47"/>
        </a:buClr>
        <a:buFont typeface="Arial" panose="020B0604020202020204" pitchFamily="34" charset="0"/>
        <a:buChar char="•"/>
        <a:defRPr sz="32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3" Type="http://schemas.openxmlformats.org/officeDocument/2006/relationships/hyperlink" Target="http://aclweb.org/anthology/J/J92/J92-4003.pdf" TargetMode="External" /><Relationship Id="rId2" Type="http://schemas.openxmlformats.org/officeDocument/2006/relationships/hyperlink" Target="https://en.wikipedia.org/wiki/Brown_clustering" TargetMode="Externa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8" Type="http://schemas.openxmlformats.org/officeDocument/2006/relationships/image" Target="../media/image3.jpeg" /><Relationship Id="rId3" Type="http://schemas.openxmlformats.org/officeDocument/2006/relationships/hyperlink" Target="https://en.wikipedia.org/wiki/Mango_pickle" TargetMode="External" /><Relationship Id="rId7" Type="http://schemas.openxmlformats.org/officeDocument/2006/relationships/image" Target="../media/image2.jpeg" /><Relationship Id="rId2" Type="http://schemas.openxmlformats.org/officeDocument/2006/relationships/hyperlink" Target="https://en.wikipedia.org/wiki/Chutney" TargetMode="External" /><Relationship Id="rId1" Type="http://schemas.openxmlformats.org/officeDocument/2006/relationships/slideLayout" Target="../slideLayouts/slideLayout4.xml" /><Relationship Id="rId6" Type="http://schemas.openxmlformats.org/officeDocument/2006/relationships/image" Target="../media/image1.jpeg" /><Relationship Id="rId5" Type="http://schemas.openxmlformats.org/officeDocument/2006/relationships/hyperlink" Target="https://en.wikipedia.org/wiki/Aamras" TargetMode="External" /><Relationship Id="rId4" Type="http://schemas.openxmlformats.org/officeDocument/2006/relationships/hyperlink" Target="https://en.wikipedia.org/wiki/Dal" TargetMode="External" /></Relationships>
</file>

<file path=ppt/slides/_rels/slide4.xml.rels><?xml version="1.0" encoding="UTF-8" standalone="yes"?>
<Relationships xmlns="http://schemas.openxmlformats.org/package/2006/relationships"><Relationship Id="rId8" Type="http://schemas.openxmlformats.org/officeDocument/2006/relationships/image" Target="../media/image6.png" /><Relationship Id="rId3" Type="http://schemas.openxmlformats.org/officeDocument/2006/relationships/image" Target="../media/image4.png" /><Relationship Id="rId7" Type="http://schemas.openxmlformats.org/officeDocument/2006/relationships/image" Target="../media/image5.png" /><Relationship Id="rId2" Type="http://schemas.openxmlformats.org/officeDocument/2006/relationships/hyperlink" Target="https://en.wikipedia.org/wiki/Tf&#8211;idf" TargetMode="External" /><Relationship Id="rId1" Type="http://schemas.openxmlformats.org/officeDocument/2006/relationships/slideLayout" Target="../slideLayouts/slideLayout2.xml" /><Relationship Id="rId6" Type="http://schemas.openxmlformats.org/officeDocument/2006/relationships/image" Target="../media/image3.jpeg" /><Relationship Id="rId5" Type="http://schemas.openxmlformats.org/officeDocument/2006/relationships/image" Target="../media/image1.jpeg" /><Relationship Id="rId4" Type="http://schemas.openxmlformats.org/officeDocument/2006/relationships/image" Target="../media/image2.jpeg" /></Relationships>
</file>

<file path=ppt/slides/_rels/slide5.xml.rels><?xml version="1.0" encoding="UTF-8" standalone="yes"?>
<Relationships xmlns="http://schemas.openxmlformats.org/package/2006/relationships"><Relationship Id="rId3" Type="http://schemas.openxmlformats.org/officeDocument/2006/relationships/hyperlink" Target="https://en.wikipedia.org/wiki/Singular_value_decomposition" TargetMode="External" /><Relationship Id="rId2" Type="http://schemas.openxmlformats.org/officeDocument/2006/relationships/hyperlink" Target="https://en.wikipedia.org/wiki/Principal_component_analysis" TargetMode="External" /><Relationship Id="rId1" Type="http://schemas.openxmlformats.org/officeDocument/2006/relationships/slideLayout" Target="../slideLayouts/slideLayout2.xml" /><Relationship Id="rId4" Type="http://schemas.openxmlformats.org/officeDocument/2006/relationships/image" Target="../media/image7.png" /></Relationships>
</file>

<file path=ppt/slides/_rels/slide6.xml.rels><?xml version="1.0" encoding="UTF-8" standalone="yes"?>
<Relationships xmlns="http://schemas.openxmlformats.org/package/2006/relationships"><Relationship Id="rId3" Type="http://schemas.openxmlformats.org/officeDocument/2006/relationships/hyperlink" Target="https://en.wikipedia.org/wiki/Rayleigh_quotient" TargetMode="External" /><Relationship Id="rId2" Type="http://schemas.openxmlformats.org/officeDocument/2006/relationships/hyperlink" Target="https://en.wikipedia.org/wiki/Principal_component_analysis#Details" TargetMode="External" /><Relationship Id="rId1" Type="http://schemas.openxmlformats.org/officeDocument/2006/relationships/slideLayout" Target="../slideLayouts/slideLayout2.xml" /><Relationship Id="rId4" Type="http://schemas.openxmlformats.org/officeDocument/2006/relationships/image" Target="../media/image8.png" /></Relationships>
</file>

<file path=ppt/slides/_rels/slide7.xml.rels><?xml version="1.0" encoding="UTF-8" standalone="yes"?>
<Relationships xmlns="http://schemas.openxmlformats.org/package/2006/relationships"><Relationship Id="rId3" Type="http://schemas.openxmlformats.org/officeDocument/2006/relationships/image" Target="../media/image9.png" /><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3" Type="http://schemas.openxmlformats.org/officeDocument/2006/relationships/image" Target="../media/image11.png" /><Relationship Id="rId2" Type="http://schemas.openxmlformats.org/officeDocument/2006/relationships/image" Target="../media/image10.png" /><Relationship Id="rId1" Type="http://schemas.openxmlformats.org/officeDocument/2006/relationships/slideLayout" Target="../slideLayouts/slideLayout2.xml" /><Relationship Id="rId6" Type="http://schemas.openxmlformats.org/officeDocument/2006/relationships/image" Target="../media/image13.png" /><Relationship Id="rId5" Type="http://schemas.openxmlformats.org/officeDocument/2006/relationships/image" Target="../media/image12.png" /><Relationship Id="rId4" Type="http://schemas.openxmlformats.org/officeDocument/2006/relationships/image" Target="../media/image6.png"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3" Type="http://schemas.openxmlformats.org/officeDocument/2006/relationships/image" Target="../media/image15.png" /><Relationship Id="rId2" Type="http://schemas.openxmlformats.org/officeDocument/2006/relationships/image" Target="../media/image14.png" /><Relationship Id="rId1" Type="http://schemas.openxmlformats.org/officeDocument/2006/relationships/slideLayout" Target="../slideLayouts/slideLayout2.xml" /><Relationship Id="rId6" Type="http://schemas.openxmlformats.org/officeDocument/2006/relationships/image" Target="../media/image17.png" /><Relationship Id="rId5" Type="http://schemas.openxmlformats.org/officeDocument/2006/relationships/customXml" Target="../ink/ink1.xml" /><Relationship Id="rId4" Type="http://schemas.openxmlformats.org/officeDocument/2006/relationships/image" Target="../media/image16.png" /></Relationships>
</file>

<file path=ppt/slides/_rels/slide11.xml.rels><?xml version="1.0" encoding="UTF-8" standalone="yes"?>
<Relationships xmlns="http://schemas.openxmlformats.org/package/2006/relationships"><Relationship Id="rId3" Type="http://schemas.openxmlformats.org/officeDocument/2006/relationships/image" Target="../media/image19.png" /><Relationship Id="rId2" Type="http://schemas.openxmlformats.org/officeDocument/2006/relationships/image" Target="../media/image18.png" /><Relationship Id="rId1" Type="http://schemas.openxmlformats.org/officeDocument/2006/relationships/slideLayout" Target="../slideLayouts/slideLayout2.xml" /><Relationship Id="rId5" Type="http://schemas.openxmlformats.org/officeDocument/2006/relationships/image" Target="../media/image20.png" /><Relationship Id="rId4" Type="http://schemas.openxmlformats.org/officeDocument/2006/relationships/customXml" Target="../ink/ink2.xml" /></Relationships>
</file>

<file path=ppt/slides/_rels/slide12.xml.rels><?xml version="1.0" encoding="UTF-8" standalone="yes"?>
<Relationships xmlns="http://schemas.openxmlformats.org/package/2006/relationships"><Relationship Id="rId3" Type="http://schemas.openxmlformats.org/officeDocument/2006/relationships/image" Target="../media/image22.png" /><Relationship Id="rId2" Type="http://schemas.openxmlformats.org/officeDocument/2006/relationships/image" Target="../media/image21.png"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3" Type="http://schemas.openxmlformats.org/officeDocument/2006/relationships/hyperlink" Target="https://en.wikipedia.org/wiki/Signal_separation" TargetMode="External" /><Relationship Id="rId2" Type="http://schemas.openxmlformats.org/officeDocument/2006/relationships/image" Target="../media/image23.png" /><Relationship Id="rId1" Type="http://schemas.openxmlformats.org/officeDocument/2006/relationships/slideLayout" Target="../slideLayouts/slideLayout2.xml" /><Relationship Id="rId4" Type="http://schemas.openxmlformats.org/officeDocument/2006/relationships/image" Target="../media/image24.png" /></Relationships>
</file>

<file path=ppt/slides/_rels/slide14.xml.rels><?xml version="1.0" encoding="UTF-8" standalone="yes"?>
<Relationships xmlns="http://schemas.openxmlformats.org/package/2006/relationships"><Relationship Id="rId3" Type="http://schemas.openxmlformats.org/officeDocument/2006/relationships/image" Target="../media/image26.png" /><Relationship Id="rId2" Type="http://schemas.openxmlformats.org/officeDocument/2006/relationships/image" Target="../media/image25.png" /><Relationship Id="rId1" Type="http://schemas.openxmlformats.org/officeDocument/2006/relationships/slideLayout" Target="../slideLayouts/slideLayout2.xml" /><Relationship Id="rId4" Type="http://schemas.openxmlformats.org/officeDocument/2006/relationships/image" Target="../media/image27.png" /></Relationships>
</file>

<file path=ppt/slides/_rels/slide15.xml.rels><?xml version="1.0" encoding="UTF-8" standalone="yes"?>
<Relationships xmlns="http://schemas.openxmlformats.org/package/2006/relationships"><Relationship Id="rId2" Type="http://schemas.openxmlformats.org/officeDocument/2006/relationships/image" Target="../media/image28.png"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3" Type="http://schemas.openxmlformats.org/officeDocument/2006/relationships/image" Target="../media/image29.png" /><Relationship Id="rId2" Type="http://schemas.openxmlformats.org/officeDocument/2006/relationships/hyperlink" Target="https://papers.nips.cc/paper_files/paper/2014/hash/b78666971ceae55a8e87efb7cbfd9ad4-Abstract.html" TargetMode="External" /><Relationship Id="rId1" Type="http://schemas.openxmlformats.org/officeDocument/2006/relationships/slideLayout" Target="../slideLayouts/slideLayout2.xml" /><Relationship Id="rId4" Type="http://schemas.openxmlformats.org/officeDocument/2006/relationships/image" Target="../media/image30.png" /></Relationships>
</file>

<file path=ppt/slides/_rels/slide17.xml.rels><?xml version="1.0" encoding="UTF-8" standalone="yes"?>
<Relationships xmlns="http://schemas.openxmlformats.org/package/2006/relationships"><Relationship Id="rId2" Type="http://schemas.openxmlformats.org/officeDocument/2006/relationships/image" Target="../media/image31.png" /><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3" Type="http://schemas.openxmlformats.org/officeDocument/2006/relationships/image" Target="../media/image20.GIF" /><Relationship Id="rId2" Type="http://schemas.openxmlformats.org/officeDocument/2006/relationships/image" Target="../media/image32.png" /><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8" Type="http://schemas.openxmlformats.org/officeDocument/2006/relationships/image" Target="../media/image24.jpeg" /><Relationship Id="rId3" Type="http://schemas.openxmlformats.org/officeDocument/2006/relationships/image" Target="../media/image35.png" /><Relationship Id="rId7" Type="http://schemas.openxmlformats.org/officeDocument/2006/relationships/image" Target="../media/image23.jpeg" /><Relationship Id="rId2" Type="http://schemas.openxmlformats.org/officeDocument/2006/relationships/image" Target="../media/image34.png" /><Relationship Id="rId1" Type="http://schemas.openxmlformats.org/officeDocument/2006/relationships/slideLayout" Target="../slideLayouts/slideLayout2.xml" /><Relationship Id="rId6" Type="http://schemas.openxmlformats.org/officeDocument/2006/relationships/image" Target="../media/image22.jpeg" /><Relationship Id="rId5" Type="http://schemas.openxmlformats.org/officeDocument/2006/relationships/image" Target="../media/image21.jpeg" /><Relationship Id="rId4" Type="http://schemas.openxmlformats.org/officeDocument/2006/relationships/hyperlink" Target="https://nlp.stanford.edu/projects/glove/" TargetMode="External" /></Relationships>
</file>

<file path=ppt/slides/_rels/slide20.xml.rels><?xml version="1.0" encoding="UTF-8" standalone="yes"?>
<Relationships xmlns="http://schemas.openxmlformats.org/package/2006/relationships"><Relationship Id="rId3" Type="http://schemas.openxmlformats.org/officeDocument/2006/relationships/image" Target="../media/image41.png" /><Relationship Id="rId2" Type="http://schemas.openxmlformats.org/officeDocument/2006/relationships/image" Target="../media/image40.png" /><Relationship Id="rId1" Type="http://schemas.openxmlformats.org/officeDocument/2006/relationships/slideLayout" Target="../slideLayouts/slideLayout2.xml" /><Relationship Id="rId4" Type="http://schemas.openxmlformats.org/officeDocument/2006/relationships/image" Target="../media/image33.png" /></Relationships>
</file>

<file path=ppt/slides/_rels/slide21.xml.rels><?xml version="1.0" encoding="UTF-8" standalone="yes"?>
<Relationships xmlns="http://schemas.openxmlformats.org/package/2006/relationships"><Relationship Id="rId2" Type="http://schemas.openxmlformats.org/officeDocument/2006/relationships/image" Target="../media/image43.png" /><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3" Type="http://schemas.openxmlformats.org/officeDocument/2006/relationships/image" Target="../media/image44.png" /><Relationship Id="rId2" Type="http://schemas.openxmlformats.org/officeDocument/2006/relationships/hyperlink" Target="https://nlp.stanford.edu/pubs/glove.pdf" TargetMode="External" /><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3" Type="http://schemas.openxmlformats.org/officeDocument/2006/relationships/hyperlink" Target="https://aclweb.org/aclwiki/Analogy_(State_of_the_art)" TargetMode="External" /><Relationship Id="rId2" Type="http://schemas.openxmlformats.org/officeDocument/2006/relationships/hyperlink" Target="https://aclweb.org/aclwiki/SimLex-999_(State_of_the_art)" TargetMode="External" /><Relationship Id="rId1" Type="http://schemas.openxmlformats.org/officeDocument/2006/relationships/slideLayout" Target="../slideLayouts/slideLayout2.xml" /><Relationship Id="rId4" Type="http://schemas.openxmlformats.org/officeDocument/2006/relationships/image" Target="../media/image45.png" /></Relationships>
</file>

<file path=ppt/slides/_rels/slide24.xml.rels><?xml version="1.0" encoding="UTF-8" standalone="yes"?>
<Relationships xmlns="http://schemas.openxmlformats.org/package/2006/relationships"><Relationship Id="rId3" Type="http://schemas.openxmlformats.org/officeDocument/2006/relationships/hyperlink" Target="https://arxiv.org/abs/1810.00825" TargetMode="External" /><Relationship Id="rId2" Type="http://schemas.openxmlformats.org/officeDocument/2006/relationships/hyperlink" Target="https://arxiv.org/abs/1703.06114" TargetMode="External" /><Relationship Id="rId1" Type="http://schemas.openxmlformats.org/officeDocument/2006/relationships/slideLayout" Target="../slideLayouts/slideLayout2.xml" /><Relationship Id="rId5" Type="http://schemas.openxmlformats.org/officeDocument/2006/relationships/image" Target="../media/image46.png" /><Relationship Id="rId4" Type="http://schemas.openxmlformats.org/officeDocument/2006/relationships/hyperlink" Target="https://dl.acm.org/doi/10.1145/2766462.2767738" TargetMode="External" /></Relationships>
</file>

<file path=ppt/slides/_rels/slide25.xml.rels><?xml version="1.0" encoding="UTF-8" standalone="yes"?>
<Relationships xmlns="http://schemas.openxmlformats.org/package/2006/relationships"><Relationship Id="rId3" Type="http://schemas.openxmlformats.org/officeDocument/2006/relationships/image" Target="../media/image47.png" /><Relationship Id="rId2" Type="http://schemas.openxmlformats.org/officeDocument/2006/relationships/hyperlink" Target="http://www.wildml.com/2015/11/understanding-convolutional-neural-networks-for-nlp/" TargetMode="External" /><Relationship Id="rId1" Type="http://schemas.openxmlformats.org/officeDocument/2006/relationships/slideLayout" Target="../slideLayouts/slideLayout4.xml" /></Relationships>
</file>

<file path=ppt/slides/_rels/slide26.xml.rels><?xml version="1.0" encoding="UTF-8" standalone="yes"?>
<Relationships xmlns="http://schemas.openxmlformats.org/package/2006/relationships"><Relationship Id="rId3" Type="http://schemas.openxmlformats.org/officeDocument/2006/relationships/image" Target="../media/image47.png" /><Relationship Id="rId2" Type="http://schemas.openxmlformats.org/officeDocument/2006/relationships/hyperlink" Target="http://www.wildml.com/2015/11/understanding-convolutional-neural-networks-for-nlp/" TargetMode="External" /><Relationship Id="rId1" Type="http://schemas.openxmlformats.org/officeDocument/2006/relationships/slideLayout" Target="../slideLayouts/slideLayout4.xml" /><Relationship Id="rId4" Type="http://schemas.openxmlformats.org/officeDocument/2006/relationships/image" Target="../media/image48.png" /></Relationships>
</file>

<file path=ppt/slides/_rels/slide27.xml.rels><?xml version="1.0" encoding="UTF-8" standalone="yes"?>
<Relationships xmlns="http://schemas.openxmlformats.org/package/2006/relationships"><Relationship Id="rId3" Type="http://schemas.openxmlformats.org/officeDocument/2006/relationships/image" Target="../media/image47.png" /><Relationship Id="rId2" Type="http://schemas.openxmlformats.org/officeDocument/2006/relationships/hyperlink" Target="http://www.wildml.com/2015/11/understanding-convolutional-neural-networks-for-nlp/" TargetMode="External" /><Relationship Id="rId1" Type="http://schemas.openxmlformats.org/officeDocument/2006/relationships/slideLayout" Target="../slideLayouts/slideLayout4.xml" /><Relationship Id="rId4" Type="http://schemas.openxmlformats.org/officeDocument/2006/relationships/image" Target="../media/image49.png" /></Relationships>
</file>

<file path=ppt/slides/_rels/slide28.xml.rels><?xml version="1.0" encoding="UTF-8" standalone="yes"?>
<Relationships xmlns="http://schemas.openxmlformats.org/package/2006/relationships"><Relationship Id="rId3" Type="http://schemas.openxmlformats.org/officeDocument/2006/relationships/image" Target="../media/image47.png" /><Relationship Id="rId2" Type="http://schemas.openxmlformats.org/officeDocument/2006/relationships/hyperlink" Target="http://www.wildml.com/2015/11/understanding-convolutional-neural-networks-for-nlp/" TargetMode="External" /><Relationship Id="rId1" Type="http://schemas.openxmlformats.org/officeDocument/2006/relationships/slideLayout" Target="../slideLayouts/slideLayout4.xml" /><Relationship Id="rId4" Type="http://schemas.openxmlformats.org/officeDocument/2006/relationships/image" Target="../media/image50.png" /></Relationships>
</file>

<file path=ppt/slides/_rels/slide29.xml.rels><?xml version="1.0" encoding="UTF-8" standalone="yes"?>
<Relationships xmlns="http://schemas.openxmlformats.org/package/2006/relationships"><Relationship Id="rId3" Type="http://schemas.openxmlformats.org/officeDocument/2006/relationships/image" Target="../media/image47.png" /><Relationship Id="rId2" Type="http://schemas.openxmlformats.org/officeDocument/2006/relationships/hyperlink" Target="http://www.wildml.com/2015/11/understanding-convolutional-neural-networks-for-nlp/" TargetMode="External" /><Relationship Id="rId1" Type="http://schemas.openxmlformats.org/officeDocument/2006/relationships/slideLayout" Target="../slideLayouts/slideLayout4.xml" /></Relationships>
</file>

<file path=ppt/slides/_rels/slide30.xml.rels><?xml version="1.0" encoding="UTF-8" standalone="yes"?>
<Relationships xmlns="http://schemas.openxmlformats.org/package/2006/relationships"><Relationship Id="rId3" Type="http://schemas.openxmlformats.org/officeDocument/2006/relationships/image" Target="../media/image47.png" /><Relationship Id="rId2" Type="http://schemas.openxmlformats.org/officeDocument/2006/relationships/hyperlink" Target="http://www.wildml.com/2015/11/understanding-convolutional-neural-networks-for-nlp/" TargetMode="External" /><Relationship Id="rId1" Type="http://schemas.openxmlformats.org/officeDocument/2006/relationships/slideLayout" Target="../slideLayouts/slideLayout4.xml" /><Relationship Id="rId4" Type="http://schemas.openxmlformats.org/officeDocument/2006/relationships/image" Target="../media/image51.png" /></Relationships>
</file>

<file path=ppt/slides/_rels/slide31.xml.rels><?xml version="1.0" encoding="UTF-8" standalone="yes"?>
<Relationships xmlns="http://schemas.openxmlformats.org/package/2006/relationships"><Relationship Id="rId2" Type="http://schemas.openxmlformats.org/officeDocument/2006/relationships/image" Target="../media/image52.png" /><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3" Type="http://schemas.openxmlformats.org/officeDocument/2006/relationships/customXml" Target="../ink/ink3.xml" /><Relationship Id="rId2" Type="http://schemas.openxmlformats.org/officeDocument/2006/relationships/image" Target="../media/image36.png" /><Relationship Id="rId1" Type="http://schemas.openxmlformats.org/officeDocument/2006/relationships/slideLayout" Target="../slideLayouts/slideLayout4.xml" /><Relationship Id="rId4" Type="http://schemas.openxmlformats.org/officeDocument/2006/relationships/image" Target="../media/image54.png" /></Relationships>
</file>

<file path=ppt/slides/_rels/slide33.xml.rels><?xml version="1.0" encoding="UTF-8" standalone="yes"?>
<Relationships xmlns="http://schemas.openxmlformats.org/package/2006/relationships"><Relationship Id="rId2" Type="http://schemas.openxmlformats.org/officeDocument/2006/relationships/image" Target="../media/image55.png" /><Relationship Id="rId1" Type="http://schemas.openxmlformats.org/officeDocument/2006/relationships/slideLayout" Target="../slideLayouts/slideLayout2.xml" /></Relationships>
</file>

<file path=ppt/slides/_rels/slide34.xml.rels><?xml version="1.0" encoding="UTF-8" standalone="yes"?>
<Relationships xmlns="http://schemas.openxmlformats.org/package/2006/relationships"><Relationship Id="rId3" Type="http://schemas.openxmlformats.org/officeDocument/2006/relationships/image" Target="../media/image37.png" /><Relationship Id="rId2" Type="http://schemas.openxmlformats.org/officeDocument/2006/relationships/hyperlink" Target="https://www.cs.cmu.edu/~hovy/papers/15HLT-ontology-sense-vectors.pdf" TargetMode="External" /><Relationship Id="rId1" Type="http://schemas.openxmlformats.org/officeDocument/2006/relationships/slideLayout" Target="../slideLayouts/slideLayout2.xml" /><Relationship Id="rId5" Type="http://schemas.openxmlformats.org/officeDocument/2006/relationships/image" Target="../media/image39.jpeg" /><Relationship Id="rId4" Type="http://schemas.openxmlformats.org/officeDocument/2006/relationships/image" Target="../media/image38.jpeg" /></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 /></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 standalone="yes"?>
<Relationships xmlns="http://schemas.openxmlformats.org/package/2006/relationships"><Relationship Id="rId2" Type="http://schemas.openxmlformats.org/officeDocument/2006/relationships/image" Target="../media/image59.png" /><Relationship Id="rId1" Type="http://schemas.openxmlformats.org/officeDocument/2006/relationships/slideLayout" Target="../slideLayouts/slideLayout2.xml" /></Relationships>
</file>

<file path=ppt/slides/_rels/slide39.xml.rels><?xml version="1.0" encoding="UTF-8" standalone="yes"?>
<Relationships xmlns="http://schemas.openxmlformats.org/package/2006/relationships"><Relationship Id="rId8" Type="http://schemas.openxmlformats.org/officeDocument/2006/relationships/image" Target="../media/image66.png" /><Relationship Id="rId3" Type="http://schemas.openxmlformats.org/officeDocument/2006/relationships/image" Target="../media/image61.png" /><Relationship Id="rId7" Type="http://schemas.openxmlformats.org/officeDocument/2006/relationships/image" Target="../media/image65.png" /><Relationship Id="rId2" Type="http://schemas.openxmlformats.org/officeDocument/2006/relationships/image" Target="../media/image60.png" /><Relationship Id="rId1" Type="http://schemas.openxmlformats.org/officeDocument/2006/relationships/slideLayout" Target="../slideLayouts/slideLayout2.xml" /><Relationship Id="rId6" Type="http://schemas.openxmlformats.org/officeDocument/2006/relationships/image" Target="../media/image64.png" /><Relationship Id="rId5" Type="http://schemas.openxmlformats.org/officeDocument/2006/relationships/image" Target="../media/image63.png" /><Relationship Id="rId10" Type="http://schemas.openxmlformats.org/officeDocument/2006/relationships/image" Target="../media/image68.png" /><Relationship Id="rId4" Type="http://schemas.openxmlformats.org/officeDocument/2006/relationships/image" Target="../media/image62.png" /><Relationship Id="rId9" Type="http://schemas.openxmlformats.org/officeDocument/2006/relationships/image" Target="../media/image67.png" /></Relationships>
</file>

<file path=ppt/slides/_rels/slide40.xml.rels><?xml version="1.0" encoding="UTF-8" standalone="yes"?>
<Relationships xmlns="http://schemas.openxmlformats.org/package/2006/relationships"><Relationship Id="rId2" Type="http://schemas.openxmlformats.org/officeDocument/2006/relationships/image" Target="../media/image69.png" /><Relationship Id="rId1" Type="http://schemas.openxmlformats.org/officeDocument/2006/relationships/slideLayout" Target="../slideLayouts/slideLayout2.xml" /></Relationships>
</file>

<file path=ppt/slides/_rels/slide41.xml.rels><?xml version="1.0" encoding="UTF-8" standalone="yes"?>
<Relationships xmlns="http://schemas.openxmlformats.org/package/2006/relationships"><Relationship Id="rId2" Type="http://schemas.openxmlformats.org/officeDocument/2006/relationships/image" Target="../media/image70.png" /><Relationship Id="rId1" Type="http://schemas.openxmlformats.org/officeDocument/2006/relationships/slideLayout" Target="../slideLayouts/slideLayout2.xml" /></Relationships>
</file>

<file path=ppt/slides/_rels/slide42.xml.rels><?xml version="1.0" encoding="UTF-8" standalone="yes"?>
<Relationships xmlns="http://schemas.openxmlformats.org/package/2006/relationships"><Relationship Id="rId3" Type="http://schemas.openxmlformats.org/officeDocument/2006/relationships/customXml" Target="../ink/ink4.xml" /><Relationship Id="rId2" Type="http://schemas.openxmlformats.org/officeDocument/2006/relationships/image" Target="../media/image42.png" /><Relationship Id="rId1" Type="http://schemas.openxmlformats.org/officeDocument/2006/relationships/slideLayout" Target="../slideLayouts/slideLayout2.xml" /><Relationship Id="rId4" Type="http://schemas.openxmlformats.org/officeDocument/2006/relationships/image" Target="../media/image72.png" /></Relationships>
</file>

<file path=ppt/slides/_rels/slide43.xml.rels><?xml version="1.0" encoding="UTF-8" standalone="yes"?>
<Relationships xmlns="http://schemas.openxmlformats.org/package/2006/relationships"><Relationship Id="rId2" Type="http://schemas.openxmlformats.org/officeDocument/2006/relationships/image" Target="../media/image53.png" /><Relationship Id="rId1" Type="http://schemas.openxmlformats.org/officeDocument/2006/relationships/slideLayout" Target="../slideLayouts/slideLayout2.xml" /></Relationships>
</file>

<file path=ppt/slides/_rels/slide44.xml.rels><?xml version="1.0" encoding="UTF-8" standalone="yes"?>
<Relationships xmlns="http://schemas.openxmlformats.org/package/2006/relationships"><Relationship Id="rId2" Type="http://schemas.openxmlformats.org/officeDocument/2006/relationships/image" Target="../media/image56.png" /><Relationship Id="rId1" Type="http://schemas.openxmlformats.org/officeDocument/2006/relationships/slideLayout" Target="../slideLayouts/slideLayout2.xml" /></Relationships>
</file>

<file path=ppt/slides/_rels/slide45.xml.rels><?xml version="1.0" encoding="UTF-8" standalone="yes"?>
<Relationships xmlns="http://schemas.openxmlformats.org/package/2006/relationships"><Relationship Id="rId2" Type="http://schemas.openxmlformats.org/officeDocument/2006/relationships/image" Target="../media/image57.png" /><Relationship Id="rId1" Type="http://schemas.openxmlformats.org/officeDocument/2006/relationships/slideLayout" Target="../slideLayouts/slideLayout2.xml" /></Relationships>
</file>

<file path=ppt/slides/_rels/slide46.xml.rels><?xml version="1.0" encoding="UTF-8" standalone="yes"?>
<Relationships xmlns="http://schemas.openxmlformats.org/package/2006/relationships"><Relationship Id="rId8" Type="http://schemas.openxmlformats.org/officeDocument/2006/relationships/image" Target="../media/image74.png" /><Relationship Id="rId13" Type="http://schemas.openxmlformats.org/officeDocument/2006/relationships/image" Target="../media/image79.png" /><Relationship Id="rId3" Type="http://schemas.openxmlformats.org/officeDocument/2006/relationships/image" Target="../media/image59.jpeg" /><Relationship Id="rId7" Type="http://schemas.openxmlformats.org/officeDocument/2006/relationships/image" Target="../media/image73.png" /><Relationship Id="rId12" Type="http://schemas.openxmlformats.org/officeDocument/2006/relationships/image" Target="../media/image78.png" /><Relationship Id="rId2" Type="http://schemas.openxmlformats.org/officeDocument/2006/relationships/image" Target="../media/image58.jpeg" /><Relationship Id="rId16" Type="http://schemas.openxmlformats.org/officeDocument/2006/relationships/image" Target="../media/image82.png" /><Relationship Id="rId1" Type="http://schemas.openxmlformats.org/officeDocument/2006/relationships/slideLayout" Target="../slideLayouts/slideLayout4.xml" /><Relationship Id="rId6" Type="http://schemas.openxmlformats.org/officeDocument/2006/relationships/image" Target="../media/image71.png" /><Relationship Id="rId11" Type="http://schemas.openxmlformats.org/officeDocument/2006/relationships/image" Target="../media/image77.jpeg" /><Relationship Id="rId5" Type="http://schemas.openxmlformats.org/officeDocument/2006/relationships/image" Target="../media/image61.jpeg" /><Relationship Id="rId15" Type="http://schemas.openxmlformats.org/officeDocument/2006/relationships/image" Target="../media/image81.png" /><Relationship Id="rId10" Type="http://schemas.openxmlformats.org/officeDocument/2006/relationships/image" Target="../media/image76.jpeg" /><Relationship Id="rId4" Type="http://schemas.openxmlformats.org/officeDocument/2006/relationships/image" Target="../media/image60.jpeg" /><Relationship Id="rId9" Type="http://schemas.openxmlformats.org/officeDocument/2006/relationships/image" Target="../media/image75.png" /><Relationship Id="rId14" Type="http://schemas.openxmlformats.org/officeDocument/2006/relationships/image" Target="../media/image80.png" /></Relationships>
</file>

<file path=ppt/slides/_rels/slide47.xml.rels><?xml version="1.0" encoding="UTF-8" standalone="yes"?>
<Relationships xmlns="http://schemas.openxmlformats.org/package/2006/relationships"><Relationship Id="rId8" Type="http://schemas.openxmlformats.org/officeDocument/2006/relationships/hyperlink" Target="http://proceedings.mlr.press/v28/pascanu13-supp.pdf" TargetMode="External" /><Relationship Id="rId3" Type="http://schemas.openxmlformats.org/officeDocument/2006/relationships/image" Target="../media/image83.jpeg" /><Relationship Id="rId7" Type="http://schemas.openxmlformats.org/officeDocument/2006/relationships/hyperlink" Target="http://proceedings.mlr.press/v28/pascanu13.pdf" TargetMode="External" /><Relationship Id="rId2" Type="http://schemas.openxmlformats.org/officeDocument/2006/relationships/image" Target="../media/image91.png" /><Relationship Id="rId1" Type="http://schemas.openxmlformats.org/officeDocument/2006/relationships/slideLayout" Target="../slideLayouts/slideLayout2.xml" /><Relationship Id="rId6" Type="http://schemas.openxmlformats.org/officeDocument/2006/relationships/image" Target="../media/image95.png" /><Relationship Id="rId5" Type="http://schemas.openxmlformats.org/officeDocument/2006/relationships/image" Target="../media/image85.png" /><Relationship Id="rId4" Type="http://schemas.openxmlformats.org/officeDocument/2006/relationships/image" Target="../media/image84.png" /></Relationships>
</file>

<file path=ppt/slides/_rels/slide48.xml.rels><?xml version="1.0" encoding="UTF-8" standalone="yes"?>
<Relationships xmlns="http://schemas.openxmlformats.org/package/2006/relationships"><Relationship Id="rId8" Type="http://schemas.openxmlformats.org/officeDocument/2006/relationships/image" Target="../media/image88.png" /><Relationship Id="rId3" Type="http://schemas.openxmlformats.org/officeDocument/2006/relationships/image" Target="../media/image97.png" /><Relationship Id="rId7" Type="http://schemas.openxmlformats.org/officeDocument/2006/relationships/image" Target="../media/image87.jpeg" /><Relationship Id="rId2" Type="http://schemas.openxmlformats.org/officeDocument/2006/relationships/image" Target="../media/image96.png" /><Relationship Id="rId1" Type="http://schemas.openxmlformats.org/officeDocument/2006/relationships/slideLayout" Target="../slideLayouts/slideLayout2.xml" /><Relationship Id="rId6" Type="http://schemas.openxmlformats.org/officeDocument/2006/relationships/image" Target="../media/image86.png" /><Relationship Id="rId5" Type="http://schemas.openxmlformats.org/officeDocument/2006/relationships/hyperlink" Target="http://proceedings.mlr.press/v28/pascanu13-supp.pdf" TargetMode="External" /><Relationship Id="rId4" Type="http://schemas.openxmlformats.org/officeDocument/2006/relationships/hyperlink" Target="http://proceedings.mlr.press/v28/pascanu13.pdf" TargetMode="External" /></Relationships>
</file>

<file path=ppt/slides/_rels/slide49.xml.rels><?xml version="1.0" encoding="UTF-8" standalone="yes"?>
<Relationships xmlns="http://schemas.openxmlformats.org/package/2006/relationships"><Relationship Id="rId3" Type="http://schemas.openxmlformats.org/officeDocument/2006/relationships/image" Target="../media/image89.jpeg" /><Relationship Id="rId2" Type="http://schemas.openxmlformats.org/officeDocument/2006/relationships/notesSlide" Target="../notesSlides/notesSlide2.xml" /><Relationship Id="rId1" Type="http://schemas.openxmlformats.org/officeDocument/2006/relationships/slideLayout" Target="../slideLayouts/slideLayout2.xml" /><Relationship Id="rId5" Type="http://schemas.openxmlformats.org/officeDocument/2006/relationships/image" Target="../media/image102.png" /><Relationship Id="rId4" Type="http://schemas.openxmlformats.org/officeDocument/2006/relationships/hyperlink" Target="https://arxiv.org/abs/1412.3555" TargetMode="External" /></Relationships>
</file>

<file path=ppt/slides/_rels/slide50.xml.rels><?xml version="1.0" encoding="UTF-8" standalone="yes"?>
<Relationships xmlns="http://schemas.openxmlformats.org/package/2006/relationships"><Relationship Id="rId3" Type="http://schemas.openxmlformats.org/officeDocument/2006/relationships/image" Target="../media/image103.png" /><Relationship Id="rId2" Type="http://schemas.openxmlformats.org/officeDocument/2006/relationships/hyperlink" Target="https://proceedings.neurips.cc/paper/2021/hash/ef452c63f81d0105dd4486f775adec81-Abstract.html" TargetMode="External" /><Relationship Id="rId1" Type="http://schemas.openxmlformats.org/officeDocument/2006/relationships/slideLayout" Target="../slideLayouts/slideLayout2.xml" /><Relationship Id="rId4" Type="http://schemas.openxmlformats.org/officeDocument/2006/relationships/image" Target="../media/image104.png" /></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 standalone="yes"?>
<Relationships xmlns="http://schemas.openxmlformats.org/package/2006/relationships"><Relationship Id="rId3" Type="http://schemas.openxmlformats.org/officeDocument/2006/relationships/image" Target="../media/image105.png" /><Relationship Id="rId7" Type="http://schemas.openxmlformats.org/officeDocument/2006/relationships/image" Target="../media/image90.png" /><Relationship Id="rId2" Type="http://schemas.openxmlformats.org/officeDocument/2006/relationships/notesSlide" Target="../notesSlides/notesSlide3.xml" /><Relationship Id="rId1" Type="http://schemas.openxmlformats.org/officeDocument/2006/relationships/slideLayout" Target="../slideLayouts/slideLayout2.xml" /><Relationship Id="rId6" Type="http://schemas.openxmlformats.org/officeDocument/2006/relationships/customXml" Target="../ink/ink5.xml" /><Relationship Id="rId5" Type="http://schemas.openxmlformats.org/officeDocument/2006/relationships/image" Target="../media/image106.png" /><Relationship Id="rId4" Type="http://schemas.openxmlformats.org/officeDocument/2006/relationships/image" Target="../media/image103.png" /></Relationships>
</file>

<file path=ppt/slides/_rels/slide53.xml.rels><?xml version="1.0" encoding="UTF-8" standalone="yes"?>
<Relationships xmlns="http://schemas.openxmlformats.org/package/2006/relationships"><Relationship Id="rId3" Type="http://schemas.openxmlformats.org/officeDocument/2006/relationships/hyperlink" Target="https://arxiv.org/abs/1611.00712" TargetMode="External" /><Relationship Id="rId2" Type="http://schemas.openxmlformats.org/officeDocument/2006/relationships/hyperlink" Target="https://arxiv.org/abs/1308.3432" TargetMode="External" /><Relationship Id="rId1" Type="http://schemas.openxmlformats.org/officeDocument/2006/relationships/slideLayout" Target="../slideLayouts/slideLayout2.xml" /><Relationship Id="rId4" Type="http://schemas.openxmlformats.org/officeDocument/2006/relationships/image" Target="../media/image107.png" /></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 standalone="yes"?>
<Relationships xmlns="http://schemas.openxmlformats.org/package/2006/relationships"><Relationship Id="rId3" Type="http://schemas.openxmlformats.org/officeDocument/2006/relationships/image" Target="../media/image108.png" /><Relationship Id="rId2" Type="http://schemas.openxmlformats.org/officeDocument/2006/relationships/notesSlide" Target="../notesSlides/notesSlide4.xml" /><Relationship Id="rId1" Type="http://schemas.openxmlformats.org/officeDocument/2006/relationships/slideLayout" Target="../slideLayouts/slideLayout2.xml" /></Relationships>
</file>

<file path=ppt/slides/_rels/slide56.xml.rels><?xml version="1.0" encoding="UTF-8" standalone="yes"?>
<Relationships xmlns="http://schemas.openxmlformats.org/package/2006/relationships"><Relationship Id="rId3" Type="http://schemas.openxmlformats.org/officeDocument/2006/relationships/hyperlink" Target="https://huggingface.co/blog/how-to-generate" TargetMode="External" /><Relationship Id="rId2" Type="http://schemas.openxmlformats.org/officeDocument/2006/relationships/notesSlide" Target="../notesSlides/notesSlide5.xml" /><Relationship Id="rId1" Type="http://schemas.openxmlformats.org/officeDocument/2006/relationships/slideLayout" Target="../slideLayouts/slideLayout2.xml" /><Relationship Id="rId4" Type="http://schemas.openxmlformats.org/officeDocument/2006/relationships/image" Target="../media/image109.png" /></Relationships>
</file>

<file path=ppt/slides/_rels/slide57.xml.rels><?xml version="1.0" encoding="UTF-8" standalone="yes"?>
<Relationships xmlns="http://schemas.openxmlformats.org/package/2006/relationships"><Relationship Id="rId3" Type="http://schemas.openxmlformats.org/officeDocument/2006/relationships/image" Target="../media/image111.png" /><Relationship Id="rId2" Type="http://schemas.openxmlformats.org/officeDocument/2006/relationships/image" Target="../media/image92.png" /><Relationship Id="rId1" Type="http://schemas.openxmlformats.org/officeDocument/2006/relationships/slideLayout" Target="../slideLayouts/slideLayout7.xml" /><Relationship Id="rId5" Type="http://schemas.openxmlformats.org/officeDocument/2006/relationships/image" Target="../media/image112.png" /><Relationship Id="rId4" Type="http://schemas.openxmlformats.org/officeDocument/2006/relationships/customXml" Target="../ink/ink6.xml" /></Relationships>
</file>

<file path=ppt/slides/_rels/slide58.xml.rels><?xml version="1.0" encoding="UTF-8" standalone="yes"?>
<Relationships xmlns="http://schemas.openxmlformats.org/package/2006/relationships"><Relationship Id="rId3" Type="http://schemas.openxmlformats.org/officeDocument/2006/relationships/image" Target="../media/image114.png" /><Relationship Id="rId2" Type="http://schemas.openxmlformats.org/officeDocument/2006/relationships/image" Target="../media/image93.png" /><Relationship Id="rId1" Type="http://schemas.openxmlformats.org/officeDocument/2006/relationships/slideLayout" Target="../slideLayouts/slideLayout8.xml" /></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 /></Relationships>
</file>

<file path=ppt/slides/_rels/slide60.xml.rels><?xml version="1.0" encoding="UTF-8" standalone="yes"?>
<Relationships xmlns="http://schemas.openxmlformats.org/package/2006/relationships"><Relationship Id="rId2" Type="http://schemas.openxmlformats.org/officeDocument/2006/relationships/image" Target="../media/image94.jpeg" /><Relationship Id="rId1" Type="http://schemas.openxmlformats.org/officeDocument/2006/relationships/slideLayout" Target="../slideLayouts/slideLayout5.xml" /></Relationships>
</file>

<file path=ppt/slides/_rels/slide61.xml.rels><?xml version="1.0" encoding="UTF-8" standalone="yes"?>
<Relationships xmlns="http://schemas.openxmlformats.org/package/2006/relationships"><Relationship Id="rId2" Type="http://schemas.openxmlformats.org/officeDocument/2006/relationships/image" Target="../media/image94.jpeg" /><Relationship Id="rId1" Type="http://schemas.openxmlformats.org/officeDocument/2006/relationships/slideLayout" Target="../slideLayouts/slideLayout5.xml" /></Relationships>
</file>

<file path=ppt/slides/_rels/slide62.xml.rels><?xml version="1.0" encoding="UTF-8" standalone="yes"?>
<Relationships xmlns="http://schemas.openxmlformats.org/package/2006/relationships"><Relationship Id="rId2" Type="http://schemas.openxmlformats.org/officeDocument/2006/relationships/image" Target="../media/image94.jpeg" /><Relationship Id="rId1" Type="http://schemas.openxmlformats.org/officeDocument/2006/relationships/slideLayout" Target="../slideLayouts/slideLayout5.xml" /></Relationships>
</file>

<file path=ppt/slides/_rels/slide63.xml.rels><?xml version="1.0" encoding="UTF-8" standalone="yes"?>
<Relationships xmlns="http://schemas.openxmlformats.org/package/2006/relationships"><Relationship Id="rId2" Type="http://schemas.openxmlformats.org/officeDocument/2006/relationships/image" Target="../media/image94.jpeg" /><Relationship Id="rId1" Type="http://schemas.openxmlformats.org/officeDocument/2006/relationships/slideLayout" Target="../slideLayouts/slideLayout5.xml" /></Relationships>
</file>

<file path=ppt/slides/_rels/slide64.xml.rels><?xml version="1.0" encoding="UTF-8" standalone="yes"?>
<Relationships xmlns="http://schemas.openxmlformats.org/package/2006/relationships"><Relationship Id="rId2" Type="http://schemas.openxmlformats.org/officeDocument/2006/relationships/image" Target="../media/image94.jpeg" /><Relationship Id="rId1" Type="http://schemas.openxmlformats.org/officeDocument/2006/relationships/slideLayout" Target="../slideLayouts/slideLayout5.xml" /></Relationships>
</file>

<file path=ppt/slides/_rels/slide65.xml.rels><?xml version="1.0" encoding="UTF-8" standalone="yes"?>
<Relationships xmlns="http://schemas.openxmlformats.org/package/2006/relationships"><Relationship Id="rId2" Type="http://schemas.openxmlformats.org/officeDocument/2006/relationships/image" Target="../media/image94.jpeg" /><Relationship Id="rId1" Type="http://schemas.openxmlformats.org/officeDocument/2006/relationships/slideLayout" Target="../slideLayouts/slideLayout5.xml" /></Relationships>
</file>

<file path=ppt/slides/_rels/slide66.xml.rels><?xml version="1.0" encoding="UTF-8" standalone="yes"?>
<Relationships xmlns="http://schemas.openxmlformats.org/package/2006/relationships"><Relationship Id="rId2" Type="http://schemas.openxmlformats.org/officeDocument/2006/relationships/image" Target="../media/image94.jpeg" /><Relationship Id="rId1" Type="http://schemas.openxmlformats.org/officeDocument/2006/relationships/slideLayout" Target="../slideLayouts/slideLayout5.xml" /></Relationships>
</file>

<file path=ppt/slides/_rels/slide67.xml.rels><?xml version="1.0" encoding="UTF-8" standalone="yes"?>
<Relationships xmlns="http://schemas.openxmlformats.org/package/2006/relationships"><Relationship Id="rId2" Type="http://schemas.openxmlformats.org/officeDocument/2006/relationships/image" Target="../media/image94.jpeg" /><Relationship Id="rId1" Type="http://schemas.openxmlformats.org/officeDocument/2006/relationships/slideLayout" Target="../slideLayouts/slideLayout5.xml" /></Relationships>
</file>

<file path=ppt/slides/_rels/slide68.xml.rels><?xml version="1.0" encoding="UTF-8" standalone="yes"?>
<Relationships xmlns="http://schemas.openxmlformats.org/package/2006/relationships"><Relationship Id="rId2" Type="http://schemas.openxmlformats.org/officeDocument/2006/relationships/image" Target="../media/image94.jpeg" /><Relationship Id="rId1" Type="http://schemas.openxmlformats.org/officeDocument/2006/relationships/slideLayout" Target="../slideLayouts/slideLayout5.xml" /></Relationships>
</file>

<file path=ppt/slides/_rels/slide69.xml.rels><?xml version="1.0" encoding="UTF-8" standalone="yes"?>
<Relationships xmlns="http://schemas.openxmlformats.org/package/2006/relationships"><Relationship Id="rId2" Type="http://schemas.openxmlformats.org/officeDocument/2006/relationships/image" Target="../media/image94.jpeg" /><Relationship Id="rId1" Type="http://schemas.openxmlformats.org/officeDocument/2006/relationships/slideLayout" Target="../slideLayouts/slideLayout5.xml" /></Relationships>
</file>

<file path=ppt/slides/_rels/slide70.xml.rels><?xml version="1.0" encoding="UTF-8" standalone="yes"?>
<Relationships xmlns="http://schemas.openxmlformats.org/package/2006/relationships"><Relationship Id="rId2" Type="http://schemas.openxmlformats.org/officeDocument/2006/relationships/image" Target="../media/image94.jpeg" /><Relationship Id="rId1" Type="http://schemas.openxmlformats.org/officeDocument/2006/relationships/slideLayout" Target="../slideLayouts/slideLayout5.xml" /></Relationships>
</file>

<file path=ppt/slides/_rels/slide71.xml.rels><?xml version="1.0" encoding="UTF-8" standalone="yes"?>
<Relationships xmlns="http://schemas.openxmlformats.org/package/2006/relationships"><Relationship Id="rId2" Type="http://schemas.openxmlformats.org/officeDocument/2006/relationships/image" Target="../media/image94.jpeg" /><Relationship Id="rId1" Type="http://schemas.openxmlformats.org/officeDocument/2006/relationships/slideLayout" Target="../slideLayouts/slideLayout5.xml" /></Relationships>
</file>

<file path=ppt/slides/_rels/slide72.xml.rels><?xml version="1.0" encoding="UTF-8" standalone="yes"?>
<Relationships xmlns="http://schemas.openxmlformats.org/package/2006/relationships"><Relationship Id="rId8" Type="http://schemas.openxmlformats.org/officeDocument/2006/relationships/image" Target="../media/image118.png" /><Relationship Id="rId3" Type="http://schemas.openxmlformats.org/officeDocument/2006/relationships/hyperlink" Target="https://en.wikipedia.org/wiki/Teacher_forcing" TargetMode="External" /><Relationship Id="rId7" Type="http://schemas.openxmlformats.org/officeDocument/2006/relationships/customXml" Target="../ink/ink7.xml" /><Relationship Id="rId2" Type="http://schemas.openxmlformats.org/officeDocument/2006/relationships/notesSlide" Target="../notesSlides/notesSlide6.xml" /><Relationship Id="rId1" Type="http://schemas.openxmlformats.org/officeDocument/2006/relationships/slideLayout" Target="../slideLayouts/slideLayout2.xml" /><Relationship Id="rId6" Type="http://schemas.openxmlformats.org/officeDocument/2006/relationships/image" Target="../media/image117.png" /><Relationship Id="rId5" Type="http://schemas.openxmlformats.org/officeDocument/2006/relationships/image" Target="../media/image103.png" /><Relationship Id="rId4" Type="http://schemas.openxmlformats.org/officeDocument/2006/relationships/image" Target="../media/image116.png" /></Relationships>
</file>

<file path=ppt/slides/_rels/slide73.xml.rels><?xml version="1.0" encoding="UTF-8" standalone="yes"?>
<Relationships xmlns="http://schemas.openxmlformats.org/package/2006/relationships"><Relationship Id="rId2" Type="http://schemas.openxmlformats.org/officeDocument/2006/relationships/image" Target="../media/image98.png" /><Relationship Id="rId1" Type="http://schemas.openxmlformats.org/officeDocument/2006/relationships/slideLayout" Target="../slideLayouts/slideLayout9.xml" /></Relationships>
</file>

<file path=ppt/slides/_rels/slide74.xml.rels><?xml version="1.0" encoding="UTF-8" standalone="yes"?>
<Relationships xmlns="http://schemas.openxmlformats.org/package/2006/relationships"><Relationship Id="rId3" Type="http://schemas.openxmlformats.org/officeDocument/2006/relationships/image" Target="../media/image99.png" /><Relationship Id="rId2" Type="http://schemas.openxmlformats.org/officeDocument/2006/relationships/image" Target="../media/image120.png" /><Relationship Id="rId1" Type="http://schemas.openxmlformats.org/officeDocument/2006/relationships/slideLayout" Target="../slideLayouts/slideLayout10.xml" /><Relationship Id="rId5" Type="http://schemas.openxmlformats.org/officeDocument/2006/relationships/image" Target="../media/image123.png" /><Relationship Id="rId4" Type="http://schemas.openxmlformats.org/officeDocument/2006/relationships/image" Target="../media/image122.png" /></Relationships>
</file>

<file path=ppt/slides/_rels/slide75.xml.rels><?xml version="1.0" encoding="UTF-8" standalone="yes"?>
<Relationships xmlns="http://schemas.openxmlformats.org/package/2006/relationships"><Relationship Id="rId3" Type="http://schemas.openxmlformats.org/officeDocument/2006/relationships/hyperlink" Target="https://arxiv.org/abs/1904.09751" TargetMode="External" /><Relationship Id="rId7" Type="http://schemas.openxmlformats.org/officeDocument/2006/relationships/image" Target="../media/image128.png" /><Relationship Id="rId2" Type="http://schemas.openxmlformats.org/officeDocument/2006/relationships/image" Target="../media/image100.png" /><Relationship Id="rId1" Type="http://schemas.openxmlformats.org/officeDocument/2006/relationships/slideLayout" Target="../slideLayouts/slideLayout11.xml" /><Relationship Id="rId6" Type="http://schemas.openxmlformats.org/officeDocument/2006/relationships/image" Target="../media/image127.png" /><Relationship Id="rId5" Type="http://schemas.openxmlformats.org/officeDocument/2006/relationships/image" Target="../media/image126.png" /><Relationship Id="rId4" Type="http://schemas.openxmlformats.org/officeDocument/2006/relationships/image" Target="../media/image125.png" /></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7.xml.rels><?xml version="1.0" encoding="UTF-8" standalone="yes"?>
<Relationships xmlns="http://schemas.openxmlformats.org/package/2006/relationships"><Relationship Id="rId2" Type="http://schemas.openxmlformats.org/officeDocument/2006/relationships/image" Target="../media/image101.png" /><Relationship Id="rId1" Type="http://schemas.openxmlformats.org/officeDocument/2006/relationships/slideLayout" Target="../slideLayouts/slideLayout2.xml" /></Relationships>
</file>

<file path=ppt/slides/_rels/slide78.xml.rels><?xml version="1.0" encoding="UTF-8" standalone="yes"?>
<Relationships xmlns="http://schemas.openxmlformats.org/package/2006/relationships"><Relationship Id="rId3" Type="http://schemas.openxmlformats.org/officeDocument/2006/relationships/image" Target="../media/image113.png" /><Relationship Id="rId2" Type="http://schemas.openxmlformats.org/officeDocument/2006/relationships/image" Target="../media/image110.png" /><Relationship Id="rId1" Type="http://schemas.openxmlformats.org/officeDocument/2006/relationships/slideLayout" Target="../slideLayouts/slideLayout2.xml" /><Relationship Id="rId6" Type="http://schemas.openxmlformats.org/officeDocument/2006/relationships/image" Target="../media/image133.png" /><Relationship Id="rId5" Type="http://schemas.openxmlformats.org/officeDocument/2006/relationships/customXml" Target="../ink/ink8.xml" /><Relationship Id="rId4" Type="http://schemas.openxmlformats.org/officeDocument/2006/relationships/image" Target="../media/image115.png" /></Relationships>
</file>

<file path=ppt/slides/_rels/slide79.xml.rels><?xml version="1.0" encoding="UTF-8" standalone="yes"?>
<Relationships xmlns="http://schemas.openxmlformats.org/package/2006/relationships"><Relationship Id="rId3" Type="http://schemas.openxmlformats.org/officeDocument/2006/relationships/customXml" Target="../ink/ink9.xml" /><Relationship Id="rId2" Type="http://schemas.openxmlformats.org/officeDocument/2006/relationships/image" Target="../media/image119.png" /><Relationship Id="rId1" Type="http://schemas.openxmlformats.org/officeDocument/2006/relationships/slideLayout" Target="../slideLayouts/slideLayout2.xml" /><Relationship Id="rId4" Type="http://schemas.openxmlformats.org/officeDocument/2006/relationships/image" Target="../media/image135.png" /></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chor="ctr">
            <a:normAutofit/>
          </a:bodyPr>
          <a:lstStyle/>
          <a:p>
            <a:r>
              <a:rPr lang="en-US"/>
              <a:t>Word and Passage Embeddings</a:t>
            </a:r>
          </a:p>
        </p:txBody>
      </p:sp>
      <p:sp>
        <p:nvSpPr>
          <p:cNvPr id="9" name="Subtitle 8"/>
          <p:cNvSpPr>
            <a:spLocks noGrp="1"/>
          </p:cNvSpPr>
          <p:nvPr>
            <p:ph type="subTitle" idx="1"/>
          </p:nvPr>
        </p:nvSpPr>
        <p:spPr/>
        <p:txBody>
          <a:bodyPr anchor="ctr">
            <a:noAutofit/>
          </a:bodyPr>
          <a:lstStyle/>
          <a:p>
            <a:r>
              <a:rPr lang="en-US" sz="3200">
                <a:solidFill>
                  <a:schemeClr val="tx1">
                    <a:lumMod val="75000"/>
                    <a:lumOff val="25000"/>
                  </a:schemeClr>
                </a:solidFill>
              </a:rPr>
              <a:t>CS728</a:t>
            </a:r>
          </a:p>
          <a:p>
            <a:r>
              <a:rPr lang="en-US" sz="3200">
                <a:solidFill>
                  <a:schemeClr val="tx1">
                    <a:lumMod val="75000"/>
                    <a:lumOff val="25000"/>
                  </a:schemeClr>
                </a:solidFill>
              </a:rPr>
              <a:t>Soumen Chakrabarti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The company words keep</a:t>
            </a:r>
          </a:p>
        </p:txBody>
      </p:sp>
      <p:sp>
        <p:nvSpPr>
          <p:cNvPr id="3" name="Text Placeholder 2"/>
          <p:cNvSpPr>
            <a:spLocks noGrp="1"/>
          </p:cNvSpPr>
          <p:nvPr>
            <p:ph type="body" idx="1"/>
          </p:nvPr>
        </p:nvSpPr>
        <p:spPr/>
        <p:txBody>
          <a:bodyPr>
            <a:normAutofit fontScale="75000" lnSpcReduction="10000"/>
          </a:bodyPr>
          <a:lstStyle/>
          <a:p>
            <a:r>
              <a:rPr lang="en-US"/>
              <a:t>Finite labeled data, feature sparsity, and out-of-vocabulary (OOV) words/features have always troubled NLP tasks</a:t>
            </a:r>
          </a:p>
          <a:p>
            <a:r>
              <a:rPr lang="en-US"/>
              <a:t>E.g. we saw </a:t>
            </a:r>
            <a:r>
              <a:rPr lang="en-US">
                <a:effectLst>
                  <a:glow rad="228600">
                    <a:schemeClr val="accent6">
                      <a:satMod val="175000"/>
                      <a:alpha val="40000"/>
                    </a:schemeClr>
                  </a:glow>
                </a:effectLst>
              </a:rPr>
              <a:t>car</a:t>
            </a:r>
            <a:r>
              <a:rPr lang="en-US"/>
              <a:t> in the training sequences but never </a:t>
            </a:r>
            <a:r>
              <a:rPr lang="en-US">
                <a:effectLst>
                  <a:glow rad="228600">
                    <a:schemeClr val="accent2">
                      <a:satMod val="175000"/>
                      <a:alpha val="40000"/>
                    </a:schemeClr>
                  </a:glow>
                </a:effectLst>
              </a:rPr>
              <a:t>sedan</a:t>
            </a:r>
            <a:r>
              <a:rPr lang="en-US"/>
              <a:t>, or </a:t>
            </a:r>
            <a:r>
              <a:rPr lang="en-US">
                <a:effectLst>
                  <a:glow rad="228600">
                    <a:schemeClr val="accent2">
                      <a:satMod val="175000"/>
                      <a:alpha val="40000"/>
                    </a:schemeClr>
                  </a:glow>
                </a:effectLst>
              </a:rPr>
              <a:t>Shanghai</a:t>
            </a:r>
            <a:r>
              <a:rPr lang="en-US"/>
              <a:t> in test data but only other cities in training data</a:t>
            </a:r>
          </a:p>
          <a:p>
            <a:r>
              <a:rPr lang="en-US"/>
              <a:t>But an unlabeled corpus has enough clues that these are related</a:t>
            </a:r>
          </a:p>
          <a:p>
            <a:r>
              <a:rPr lang="en-US"/>
              <a:t>A well-established partial fix is </a:t>
            </a:r>
            <a:r>
              <a:rPr lang="en-US">
                <a:hlinkClick r:id="rId2"/>
              </a:rPr>
              <a:t>word cluster features</a:t>
            </a:r>
            <a:endParaRPr lang="en-US"/>
          </a:p>
          <a:p>
            <a:r>
              <a:rPr lang="en-US"/>
              <a:t>First </a:t>
            </a:r>
            <a:r>
              <a:rPr lang="en-US">
                <a:hlinkClick r:id="rId3"/>
              </a:rPr>
              <a:t>proposed by IBM researchers in 1992</a:t>
            </a:r>
            <a:endParaRPr lang="en-US"/>
          </a:p>
          <a:p>
            <a:pPr lvl="1"/>
            <a:r>
              <a:rPr lang="en-US"/>
              <a:t>{car, sedan, EV, convertible, …}</a:t>
            </a:r>
            <a:r>
              <a:rPr lang="en-US" baseline="-25000"/>
              <a:t>(53)</a:t>
            </a:r>
            <a:r>
              <a:rPr lang="en-US"/>
              <a:t> </a:t>
            </a:r>
            <a:br>
              <a:rPr lang="en-US"/>
            </a:br>
            <a:r>
              <a:rPr lang="en-US"/>
              <a:t>{Shanghai, Beijing, Hong Kong, …}</a:t>
            </a:r>
            <a:r>
              <a:rPr lang="en-US" baseline="-25000"/>
              <a:t>(55)</a:t>
            </a:r>
            <a:endParaRPr lang="en-US"/>
          </a:p>
          <a:p>
            <a:pPr lvl="1"/>
            <a:r>
              <a:rPr lang="en-US"/>
              <a:t>Cluster IDs 53, 55, etc., used as features</a:t>
            </a:r>
          </a:p>
          <a:p>
            <a:pPr lvl="0"/>
            <a:r>
              <a:rPr lang="en-US" sz="4000"/>
              <a:t>How to cluster? (next)</a:t>
            </a:r>
            <a:endParaRPr lang="en-US"/>
          </a:p>
          <a:p>
            <a:pPr lvl="1"/>
            <a:r>
              <a:rPr lang="en-US" i="1"/>
              <a:t>“You shall know a word by the company it keeps.” </a:t>
            </a:r>
            <a:r>
              <a:rPr lang="en-US" i="1">
                <a:latin typeface="Arial" panose="020B0604020202020204" pitchFamily="34" charset="0"/>
                <a:cs typeface="Arial" panose="020B0604020202020204" pitchFamily="34" charset="0"/>
              </a:rPr>
              <a:t>—</a:t>
            </a:r>
            <a:r>
              <a:rPr lang="en-US">
                <a:sym typeface="Symbol" panose="05050102010706020507" pitchFamily="18" charset="2"/>
              </a:rPr>
              <a:t>John Firth, 1957 </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Distributional word bags</a:t>
            </a:r>
          </a:p>
        </p:txBody>
      </p:sp>
      <p:sp>
        <p:nvSpPr>
          <p:cNvPr id="4" name="TextBox 3"/>
          <p:cNvSpPr txBox="1"/>
          <p:nvPr/>
        </p:nvSpPr>
        <p:spPr>
          <a:xfrm>
            <a:off x="157" y="4968463"/>
            <a:ext cx="8997950" cy="1198880"/>
          </a:xfrm>
          <a:prstGeom prst="rect">
            <a:avLst/>
          </a:prstGeom>
          <a:solidFill>
            <a:schemeClr val="bg1">
              <a:lumMod val="95000"/>
            </a:schemeClr>
          </a:solidFill>
        </p:spPr>
        <p:txBody>
          <a:bodyPr wrap="none" rtlCol="0">
            <a:spAutoFit/>
          </a:bodyPr>
          <a:lstStyle/>
          <a:p>
            <a:r>
              <a:rPr lang="en-US"/>
              <a:t>To ensure you receive a genuine </a:t>
            </a:r>
            <a:r>
              <a:rPr lang="en-US" b="1"/>
              <a:t>Apple</a:t>
            </a:r>
            <a:r>
              <a:rPr lang="en-US"/>
              <a:t> battery during a battery replacement…</a:t>
            </a:r>
          </a:p>
          <a:p>
            <a:r>
              <a:rPr lang="en-US"/>
              <a:t>The new </a:t>
            </a:r>
            <a:r>
              <a:rPr lang="en-US" b="1"/>
              <a:t>Apple</a:t>
            </a:r>
            <a:r>
              <a:rPr lang="en-US"/>
              <a:t>‑designed H2 chip is the force behind </a:t>
            </a:r>
            <a:r>
              <a:rPr lang="en-US" err="1"/>
              <a:t>AirPods</a:t>
            </a:r>
            <a:r>
              <a:rPr lang="en-US"/>
              <a:t> Pro…</a:t>
            </a:r>
          </a:p>
          <a:p>
            <a:r>
              <a:rPr lang="en-US"/>
              <a:t>Tech giant </a:t>
            </a:r>
            <a:r>
              <a:rPr lang="en-US" b="1"/>
              <a:t>Apple</a:t>
            </a:r>
            <a:r>
              <a:rPr lang="en-US"/>
              <a:t> is reportedly working on a standalone classical music application…</a:t>
            </a:r>
          </a:p>
          <a:p>
            <a:r>
              <a:rPr lang="en-US"/>
              <a:t>Amazon follows </a:t>
            </a:r>
            <a:r>
              <a:rPr lang="en-US" b="1"/>
              <a:t>Apple</a:t>
            </a:r>
            <a:r>
              <a:rPr lang="en-US"/>
              <a:t> in increasing music streaming prices</a:t>
            </a:r>
          </a:p>
        </p:txBody>
      </p:sp>
      <p:sp>
        <p:nvSpPr>
          <p:cNvPr id="5" name="TextBox 4"/>
          <p:cNvSpPr txBox="1"/>
          <p:nvPr/>
        </p:nvSpPr>
        <p:spPr>
          <a:xfrm>
            <a:off x="0" y="1383030"/>
            <a:ext cx="8885555" cy="1198880"/>
          </a:xfrm>
          <a:prstGeom prst="rect">
            <a:avLst/>
          </a:prstGeom>
          <a:solidFill>
            <a:schemeClr val="bg1">
              <a:lumMod val="95000"/>
            </a:schemeClr>
          </a:solidFill>
        </p:spPr>
        <p:txBody>
          <a:bodyPr wrap="square" rtlCol="0">
            <a:spAutoFit/>
          </a:bodyPr>
          <a:lstStyle/>
          <a:p>
            <a:r>
              <a:rPr lang="en-US" b="1"/>
              <a:t>Guava</a:t>
            </a:r>
            <a:r>
              <a:rPr lang="en-US"/>
              <a:t> contains nutrients such as vitamin C, lycopene and antioxidants. </a:t>
            </a:r>
          </a:p>
          <a:p>
            <a:r>
              <a:rPr lang="en-US"/>
              <a:t>How to Use </a:t>
            </a:r>
            <a:r>
              <a:rPr lang="en-US" b="1"/>
              <a:t>Guava</a:t>
            </a:r>
            <a:r>
              <a:rPr lang="en-US"/>
              <a:t> Leaves to Control Blood Sugar Level</a:t>
            </a:r>
          </a:p>
          <a:p>
            <a:r>
              <a:rPr lang="en-US"/>
              <a:t>Man Arrested For Attacking Boy Who Threw Stones At </a:t>
            </a:r>
            <a:r>
              <a:rPr lang="en-US" b="1"/>
              <a:t>Guava</a:t>
            </a:r>
            <a:r>
              <a:rPr lang="en-US"/>
              <a:t> Tree At His Home</a:t>
            </a:r>
          </a:p>
          <a:p>
            <a:r>
              <a:rPr lang="en-US"/>
              <a:t>For many of us, the </a:t>
            </a:r>
            <a:r>
              <a:rPr lang="en-US" b="1"/>
              <a:t>guava</a:t>
            </a:r>
            <a:r>
              <a:rPr lang="en-US"/>
              <a:t> tree is just a source of delicious and nutritious fruits.</a:t>
            </a:r>
          </a:p>
        </p:txBody>
      </p:sp>
      <p:sp>
        <p:nvSpPr>
          <p:cNvPr id="3" name="TextBox 2"/>
          <p:cNvSpPr txBox="1"/>
          <p:nvPr/>
        </p:nvSpPr>
        <p:spPr>
          <a:xfrm>
            <a:off x="0" y="3175635"/>
            <a:ext cx="9997440" cy="1198880"/>
          </a:xfrm>
          <a:prstGeom prst="rect">
            <a:avLst/>
          </a:prstGeom>
          <a:solidFill>
            <a:schemeClr val="bg1">
              <a:lumMod val="95000"/>
            </a:schemeClr>
          </a:solidFill>
        </p:spPr>
        <p:txBody>
          <a:bodyPr wrap="square" rtlCol="0">
            <a:spAutoFit/>
          </a:bodyPr>
          <a:lstStyle/>
          <a:p>
            <a:r>
              <a:rPr lang="en-US"/>
              <a:t>Sour, unripe </a:t>
            </a:r>
            <a:r>
              <a:rPr lang="en-US" b="1"/>
              <a:t>mangoes</a:t>
            </a:r>
            <a:r>
              <a:rPr lang="en-US"/>
              <a:t> are used in </a:t>
            </a:r>
            <a:r>
              <a:rPr lang="en-US">
                <a:hlinkClick r:id="rId2" tooltip="Chutney"/>
              </a:rPr>
              <a:t>chutneys</a:t>
            </a:r>
            <a:r>
              <a:rPr lang="en-US"/>
              <a:t>, </a:t>
            </a:r>
            <a:r>
              <a:rPr lang="en-US">
                <a:hlinkClick r:id="rId3" tooltip="Mango pickle"/>
              </a:rPr>
              <a:t>pickles</a:t>
            </a:r>
            <a:r>
              <a:rPr lang="en-US"/>
              <a:t>, </a:t>
            </a:r>
            <a:r>
              <a:rPr lang="en-US" err="1">
                <a:hlinkClick r:id="rId4" tooltip="Dal"/>
              </a:rPr>
              <a:t>daals</a:t>
            </a:r>
            <a:r>
              <a:rPr lang="en-US"/>
              <a:t> and other side dishes</a:t>
            </a:r>
          </a:p>
          <a:p>
            <a:r>
              <a:rPr lang="en-US" i="1" err="1">
                <a:hlinkClick r:id="rId5" tooltip="Aamras"/>
              </a:rPr>
              <a:t>Aamras</a:t>
            </a:r>
            <a:r>
              <a:rPr lang="en-US"/>
              <a:t> is a popular thick juice made of </a:t>
            </a:r>
            <a:r>
              <a:rPr lang="en-US" b="1"/>
              <a:t>mangoes</a:t>
            </a:r>
            <a:r>
              <a:rPr lang="en-US"/>
              <a:t> with sugar or milk.</a:t>
            </a:r>
          </a:p>
          <a:p>
            <a:r>
              <a:rPr lang="en-US"/>
              <a:t>In addition to their juicy tropical flavor, </a:t>
            </a:r>
            <a:r>
              <a:rPr lang="en-US" b="1"/>
              <a:t>mangoes</a:t>
            </a:r>
            <a:r>
              <a:rPr lang="en-US"/>
              <a:t> deliver nutritional value and healthy eating</a:t>
            </a:r>
          </a:p>
          <a:p>
            <a:r>
              <a:rPr lang="en-US"/>
              <a:t>Studies link </a:t>
            </a:r>
            <a:r>
              <a:rPr lang="en-US" b="1"/>
              <a:t>mangoes</a:t>
            </a:r>
            <a:r>
              <a:rPr lang="en-US"/>
              <a:t> to several health benefits, such as improved immunity and digestion</a:t>
            </a:r>
          </a:p>
        </p:txBody>
      </p:sp>
      <p:sp>
        <p:nvSpPr>
          <p:cNvPr id="6" name="TextBox 5"/>
          <p:cNvSpPr txBox="1"/>
          <p:nvPr/>
        </p:nvSpPr>
        <p:spPr>
          <a:xfrm>
            <a:off x="9140813" y="1523144"/>
            <a:ext cx="2906308" cy="707886"/>
          </a:xfrm>
          <a:prstGeom prst="rect">
            <a:avLst/>
          </a:prstGeom>
          <a:noFill/>
        </p:spPr>
        <p:txBody>
          <a:bodyPr wrap="none" rtlCol="0">
            <a:spAutoFit/>
          </a:bodyPr>
          <a:lstStyle/>
          <a:p>
            <a:r>
              <a:rPr lang="en-US" sz="2000"/>
              <a:t>{ nutrients, vitamin, sugar,</a:t>
            </a:r>
            <a:br>
              <a:rPr lang="en-US" sz="2000"/>
            </a:br>
            <a:r>
              <a:rPr lang="en-US" sz="2000"/>
              <a:t>tree, delicious, fruits, …}</a:t>
            </a:r>
          </a:p>
        </p:txBody>
      </p:sp>
      <p:sp>
        <p:nvSpPr>
          <p:cNvPr id="7" name="TextBox 6"/>
          <p:cNvSpPr txBox="1"/>
          <p:nvPr/>
        </p:nvSpPr>
        <p:spPr>
          <a:xfrm>
            <a:off x="10081000" y="3536520"/>
            <a:ext cx="1883080" cy="1015663"/>
          </a:xfrm>
          <a:prstGeom prst="rect">
            <a:avLst/>
          </a:prstGeom>
          <a:noFill/>
        </p:spPr>
        <p:txBody>
          <a:bodyPr wrap="none" rtlCol="0">
            <a:spAutoFit/>
          </a:bodyPr>
          <a:lstStyle/>
          <a:p>
            <a:r>
              <a:rPr lang="en-US" sz="2000"/>
              <a:t>{chutneys, juice,</a:t>
            </a:r>
            <a:br>
              <a:rPr lang="en-US" sz="2000"/>
            </a:br>
            <a:r>
              <a:rPr lang="en-US" sz="2000"/>
              <a:t>sugar, milk,</a:t>
            </a:r>
            <a:br>
              <a:rPr lang="en-US" sz="2000"/>
            </a:br>
            <a:r>
              <a:rPr lang="en-US" sz="2000"/>
              <a:t>nutritional, …}</a:t>
            </a:r>
          </a:p>
        </p:txBody>
      </p:sp>
      <p:sp>
        <p:nvSpPr>
          <p:cNvPr id="8" name="TextBox 7"/>
          <p:cNvSpPr txBox="1"/>
          <p:nvPr/>
        </p:nvSpPr>
        <p:spPr>
          <a:xfrm>
            <a:off x="9310448" y="5699532"/>
            <a:ext cx="2567626" cy="707886"/>
          </a:xfrm>
          <a:prstGeom prst="rect">
            <a:avLst/>
          </a:prstGeom>
          <a:noFill/>
        </p:spPr>
        <p:txBody>
          <a:bodyPr wrap="none" rtlCol="0">
            <a:spAutoFit/>
          </a:bodyPr>
          <a:lstStyle/>
          <a:p>
            <a:r>
              <a:rPr lang="en-US" sz="2000"/>
              <a:t>{battery, chip, music,</a:t>
            </a:r>
            <a:br>
              <a:rPr lang="en-US" sz="2000"/>
            </a:br>
            <a:r>
              <a:rPr lang="en-US" sz="2000"/>
              <a:t>streaming, genuine, …}</a:t>
            </a:r>
          </a:p>
        </p:txBody>
      </p:sp>
      <p:pic>
        <p:nvPicPr>
          <p:cNvPr id="1026" name="Picture 2" descr="Single Mango Fruit"/>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499180" y="2581800"/>
            <a:ext cx="581891" cy="581891"/>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Arrow Connector 9"/>
          <p:cNvCxnSpPr>
            <a:stCxn id="1026" idx="3"/>
            <a:endCxn id="7" idx="0"/>
          </p:cNvCxnSpPr>
          <p:nvPr/>
        </p:nvCxnSpPr>
        <p:spPr>
          <a:xfrm>
            <a:off x="10080625" y="2872740"/>
            <a:ext cx="942340" cy="6635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028" name="Picture 4" descr="Image result for guava fruit"/>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98965" y="499110"/>
            <a:ext cx="1069975" cy="700405"/>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Arrow Connector 11"/>
          <p:cNvCxnSpPr/>
          <p:nvPr/>
        </p:nvCxnSpPr>
        <p:spPr>
          <a:xfrm>
            <a:off x="10144760" y="1104900"/>
            <a:ext cx="472440" cy="4540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030" name="Picture 6" descr="Image result for apple logo"/>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001676" y="4864269"/>
            <a:ext cx="497504" cy="585604"/>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Arrow Connector 13"/>
          <p:cNvCxnSpPr>
            <a:stCxn id="1030" idx="3"/>
            <a:endCxn id="8" idx="0"/>
          </p:cNvCxnSpPr>
          <p:nvPr/>
        </p:nvCxnSpPr>
        <p:spPr>
          <a:xfrm>
            <a:off x="9499180" y="5157071"/>
            <a:ext cx="1095375" cy="5429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sym typeface="+mn-ea"/>
              </a:rPr>
              <a:t>Distributional vectors (DVs)</a:t>
            </a:r>
            <a:endParaRPr lang="en-US"/>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74930" y="913130"/>
                <a:ext cx="9562465" cy="5859780"/>
              </a:xfrm>
            </p:spPr>
            <p:txBody>
              <a:bodyPr>
                <a:normAutofit fontScale="80000"/>
              </a:bodyPr>
              <a:lstStyle/>
              <a:p>
                <a:r>
                  <a:rPr lang="en-US"/>
                  <a:t>For each word </a:t>
                </a:r>
                <a14:m>
                  <m:oMath xmlns:m="http://schemas.openxmlformats.org/officeDocument/2006/math">
                    <m:r>
                      <a:rPr lang="en-US" i="1">
                        <a:latin typeface="Cambria Math" panose="02040503050406030204" pitchFamily="18" charset="0"/>
                        <a:cs typeface="DejaVu Math TeX Gyre" panose="02000503000000000000" charset="0"/>
                      </a:rPr>
                      <m:t>𝑤</m:t>
                    </m:r>
                  </m:oMath>
                </a14:m>
                <a:r>
                  <a:rPr lang="en-US"/>
                  <a:t> in vocabulary </a:t>
                </a:r>
                <a14:m>
                  <m:oMath xmlns:m="http://schemas.openxmlformats.org/officeDocument/2006/math">
                    <m:d>
                      <m:dPr>
                        <m:begChr m:val="["/>
                        <m:endChr m:val="]"/>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𝑊</m:t>
                        </m:r>
                      </m:e>
                    </m:d>
                  </m:oMath>
                </a14:m>
                <a:endParaRPr lang="en-US" i="1">
                  <a:latin typeface="DejaVu Math TeX Gyre" panose="02000503000000000000" charset="0"/>
                  <a:cs typeface="DejaVu Math TeX Gyre" panose="02000503000000000000" charset="0"/>
                </a:endParaRPr>
              </a:p>
              <a:p>
                <a:pPr lvl="1"/>
                <a:r>
                  <a:rPr lang="en-US"/>
                  <a:t>Collect bag of words from contexts around occurrences of </a:t>
                </a:r>
                <a14:m>
                  <m:oMath xmlns:m="http://schemas.openxmlformats.org/officeDocument/2006/math">
                    <m:r>
                      <a:rPr lang="en-US" i="1">
                        <a:latin typeface="Cambria Math" panose="02040503050406030204" pitchFamily="18" charset="0"/>
                        <a:cs typeface="DejaVu Math TeX Gyre" panose="02000503000000000000" charset="0"/>
                      </a:rPr>
                      <m:t>𝑤</m:t>
                    </m:r>
                  </m:oMath>
                </a14:m>
                <a:endParaRPr lang="en-US" i="1">
                  <a:latin typeface="DejaVu Math TeX Gyre" panose="02000503000000000000" charset="0"/>
                  <a:cs typeface="DejaVu Math TeX Gyre" panose="02000503000000000000" charset="0"/>
                </a:endParaRPr>
              </a:p>
              <a:p>
                <a:pPr lvl="1"/>
                <a:r>
                  <a:rPr lang="en-US"/>
                  <a:t>This bag is like a small document associated with </a:t>
                </a:r>
                <a14:m>
                  <m:oMath xmlns:m="http://schemas.openxmlformats.org/officeDocument/2006/math">
                    <m:r>
                      <a:rPr lang="en-US" i="1">
                        <a:latin typeface="Cambria Math" panose="02040503050406030204" pitchFamily="18" charset="0"/>
                        <a:cs typeface="DejaVu Math TeX Gyre" panose="02000503000000000000" charset="0"/>
                      </a:rPr>
                      <m:t>𝑤</m:t>
                    </m:r>
                  </m:oMath>
                </a14:m>
                <a:endParaRPr lang="en-US"/>
              </a:p>
              <a:p>
                <a:pPr lvl="1"/>
                <a:r>
                  <a:rPr lang="en-US"/>
                  <a:t>From this bag, compute a suitable vector representation </a:t>
                </a:r>
                <a14:m>
                  <m:oMath xmlns:m="http://schemas.openxmlformats.org/officeDocument/2006/math">
                    <m:r>
                      <m:rPr>
                        <m:sty m:val="p"/>
                      </m:rPr>
                      <a:rPr lang="en-US">
                        <a:latin typeface="Cambria Math" panose="02040503050406030204" pitchFamily="18" charset="0"/>
                        <a:cs typeface="DejaVu Math TeX Gyre" panose="02000503000000000000" charset="0"/>
                      </a:rPr>
                      <m:t>DV</m:t>
                    </m:r>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𝑤</m:t>
                        </m:r>
                      </m:e>
                    </m:d>
                  </m:oMath>
                </a14:m>
                <a:endParaRPr lang="en-US"/>
              </a:p>
              <a:p>
                <a:pPr lvl="0"/>
                <a:r>
                  <a:rPr lang="en-US" sz="4000"/>
                  <a:t>Representation options for </a:t>
                </a:r>
                <a14:m>
                  <m:oMath xmlns:m="http://schemas.openxmlformats.org/officeDocument/2006/math">
                    <m:r>
                      <m:rPr>
                        <m:sty m:val="p"/>
                      </m:rPr>
                      <a:rPr lang="en-US">
                        <a:latin typeface="Cambria Math" panose="02040503050406030204" pitchFamily="18" charset="0"/>
                        <a:cs typeface="DejaVu Math TeX Gyre" panose="02000503000000000000" charset="0"/>
                      </a:rPr>
                      <m:t>DV</m:t>
                    </m:r>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𝑤</m:t>
                        </m:r>
                      </m:e>
                    </m:d>
                  </m:oMath>
                </a14:m>
                <a:endParaRPr lang="en-US" sz="4000"/>
              </a:p>
              <a:p>
                <a:pPr lvl="1"/>
                <a14:m>
                  <m:oMath xmlns:m="http://schemas.openxmlformats.org/officeDocument/2006/math">
                    <m:sSup>
                      <m:sSupPr>
                        <m:ctrlPr>
                          <a:rPr lang="en-US" sz="3600" i="1">
                            <a:latin typeface="Cambria Math" panose="02040503050406030204" pitchFamily="18" charset="0"/>
                            <a:cs typeface="DejaVu Math TeX Gyre" panose="02000503000000000000" charset="0"/>
                          </a:rPr>
                        </m:ctrlPr>
                      </m:sSupPr>
                      <m:e>
                        <m:d>
                          <m:dPr>
                            <m:begChr m:val="{"/>
                            <m:endChr m:val="}"/>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0,1</m:t>
                            </m:r>
                          </m:e>
                        </m:d>
                      </m:e>
                      <m:sup>
                        <m:r>
                          <a:rPr lang="en-US" sz="3600" i="1">
                            <a:latin typeface="Cambria Math" panose="02040503050406030204" pitchFamily="18" charset="0"/>
                            <a:cs typeface="DejaVu Math TeX Gyre" panose="02000503000000000000" charset="0"/>
                          </a:rPr>
                          <m:t>𝑊</m:t>
                        </m:r>
                      </m:sup>
                    </m:sSup>
                  </m:oMath>
                </a14:m>
                <a:r>
                  <a:rPr lang="en-US"/>
                  <a:t> based on presence/absence of other words</a:t>
                </a:r>
              </a:p>
              <a:p>
                <a:pPr lvl="1"/>
                <a14:m>
                  <m:oMath xmlns:m="http://schemas.openxmlformats.org/officeDocument/2006/math">
                    <m:sSup>
                      <m:sSupPr>
                        <m:ctrlPr>
                          <a:rPr lang="en-US" i="1">
                            <a:latin typeface="Cambria Math" panose="02040503050406030204" pitchFamily="18" charset="0"/>
                            <a:cs typeface="DejaVu Math TeX Gyre" panose="02000503000000000000" charset="0"/>
                          </a:rPr>
                        </m:ctrlPr>
                      </m:sSupPr>
                      <m:e>
                        <m:r>
                          <a:rPr lang="en-US" i="1">
                            <a:latin typeface="Cambria Math" panose="02040503050406030204" pitchFamily="18" charset="0"/>
                            <a:cs typeface="DejaVu Math TeX Gyre" panose="02000503000000000000" charset="0"/>
                          </a:rPr>
                          <m:t>ℝ</m:t>
                        </m:r>
                      </m:e>
                      <m:sup>
                        <m:r>
                          <a:rPr lang="en-US" i="1">
                            <a:latin typeface="Cambria Math" panose="02040503050406030204" pitchFamily="18" charset="0"/>
                            <a:cs typeface="DejaVu Math TeX Gyre" panose="02000503000000000000" charset="0"/>
                          </a:rPr>
                          <m:t>𝑊</m:t>
                        </m:r>
                      </m:sup>
                    </m:sSup>
                  </m:oMath>
                </a14:m>
                <a:r>
                  <a:rPr lang="en-US"/>
                  <a:t> based on </a:t>
                </a:r>
                <a:r>
                  <a:rPr lang="en-US">
                    <a:hlinkClick r:id="rId2" action="ppaction://hlinkfile"/>
                  </a:rPr>
                  <a:t>TFIDF vector space model</a:t>
                </a:r>
                <a:endParaRPr lang="en-US"/>
              </a:p>
              <a:p>
                <a:pPr lvl="1"/>
                <a:r>
                  <a:rPr lang="en-US"/>
                  <a:t>Compressions to smaller number of dimensions</a:t>
                </a:r>
              </a:p>
              <a:p>
                <a:pPr lvl="0"/>
                <a:r>
                  <a:rPr lang="en-US"/>
                  <a:t>Comparing </a:t>
                </a:r>
                <a14:m>
                  <m:oMath xmlns:m="http://schemas.openxmlformats.org/officeDocument/2006/math">
                    <m:r>
                      <m:rPr>
                        <m:sty m:val="p"/>
                      </m:rPr>
                      <a:rPr lang="en-US">
                        <a:latin typeface="Cambria Math" panose="02040503050406030204" pitchFamily="18" charset="0"/>
                        <a:cs typeface="DejaVu Math TeX Gyre" panose="02000503000000000000" charset="0"/>
                      </a:rPr>
                      <m:t>DV</m:t>
                    </m:r>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𝑤</m:t>
                        </m:r>
                      </m:e>
                    </m:d>
                  </m:oMath>
                </a14:m>
                <a:r>
                  <a:rPr lang="en-US"/>
                  <a:t>, </a:t>
                </a:r>
                <a14:m>
                  <m:oMath xmlns:m="http://schemas.openxmlformats.org/officeDocument/2006/math">
                    <m:r>
                      <m:rPr>
                        <m:sty m:val="p"/>
                      </m:rPr>
                      <a:rPr lang="en-US">
                        <a:latin typeface="Cambria Math" panose="02040503050406030204" pitchFamily="18" charset="0"/>
                        <a:cs typeface="DejaVu Math TeX Gyre" panose="02000503000000000000" charset="0"/>
                      </a:rPr>
                      <m:t>DV</m:t>
                    </m:r>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𝑤</m:t>
                        </m:r>
                        <m:r>
                          <a:rPr lang="en-US" i="1">
                            <a:latin typeface="Cambria Math" panose="02040503050406030204" pitchFamily="18" charset="0"/>
                            <a:cs typeface="DejaVu Math TeX Gyre" panose="02000503000000000000" charset="0"/>
                          </a:rPr>
                          <m:t>’</m:t>
                        </m:r>
                      </m:e>
                    </m:d>
                  </m:oMath>
                </a14:m>
                <a:r>
                  <a:rPr lang="en-US"/>
                  <a:t> for various pairs, we discover their ‘semantic’ similarity wrt the corpus</a:t>
                </a:r>
              </a:p>
            </p:txBody>
          </p:sp>
        </mc:Choice>
        <mc:Fallback xmlns="">
          <p:sp>
            <p:nvSpPr>
              <p:cNvPr id="3" name="Text Placeholder 2"/>
              <p:cNvSpPr>
                <a:spLocks noRot="1" noChangeAspect="1" noMove="1" noResize="1" noEditPoints="1" noAdjustHandles="1" noChangeArrowheads="1" noChangeShapeType="1" noTextEdit="1"/>
              </p:cNvSpPr>
              <p:nvPr>
                <p:ph type="body" idx="1"/>
              </p:nvPr>
            </p:nvSpPr>
            <p:spPr>
              <a:xfrm>
                <a:off x="74930" y="913130"/>
                <a:ext cx="9562465" cy="5859780"/>
              </a:xfrm>
              <a:blipFill rotWithShape="1">
                <a:blip r:embed="rId3"/>
                <a:stretch>
                  <a:fillRect/>
                </a:stretch>
              </a:blipFill>
            </p:spPr>
            <p:txBody>
              <a:bodyPr/>
              <a:lstStyle/>
              <a:p>
                <a:r>
                  <a:rPr lang="en-US" altLang="en-US">
                    <a:noFill/>
                  </a:rPr>
                  <a:t> </a:t>
                </a:r>
              </a:p>
            </p:txBody>
          </p:sp>
        </mc:Fallback>
      </mc:AlternateContent>
      <p:pic>
        <p:nvPicPr>
          <p:cNvPr id="5" name="Picture 4" descr="Image result for guava frui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60131" y="4668838"/>
            <a:ext cx="1070264" cy="70053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Single Mango Fruit"/>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88432" y="4728795"/>
            <a:ext cx="581891" cy="58189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Image result for apple logo"/>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454847" y="5965874"/>
            <a:ext cx="497504" cy="585604"/>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p:cNvCxnSpPr>
            <a:stCxn id="5" idx="3"/>
            <a:endCxn id="6" idx="1"/>
          </p:cNvCxnSpPr>
          <p:nvPr/>
        </p:nvCxnSpPr>
        <p:spPr>
          <a:xfrm>
            <a:off x="10029760" y="5019741"/>
            <a:ext cx="145859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5" idx="2"/>
            <a:endCxn id="7" idx="1"/>
          </p:cNvCxnSpPr>
          <p:nvPr/>
        </p:nvCxnSpPr>
        <p:spPr>
          <a:xfrm>
            <a:off x="9495263" y="5369374"/>
            <a:ext cx="959584" cy="8893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7" idx="3"/>
            <a:endCxn id="6" idx="2"/>
          </p:cNvCxnSpPr>
          <p:nvPr/>
        </p:nvCxnSpPr>
        <p:spPr>
          <a:xfrm flipV="1">
            <a:off x="10951716" y="5310621"/>
            <a:ext cx="827405" cy="948055"/>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p:cNvSpPr txBox="1"/>
              <p:nvPr/>
            </p:nvSpPr>
            <p:spPr>
              <a:xfrm>
                <a:off x="9700248" y="5594555"/>
                <a:ext cx="612667"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 </m:t>
                      </m:r>
                    </m:oMath>
                  </m:oMathPara>
                </a14:m>
                <a:endParaRPr lang="en-US" sz="2800"/>
              </a:p>
            </p:txBody>
          </p:sp>
        </mc:Choice>
        <mc:Fallback xmlns="">
          <p:sp>
            <p:nvSpPr>
              <p:cNvPr id="18" name="TextBox 17"/>
              <p:cNvSpPr txBox="1">
                <a:spLocks noRot="1" noChangeAspect="1" noMove="1" noResize="1" noEditPoints="1" noAdjustHandles="1" noChangeArrowheads="1" noChangeShapeType="1" noTextEdit="1"/>
              </p:cNvSpPr>
              <p:nvPr/>
            </p:nvSpPr>
            <p:spPr>
              <a:xfrm>
                <a:off x="9700248" y="5594555"/>
                <a:ext cx="612667" cy="523220"/>
              </a:xfrm>
              <a:prstGeom prst="rect">
                <a:avLst/>
              </a:prstGeom>
              <a:blipFill rotWithShape="1">
                <a:blip r:embed="rId7"/>
                <a:stretch>
                  <a:fillRect l="-102" t="-39" r="-8000" b="35"/>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11271614" y="5704264"/>
                <a:ext cx="612667"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 </m:t>
                      </m:r>
                    </m:oMath>
                  </m:oMathPara>
                </a14:m>
                <a:endParaRPr lang="en-US" sz="2800"/>
              </a:p>
            </p:txBody>
          </p:sp>
        </mc:Choice>
        <mc:Fallback xmlns="">
          <p:sp>
            <p:nvSpPr>
              <p:cNvPr id="19" name="TextBox 18"/>
              <p:cNvSpPr txBox="1">
                <a:spLocks noRot="1" noChangeAspect="1" noMove="1" noResize="1" noEditPoints="1" noAdjustHandles="1" noChangeArrowheads="1" noChangeShapeType="1" noTextEdit="1"/>
              </p:cNvSpPr>
              <p:nvPr/>
            </p:nvSpPr>
            <p:spPr>
              <a:xfrm>
                <a:off x="11271614" y="5704264"/>
                <a:ext cx="612667" cy="523220"/>
              </a:xfrm>
              <a:prstGeom prst="rect">
                <a:avLst/>
              </a:prstGeom>
              <a:blipFill rotWithShape="1">
                <a:blip r:embed="rId7"/>
                <a:stretch>
                  <a:fillRect l="-59" t="-11" r="-8043" b="7"/>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10454847" y="5015508"/>
                <a:ext cx="60946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 </m:t>
                      </m:r>
                    </m:oMath>
                  </m:oMathPara>
                </a14:m>
                <a:endParaRPr lang="en-US" sz="2800"/>
              </a:p>
            </p:txBody>
          </p:sp>
        </mc:Choice>
        <mc:Fallback xmlns="">
          <p:sp>
            <p:nvSpPr>
              <p:cNvPr id="20" name="TextBox 19"/>
              <p:cNvSpPr txBox="1">
                <a:spLocks noRot="1" noChangeAspect="1" noMove="1" noResize="1" noEditPoints="1" noAdjustHandles="1" noChangeArrowheads="1" noChangeShapeType="1" noTextEdit="1"/>
              </p:cNvSpPr>
              <p:nvPr/>
            </p:nvSpPr>
            <p:spPr>
              <a:xfrm>
                <a:off x="10454847" y="5015508"/>
                <a:ext cx="609461" cy="523220"/>
              </a:xfrm>
              <a:prstGeom prst="rect">
                <a:avLst/>
              </a:prstGeom>
              <a:blipFill rotWithShape="1">
                <a:blip r:embed="rId8"/>
                <a:stretch>
                  <a:fillRect l="-34" t="-53" r="-8637" b="49"/>
                </a:stretch>
              </a:blipFill>
            </p:spPr>
            <p:txBody>
              <a:bodyPr/>
              <a:lstStyle/>
              <a:p>
                <a:r>
                  <a:rPr lang="en-US" altLang="en-US">
                    <a:noFill/>
                  </a:rPr>
                  <a:t> </a:t>
                </a:r>
              </a:p>
            </p:txBody>
          </p:sp>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Clustering and rank</a:t>
            </a:r>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p:txBody>
              <a:bodyPr>
                <a:normAutofit fontScale="90000" lnSpcReduction="20000"/>
              </a:bodyPr>
              <a:lstStyle/>
              <a:p>
                <a:pPr>
                  <a:lnSpc>
                    <a:spcPct val="100000"/>
                  </a:lnSpc>
                </a:pPr>
                <a:r>
                  <a:rPr lang="en-US"/>
                  <a:t>Notation: to reduce confusion, regard as </a:t>
                </a:r>
                <a14:m>
                  <m:oMath xmlns:m="http://schemas.openxmlformats.org/officeDocument/2006/math">
                    <m:r>
                      <a:rPr lang="en-US" i="1">
                        <a:latin typeface="Cambria Math" panose="02040503050406030204" pitchFamily="18" charset="0"/>
                        <a:cs typeface="DejaVu Math TeX Gyre" panose="02000503000000000000" charset="0"/>
                      </a:rPr>
                      <m:t>𝑊</m:t>
                    </m:r>
                  </m:oMath>
                </a14:m>
                <a:r>
                  <a:rPr lang="en-US"/>
                  <a:t> documents, each represented as a sparse </a:t>
                </a:r>
                <a14:m>
                  <m:oMath xmlns:m="http://schemas.openxmlformats.org/officeDocument/2006/math">
                    <m:r>
                      <a:rPr lang="en-US" i="1">
                        <a:latin typeface="Cambria Math" panose="02040503050406030204" pitchFamily="18" charset="0"/>
                        <a:cs typeface="DejaVu Math TeX Gyre" panose="02000503000000000000" charset="0"/>
                      </a:rPr>
                      <m:t>𝐹</m:t>
                    </m:r>
                  </m:oMath>
                </a14:m>
                <a:r>
                  <a:rPr lang="en-US"/>
                  <a:t>-dimensional vector (even if </a:t>
                </a:r>
                <a14:m>
                  <m:oMath xmlns:m="http://schemas.openxmlformats.org/officeDocument/2006/math">
                    <m:r>
                      <a:rPr lang="en-US" i="1">
                        <a:latin typeface="Cambria Math" panose="02040503050406030204" pitchFamily="18" charset="0"/>
                        <a:cs typeface="DejaVu Math TeX Gyre" panose="02000503000000000000" charset="0"/>
                      </a:rPr>
                      <m:t>𝐹</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𝑊</m:t>
                    </m:r>
                  </m:oMath>
                </a14:m>
                <a:r>
                  <a:rPr lang="en-US"/>
                  <a:t>)</a:t>
                </a:r>
              </a:p>
              <a:p>
                <a:pPr>
                  <a:lnSpc>
                    <a:spcPct val="100000"/>
                  </a:lnSpc>
                </a:pPr>
                <a:r>
                  <a:rPr lang="en-US" sz="4000">
                    <a:sym typeface="+mn-ea"/>
                  </a:rPr>
                  <a:t>Brown+ (IBM) did agglomerative clustering over these </a:t>
                </a:r>
                <a14:m>
                  <m:oMath xmlns:m="http://schemas.openxmlformats.org/officeDocument/2006/math">
                    <m:r>
                      <a:rPr lang="en-US" sz="4000" i="1">
                        <a:latin typeface="Cambria Math" panose="02040503050406030204" pitchFamily="18" charset="0"/>
                        <a:cs typeface="DejaVu Math TeX Gyre" panose="02000503000000000000" charset="0"/>
                        <a:sym typeface="+mn-ea"/>
                      </a:rPr>
                      <m:t>𝑊</m:t>
                    </m:r>
                  </m:oMath>
                </a14:m>
                <a:r>
                  <a:rPr lang="en-US" sz="4000">
                    <a:sym typeface="+mn-ea"/>
                  </a:rPr>
                  <a:t> vectors; say to </a:t>
                </a:r>
                <a14:m>
                  <m:oMath xmlns:m="http://schemas.openxmlformats.org/officeDocument/2006/math">
                    <m:r>
                      <a:rPr lang="en-US" sz="4000" i="1">
                        <a:latin typeface="Cambria Math" panose="02040503050406030204" pitchFamily="18" charset="0"/>
                        <a:cs typeface="DejaVu Math TeX Gyre" panose="02000503000000000000" charset="0"/>
                        <a:sym typeface="+mn-ea"/>
                      </a:rPr>
                      <m:t>𝐶</m:t>
                    </m:r>
                  </m:oMath>
                </a14:m>
                <a:r>
                  <a:rPr lang="en-US" sz="4000"/>
                  <a:t> clusters</a:t>
                </a:r>
              </a:p>
              <a:p>
                <a:pPr lvl="1">
                  <a:lnSpc>
                    <a:spcPct val="100000"/>
                  </a:lnSpc>
                </a:pPr>
                <a:r>
                  <a:rPr lang="en-US" sz="4000">
                    <a:sym typeface="+mn-ea"/>
                  </a:rPr>
                  <a:t>Each word mapped to its cluster IDs</a:t>
                </a:r>
                <a:endParaRPr lang="en-US" sz="4000"/>
              </a:p>
              <a:p>
                <a:pPr lvl="1">
                  <a:lnSpc>
                    <a:spcPct val="100000"/>
                  </a:lnSpc>
                </a:pPr>
                <a:r>
                  <a:rPr lang="en-US" sz="4000">
                    <a:sym typeface="+mn-ea"/>
                  </a:rPr>
                  <a:t>Cluster IDs used as features in HMM, CRF</a:t>
                </a:r>
                <a:endParaRPr lang="en-US" sz="4000"/>
              </a:p>
              <a:p>
                <a:pPr lvl="1">
                  <a:lnSpc>
                    <a:spcPct val="100000"/>
                  </a:lnSpc>
                </a:pPr>
                <a:r>
                  <a:rPr lang="en-US" sz="4000">
                    <a:sym typeface="+mn-ea"/>
                  </a:rPr>
                  <a:t>Boosted learning rate with limited training</a:t>
                </a:r>
                <a:endParaRPr lang="en-US" sz="4000"/>
              </a:p>
              <a:p>
                <a:pPr>
                  <a:lnSpc>
                    <a:spcPct val="100000"/>
                  </a:lnSpc>
                </a:pPr>
                <a:r>
                  <a:rPr lang="en-US"/>
                  <a:t>The </a:t>
                </a:r>
                <a14:m>
                  <m:oMath xmlns:m="http://schemas.openxmlformats.org/officeDocument/2006/math">
                    <m:r>
                      <a:rPr lang="en-US" i="1">
                        <a:latin typeface="Cambria Math" panose="02040503050406030204" pitchFamily="18" charset="0"/>
                        <a:cs typeface="DejaVu Math TeX Gyre" panose="02000503000000000000" charset="0"/>
                      </a:rPr>
                      <m:t>𝑊</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𝐹</m:t>
                    </m:r>
                  </m:oMath>
                </a14:m>
                <a:r>
                  <a:rPr lang="en-US"/>
                  <a:t> “corpus matrix” has low rank</a:t>
                </a:r>
              </a:p>
              <a:p>
                <a:pPr lvl="1">
                  <a:lnSpc>
                    <a:spcPct val="100000"/>
                  </a:lnSpc>
                </a:pPr>
                <a:r>
                  <a:rPr lang="en-US"/>
                  <a:t>I.e., points in </a:t>
                </a:r>
                <a14:m>
                  <m:oMath xmlns:m="http://schemas.openxmlformats.org/officeDocument/2006/math">
                    <m:d>
                      <m:dPr>
                        <m:begChr m:val="{"/>
                        <m:endChr m:val="}"/>
                        <m:ctrlPr>
                          <a:rPr lang="en-US" i="1">
                            <a:latin typeface="Cambria Math" panose="02040503050406030204" pitchFamily="18" charset="0"/>
                            <a:cs typeface="DejaVu Math TeX Gyre" panose="02000503000000000000" charset="0"/>
                          </a:rPr>
                        </m:ctrlPr>
                      </m:dPr>
                      <m:e>
                        <m:r>
                          <m:rPr>
                            <m:sty m:val="p"/>
                          </m:rPr>
                          <a:rPr lang="en-US">
                            <a:latin typeface="Cambria Math" panose="02040503050406030204" pitchFamily="18" charset="0"/>
                            <a:cs typeface="DejaVu Math TeX Gyre" panose="02000503000000000000" charset="0"/>
                          </a:rPr>
                          <m:t>DV</m:t>
                        </m:r>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𝑤</m:t>
                            </m:r>
                          </m:e>
                        </m:d>
                      </m:e>
                    </m:d>
                  </m:oMath>
                </a14:m>
                <a:r>
                  <a:rPr lang="en-US"/>
                  <a:t> (mostly) occupy a lower dimensional subspace</a:t>
                </a:r>
              </a:p>
              <a:p>
                <a:pPr lvl="1">
                  <a:lnSpc>
                    <a:spcPct val="100000"/>
                  </a:lnSpc>
                </a:pPr>
                <a:r>
                  <a:rPr lang="en-US"/>
                  <a:t>Two related methods: </a:t>
                </a:r>
                <a:r>
                  <a:rPr lang="en-US">
                    <a:sym typeface="+mn-ea"/>
                    <a:hlinkClick r:id="rId2" action="ppaction://hlinkfile"/>
                  </a:rPr>
                  <a:t>PCA</a:t>
                </a:r>
                <a:r>
                  <a:rPr lang="en-US">
                    <a:sym typeface="+mn-ea"/>
                  </a:rPr>
                  <a:t> and </a:t>
                </a:r>
                <a:r>
                  <a:rPr lang="en-US">
                    <a:sym typeface="+mn-ea"/>
                    <a:hlinkClick r:id="rId3" action="ppaction://hlinkfile"/>
                  </a:rPr>
                  <a:t>SVD</a:t>
                </a:r>
                <a:endParaRPr lang="en-US"/>
              </a:p>
            </p:txBody>
          </p:sp>
        </mc:Choice>
        <mc:Fallback xmlns="">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4"/>
                <a:stretch>
                  <a:fillRect t="-444"/>
                </a:stretch>
              </a:blipFill>
            </p:spPr>
            <p:txBody>
              <a:bodyPr/>
              <a:lstStyle/>
              <a:p>
                <a:r>
                  <a:rPr lang="en-US" altLang="en-US">
                    <a:noFill/>
                  </a:rPr>
                  <a:t> </a:t>
                </a:r>
              </a:p>
            </p:txBody>
          </p:sp>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hlinkClick r:id="rId2" action="ppaction://hlinkfile"/>
              </a:rPr>
              <a:t>Low-rank structure</a:t>
            </a:r>
            <a:r>
              <a:rPr lang="en-US"/>
              <a:t> of DVs</a:t>
            </a:r>
          </a:p>
        </p:txBody>
      </p:sp>
      <mc:AlternateContent xmlns:mc="http://schemas.openxmlformats.org/markup-compatibility/2006" xmlns:a14="http://schemas.microsoft.com/office/drawing/2010/main">
        <mc:Choice Requires="a14">
          <p:sp>
            <p:nvSpPr>
              <p:cNvPr id="4" name="Text Placeholder 3"/>
              <p:cNvSpPr>
                <a:spLocks noGrp="1"/>
              </p:cNvSpPr>
              <p:nvPr>
                <p:ph type="body" idx="1"/>
              </p:nvPr>
            </p:nvSpPr>
            <p:spPr/>
            <p:txBody>
              <a:bodyPr>
                <a:normAutofit fontScale="90000" lnSpcReduction="10000"/>
              </a:bodyPr>
              <a:lstStyle/>
              <a:p>
                <a:pPr>
                  <a:lnSpc>
                    <a:spcPct val="100000"/>
                  </a:lnSpc>
                </a:pPr>
                <a:r>
                  <a:rPr lang="en-US"/>
                  <a:t>All DVs packed into </a:t>
                </a:r>
                <a14:m>
                  <m:oMath xmlns:m="http://schemas.openxmlformats.org/officeDocument/2006/math">
                    <m:r>
                      <a:rPr lang="en-US" i="1">
                        <a:latin typeface="Cambria Math" panose="02040503050406030204" pitchFamily="18" charset="0"/>
                        <a:cs typeface="DejaVu Math TeX Gyre" panose="02000503000000000000" charset="0"/>
                      </a:rPr>
                      <m:t>𝑊</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𝐹</m:t>
                    </m:r>
                  </m:oMath>
                </a14:m>
                <a:r>
                  <a:rPr lang="en-US">
                    <a:sym typeface="+mn-ea"/>
                  </a:rPr>
                  <a:t> “corpus matrix” </a:t>
                </a:r>
                <a14:m>
                  <m:oMath xmlns:m="http://schemas.openxmlformats.org/officeDocument/2006/math">
                    <m:r>
                      <a:rPr lang="en-US" b="1" i="1">
                        <a:latin typeface="Cambria Math" panose="02040503050406030204" pitchFamily="18" charset="0"/>
                        <a:cs typeface="DejaVu Math TeX Gyre" panose="02000503000000000000" charset="0"/>
                        <a:sym typeface="+mn-ea"/>
                      </a:rPr>
                      <m:t>𝑿</m:t>
                    </m:r>
                  </m:oMath>
                </a14:m>
                <a:r>
                  <a:rPr lang="en-US">
                    <a:sym typeface="+mn-ea"/>
                  </a:rPr>
                  <a:t> </a:t>
                </a:r>
              </a:p>
              <a:p>
                <a:pPr lvl="1">
                  <a:lnSpc>
                    <a:spcPct val="100000"/>
                  </a:lnSpc>
                </a:pPr>
                <a:r>
                  <a:rPr lang="en-US" sz="3600">
                    <a:sym typeface="+mn-ea"/>
                  </a:rPr>
                  <a:t>Row for word </a:t>
                </a:r>
                <a14:m>
                  <m:oMath xmlns:m="http://schemas.openxmlformats.org/officeDocument/2006/math">
                    <m:r>
                      <a:rPr lang="en-US" sz="3600" i="1">
                        <a:latin typeface="Cambria Math" panose="02040503050406030204" pitchFamily="18" charset="0"/>
                        <a:cs typeface="DejaVu Math TeX Gyre" panose="02000503000000000000" charset="0"/>
                        <a:sym typeface="+mn-ea"/>
                      </a:rPr>
                      <m:t>𝑤</m:t>
                    </m:r>
                  </m:oMath>
                </a14:m>
                <a:r>
                  <a:rPr lang="en-US"/>
                  <a:t> written as </a:t>
                </a:r>
                <a14:m>
                  <m:oMath xmlns:m="http://schemas.openxmlformats.org/officeDocument/2006/math">
                    <m:sSub>
                      <m:sSubPr>
                        <m:ctrlPr>
                          <a:rPr lang="en-US" i="1">
                            <a:latin typeface="Cambria Math" panose="02040503050406030204" pitchFamily="18" charset="0"/>
                            <a:cs typeface="DejaVu Math TeX Gyre" panose="02000503000000000000" charset="0"/>
                          </a:rPr>
                        </m:ctrlPr>
                      </m:sSubPr>
                      <m:e>
                        <m:r>
                          <a:rPr lang="en-US" b="1" i="1">
                            <a:latin typeface="Cambria Math" panose="02040503050406030204" pitchFamily="18" charset="0"/>
                            <a:cs typeface="DejaVu Math TeX Gyre" panose="02000503000000000000" charset="0"/>
                          </a:rPr>
                          <m:t>𝒙</m:t>
                        </m:r>
                      </m:e>
                      <m:sub>
                        <m:r>
                          <a:rPr lang="en-US" i="1">
                            <a:latin typeface="Cambria Math" panose="02040503050406030204" pitchFamily="18" charset="0"/>
                            <a:cs typeface="DejaVu Math TeX Gyre" panose="02000503000000000000" charset="0"/>
                          </a:rPr>
                          <m:t>𝑤</m:t>
                        </m:r>
                      </m:sub>
                    </m:sSub>
                  </m:oMath>
                </a14:m>
                <a:endParaRPr lang="en-US"/>
              </a:p>
              <a:p>
                <a:pPr>
                  <a:lnSpc>
                    <a:spcPct val="100000"/>
                  </a:lnSpc>
                </a:pPr>
                <a:r>
                  <a:rPr lang="en-US"/>
                  <a:t>Find a direction (unit vector </a:t>
                </a:r>
                <a14:m>
                  <m:oMath xmlns:m="http://schemas.openxmlformats.org/officeDocument/2006/math">
                    <m:r>
                      <a:rPr lang="en-US" b="1" i="1">
                        <a:latin typeface="Cambria Math" panose="02040503050406030204" pitchFamily="18" charset="0"/>
                        <a:cs typeface="DejaVu Math TeX Gyre" panose="02000503000000000000" charset="0"/>
                      </a:rPr>
                      <m:t>𝒆</m:t>
                    </m:r>
                    <m:r>
                      <a:rPr lang="en-US" b="1" i="1">
                        <a:latin typeface="Cambria Math" panose="02040503050406030204" pitchFamily="18" charset="0"/>
                        <a:cs typeface="DejaVu Math TeX Gyre" panose="02000503000000000000" charset="0"/>
                      </a:rPr>
                      <m:t>∈</m:t>
                    </m:r>
                    <m:sSup>
                      <m:sSupPr>
                        <m:ctrlPr>
                          <a:rPr lang="en-US" i="1">
                            <a:latin typeface="Cambria Math" panose="02040503050406030204" pitchFamily="18" charset="0"/>
                            <a:cs typeface="DejaVu Math TeX Gyre" panose="02000503000000000000" charset="0"/>
                          </a:rPr>
                        </m:ctrlPr>
                      </m:sSupPr>
                      <m:e>
                        <m:r>
                          <a:rPr lang="en-US" i="1">
                            <a:latin typeface="Cambria Math" panose="02040503050406030204" pitchFamily="18" charset="0"/>
                            <a:cs typeface="DejaVu Math TeX Gyre" panose="02000503000000000000" charset="0"/>
                          </a:rPr>
                          <m:t>ℝ</m:t>
                        </m:r>
                      </m:e>
                      <m:sup>
                        <m:r>
                          <a:rPr lang="en-US" i="1">
                            <a:latin typeface="Cambria Math" panose="02040503050406030204" pitchFamily="18" charset="0"/>
                            <a:cs typeface="DejaVu Math TeX Gyre" panose="02000503000000000000" charset="0"/>
                          </a:rPr>
                          <m:t>𝐹</m:t>
                        </m:r>
                      </m:sup>
                    </m:sSup>
                  </m:oMath>
                </a14:m>
                <a:r>
                  <a:rPr lang="en-US"/>
                  <a:t>) such that projections of all the </a:t>
                </a:r>
                <a14:m>
                  <m:oMath xmlns:m="http://schemas.openxmlformats.org/officeDocument/2006/math">
                    <m:r>
                      <a:rPr lang="en-US" i="1">
                        <a:latin typeface="Cambria Math" panose="02040503050406030204" pitchFamily="18" charset="0"/>
                        <a:cs typeface="DejaVu Math TeX Gyre" panose="02000503000000000000" charset="0"/>
                      </a:rPr>
                      <m:t>𝑊</m:t>
                    </m:r>
                  </m:oMath>
                </a14:m>
                <a:r>
                  <a:rPr lang="en-US"/>
                  <a:t> rows of </a:t>
                </a:r>
                <a14:m>
                  <m:oMath xmlns:m="http://schemas.openxmlformats.org/officeDocument/2006/math">
                    <m:r>
                      <a:rPr lang="en-US" b="1" i="1">
                        <a:latin typeface="Cambria Math" panose="02040503050406030204" pitchFamily="18" charset="0"/>
                        <a:cs typeface="DejaVu Math TeX Gyre" panose="02000503000000000000" charset="0"/>
                        <a:sym typeface="+mn-ea"/>
                      </a:rPr>
                      <m:t>𝑿</m:t>
                    </m:r>
                  </m:oMath>
                </a14:m>
                <a:r>
                  <a:rPr lang="en-US"/>
                  <a:t> have max variance</a:t>
                </a:r>
              </a:p>
              <a:p>
                <a:pPr>
                  <a:lnSpc>
                    <a:spcPct val="100000"/>
                  </a:lnSpc>
                </a:pPr>
                <a:r>
                  <a:rPr lang="en-US"/>
                  <a:t>Maximize wrt </a:t>
                </a:r>
                <a14:m>
                  <m:oMath xmlns:m="http://schemas.openxmlformats.org/officeDocument/2006/math">
                    <m:r>
                      <a:rPr lang="en-US" b="1" i="1">
                        <a:latin typeface="Cambria Math" panose="02040503050406030204" pitchFamily="18" charset="0"/>
                        <a:cs typeface="DejaVu Math TeX Gyre" panose="02000503000000000000" charset="0"/>
                      </a:rPr>
                      <m:t>𝒆</m:t>
                    </m:r>
                  </m:oMath>
                </a14:m>
                <a:r>
                  <a:rPr lang="en-US"/>
                  <a:t> the objective </a:t>
                </a:r>
                <a14:m>
                  <m:oMath xmlns:m="http://schemas.openxmlformats.org/officeDocument/2006/math">
                    <m:nary>
                      <m:naryPr>
                        <m:chr m:val="∑"/>
                        <m:limLoc m:val="subSup"/>
                        <m:supHide m:val="on"/>
                        <m:ctrlPr>
                          <a:rPr lang="en-US" i="1">
                            <a:latin typeface="Cambria Math" panose="02040503050406030204" pitchFamily="18" charset="0"/>
                            <a:cs typeface="DejaVu Math TeX Gyre" panose="02000503000000000000" charset="0"/>
                          </a:rPr>
                        </m:ctrlPr>
                      </m:naryPr>
                      <m:sub>
                        <m:r>
                          <a:rPr lang="en-US" i="1">
                            <a:latin typeface="Cambria Math" panose="02040503050406030204" pitchFamily="18" charset="0"/>
                            <a:cs typeface="DejaVu Math TeX Gyre" panose="02000503000000000000" charset="0"/>
                          </a:rPr>
                          <m:t>𝑤</m:t>
                        </m:r>
                      </m:sub>
                      <m:sup/>
                      <m:e>
                        <m:sSup>
                          <m:sSupPr>
                            <m:ctrlPr>
                              <a:rPr lang="en-US" i="1">
                                <a:latin typeface="Cambria Math" panose="02040503050406030204" pitchFamily="18" charset="0"/>
                                <a:cs typeface="DejaVu Math TeX Gyre" panose="02000503000000000000" charset="0"/>
                              </a:rPr>
                            </m:ctrlPr>
                          </m:sSupPr>
                          <m:e>
                            <m:d>
                              <m:dPr>
                                <m:ctrlPr>
                                  <a:rPr lang="en-US" i="1">
                                    <a:latin typeface="Cambria Math" panose="02040503050406030204" pitchFamily="18" charset="0"/>
                                    <a:cs typeface="DejaVu Math TeX Gyre" panose="02000503000000000000" charset="0"/>
                                  </a:rPr>
                                </m:ctrlPr>
                              </m:dPr>
                              <m:e>
                                <m:r>
                                  <a:rPr lang="en-US" b="1" i="1">
                                    <a:latin typeface="Cambria Math" panose="02040503050406030204" pitchFamily="18" charset="0"/>
                                    <a:cs typeface="DejaVu Math TeX Gyre" panose="02000503000000000000" charset="0"/>
                                  </a:rPr>
                                  <m:t>𝒆</m:t>
                                </m:r>
                                <m:r>
                                  <a:rPr lang="en-US" i="1">
                                    <a:latin typeface="Cambria Math" panose="02040503050406030204" pitchFamily="18" charset="0"/>
                                    <a:cs typeface="DejaVu Math TeX Gyre" panose="02000503000000000000" charset="0"/>
                                  </a:rPr>
                                  <m:t>∙</m:t>
                                </m:r>
                                <m:sSub>
                                  <m:sSubPr>
                                    <m:ctrlPr>
                                      <a:rPr lang="en-US" i="1">
                                        <a:latin typeface="Cambria Math" panose="02040503050406030204" pitchFamily="18" charset="0"/>
                                        <a:cs typeface="DejaVu Math TeX Gyre" panose="02000503000000000000" charset="0"/>
                                      </a:rPr>
                                    </m:ctrlPr>
                                  </m:sSubPr>
                                  <m:e>
                                    <m:r>
                                      <a:rPr lang="en-US" b="1" i="1">
                                        <a:latin typeface="Cambria Math" panose="02040503050406030204" pitchFamily="18" charset="0"/>
                                        <a:cs typeface="DejaVu Math TeX Gyre" panose="02000503000000000000" charset="0"/>
                                      </a:rPr>
                                      <m:t>𝒙</m:t>
                                    </m:r>
                                  </m:e>
                                  <m:sub>
                                    <m:r>
                                      <a:rPr lang="en-US" i="1">
                                        <a:latin typeface="Cambria Math" panose="02040503050406030204" pitchFamily="18" charset="0"/>
                                        <a:cs typeface="DejaVu Math TeX Gyre" panose="02000503000000000000" charset="0"/>
                                      </a:rPr>
                                      <m:t>𝑤</m:t>
                                    </m:r>
                                  </m:sub>
                                </m:sSub>
                              </m:e>
                            </m:d>
                          </m:e>
                          <m:sup>
                            <m:r>
                              <a:rPr lang="en-US" i="1">
                                <a:latin typeface="Cambria Math" panose="02040503050406030204" pitchFamily="18" charset="0"/>
                                <a:cs typeface="DejaVu Math TeX Gyre" panose="02000503000000000000" charset="0"/>
                              </a:rPr>
                              <m:t>2</m:t>
                            </m:r>
                          </m:sup>
                        </m:sSup>
                      </m:e>
                    </m:nary>
                    <m:r>
                      <a:rPr lang="en-US" i="1">
                        <a:latin typeface="Cambria Math" panose="02040503050406030204" pitchFamily="18" charset="0"/>
                        <a:cs typeface="DejaVu Math TeX Gyre" panose="02000503000000000000" charset="0"/>
                      </a:rPr>
                      <m:t>=</m:t>
                    </m:r>
                    <m:sSubSup>
                      <m:sSubSupPr>
                        <m:ctrlPr>
                          <a:rPr lang="en-US" i="1">
                            <a:latin typeface="Cambria Math" panose="02040503050406030204" pitchFamily="18" charset="0"/>
                            <a:cs typeface="DejaVu Math TeX Gyre" panose="02000503000000000000" charset="0"/>
                          </a:rPr>
                        </m:ctrlPr>
                      </m:sSubSupPr>
                      <m:e>
                        <m:d>
                          <m:dPr>
                            <m:begChr m:val="‖"/>
                            <m:endChr m:val="‖"/>
                            <m:ctrlPr>
                              <a:rPr lang="en-US" i="1">
                                <a:latin typeface="Cambria Math" panose="02040503050406030204" pitchFamily="18" charset="0"/>
                                <a:cs typeface="DejaVu Math TeX Gyre" panose="02000503000000000000" charset="0"/>
                              </a:rPr>
                            </m:ctrlPr>
                          </m:dPr>
                          <m:e>
                            <m:r>
                              <a:rPr lang="en-US" b="1" i="1">
                                <a:latin typeface="Cambria Math" panose="02040503050406030204" pitchFamily="18" charset="0"/>
                                <a:cs typeface="DejaVu Math TeX Gyre" panose="02000503000000000000" charset="0"/>
                              </a:rPr>
                              <m:t>𝑿𝒆</m:t>
                            </m:r>
                          </m:e>
                        </m:d>
                      </m:e>
                      <m:sub>
                        <m:r>
                          <a:rPr lang="en-US" i="1">
                            <a:latin typeface="Cambria Math" panose="02040503050406030204" pitchFamily="18" charset="0"/>
                            <a:cs typeface="DejaVu Math TeX Gyre" panose="02000503000000000000" charset="0"/>
                          </a:rPr>
                          <m:t>2</m:t>
                        </m:r>
                      </m:sub>
                      <m:sup>
                        <m:r>
                          <a:rPr lang="en-US" i="1">
                            <a:latin typeface="Cambria Math" panose="02040503050406030204" pitchFamily="18" charset="0"/>
                            <a:cs typeface="DejaVu Math TeX Gyre" panose="02000503000000000000" charset="0"/>
                          </a:rPr>
                          <m:t>2</m:t>
                        </m:r>
                      </m:sup>
                    </m:sSubSup>
                    <m:r>
                      <a:rPr lang="en-US" i="1">
                        <a:latin typeface="Cambria Math" panose="02040503050406030204" pitchFamily="18" charset="0"/>
                        <a:cs typeface="DejaVu Math TeX Gyre" panose="02000503000000000000" charset="0"/>
                      </a:rPr>
                      <m:t>=</m:t>
                    </m:r>
                    <m:sSup>
                      <m:sSupPr>
                        <m:ctrlPr>
                          <a:rPr lang="en-US" i="1">
                            <a:latin typeface="Cambria Math" panose="02040503050406030204" pitchFamily="18" charset="0"/>
                            <a:cs typeface="DejaVu Math TeX Gyre" panose="02000503000000000000" charset="0"/>
                          </a:rPr>
                        </m:ctrlPr>
                      </m:sSupPr>
                      <m:e>
                        <m:r>
                          <a:rPr lang="en-US" b="1" i="1">
                            <a:latin typeface="Cambria Math" panose="02040503050406030204" pitchFamily="18" charset="0"/>
                            <a:cs typeface="DejaVu Math TeX Gyre" panose="02000503000000000000" charset="0"/>
                          </a:rPr>
                          <m:t>𝒆</m:t>
                        </m:r>
                      </m:e>
                      <m:sup>
                        <m:r>
                          <a:rPr lang="en-US" i="1">
                            <a:latin typeface="Cambria Math" panose="02040503050406030204" pitchFamily="18" charset="0"/>
                            <a:cs typeface="DejaVu Math TeX Gyre" panose="02000503000000000000" charset="0"/>
                          </a:rPr>
                          <m:t>⊺</m:t>
                        </m:r>
                      </m:sup>
                    </m:sSup>
                    <m:sSup>
                      <m:sSupPr>
                        <m:ctrlPr>
                          <a:rPr lang="en-US" i="1">
                            <a:latin typeface="Cambria Math" panose="02040503050406030204" pitchFamily="18" charset="0"/>
                            <a:cs typeface="DejaVu Math TeX Gyre" panose="02000503000000000000" charset="0"/>
                          </a:rPr>
                        </m:ctrlPr>
                      </m:sSupPr>
                      <m:e>
                        <m:r>
                          <a:rPr lang="en-US" b="1" i="1">
                            <a:latin typeface="Cambria Math" panose="02040503050406030204" pitchFamily="18" charset="0"/>
                            <a:cs typeface="DejaVu Math TeX Gyre" panose="02000503000000000000" charset="0"/>
                          </a:rPr>
                          <m:t>𝑿</m:t>
                        </m:r>
                      </m:e>
                      <m:sup>
                        <m:r>
                          <a:rPr lang="en-US" i="1">
                            <a:latin typeface="Cambria Math" panose="02040503050406030204" pitchFamily="18" charset="0"/>
                            <a:cs typeface="DejaVu Math TeX Gyre" panose="02000503000000000000" charset="0"/>
                          </a:rPr>
                          <m:t>⊺</m:t>
                        </m:r>
                      </m:sup>
                    </m:sSup>
                    <m:r>
                      <a:rPr lang="en-US" b="1" i="1">
                        <a:latin typeface="Cambria Math" panose="02040503050406030204" pitchFamily="18" charset="0"/>
                        <a:cs typeface="DejaVu Math TeX Gyre" panose="02000503000000000000" charset="0"/>
                      </a:rPr>
                      <m:t>𝑿𝒆</m:t>
                    </m:r>
                  </m:oMath>
                </a14:m>
                <a:r>
                  <a:rPr lang="en-US"/>
                  <a:t>, while preserving </a:t>
                </a:r>
                <a14:m>
                  <m:oMath xmlns:m="http://schemas.openxmlformats.org/officeDocument/2006/math">
                    <m:sSup>
                      <m:sSupPr>
                        <m:ctrlPr>
                          <a:rPr lang="en-US" i="1">
                            <a:latin typeface="Cambria Math" panose="02040503050406030204" pitchFamily="18" charset="0"/>
                            <a:cs typeface="DejaVu Math TeX Gyre" panose="02000503000000000000" charset="0"/>
                          </a:rPr>
                        </m:ctrlPr>
                      </m:sSupPr>
                      <m:e>
                        <m:r>
                          <a:rPr lang="en-US" b="1" i="1">
                            <a:latin typeface="Cambria Math" panose="02040503050406030204" pitchFamily="18" charset="0"/>
                            <a:cs typeface="DejaVu Math TeX Gyre" panose="02000503000000000000" charset="0"/>
                          </a:rPr>
                          <m:t>𝒆</m:t>
                        </m:r>
                      </m:e>
                      <m:sup>
                        <m:r>
                          <a:rPr lang="en-US" i="1">
                            <a:latin typeface="Cambria Math" panose="02040503050406030204" pitchFamily="18" charset="0"/>
                            <a:cs typeface="DejaVu Math TeX Gyre" panose="02000503000000000000" charset="0"/>
                          </a:rPr>
                          <m:t>⊺</m:t>
                        </m:r>
                      </m:sup>
                    </m:sSup>
                    <m:r>
                      <a:rPr lang="en-US" b="1" i="1">
                        <a:latin typeface="Cambria Math" panose="02040503050406030204" pitchFamily="18" charset="0"/>
                        <a:cs typeface="DejaVu Math TeX Gyre" panose="02000503000000000000" charset="0"/>
                      </a:rPr>
                      <m:t>𝒆</m:t>
                    </m:r>
                    <m:r>
                      <a:rPr lang="en-US" i="1">
                        <a:latin typeface="Cambria Math" panose="02040503050406030204" pitchFamily="18" charset="0"/>
                        <a:cs typeface="DejaVu Math TeX Gyre" panose="02000503000000000000" charset="0"/>
                      </a:rPr>
                      <m:t>=1</m:t>
                    </m:r>
                  </m:oMath>
                </a14:m>
                <a:endParaRPr lang="en-US" i="1">
                  <a:latin typeface="DejaVu Math TeX Gyre" panose="02000503000000000000" charset="0"/>
                  <a:cs typeface="DejaVu Math TeX Gyre" panose="02000503000000000000" charset="0"/>
                </a:endParaRPr>
              </a:p>
              <a:p>
                <a:pPr>
                  <a:lnSpc>
                    <a:spcPct val="100000"/>
                  </a:lnSpc>
                </a:pPr>
                <a:r>
                  <a:rPr lang="en-US"/>
                  <a:t>Equivalently, maximize </a:t>
                </a:r>
                <a14:m>
                  <m:oMath xmlns:m="http://schemas.openxmlformats.org/officeDocument/2006/math">
                    <m:f>
                      <m:fPr>
                        <m:ctrlPr>
                          <a:rPr lang="en-US" i="1">
                            <a:latin typeface="Cambria Math" panose="02040503050406030204" pitchFamily="18" charset="0"/>
                            <a:cs typeface="DejaVu Math TeX Gyre" panose="02000503000000000000" charset="0"/>
                          </a:rPr>
                        </m:ctrlPr>
                      </m:fPr>
                      <m:num>
                        <m:sSup>
                          <m:sSupPr>
                            <m:ctrlPr>
                              <a:rPr lang="en-US" i="1">
                                <a:latin typeface="Cambria Math" panose="02040503050406030204" pitchFamily="18" charset="0"/>
                                <a:cs typeface="DejaVu Math TeX Gyre" panose="02000503000000000000" charset="0"/>
                              </a:rPr>
                            </m:ctrlPr>
                          </m:sSupPr>
                          <m:e>
                            <m:r>
                              <a:rPr lang="en-US" b="1" i="1">
                                <a:latin typeface="Cambria Math" panose="02040503050406030204" pitchFamily="18" charset="0"/>
                                <a:cs typeface="DejaVu Math TeX Gyre" panose="02000503000000000000" charset="0"/>
                              </a:rPr>
                              <m:t>𝒆</m:t>
                            </m:r>
                          </m:e>
                          <m:sup>
                            <m:r>
                              <a:rPr lang="en-US" i="1">
                                <a:latin typeface="Cambria Math" panose="02040503050406030204" pitchFamily="18" charset="0"/>
                                <a:cs typeface="DejaVu Math TeX Gyre" panose="02000503000000000000" charset="0"/>
                              </a:rPr>
                              <m:t>⊺</m:t>
                            </m:r>
                          </m:sup>
                        </m:sSup>
                        <m:sSup>
                          <m:sSupPr>
                            <m:ctrlPr>
                              <a:rPr lang="en-US" i="1">
                                <a:latin typeface="Cambria Math" panose="02040503050406030204" pitchFamily="18" charset="0"/>
                                <a:cs typeface="DejaVu Math TeX Gyre" panose="02000503000000000000" charset="0"/>
                              </a:rPr>
                            </m:ctrlPr>
                          </m:sSupPr>
                          <m:e>
                            <m:r>
                              <a:rPr lang="en-US" b="1" i="1">
                                <a:latin typeface="Cambria Math" panose="02040503050406030204" pitchFamily="18" charset="0"/>
                                <a:cs typeface="DejaVu Math TeX Gyre" panose="02000503000000000000" charset="0"/>
                              </a:rPr>
                              <m:t>𝑿</m:t>
                            </m:r>
                          </m:e>
                          <m:sup>
                            <m:r>
                              <a:rPr lang="en-US" i="1">
                                <a:latin typeface="Cambria Math" panose="02040503050406030204" pitchFamily="18" charset="0"/>
                                <a:cs typeface="DejaVu Math TeX Gyre" panose="02000503000000000000" charset="0"/>
                              </a:rPr>
                              <m:t>⊺</m:t>
                            </m:r>
                          </m:sup>
                        </m:sSup>
                        <m:r>
                          <a:rPr lang="en-US" b="1" i="1">
                            <a:latin typeface="Cambria Math" panose="02040503050406030204" pitchFamily="18" charset="0"/>
                            <a:cs typeface="DejaVu Math TeX Gyre" panose="02000503000000000000" charset="0"/>
                          </a:rPr>
                          <m:t>𝑿𝒆</m:t>
                        </m:r>
                      </m:num>
                      <m:den>
                        <m:sSup>
                          <m:sSupPr>
                            <m:ctrlPr>
                              <a:rPr lang="en-US" i="1">
                                <a:latin typeface="Cambria Math" panose="02040503050406030204" pitchFamily="18" charset="0"/>
                                <a:cs typeface="DejaVu Math TeX Gyre" panose="02000503000000000000" charset="0"/>
                              </a:rPr>
                            </m:ctrlPr>
                          </m:sSupPr>
                          <m:e>
                            <m:r>
                              <a:rPr lang="en-US" b="1" i="1">
                                <a:latin typeface="Cambria Math" panose="02040503050406030204" pitchFamily="18" charset="0"/>
                                <a:cs typeface="DejaVu Math TeX Gyre" panose="02000503000000000000" charset="0"/>
                              </a:rPr>
                              <m:t>𝒆</m:t>
                            </m:r>
                          </m:e>
                          <m:sup>
                            <m:r>
                              <a:rPr lang="en-US" i="1">
                                <a:latin typeface="Cambria Math" panose="02040503050406030204" pitchFamily="18" charset="0"/>
                                <a:cs typeface="DejaVu Math TeX Gyre" panose="02000503000000000000" charset="0"/>
                              </a:rPr>
                              <m:t>⊺</m:t>
                            </m:r>
                          </m:sup>
                        </m:sSup>
                        <m:r>
                          <a:rPr lang="en-US" b="1" i="1">
                            <a:latin typeface="Cambria Math" panose="02040503050406030204" pitchFamily="18" charset="0"/>
                            <a:cs typeface="DejaVu Math TeX Gyre" panose="02000503000000000000" charset="0"/>
                          </a:rPr>
                          <m:t>𝒆</m:t>
                        </m:r>
                      </m:den>
                    </m:f>
                  </m:oMath>
                </a14:m>
                <a:r>
                  <a:rPr lang="en-US"/>
                  <a:t> (</a:t>
                </a:r>
                <a:r>
                  <a:rPr lang="en-US">
                    <a:hlinkClick r:id="rId3" action="ppaction://hlinkfile"/>
                  </a:rPr>
                  <a:t>Rayleigh quotient</a:t>
                </a:r>
                <a:r>
                  <a:rPr lang="en-US"/>
                  <a:t>)</a:t>
                </a:r>
              </a:p>
              <a:p>
                <a:pPr>
                  <a:lnSpc>
                    <a:spcPct val="100000"/>
                  </a:lnSpc>
                </a:pPr>
                <a:r>
                  <a:rPr lang="en-US"/>
                  <a:t>Solution is </a:t>
                </a:r>
                <a14:m>
                  <m:oMath xmlns:m="http://schemas.openxmlformats.org/officeDocument/2006/math">
                    <m:sSub>
                      <m:sSubPr>
                        <m:ctrlPr>
                          <a:rPr lang="en-US" b="1" i="1">
                            <a:latin typeface="Cambria Math" panose="02040503050406030204" pitchFamily="18" charset="0"/>
                            <a:cs typeface="DejaVu Math TeX Gyre" panose="02000503000000000000" charset="0"/>
                          </a:rPr>
                        </m:ctrlPr>
                      </m:sSubPr>
                      <m:e>
                        <m:r>
                          <a:rPr lang="en-US" b="1" i="1">
                            <a:latin typeface="Cambria Math" panose="02040503050406030204" pitchFamily="18" charset="0"/>
                            <a:cs typeface="DejaVu Math TeX Gyre" panose="02000503000000000000" charset="0"/>
                          </a:rPr>
                          <m:t>𝒆</m:t>
                        </m:r>
                      </m:e>
                      <m:sub>
                        <m:r>
                          <a:rPr lang="en-US" i="1">
                            <a:latin typeface="Cambria Math" panose="02040503050406030204" pitchFamily="18" charset="0"/>
                            <a:cs typeface="DejaVu Math TeX Gyre" panose="02000503000000000000" charset="0"/>
                          </a:rPr>
                          <m:t>1</m:t>
                        </m:r>
                      </m:sub>
                    </m:sSub>
                  </m:oMath>
                </a14:m>
                <a:r>
                  <a:rPr lang="en-US"/>
                  <a:t>, dominant eigenvector of </a:t>
                </a:r>
                <a14:m>
                  <m:oMath xmlns:m="http://schemas.openxmlformats.org/officeDocument/2006/math">
                    <m:sSup>
                      <m:sSupPr>
                        <m:ctrlPr>
                          <a:rPr lang="en-US" i="1">
                            <a:latin typeface="Cambria Math" panose="02040503050406030204" pitchFamily="18" charset="0"/>
                            <a:cs typeface="DejaVu Math TeX Gyre" panose="02000503000000000000" charset="0"/>
                          </a:rPr>
                        </m:ctrlPr>
                      </m:sSupPr>
                      <m:e>
                        <m:r>
                          <a:rPr lang="en-US" b="1" i="1">
                            <a:latin typeface="Cambria Math" panose="02040503050406030204" pitchFamily="18" charset="0"/>
                            <a:cs typeface="DejaVu Math TeX Gyre" panose="02000503000000000000" charset="0"/>
                          </a:rPr>
                          <m:t>𝑿</m:t>
                        </m:r>
                      </m:e>
                      <m:sup>
                        <m:r>
                          <a:rPr lang="en-US" i="1">
                            <a:latin typeface="Cambria Math" panose="02040503050406030204" pitchFamily="18" charset="0"/>
                            <a:cs typeface="DejaVu Math TeX Gyre" panose="02000503000000000000" charset="0"/>
                          </a:rPr>
                          <m:t>⊺</m:t>
                        </m:r>
                      </m:sup>
                    </m:sSup>
                    <m:r>
                      <a:rPr lang="en-US" b="1" i="1">
                        <a:latin typeface="Cambria Math" panose="02040503050406030204" pitchFamily="18" charset="0"/>
                        <a:cs typeface="DejaVu Math TeX Gyre" panose="02000503000000000000" charset="0"/>
                      </a:rPr>
                      <m:t>𝑿</m:t>
                    </m:r>
                  </m:oMath>
                </a14:m>
                <a:endParaRPr lang="en-US" b="1" i="1">
                  <a:latin typeface="DejaVu Math TeX Gyre" panose="02000503000000000000" charset="0"/>
                  <a:cs typeface="DejaVu Math TeX Gyre" panose="02000503000000000000" charset="0"/>
                </a:endParaRPr>
              </a:p>
              <a:p>
                <a:pPr lvl="1">
                  <a:lnSpc>
                    <a:spcPct val="100000"/>
                  </a:lnSpc>
                </a:pPr>
                <a:r>
                  <a:rPr lang="en-US"/>
                  <a:t>I.e., eigenvector corresponding to largest eigenvalue </a:t>
                </a:r>
                <a14:m>
                  <m:oMath xmlns:m="http://schemas.openxmlformats.org/officeDocument/2006/math">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𝜆</m:t>
                        </m:r>
                      </m:e>
                      <m:sub>
                        <m:r>
                          <a:rPr lang="en-US" i="1">
                            <a:latin typeface="Cambria Math" panose="02040503050406030204" pitchFamily="18" charset="0"/>
                            <a:cs typeface="DejaVu Math TeX Gyre" panose="02000503000000000000" charset="0"/>
                          </a:rPr>
                          <m:t>1</m:t>
                        </m:r>
                      </m:sub>
                    </m:sSub>
                    <m:r>
                      <a:rPr lang="en-US" i="1">
                        <a:latin typeface="Cambria Math" panose="02040503050406030204" pitchFamily="18" charset="0"/>
                        <a:cs typeface="DejaVu Math TeX Gyre" panose="02000503000000000000" charset="0"/>
                      </a:rPr>
                      <m:t>≥0</m:t>
                    </m:r>
                  </m:oMath>
                </a14:m>
                <a:endParaRPr lang="en-US"/>
              </a:p>
            </p:txBody>
          </p:sp>
        </mc:Choice>
        <mc:Fallback xmlns="">
          <p:sp>
            <p:nvSpPr>
              <p:cNvPr id="4" name="Text Placeholder 3"/>
              <p:cNvSpPr>
                <a:spLocks noRot="1" noChangeAspect="1" noMove="1" noResize="1" noEditPoints="1" noAdjustHandles="1" noChangeArrowheads="1" noChangeShapeType="1" noTextEdit="1"/>
              </p:cNvSpPr>
              <p:nvPr>
                <p:ph type="body" idx="1"/>
              </p:nvPr>
            </p:nvSpPr>
            <p:spPr>
              <a:blipFill rotWithShape="1">
                <a:blip r:embed="rId4"/>
                <a:stretch>
                  <a:fillRect/>
                </a:stretch>
              </a:blipFill>
            </p:spPr>
            <p:txBody>
              <a:bodyPr/>
              <a:lstStyle/>
              <a:p>
                <a:r>
                  <a:rPr lang="en-US" altLang="en-US">
                    <a:noFill/>
                  </a:rPr>
                  <a:t> </a:t>
                </a:r>
              </a:p>
            </p:txBody>
          </p:sp>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Orthogonal highest variance subspace</a:t>
            </a:r>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p:txBody>
              <a:bodyPr>
                <a:normAutofit fontScale="60000"/>
              </a:bodyPr>
              <a:lstStyle/>
              <a:p>
                <a:pPr>
                  <a:lnSpc>
                    <a:spcPct val="100000"/>
                  </a:lnSpc>
                </a:pPr>
                <a14:m>
                  <m:oMath xmlns:m="http://schemas.openxmlformats.org/officeDocument/2006/math">
                    <m:sSub>
                      <m:sSubPr>
                        <m:ctrlPr>
                          <a:rPr lang="en-US" i="1">
                            <a:latin typeface="Cambria Math" panose="02040503050406030204" pitchFamily="18" charset="0"/>
                            <a:cs typeface="DejaVu Math TeX Gyre" panose="02000503000000000000" charset="0"/>
                          </a:rPr>
                        </m:ctrlPr>
                      </m:sSubPr>
                      <m:e>
                        <m:r>
                          <a:rPr lang="en-US" b="1" i="1">
                            <a:latin typeface="Cambria Math" panose="02040503050406030204" pitchFamily="18" charset="0"/>
                            <a:cs typeface="DejaVu Math TeX Gyre" panose="02000503000000000000" charset="0"/>
                          </a:rPr>
                          <m:t>𝒙</m:t>
                        </m:r>
                      </m:e>
                      <m:sub>
                        <m:r>
                          <a:rPr lang="en-US" i="1">
                            <a:latin typeface="Cambria Math" panose="02040503050406030204" pitchFamily="18" charset="0"/>
                            <a:cs typeface="DejaVu Math TeX Gyre" panose="02000503000000000000" charset="0"/>
                          </a:rPr>
                          <m:t>𝑤</m:t>
                        </m:r>
                      </m:sub>
                    </m:sSub>
                    <m:r>
                      <a:rPr lang="en-US" i="1">
                        <a:latin typeface="Cambria Math" panose="02040503050406030204" pitchFamily="18" charset="0"/>
                        <a:cs typeface="DejaVu Math TeX Gyre" panose="02000503000000000000" charset="0"/>
                      </a:rPr>
                      <m:t>∙</m:t>
                    </m:r>
                    <m:sSub>
                      <m:sSubPr>
                        <m:ctrlPr>
                          <a:rPr lang="en-US" b="1" i="1">
                            <a:latin typeface="Cambria Math" panose="02040503050406030204" pitchFamily="18" charset="0"/>
                            <a:cs typeface="DejaVu Math TeX Gyre" panose="02000503000000000000" charset="0"/>
                          </a:rPr>
                        </m:ctrlPr>
                      </m:sSubPr>
                      <m:e>
                        <m:r>
                          <a:rPr lang="en-US" b="1" i="1">
                            <a:latin typeface="Cambria Math" panose="02040503050406030204" pitchFamily="18" charset="0"/>
                            <a:cs typeface="DejaVu Math TeX Gyre" panose="02000503000000000000" charset="0"/>
                          </a:rPr>
                          <m:t>𝒆</m:t>
                        </m:r>
                      </m:e>
                      <m:sub>
                        <m:r>
                          <a:rPr lang="en-US" i="1">
                            <a:latin typeface="Cambria Math" panose="02040503050406030204" pitchFamily="18" charset="0"/>
                            <a:cs typeface="DejaVu Math TeX Gyre" panose="02000503000000000000" charset="0"/>
                          </a:rPr>
                          <m:t>1</m:t>
                        </m:r>
                      </m:sub>
                    </m:sSub>
                  </m:oMath>
                </a14:m>
                <a:r>
                  <a:rPr lang="en-US"/>
                  <a:t> is the length of projection of </a:t>
                </a:r>
                <a14:m>
                  <m:oMath xmlns:m="http://schemas.openxmlformats.org/officeDocument/2006/math">
                    <m:sSub>
                      <m:sSubPr>
                        <m:ctrlPr>
                          <a:rPr lang="en-US" i="1">
                            <a:latin typeface="Cambria Math" panose="02040503050406030204" pitchFamily="18" charset="0"/>
                            <a:cs typeface="DejaVu Math TeX Gyre" panose="02000503000000000000" charset="0"/>
                          </a:rPr>
                        </m:ctrlPr>
                      </m:sSubPr>
                      <m:e>
                        <m:r>
                          <a:rPr lang="en-US" b="1" i="1">
                            <a:latin typeface="Cambria Math" panose="02040503050406030204" pitchFamily="18" charset="0"/>
                            <a:cs typeface="DejaVu Math TeX Gyre" panose="02000503000000000000" charset="0"/>
                          </a:rPr>
                          <m:t>𝒙</m:t>
                        </m:r>
                      </m:e>
                      <m:sub>
                        <m:r>
                          <a:rPr lang="en-US" i="1">
                            <a:latin typeface="Cambria Math" panose="02040503050406030204" pitchFamily="18" charset="0"/>
                            <a:cs typeface="DejaVu Math TeX Gyre" panose="02000503000000000000" charset="0"/>
                          </a:rPr>
                          <m:t>𝑤</m:t>
                        </m:r>
                      </m:sub>
                    </m:sSub>
                  </m:oMath>
                </a14:m>
                <a:r>
                  <a:rPr lang="en-US"/>
                  <a:t> along </a:t>
                </a:r>
                <a14:m>
                  <m:oMath xmlns:m="http://schemas.openxmlformats.org/officeDocument/2006/math">
                    <m:sSub>
                      <m:sSubPr>
                        <m:ctrlPr>
                          <a:rPr lang="en-US" b="1" i="1">
                            <a:latin typeface="Cambria Math" panose="02040503050406030204" pitchFamily="18" charset="0"/>
                            <a:cs typeface="DejaVu Math TeX Gyre" panose="02000503000000000000" charset="0"/>
                          </a:rPr>
                        </m:ctrlPr>
                      </m:sSubPr>
                      <m:e>
                        <m:r>
                          <a:rPr lang="en-US" b="1" i="1">
                            <a:latin typeface="Cambria Math" panose="02040503050406030204" pitchFamily="18" charset="0"/>
                            <a:cs typeface="DejaVu Math TeX Gyre" panose="02000503000000000000" charset="0"/>
                          </a:rPr>
                          <m:t>𝒆</m:t>
                        </m:r>
                      </m:e>
                      <m:sub>
                        <m:r>
                          <a:rPr lang="en-US" i="1">
                            <a:latin typeface="Cambria Math" panose="02040503050406030204" pitchFamily="18" charset="0"/>
                            <a:cs typeface="DejaVu Math TeX Gyre" panose="02000503000000000000" charset="0"/>
                          </a:rPr>
                          <m:t>1</m:t>
                        </m:r>
                      </m:sub>
                    </m:sSub>
                  </m:oMath>
                </a14:m>
                <a:endParaRPr lang="en-US" i="1">
                  <a:latin typeface="DejaVu Math TeX Gyre" panose="02000503000000000000" charset="0"/>
                  <a:cs typeface="DejaVu Math TeX Gyre" panose="02000503000000000000" charset="0"/>
                </a:endParaRPr>
              </a:p>
              <a:p>
                <a:pPr lvl="1">
                  <a:lnSpc>
                    <a:spcPct val="100000"/>
                  </a:lnSpc>
                </a:pPr>
                <a14:m>
                  <m:oMath xmlns:m="http://schemas.openxmlformats.org/officeDocument/2006/math">
                    <m:d>
                      <m:dPr>
                        <m:ctrlPr>
                          <a:rPr lang="en-US" i="1">
                            <a:latin typeface="Cambria Math" panose="02040503050406030204" pitchFamily="18" charset="0"/>
                            <a:cs typeface="DejaVu Math TeX Gyre" panose="02000503000000000000" charset="0"/>
                          </a:rPr>
                        </m:ctrlPr>
                      </m:dPr>
                      <m:e>
                        <m:sSub>
                          <m:sSubPr>
                            <m:ctrlPr>
                              <a:rPr lang="en-US" i="1">
                                <a:latin typeface="Cambria Math" panose="02040503050406030204" pitchFamily="18" charset="0"/>
                                <a:cs typeface="DejaVu Math TeX Gyre" panose="02000503000000000000" charset="0"/>
                              </a:rPr>
                            </m:ctrlPr>
                          </m:sSubPr>
                          <m:e>
                            <m:r>
                              <a:rPr lang="en-US" b="1" i="1">
                                <a:latin typeface="Cambria Math" panose="02040503050406030204" pitchFamily="18" charset="0"/>
                                <a:cs typeface="DejaVu Math TeX Gyre" panose="02000503000000000000" charset="0"/>
                              </a:rPr>
                              <m:t>𝒙</m:t>
                            </m:r>
                          </m:e>
                          <m:sub>
                            <m:r>
                              <a:rPr lang="en-US" i="1">
                                <a:latin typeface="Cambria Math" panose="02040503050406030204" pitchFamily="18" charset="0"/>
                                <a:cs typeface="DejaVu Math TeX Gyre" panose="02000503000000000000" charset="0"/>
                              </a:rPr>
                              <m:t>𝑤</m:t>
                            </m:r>
                          </m:sub>
                        </m:sSub>
                        <m:r>
                          <a:rPr lang="en-US" i="1">
                            <a:latin typeface="Cambria Math" panose="02040503050406030204" pitchFamily="18" charset="0"/>
                            <a:cs typeface="DejaVu Math TeX Gyre" panose="02000503000000000000" charset="0"/>
                          </a:rPr>
                          <m:t>∙</m:t>
                        </m:r>
                        <m:sSub>
                          <m:sSubPr>
                            <m:ctrlPr>
                              <a:rPr lang="en-US" b="1" i="1">
                                <a:latin typeface="Cambria Math" panose="02040503050406030204" pitchFamily="18" charset="0"/>
                                <a:cs typeface="DejaVu Math TeX Gyre" panose="02000503000000000000" charset="0"/>
                              </a:rPr>
                            </m:ctrlPr>
                          </m:sSubPr>
                          <m:e>
                            <m:r>
                              <a:rPr lang="en-US" b="1" i="1">
                                <a:latin typeface="Cambria Math" panose="02040503050406030204" pitchFamily="18" charset="0"/>
                                <a:cs typeface="DejaVu Math TeX Gyre" panose="02000503000000000000" charset="0"/>
                              </a:rPr>
                              <m:t>𝒆</m:t>
                            </m:r>
                          </m:e>
                          <m:sub>
                            <m:r>
                              <a:rPr lang="en-US" i="1">
                                <a:latin typeface="Cambria Math" panose="02040503050406030204" pitchFamily="18" charset="0"/>
                                <a:cs typeface="DejaVu Math TeX Gyre" panose="02000503000000000000" charset="0"/>
                              </a:rPr>
                              <m:t>1</m:t>
                            </m:r>
                          </m:sub>
                        </m:sSub>
                      </m:e>
                    </m:d>
                    <m:sSub>
                      <m:sSubPr>
                        <m:ctrlPr>
                          <a:rPr lang="en-US" b="1" i="1">
                            <a:latin typeface="Cambria Math" panose="02040503050406030204" pitchFamily="18" charset="0"/>
                            <a:cs typeface="DejaVu Math TeX Gyre" panose="02000503000000000000" charset="0"/>
                          </a:rPr>
                        </m:ctrlPr>
                      </m:sSubPr>
                      <m:e>
                        <m:r>
                          <a:rPr lang="en-US" b="1" i="1">
                            <a:latin typeface="Cambria Math" panose="02040503050406030204" pitchFamily="18" charset="0"/>
                            <a:cs typeface="DejaVu Math TeX Gyre" panose="02000503000000000000" charset="0"/>
                          </a:rPr>
                          <m:t>𝒆</m:t>
                        </m:r>
                      </m:e>
                      <m:sub>
                        <m:r>
                          <a:rPr lang="en-US" i="1">
                            <a:latin typeface="Cambria Math" panose="02040503050406030204" pitchFamily="18" charset="0"/>
                            <a:cs typeface="DejaVu Math TeX Gyre" panose="02000503000000000000" charset="0"/>
                          </a:rPr>
                          <m:t>1</m:t>
                        </m:r>
                      </m:sub>
                    </m:sSub>
                  </m:oMath>
                </a14:m>
                <a:r>
                  <a:rPr lang="en-US"/>
                  <a:t> is the component of </a:t>
                </a:r>
                <a14:m>
                  <m:oMath xmlns:m="http://schemas.openxmlformats.org/officeDocument/2006/math">
                    <m:sSub>
                      <m:sSubPr>
                        <m:ctrlPr>
                          <a:rPr lang="en-US" i="1">
                            <a:latin typeface="Cambria Math" panose="02040503050406030204" pitchFamily="18" charset="0"/>
                            <a:cs typeface="DejaVu Math TeX Gyre" panose="02000503000000000000" charset="0"/>
                          </a:rPr>
                        </m:ctrlPr>
                      </m:sSubPr>
                      <m:e>
                        <m:r>
                          <a:rPr lang="en-US" b="1" i="1">
                            <a:latin typeface="Cambria Math" panose="02040503050406030204" pitchFamily="18" charset="0"/>
                            <a:cs typeface="DejaVu Math TeX Gyre" panose="02000503000000000000" charset="0"/>
                          </a:rPr>
                          <m:t>𝒙</m:t>
                        </m:r>
                      </m:e>
                      <m:sub>
                        <m:r>
                          <a:rPr lang="en-US" i="1">
                            <a:latin typeface="Cambria Math" panose="02040503050406030204" pitchFamily="18" charset="0"/>
                            <a:cs typeface="DejaVu Math TeX Gyre" panose="02000503000000000000" charset="0"/>
                          </a:rPr>
                          <m:t>𝑤</m:t>
                        </m:r>
                      </m:sub>
                    </m:sSub>
                  </m:oMath>
                </a14:m>
                <a:r>
                  <a:rPr lang="en-US"/>
                  <a:t> parallel to </a:t>
                </a:r>
                <a14:m>
                  <m:oMath xmlns:m="http://schemas.openxmlformats.org/officeDocument/2006/math">
                    <m:sSub>
                      <m:sSubPr>
                        <m:ctrlPr>
                          <a:rPr lang="en-US" b="1" i="1">
                            <a:latin typeface="Cambria Math" panose="02040503050406030204" pitchFamily="18" charset="0"/>
                            <a:cs typeface="DejaVu Math TeX Gyre" panose="02000503000000000000" charset="0"/>
                          </a:rPr>
                        </m:ctrlPr>
                      </m:sSubPr>
                      <m:e>
                        <m:r>
                          <a:rPr lang="en-US" b="1" i="1">
                            <a:latin typeface="Cambria Math" panose="02040503050406030204" pitchFamily="18" charset="0"/>
                            <a:cs typeface="DejaVu Math TeX Gyre" panose="02000503000000000000" charset="0"/>
                          </a:rPr>
                          <m:t>𝒆</m:t>
                        </m:r>
                      </m:e>
                      <m:sub>
                        <m:r>
                          <a:rPr lang="en-US" i="1">
                            <a:latin typeface="Cambria Math" panose="02040503050406030204" pitchFamily="18" charset="0"/>
                            <a:cs typeface="DejaVu Math TeX Gyre" panose="02000503000000000000" charset="0"/>
                          </a:rPr>
                          <m:t>1</m:t>
                        </m:r>
                      </m:sub>
                    </m:sSub>
                  </m:oMath>
                </a14:m>
                <a:endParaRPr lang="en-US"/>
              </a:p>
              <a:p>
                <a:pPr lvl="1">
                  <a:lnSpc>
                    <a:spcPct val="100000"/>
                  </a:lnSpc>
                </a:pPr>
                <a:r>
                  <a:rPr lang="en-US"/>
                  <a:t>Orthogonal component is </a:t>
                </a:r>
                <a14:m>
                  <m:oMath xmlns:m="http://schemas.openxmlformats.org/officeDocument/2006/math">
                    <m:sSub>
                      <m:sSubPr>
                        <m:ctrlPr>
                          <a:rPr lang="en-US" i="1">
                            <a:latin typeface="Cambria Math" panose="02040503050406030204" pitchFamily="18" charset="0"/>
                            <a:cs typeface="DejaVu Math TeX Gyre" panose="02000503000000000000" charset="0"/>
                          </a:rPr>
                        </m:ctrlPr>
                      </m:sSubPr>
                      <m:e>
                        <m:r>
                          <a:rPr lang="en-US" b="1" i="1">
                            <a:latin typeface="Cambria Math" panose="02040503050406030204" pitchFamily="18" charset="0"/>
                            <a:cs typeface="DejaVu Math TeX Gyre" panose="02000503000000000000" charset="0"/>
                          </a:rPr>
                          <m:t>𝒙</m:t>
                        </m:r>
                      </m:e>
                      <m:sub>
                        <m:r>
                          <a:rPr lang="en-US" i="1">
                            <a:latin typeface="Cambria Math" panose="02040503050406030204" pitchFamily="18" charset="0"/>
                            <a:cs typeface="DejaVu Math TeX Gyre" panose="02000503000000000000" charset="0"/>
                          </a:rPr>
                          <m:t>𝑤</m:t>
                        </m:r>
                      </m:sub>
                    </m:sSub>
                    <m:r>
                      <a:rPr lang="en-US" i="1">
                        <a:latin typeface="Cambria Math" panose="02040503050406030204" pitchFamily="18" charset="0"/>
                        <a:cs typeface="DejaVu Math TeX Gyre" panose="02000503000000000000" charset="0"/>
                      </a:rPr>
                      <m:t>−</m:t>
                    </m:r>
                    <m:d>
                      <m:dPr>
                        <m:ctrlPr>
                          <a:rPr lang="en-US" i="1">
                            <a:latin typeface="Cambria Math" panose="02040503050406030204" pitchFamily="18" charset="0"/>
                            <a:cs typeface="DejaVu Math TeX Gyre" panose="02000503000000000000" charset="0"/>
                          </a:rPr>
                        </m:ctrlPr>
                      </m:dPr>
                      <m:e>
                        <m:sSub>
                          <m:sSubPr>
                            <m:ctrlPr>
                              <a:rPr lang="en-US" i="1">
                                <a:latin typeface="Cambria Math" panose="02040503050406030204" pitchFamily="18" charset="0"/>
                                <a:cs typeface="DejaVu Math TeX Gyre" panose="02000503000000000000" charset="0"/>
                              </a:rPr>
                            </m:ctrlPr>
                          </m:sSubPr>
                          <m:e>
                            <m:r>
                              <a:rPr lang="en-US" b="1" i="1">
                                <a:latin typeface="Cambria Math" panose="02040503050406030204" pitchFamily="18" charset="0"/>
                                <a:cs typeface="DejaVu Math TeX Gyre" panose="02000503000000000000" charset="0"/>
                              </a:rPr>
                              <m:t>𝒙</m:t>
                            </m:r>
                          </m:e>
                          <m:sub>
                            <m:r>
                              <a:rPr lang="en-US" i="1">
                                <a:latin typeface="Cambria Math" panose="02040503050406030204" pitchFamily="18" charset="0"/>
                                <a:cs typeface="DejaVu Math TeX Gyre" panose="02000503000000000000" charset="0"/>
                              </a:rPr>
                              <m:t>𝑤</m:t>
                            </m:r>
                          </m:sub>
                        </m:sSub>
                        <m:r>
                          <a:rPr lang="en-US" i="1">
                            <a:latin typeface="Cambria Math" panose="02040503050406030204" pitchFamily="18" charset="0"/>
                            <a:cs typeface="DejaVu Math TeX Gyre" panose="02000503000000000000" charset="0"/>
                          </a:rPr>
                          <m:t>∙</m:t>
                        </m:r>
                        <m:sSub>
                          <m:sSubPr>
                            <m:ctrlPr>
                              <a:rPr lang="en-US" b="1" i="1">
                                <a:latin typeface="Cambria Math" panose="02040503050406030204" pitchFamily="18" charset="0"/>
                                <a:cs typeface="DejaVu Math TeX Gyre" panose="02000503000000000000" charset="0"/>
                              </a:rPr>
                            </m:ctrlPr>
                          </m:sSubPr>
                          <m:e>
                            <m:r>
                              <a:rPr lang="en-US" b="1" i="1">
                                <a:latin typeface="Cambria Math" panose="02040503050406030204" pitchFamily="18" charset="0"/>
                                <a:cs typeface="DejaVu Math TeX Gyre" panose="02000503000000000000" charset="0"/>
                              </a:rPr>
                              <m:t>𝒆</m:t>
                            </m:r>
                          </m:e>
                          <m:sub>
                            <m:r>
                              <a:rPr lang="en-US" i="1">
                                <a:latin typeface="Cambria Math" panose="02040503050406030204" pitchFamily="18" charset="0"/>
                                <a:cs typeface="DejaVu Math TeX Gyre" panose="02000503000000000000" charset="0"/>
                              </a:rPr>
                              <m:t>1</m:t>
                            </m:r>
                          </m:sub>
                        </m:sSub>
                      </m:e>
                    </m:d>
                    <m:sSub>
                      <m:sSubPr>
                        <m:ctrlPr>
                          <a:rPr lang="en-US" b="1" i="1">
                            <a:latin typeface="Cambria Math" panose="02040503050406030204" pitchFamily="18" charset="0"/>
                            <a:cs typeface="DejaVu Math TeX Gyre" panose="02000503000000000000" charset="0"/>
                          </a:rPr>
                        </m:ctrlPr>
                      </m:sSubPr>
                      <m:e>
                        <m:r>
                          <a:rPr lang="en-US" b="1" i="1">
                            <a:latin typeface="Cambria Math" panose="02040503050406030204" pitchFamily="18" charset="0"/>
                            <a:cs typeface="DejaVu Math TeX Gyre" panose="02000503000000000000" charset="0"/>
                          </a:rPr>
                          <m:t>𝒆</m:t>
                        </m:r>
                      </m:e>
                      <m:sub>
                        <m:r>
                          <a:rPr lang="en-US" i="1">
                            <a:latin typeface="Cambria Math" panose="02040503050406030204" pitchFamily="18" charset="0"/>
                            <a:cs typeface="DejaVu Math TeX Gyre" panose="02000503000000000000" charset="0"/>
                          </a:rPr>
                          <m:t>1</m:t>
                        </m:r>
                      </m:sub>
                    </m:sSub>
                  </m:oMath>
                </a14:m>
                <a:endParaRPr lang="en-US" i="1">
                  <a:latin typeface="DejaVu Math TeX Gyre" panose="02000503000000000000" charset="0"/>
                  <a:cs typeface="DejaVu Math TeX Gyre" panose="02000503000000000000" charset="0"/>
                </a:endParaRPr>
              </a:p>
              <a:p>
                <a:pPr>
                  <a:lnSpc>
                    <a:spcPct val="100000"/>
                  </a:lnSpc>
                </a:pPr>
                <a:r>
                  <a:rPr lang="en-US"/>
                  <a:t>Find this for all words </a:t>
                </a:r>
                <a14:m>
                  <m:oMath xmlns:m="http://schemas.openxmlformats.org/officeDocument/2006/math">
                    <m:r>
                      <a:rPr lang="en-US" i="1">
                        <a:latin typeface="Cambria Math" panose="02040503050406030204" pitchFamily="18" charset="0"/>
                        <a:cs typeface="DejaVu Math TeX Gyre" panose="02000503000000000000" charset="0"/>
                      </a:rPr>
                      <m:t>𝑤</m:t>
                    </m:r>
                  </m:oMath>
                </a14:m>
                <a:r>
                  <a:rPr lang="en-US"/>
                  <a:t> in parallel by computing </a:t>
                </a:r>
                <a14:m>
                  <m:oMath xmlns:m="http://schemas.openxmlformats.org/officeDocument/2006/math">
                    <m:sSup>
                      <m:sSupPr>
                        <m:ctrlPr>
                          <a:rPr lang="en-US" i="1">
                            <a:latin typeface="Cambria Math" panose="02040503050406030204" pitchFamily="18" charset="0"/>
                            <a:cs typeface="DejaVu Math TeX Gyre" panose="02000503000000000000" charset="0"/>
                          </a:rPr>
                        </m:ctrlPr>
                      </m:sSupPr>
                      <m:e>
                        <m:r>
                          <a:rPr lang="en-US" b="1" i="1">
                            <a:latin typeface="Cambria Math" panose="02040503050406030204" pitchFamily="18" charset="0"/>
                            <a:cs typeface="DejaVu Math TeX Gyre" panose="02000503000000000000" charset="0"/>
                          </a:rPr>
                          <m:t>𝑿</m:t>
                        </m:r>
                      </m:e>
                      <m:sup>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2</m:t>
                            </m:r>
                          </m:e>
                        </m:d>
                      </m:sup>
                    </m:sSup>
                    <m:r>
                      <a:rPr lang="en-US" i="1">
                        <a:latin typeface="Cambria Math" panose="02040503050406030204" pitchFamily="18" charset="0"/>
                        <a:cs typeface="DejaVu Math TeX Gyre" panose="02000503000000000000" charset="0"/>
                      </a:rPr>
                      <m:t>=</m:t>
                    </m:r>
                    <m:r>
                      <a:rPr lang="en-US" b="1" i="1">
                        <a:latin typeface="Cambria Math" panose="02040503050406030204" pitchFamily="18" charset="0"/>
                        <a:cs typeface="DejaVu Math TeX Gyre" panose="02000503000000000000" charset="0"/>
                      </a:rPr>
                      <m:t>𝑿</m:t>
                    </m:r>
                    <m:r>
                      <a:rPr lang="en-US" i="1">
                        <a:latin typeface="Cambria Math" panose="02040503050406030204" pitchFamily="18" charset="0"/>
                        <a:cs typeface="DejaVu Math TeX Gyre" panose="02000503000000000000" charset="0"/>
                      </a:rPr>
                      <m:t>−</m:t>
                    </m:r>
                    <m:r>
                      <a:rPr lang="en-US" b="1" i="1">
                        <a:latin typeface="Cambria Math" panose="02040503050406030204" pitchFamily="18" charset="0"/>
                        <a:cs typeface="DejaVu Math TeX Gyre" panose="02000503000000000000" charset="0"/>
                      </a:rPr>
                      <m:t>𝑿</m:t>
                    </m:r>
                    <m:sSub>
                      <m:sSubPr>
                        <m:ctrlPr>
                          <a:rPr lang="en-US" b="1" i="1">
                            <a:effectLst>
                              <a:glow rad="228600">
                                <a:schemeClr val="accent4">
                                  <a:satMod val="175000"/>
                                  <a:alpha val="40000"/>
                                </a:schemeClr>
                              </a:glow>
                            </a:effectLst>
                            <a:latin typeface="Cambria Math" panose="02040503050406030204" pitchFamily="18" charset="0"/>
                            <a:cs typeface="DejaVu Math TeX Gyre" panose="02000503000000000000" charset="0"/>
                          </a:rPr>
                        </m:ctrlPr>
                      </m:sSubPr>
                      <m:e>
                        <m:r>
                          <a:rPr lang="en-US" b="1" i="1">
                            <a:effectLst>
                              <a:glow rad="228600">
                                <a:schemeClr val="accent4">
                                  <a:satMod val="175000"/>
                                  <a:alpha val="40000"/>
                                </a:schemeClr>
                              </a:glow>
                            </a:effectLst>
                            <a:latin typeface="Cambria Math" panose="02040503050406030204" pitchFamily="18" charset="0"/>
                            <a:cs typeface="DejaVu Math TeX Gyre" panose="02000503000000000000" charset="0"/>
                          </a:rPr>
                          <m:t>𝒆</m:t>
                        </m:r>
                      </m:e>
                      <m:sub>
                        <m:r>
                          <a:rPr lang="en-US" i="1">
                            <a:effectLst>
                              <a:glow rad="228600">
                                <a:schemeClr val="accent4">
                                  <a:satMod val="175000"/>
                                  <a:alpha val="40000"/>
                                </a:schemeClr>
                              </a:glow>
                            </a:effectLst>
                            <a:latin typeface="Cambria Math" panose="02040503050406030204" pitchFamily="18" charset="0"/>
                            <a:cs typeface="DejaVu Math TeX Gyre" panose="02000503000000000000" charset="0"/>
                          </a:rPr>
                          <m:t>1</m:t>
                        </m:r>
                      </m:sub>
                    </m:sSub>
                    <m:sSubSup>
                      <m:sSubSupPr>
                        <m:ctrlPr>
                          <a:rPr lang="en-US" i="1">
                            <a:effectLst>
                              <a:glow rad="228600">
                                <a:schemeClr val="accent4">
                                  <a:satMod val="175000"/>
                                  <a:alpha val="40000"/>
                                </a:schemeClr>
                              </a:glow>
                            </a:effectLst>
                            <a:latin typeface="Cambria Math" panose="02040503050406030204" pitchFamily="18" charset="0"/>
                            <a:cs typeface="DejaVu Math TeX Gyre" panose="02000503000000000000" charset="0"/>
                          </a:rPr>
                        </m:ctrlPr>
                      </m:sSubSupPr>
                      <m:e>
                        <m:r>
                          <a:rPr lang="en-US" b="1" i="1">
                            <a:effectLst>
                              <a:glow rad="228600">
                                <a:schemeClr val="accent4">
                                  <a:satMod val="175000"/>
                                  <a:alpha val="40000"/>
                                </a:schemeClr>
                              </a:glow>
                            </a:effectLst>
                            <a:latin typeface="Cambria Math" panose="02040503050406030204" pitchFamily="18" charset="0"/>
                            <a:cs typeface="DejaVu Math TeX Gyre" panose="02000503000000000000" charset="0"/>
                          </a:rPr>
                          <m:t>𝒆</m:t>
                        </m:r>
                      </m:e>
                      <m:sub>
                        <m:r>
                          <a:rPr lang="en-US" i="1">
                            <a:effectLst>
                              <a:glow rad="228600">
                                <a:schemeClr val="accent4">
                                  <a:satMod val="175000"/>
                                  <a:alpha val="40000"/>
                                </a:schemeClr>
                              </a:glow>
                            </a:effectLst>
                            <a:latin typeface="Cambria Math" panose="02040503050406030204" pitchFamily="18" charset="0"/>
                            <a:cs typeface="DejaVu Math TeX Gyre" panose="02000503000000000000" charset="0"/>
                          </a:rPr>
                          <m:t>1</m:t>
                        </m:r>
                      </m:sub>
                      <m:sup>
                        <m:r>
                          <a:rPr lang="en-US" i="1">
                            <a:effectLst>
                              <a:glow rad="228600">
                                <a:schemeClr val="accent4">
                                  <a:satMod val="175000"/>
                                  <a:alpha val="40000"/>
                                </a:schemeClr>
                              </a:glow>
                            </a:effectLst>
                            <a:latin typeface="Cambria Math" panose="02040503050406030204" pitchFamily="18" charset="0"/>
                            <a:cs typeface="DejaVu Math TeX Gyre" panose="02000503000000000000" charset="0"/>
                          </a:rPr>
                          <m:t>⊺</m:t>
                        </m:r>
                      </m:sup>
                    </m:sSubSup>
                  </m:oMath>
                </a14:m>
                <a:endParaRPr lang="en-US" i="1">
                  <a:latin typeface="DejaVu Math TeX Gyre" panose="02000503000000000000" charset="0"/>
                  <a:cs typeface="DejaVu Math TeX Gyre" panose="02000503000000000000" charset="0"/>
                </a:endParaRPr>
              </a:p>
              <a:p>
                <a:pPr lvl="0">
                  <a:lnSpc>
                    <a:spcPct val="100000"/>
                  </a:lnSpc>
                </a:pPr>
                <a:r>
                  <a:rPr lang="en-US"/>
                  <a:t>In general, having found </a:t>
                </a:r>
                <a14:m>
                  <m:oMath xmlns:m="http://schemas.openxmlformats.org/officeDocument/2006/math">
                    <m:sSub>
                      <m:sSubPr>
                        <m:ctrlPr>
                          <a:rPr lang="en-US" i="1">
                            <a:latin typeface="Cambria Math" panose="02040503050406030204" pitchFamily="18" charset="0"/>
                            <a:cs typeface="DejaVu Math TeX Gyre" panose="02000503000000000000" charset="0"/>
                          </a:rPr>
                        </m:ctrlPr>
                      </m:sSubPr>
                      <m:e>
                        <m:r>
                          <a:rPr lang="en-US" b="1" i="1">
                            <a:latin typeface="Cambria Math" panose="02040503050406030204" pitchFamily="18" charset="0"/>
                            <a:cs typeface="DejaVu Math TeX Gyre" panose="02000503000000000000" charset="0"/>
                          </a:rPr>
                          <m:t>𝒆</m:t>
                        </m:r>
                      </m:e>
                      <m:sub>
                        <m:r>
                          <a:rPr lang="en-US" i="1">
                            <a:latin typeface="Cambria Math" panose="02040503050406030204" pitchFamily="18" charset="0"/>
                            <a:cs typeface="DejaVu Math TeX Gyre" panose="02000503000000000000" charset="0"/>
                          </a:rPr>
                          <m:t>1</m:t>
                        </m:r>
                      </m:sub>
                    </m:sSub>
                    <m:r>
                      <a:rPr lang="en-US" i="1">
                        <a:latin typeface="Cambria Math" panose="02040503050406030204" pitchFamily="18" charset="0"/>
                        <a:cs typeface="DejaVu Math TeX Gyre" panose="02000503000000000000" charset="0"/>
                      </a:rPr>
                      <m:t>,⋯,</m:t>
                    </m:r>
                    <m:sSub>
                      <m:sSubPr>
                        <m:ctrlPr>
                          <a:rPr lang="en-US" i="1">
                            <a:latin typeface="Cambria Math" panose="02040503050406030204" pitchFamily="18" charset="0"/>
                            <a:cs typeface="DejaVu Math TeX Gyre" panose="02000503000000000000" charset="0"/>
                          </a:rPr>
                        </m:ctrlPr>
                      </m:sSubPr>
                      <m:e>
                        <m:r>
                          <a:rPr lang="en-US" b="1" i="1">
                            <a:latin typeface="Cambria Math" panose="02040503050406030204" pitchFamily="18" charset="0"/>
                            <a:cs typeface="DejaVu Math TeX Gyre" panose="02000503000000000000" charset="0"/>
                          </a:rPr>
                          <m:t>𝒆</m:t>
                        </m:r>
                      </m:e>
                      <m:sub>
                        <m:r>
                          <a:rPr lang="en-US" i="1">
                            <a:latin typeface="Cambria Math" panose="02040503050406030204" pitchFamily="18" charset="0"/>
                            <a:cs typeface="DejaVu Math TeX Gyre" panose="02000503000000000000" charset="0"/>
                          </a:rPr>
                          <m:t>𝑓</m:t>
                        </m:r>
                      </m:sub>
                    </m:sSub>
                  </m:oMath>
                </a14:m>
                <a:r>
                  <a:rPr lang="en-US"/>
                  <a:t>, calculate</a:t>
                </a:r>
                <a:br>
                  <a:rPr lang="en-US"/>
                </a:br>
                <a14:m>
                  <m:oMath xmlns:m="http://schemas.openxmlformats.org/officeDocument/2006/math">
                    <m:sSup>
                      <m:sSupPr>
                        <m:ctrlPr>
                          <a:rPr lang="en-US" i="1">
                            <a:latin typeface="Cambria Math" panose="02040503050406030204" pitchFamily="18" charset="0"/>
                            <a:cs typeface="DejaVu Math TeX Gyre" panose="02000503000000000000" charset="0"/>
                          </a:rPr>
                        </m:ctrlPr>
                      </m:sSupPr>
                      <m:e>
                        <m:r>
                          <a:rPr lang="en-US" b="1" i="1">
                            <a:latin typeface="Cambria Math" panose="02040503050406030204" pitchFamily="18" charset="0"/>
                            <a:cs typeface="DejaVu Math TeX Gyre" panose="02000503000000000000" charset="0"/>
                          </a:rPr>
                          <m:t>𝑿</m:t>
                        </m:r>
                      </m:e>
                      <m:sup>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𝑓</m:t>
                            </m:r>
                            <m:r>
                              <a:rPr lang="en-US" i="1">
                                <a:latin typeface="Cambria Math" panose="02040503050406030204" pitchFamily="18" charset="0"/>
                                <a:cs typeface="DejaVu Math TeX Gyre" panose="02000503000000000000" charset="0"/>
                              </a:rPr>
                              <m:t>+1</m:t>
                            </m:r>
                          </m:e>
                        </m:d>
                      </m:sup>
                    </m:sSup>
                    <m:r>
                      <a:rPr lang="en-US" i="1">
                        <a:latin typeface="Cambria Math" panose="02040503050406030204" pitchFamily="18" charset="0"/>
                        <a:cs typeface="DejaVu Math TeX Gyre" panose="02000503000000000000" charset="0"/>
                      </a:rPr>
                      <m:t>=</m:t>
                    </m:r>
                    <m:sSup>
                      <m:sSupPr>
                        <m:ctrlPr>
                          <a:rPr lang="en-US" b="1" i="1">
                            <a:latin typeface="Cambria Math" panose="02040503050406030204" pitchFamily="18" charset="0"/>
                            <a:cs typeface="DejaVu Math TeX Gyre" panose="02000503000000000000" charset="0"/>
                          </a:rPr>
                        </m:ctrlPr>
                      </m:sSupPr>
                      <m:e>
                        <m:r>
                          <a:rPr lang="en-US" b="1" i="1">
                            <a:latin typeface="Cambria Math" panose="02040503050406030204" pitchFamily="18" charset="0"/>
                            <a:cs typeface="DejaVu Math TeX Gyre" panose="02000503000000000000" charset="0"/>
                          </a:rPr>
                          <m:t>𝑿</m:t>
                        </m:r>
                      </m:e>
                      <m:sup>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𝑓</m:t>
                            </m:r>
                          </m:e>
                        </m:d>
                      </m:sup>
                    </m:sSup>
                    <m:r>
                      <a:rPr lang="en-US" i="1">
                        <a:latin typeface="Cambria Math" panose="02040503050406030204" pitchFamily="18" charset="0"/>
                        <a:cs typeface="DejaVu Math TeX Gyre" panose="02000503000000000000" charset="0"/>
                      </a:rPr>
                      <m:t>−</m:t>
                    </m:r>
                    <m:sSup>
                      <m:sSupPr>
                        <m:ctrlPr>
                          <a:rPr lang="en-US" b="1" i="1">
                            <a:latin typeface="Cambria Math" panose="02040503050406030204" pitchFamily="18" charset="0"/>
                            <a:cs typeface="DejaVu Math TeX Gyre" panose="02000503000000000000" charset="0"/>
                          </a:rPr>
                        </m:ctrlPr>
                      </m:sSupPr>
                      <m:e>
                        <m:r>
                          <a:rPr lang="en-US" b="1" i="1">
                            <a:latin typeface="Cambria Math" panose="02040503050406030204" pitchFamily="18" charset="0"/>
                            <a:cs typeface="DejaVu Math TeX Gyre" panose="02000503000000000000" charset="0"/>
                          </a:rPr>
                          <m:t>𝑿</m:t>
                        </m:r>
                      </m:e>
                      <m:sup>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𝑓</m:t>
                            </m:r>
                          </m:e>
                        </m:d>
                      </m:sup>
                    </m:sSup>
                    <m:sSub>
                      <m:sSubPr>
                        <m:ctrlPr>
                          <a:rPr lang="en-US" b="1" i="1">
                            <a:effectLst/>
                            <a:latin typeface="Cambria Math" panose="02040503050406030204" pitchFamily="18" charset="0"/>
                            <a:cs typeface="DejaVu Math TeX Gyre" panose="02000503000000000000" charset="0"/>
                          </a:rPr>
                        </m:ctrlPr>
                      </m:sSubPr>
                      <m:e>
                        <m:r>
                          <a:rPr lang="en-US" b="1" i="1">
                            <a:effectLst/>
                            <a:latin typeface="Cambria Math" panose="02040503050406030204" pitchFamily="18" charset="0"/>
                            <a:cs typeface="DejaVu Math TeX Gyre" panose="02000503000000000000" charset="0"/>
                          </a:rPr>
                          <m:t>𝒆</m:t>
                        </m:r>
                      </m:e>
                      <m:sub>
                        <m:r>
                          <a:rPr lang="en-US" i="1">
                            <a:effectLst/>
                            <a:latin typeface="Cambria Math" panose="02040503050406030204" pitchFamily="18" charset="0"/>
                            <a:cs typeface="DejaVu Math TeX Gyre" panose="02000503000000000000" charset="0"/>
                          </a:rPr>
                          <m:t>𝑓</m:t>
                        </m:r>
                      </m:sub>
                    </m:sSub>
                    <m:sSubSup>
                      <m:sSubSupPr>
                        <m:ctrlPr>
                          <a:rPr lang="en-US" i="1">
                            <a:effectLst/>
                            <a:latin typeface="Cambria Math" panose="02040503050406030204" pitchFamily="18" charset="0"/>
                            <a:cs typeface="DejaVu Math TeX Gyre" panose="02000503000000000000" charset="0"/>
                          </a:rPr>
                        </m:ctrlPr>
                      </m:sSubSupPr>
                      <m:e>
                        <m:r>
                          <a:rPr lang="en-US" b="1" i="1">
                            <a:effectLst/>
                            <a:latin typeface="Cambria Math" panose="02040503050406030204" pitchFamily="18" charset="0"/>
                            <a:cs typeface="DejaVu Math TeX Gyre" panose="02000503000000000000" charset="0"/>
                          </a:rPr>
                          <m:t>𝒆</m:t>
                        </m:r>
                      </m:e>
                      <m:sub>
                        <m:r>
                          <a:rPr lang="en-US" i="1">
                            <a:effectLst/>
                            <a:latin typeface="Cambria Math" panose="02040503050406030204" pitchFamily="18" charset="0"/>
                            <a:cs typeface="DejaVu Math TeX Gyre" panose="02000503000000000000" charset="0"/>
                          </a:rPr>
                          <m:t>𝑓</m:t>
                        </m:r>
                      </m:sub>
                      <m:sup>
                        <m:r>
                          <a:rPr lang="en-US" i="1">
                            <a:effectLst/>
                            <a:latin typeface="Cambria Math" panose="02040503050406030204" pitchFamily="18" charset="0"/>
                            <a:cs typeface="DejaVu Math TeX Gyre" panose="02000503000000000000" charset="0"/>
                          </a:rPr>
                          <m:t>⊺</m:t>
                        </m:r>
                      </m:sup>
                    </m:sSubSup>
                    <m:r>
                      <a:rPr lang="en-US" i="1">
                        <a:effectLst/>
                        <a:latin typeface="Cambria Math" panose="02040503050406030204" pitchFamily="18" charset="0"/>
                        <a:cs typeface="DejaVu Math TeX Gyre" panose="02000503000000000000" charset="0"/>
                      </a:rPr>
                      <m:t>=</m:t>
                    </m:r>
                    <m:r>
                      <a:rPr lang="en-US" b="1" i="1">
                        <a:latin typeface="Cambria Math" panose="02040503050406030204" pitchFamily="18" charset="0"/>
                        <a:cs typeface="DejaVu Math TeX Gyre" panose="02000503000000000000" charset="0"/>
                      </a:rPr>
                      <m:t>𝑿</m:t>
                    </m:r>
                    <m:r>
                      <a:rPr lang="en-US" i="1">
                        <a:latin typeface="Cambria Math" panose="02040503050406030204" pitchFamily="18" charset="0"/>
                        <a:cs typeface="DejaVu Math TeX Gyre" panose="02000503000000000000" charset="0"/>
                      </a:rPr>
                      <m:t>−</m:t>
                    </m:r>
                    <m:nary>
                      <m:naryPr>
                        <m:chr m:val="∑"/>
                        <m:limLoc m:val="subSup"/>
                        <m:supHide m:val="on"/>
                        <m:ctrlPr>
                          <a:rPr lang="en-US" i="1">
                            <a:latin typeface="Cambria Math" panose="02040503050406030204" pitchFamily="18" charset="0"/>
                            <a:cs typeface="DejaVu Math TeX Gyre" panose="02000503000000000000" charset="0"/>
                          </a:rPr>
                        </m:ctrlPr>
                      </m:naryPr>
                      <m:sub>
                        <m:r>
                          <a:rPr lang="en-US" i="1">
                            <a:latin typeface="Cambria Math" panose="02040503050406030204" pitchFamily="18" charset="0"/>
                            <a:cs typeface="DejaVu Math TeX Gyre" panose="02000503000000000000" charset="0"/>
                          </a:rPr>
                          <m:t>1≤</m:t>
                        </m:r>
                        <m:r>
                          <a:rPr lang="en-US" i="1">
                            <a:latin typeface="Cambria Math" panose="02040503050406030204" pitchFamily="18" charset="0"/>
                            <a:cs typeface="DejaVu Math TeX Gyre" panose="02000503000000000000" charset="0"/>
                          </a:rPr>
                          <m:t>𝜑</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𝑓</m:t>
                        </m:r>
                      </m:sub>
                      <m:sup/>
                      <m:e>
                        <m:r>
                          <a:rPr lang="en-US" b="1" i="1">
                            <a:latin typeface="Cambria Math" panose="02040503050406030204" pitchFamily="18" charset="0"/>
                            <a:cs typeface="DejaVu Math TeX Gyre" panose="02000503000000000000" charset="0"/>
                          </a:rPr>
                          <m:t>𝑿</m:t>
                        </m:r>
                        <m:sSub>
                          <m:sSubPr>
                            <m:ctrlPr>
                              <a:rPr lang="en-US" b="1" i="1">
                                <a:effectLst/>
                                <a:latin typeface="Cambria Math" panose="02040503050406030204" pitchFamily="18" charset="0"/>
                                <a:cs typeface="DejaVu Math TeX Gyre" panose="02000503000000000000" charset="0"/>
                              </a:rPr>
                            </m:ctrlPr>
                          </m:sSubPr>
                          <m:e>
                            <m:r>
                              <a:rPr lang="en-US" b="1" i="1">
                                <a:effectLst/>
                                <a:latin typeface="Cambria Math" panose="02040503050406030204" pitchFamily="18" charset="0"/>
                                <a:cs typeface="DejaVu Math TeX Gyre" panose="02000503000000000000" charset="0"/>
                              </a:rPr>
                              <m:t>𝒆</m:t>
                            </m:r>
                          </m:e>
                          <m:sub>
                            <m:r>
                              <a:rPr lang="en-US" i="1">
                                <a:latin typeface="Cambria Math" panose="02040503050406030204" pitchFamily="18" charset="0"/>
                                <a:cs typeface="DejaVu Math TeX Gyre" panose="02000503000000000000" charset="0"/>
                              </a:rPr>
                              <m:t>𝜑</m:t>
                            </m:r>
                          </m:sub>
                        </m:sSub>
                        <m:sSubSup>
                          <m:sSubSupPr>
                            <m:ctrlPr>
                              <a:rPr lang="en-US" i="1">
                                <a:effectLst/>
                                <a:latin typeface="Cambria Math" panose="02040503050406030204" pitchFamily="18" charset="0"/>
                                <a:cs typeface="DejaVu Math TeX Gyre" panose="02000503000000000000" charset="0"/>
                              </a:rPr>
                            </m:ctrlPr>
                          </m:sSubSupPr>
                          <m:e>
                            <m:r>
                              <a:rPr lang="en-US" b="1" i="1">
                                <a:effectLst/>
                                <a:latin typeface="Cambria Math" panose="02040503050406030204" pitchFamily="18" charset="0"/>
                                <a:cs typeface="DejaVu Math TeX Gyre" panose="02000503000000000000" charset="0"/>
                              </a:rPr>
                              <m:t>𝒆</m:t>
                            </m:r>
                          </m:e>
                          <m:sub>
                            <m:r>
                              <a:rPr lang="en-US" i="1">
                                <a:latin typeface="Cambria Math" panose="02040503050406030204" pitchFamily="18" charset="0"/>
                                <a:cs typeface="DejaVu Math TeX Gyre" panose="02000503000000000000" charset="0"/>
                              </a:rPr>
                              <m:t>𝜑</m:t>
                            </m:r>
                          </m:sub>
                          <m:sup>
                            <m:r>
                              <a:rPr lang="en-US" i="1">
                                <a:effectLst/>
                                <a:latin typeface="Cambria Math" panose="02040503050406030204" pitchFamily="18" charset="0"/>
                                <a:cs typeface="DejaVu Math TeX Gyre" panose="02000503000000000000" charset="0"/>
                              </a:rPr>
                              <m:t>⊺</m:t>
                            </m:r>
                          </m:sup>
                        </m:sSubSup>
                      </m:e>
                    </m:nary>
                  </m:oMath>
                </a14:m>
                <a:endParaRPr lang="en-US" i="1">
                  <a:latin typeface="DejaVu Math TeX Gyre" panose="02000503000000000000" charset="0"/>
                  <a:cs typeface="DejaVu Math TeX Gyre" panose="02000503000000000000" charset="0"/>
                </a:endParaRPr>
              </a:p>
              <a:p>
                <a:pPr lvl="0">
                  <a:lnSpc>
                    <a:spcPct val="100000"/>
                  </a:lnSpc>
                </a:pPr>
                <a:r>
                  <a:rPr lang="en-US"/>
                  <a:t>Then find </a:t>
                </a:r>
                <a14:m>
                  <m:oMath xmlns:m="http://schemas.openxmlformats.org/officeDocument/2006/math">
                    <m:sSub>
                      <m:sSubPr>
                        <m:ctrlPr>
                          <a:rPr lang="en-US" b="1" i="1">
                            <a:effectLst/>
                            <a:latin typeface="Cambria Math" panose="02040503050406030204" pitchFamily="18" charset="0"/>
                            <a:cs typeface="DejaVu Math TeX Gyre" panose="02000503000000000000" charset="0"/>
                          </a:rPr>
                        </m:ctrlPr>
                      </m:sSubPr>
                      <m:e>
                        <m:r>
                          <a:rPr lang="en-US" b="1" i="1">
                            <a:effectLst/>
                            <a:latin typeface="Cambria Math" panose="02040503050406030204" pitchFamily="18" charset="0"/>
                            <a:cs typeface="DejaVu Math TeX Gyre" panose="02000503000000000000" charset="0"/>
                          </a:rPr>
                          <m:t>𝒆</m:t>
                        </m:r>
                      </m:e>
                      <m:sub>
                        <m:r>
                          <a:rPr lang="en-US" i="1">
                            <a:effectLst/>
                            <a:latin typeface="Cambria Math" panose="02040503050406030204" pitchFamily="18" charset="0"/>
                            <a:cs typeface="DejaVu Math TeX Gyre" panose="02000503000000000000" charset="0"/>
                          </a:rPr>
                          <m:t>𝑓</m:t>
                        </m:r>
                        <m:r>
                          <a:rPr lang="en-US" i="1">
                            <a:effectLst/>
                            <a:latin typeface="Cambria Math" panose="02040503050406030204" pitchFamily="18" charset="0"/>
                            <a:cs typeface="DejaVu Math TeX Gyre" panose="02000503000000000000" charset="0"/>
                          </a:rPr>
                          <m:t>+1</m:t>
                        </m:r>
                      </m:sub>
                    </m:sSub>
                  </m:oMath>
                </a14:m>
                <a:r>
                  <a:rPr lang="en-US"/>
                  <a:t> in the same way and continue</a:t>
                </a:r>
              </a:p>
              <a:p>
                <a:pPr lvl="0">
                  <a:lnSpc>
                    <a:spcPct val="100000"/>
                  </a:lnSpc>
                </a:pPr>
                <a:r>
                  <a:rPr lang="en-US"/>
                  <a:t>Collect all </a:t>
                </a:r>
                <a14:m>
                  <m:oMath xmlns:m="http://schemas.openxmlformats.org/officeDocument/2006/math">
                    <m:sSub>
                      <m:sSubPr>
                        <m:ctrlPr>
                          <a:rPr lang="en-US" b="1" i="1">
                            <a:effectLst/>
                            <a:latin typeface="Cambria Math" panose="02040503050406030204" pitchFamily="18" charset="0"/>
                            <a:cs typeface="DejaVu Math TeX Gyre" panose="02000503000000000000" charset="0"/>
                          </a:rPr>
                        </m:ctrlPr>
                      </m:sSubPr>
                      <m:e>
                        <m:r>
                          <a:rPr lang="en-US" b="1" i="1">
                            <a:effectLst/>
                            <a:latin typeface="Cambria Math" panose="02040503050406030204" pitchFamily="18" charset="0"/>
                            <a:cs typeface="DejaVu Math TeX Gyre" panose="02000503000000000000" charset="0"/>
                          </a:rPr>
                          <m:t>𝒆</m:t>
                        </m:r>
                      </m:e>
                      <m:sub>
                        <m:r>
                          <a:rPr lang="en-US" i="1">
                            <a:effectLst/>
                            <a:latin typeface="Cambria Math" panose="02040503050406030204" pitchFamily="18" charset="0"/>
                            <a:cs typeface="DejaVu Math TeX Gyre" panose="02000503000000000000" charset="0"/>
                          </a:rPr>
                          <m:t>1:</m:t>
                        </m:r>
                        <m:r>
                          <a:rPr lang="en-US" i="1">
                            <a:effectLst/>
                            <a:latin typeface="Cambria Math" panose="02040503050406030204" pitchFamily="18" charset="0"/>
                            <a:cs typeface="DejaVu Math TeX Gyre" panose="02000503000000000000" charset="0"/>
                          </a:rPr>
                          <m:t>𝐹</m:t>
                        </m:r>
                      </m:sub>
                    </m:sSub>
                  </m:oMath>
                </a14:m>
                <a:r>
                  <a:rPr lang="en-US"/>
                  <a:t> in </a:t>
                </a:r>
                <a14:m>
                  <m:oMath xmlns:m="http://schemas.openxmlformats.org/officeDocument/2006/math">
                    <m:r>
                      <a:rPr lang="en-US" i="1">
                        <a:latin typeface="Cambria Math" panose="02040503050406030204" pitchFamily="18" charset="0"/>
                        <a:cs typeface="DejaVu Math TeX Gyre" panose="02000503000000000000" charset="0"/>
                      </a:rPr>
                      <m:t>𝐹</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𝐹</m:t>
                    </m:r>
                  </m:oMath>
                </a14:m>
                <a:r>
                  <a:rPr lang="en-US"/>
                  <a:t> matrix </a:t>
                </a:r>
                <a14:m>
                  <m:oMath xmlns:m="http://schemas.openxmlformats.org/officeDocument/2006/math">
                    <m:r>
                      <a:rPr lang="en-US" b="1" i="1">
                        <a:latin typeface="Cambria Math" panose="02040503050406030204" pitchFamily="18" charset="0"/>
                        <a:cs typeface="DejaVu Math TeX Gyre" panose="02000503000000000000" charset="0"/>
                      </a:rPr>
                      <m:t>𝑬</m:t>
                    </m:r>
                  </m:oMath>
                </a14:m>
                <a:r>
                  <a:rPr lang="en-US"/>
                  <a:t>, with </a:t>
                </a:r>
                <a14:m>
                  <m:oMath xmlns:m="http://schemas.openxmlformats.org/officeDocument/2006/math">
                    <m:sSup>
                      <m:sSupPr>
                        <m:ctrlPr>
                          <a:rPr lang="en-US" i="1">
                            <a:latin typeface="Cambria Math" panose="02040503050406030204" pitchFamily="18" charset="0"/>
                            <a:cs typeface="DejaVu Math TeX Gyre" panose="02000503000000000000" charset="0"/>
                          </a:rPr>
                        </m:ctrlPr>
                      </m:sSupPr>
                      <m:e>
                        <m:r>
                          <a:rPr lang="en-US" b="1" i="1">
                            <a:latin typeface="Cambria Math" panose="02040503050406030204" pitchFamily="18" charset="0"/>
                            <a:cs typeface="DejaVu Math TeX Gyre" panose="02000503000000000000" charset="0"/>
                          </a:rPr>
                          <m:t>𝑬</m:t>
                        </m:r>
                      </m:e>
                      <m:sup>
                        <m:r>
                          <a:rPr lang="en-US" i="1">
                            <a:latin typeface="Cambria Math" panose="02040503050406030204" pitchFamily="18" charset="0"/>
                            <a:cs typeface="DejaVu Math TeX Gyre" panose="02000503000000000000" charset="0"/>
                          </a:rPr>
                          <m:t>⊺</m:t>
                        </m:r>
                      </m:sup>
                    </m:sSup>
                    <m:r>
                      <a:rPr lang="en-US" b="1" i="1">
                        <a:latin typeface="Cambria Math" panose="02040503050406030204" pitchFamily="18" charset="0"/>
                        <a:cs typeface="DejaVu Math TeX Gyre" panose="02000503000000000000" charset="0"/>
                      </a:rPr>
                      <m:t>𝑬</m:t>
                    </m:r>
                    <m:r>
                      <a:rPr lang="en-US" b="1" i="1">
                        <a:latin typeface="Cambria Math" panose="02040503050406030204" pitchFamily="18" charset="0"/>
                        <a:cs typeface="DejaVu Math TeX Gyre" panose="02000503000000000000" charset="0"/>
                      </a:rPr>
                      <m:t>=</m:t>
                    </m:r>
                    <m:r>
                      <a:rPr lang="en-US" b="1" i="1">
                        <a:latin typeface="Cambria Math" panose="02040503050406030204" pitchFamily="18" charset="0"/>
                        <a:cs typeface="DejaVu Math TeX Gyre" panose="02000503000000000000" charset="0"/>
                      </a:rPr>
                      <m:t>𝕀</m:t>
                    </m:r>
                  </m:oMath>
                </a14:m>
                <a:endParaRPr lang="en-US" b="1" i="1">
                  <a:latin typeface="DejaVu Math TeX Gyre" panose="02000503000000000000" charset="0"/>
                  <a:cs typeface="DejaVu Math TeX Gyre" panose="02000503000000000000" charset="0"/>
                </a:endParaRPr>
              </a:p>
              <a:p>
                <a:pPr lvl="1">
                  <a:lnSpc>
                    <a:spcPct val="100000"/>
                  </a:lnSpc>
                </a:pPr>
                <a14:m>
                  <m:oMath xmlns:m="http://schemas.openxmlformats.org/officeDocument/2006/math">
                    <m:sSub>
                      <m:sSubPr>
                        <m:ctrlPr>
                          <a:rPr lang="en-US" b="1" i="1">
                            <a:effectLst/>
                            <a:latin typeface="Cambria Math" panose="02040503050406030204" pitchFamily="18" charset="0"/>
                            <a:cs typeface="DejaVu Math TeX Gyre" panose="02000503000000000000" charset="0"/>
                          </a:rPr>
                        </m:ctrlPr>
                      </m:sSubPr>
                      <m:e>
                        <m:r>
                          <a:rPr lang="en-US" b="1" i="1">
                            <a:effectLst/>
                            <a:latin typeface="Cambria Math" panose="02040503050406030204" pitchFamily="18" charset="0"/>
                            <a:cs typeface="DejaVu Math TeX Gyre" panose="02000503000000000000" charset="0"/>
                          </a:rPr>
                          <m:t>𝒆</m:t>
                        </m:r>
                      </m:e>
                      <m:sub>
                        <m:r>
                          <a:rPr lang="en-US" i="1">
                            <a:effectLst/>
                            <a:latin typeface="Cambria Math" panose="02040503050406030204" pitchFamily="18" charset="0"/>
                            <a:cs typeface="DejaVu Math TeX Gyre" panose="02000503000000000000" charset="0"/>
                          </a:rPr>
                          <m:t>1:</m:t>
                        </m:r>
                        <m:r>
                          <a:rPr lang="en-US" i="1">
                            <a:effectLst/>
                            <a:latin typeface="Cambria Math" panose="02040503050406030204" pitchFamily="18" charset="0"/>
                            <a:cs typeface="DejaVu Math TeX Gyre" panose="02000503000000000000" charset="0"/>
                          </a:rPr>
                          <m:t>𝐹</m:t>
                        </m:r>
                      </m:sub>
                    </m:sSub>
                  </m:oMath>
                </a14:m>
                <a:r>
                  <a:rPr lang="en-US"/>
                  <a:t> is an orthogonal basis, so </a:t>
                </a:r>
                <a14:m>
                  <m:oMath xmlns:m="http://schemas.openxmlformats.org/officeDocument/2006/math">
                    <m:sSup>
                      <m:sSupPr>
                        <m:ctrlPr>
                          <a:rPr lang="en-US" i="1">
                            <a:latin typeface="Cambria Math" panose="02040503050406030204" pitchFamily="18" charset="0"/>
                            <a:cs typeface="DejaVu Math TeX Gyre" panose="02000503000000000000" charset="0"/>
                          </a:rPr>
                        </m:ctrlPr>
                      </m:sSupPr>
                      <m:e>
                        <m:r>
                          <a:rPr lang="en-US" b="1" i="1">
                            <a:latin typeface="Cambria Math" panose="02040503050406030204" pitchFamily="18" charset="0"/>
                            <a:cs typeface="DejaVu Math TeX Gyre" panose="02000503000000000000" charset="0"/>
                          </a:rPr>
                          <m:t>𝑬𝑬</m:t>
                        </m:r>
                      </m:e>
                      <m:sup>
                        <m:r>
                          <a:rPr lang="en-US" i="1">
                            <a:latin typeface="Cambria Math" panose="02040503050406030204" pitchFamily="18" charset="0"/>
                            <a:cs typeface="DejaVu Math TeX Gyre" panose="02000503000000000000" charset="0"/>
                          </a:rPr>
                          <m:t>⊺</m:t>
                        </m:r>
                      </m:sup>
                    </m:sSup>
                    <m:r>
                      <a:rPr lang="en-US" i="1">
                        <a:latin typeface="Cambria Math" panose="02040503050406030204" pitchFamily="18" charset="0"/>
                        <a:cs typeface="DejaVu Math TeX Gyre" panose="02000503000000000000" charset="0"/>
                      </a:rPr>
                      <m:t>=</m:t>
                    </m:r>
                    <m:r>
                      <a:rPr lang="en-US" b="1" i="1">
                        <a:latin typeface="Cambria Math" panose="02040503050406030204" pitchFamily="18" charset="0"/>
                        <a:cs typeface="DejaVu Math TeX Gyre" panose="02000503000000000000" charset="0"/>
                      </a:rPr>
                      <m:t>𝕀</m:t>
                    </m:r>
                  </m:oMath>
                </a14:m>
                <a:endParaRPr lang="en-US"/>
              </a:p>
              <a:p>
                <a:pPr lvl="1">
                  <a:lnSpc>
                    <a:spcPct val="100000"/>
                  </a:lnSpc>
                </a:pPr>
                <a:r>
                  <a:rPr lang="en-US"/>
                  <a:t>Corresponding eigenvalues in diagonal matrix </a:t>
                </a:r>
                <a14:m>
                  <m:oMath xmlns:m="http://schemas.openxmlformats.org/officeDocument/2006/math">
                    <m:r>
                      <a:rPr lang="en-US" i="1">
                        <a:latin typeface="Cambria Math" panose="02040503050406030204" pitchFamily="18" charset="0"/>
                        <a:cs typeface="DejaVu Math TeX Gyre" panose="02000503000000000000" charset="0"/>
                      </a:rPr>
                      <m:t>𝛬</m:t>
                    </m:r>
                  </m:oMath>
                </a14:m>
                <a:endParaRPr lang="en-US" i="1">
                  <a:latin typeface="DejaVu Math TeX Gyre" panose="02000503000000000000" charset="0"/>
                  <a:cs typeface="DejaVu Math TeX Gyre" panose="02000503000000000000" charset="0"/>
                </a:endParaRPr>
              </a:p>
              <a:p>
                <a:pPr>
                  <a:lnSpc>
                    <a:spcPct val="100000"/>
                  </a:lnSpc>
                </a:pPr>
                <a14:m>
                  <m:oMath xmlns:m="http://schemas.openxmlformats.org/officeDocument/2006/math">
                    <m:sSup>
                      <m:sSupPr>
                        <m:ctrlPr>
                          <a:rPr lang="en-US" i="1">
                            <a:latin typeface="Cambria Math" panose="02040503050406030204" pitchFamily="18" charset="0"/>
                            <a:cs typeface="DejaVu Math TeX Gyre" panose="02000503000000000000" charset="0"/>
                          </a:rPr>
                        </m:ctrlPr>
                      </m:sSupPr>
                      <m:e>
                        <m:r>
                          <a:rPr lang="en-US" b="1" i="1">
                            <a:latin typeface="Cambria Math" panose="02040503050406030204" pitchFamily="18" charset="0"/>
                            <a:cs typeface="DejaVu Math TeX Gyre" panose="02000503000000000000" charset="0"/>
                          </a:rPr>
                          <m:t>𝑬</m:t>
                        </m:r>
                      </m:e>
                      <m:sup>
                        <m:r>
                          <a:rPr lang="en-US" i="1">
                            <a:latin typeface="Cambria Math" panose="02040503050406030204" pitchFamily="18" charset="0"/>
                            <a:cs typeface="DejaVu Math TeX Gyre" panose="02000503000000000000" charset="0"/>
                          </a:rPr>
                          <m:t>⊺</m:t>
                        </m:r>
                      </m:sup>
                    </m:sSup>
                    <m:sSup>
                      <m:sSupPr>
                        <m:ctrlPr>
                          <a:rPr lang="en-US" i="1">
                            <a:latin typeface="Cambria Math" panose="02040503050406030204" pitchFamily="18" charset="0"/>
                            <a:cs typeface="DejaVu Math TeX Gyre" panose="02000503000000000000" charset="0"/>
                          </a:rPr>
                        </m:ctrlPr>
                      </m:sSupPr>
                      <m:e>
                        <m:r>
                          <a:rPr lang="en-US" b="1" i="1">
                            <a:latin typeface="Cambria Math" panose="02040503050406030204" pitchFamily="18" charset="0"/>
                            <a:cs typeface="DejaVu Math TeX Gyre" panose="02000503000000000000" charset="0"/>
                          </a:rPr>
                          <m:t>𝑿</m:t>
                        </m:r>
                      </m:e>
                      <m:sup>
                        <m:r>
                          <a:rPr lang="en-US" i="1">
                            <a:latin typeface="Cambria Math" panose="02040503050406030204" pitchFamily="18" charset="0"/>
                            <a:cs typeface="DejaVu Math TeX Gyre" panose="02000503000000000000" charset="0"/>
                          </a:rPr>
                          <m:t>⊺</m:t>
                        </m:r>
                      </m:sup>
                    </m:sSup>
                    <m:r>
                      <a:rPr lang="en-US" b="1" i="1">
                        <a:latin typeface="Cambria Math" panose="02040503050406030204" pitchFamily="18" charset="0"/>
                        <a:cs typeface="DejaVu Math TeX Gyre" panose="02000503000000000000" charset="0"/>
                      </a:rPr>
                      <m:t>𝑿𝑬</m:t>
                    </m:r>
                    <m:r>
                      <a:rPr lang="en-US" i="1">
                        <a:latin typeface="Cambria Math" panose="02040503050406030204" pitchFamily="18" charset="0"/>
                        <a:cs typeface="DejaVu Math TeX Gyre" panose="02000503000000000000" charset="0"/>
                      </a:rPr>
                      <m:t>=</m:t>
                    </m:r>
                    <m:r>
                      <a:rPr lang="en-US" b="1" i="1">
                        <a:latin typeface="Cambria Math" panose="02040503050406030204" pitchFamily="18" charset="0"/>
                        <a:cs typeface="DejaVu Math TeX Gyre" panose="02000503000000000000" charset="0"/>
                      </a:rPr>
                      <m:t>𝜦</m:t>
                    </m:r>
                  </m:oMath>
                </a14:m>
                <a:r>
                  <a:rPr lang="en-US"/>
                  <a:t>, or </a:t>
                </a:r>
                <a14:m>
                  <m:oMath xmlns:m="http://schemas.openxmlformats.org/officeDocument/2006/math">
                    <m:sSup>
                      <m:sSupPr>
                        <m:ctrlPr>
                          <a:rPr lang="en-US" i="1">
                            <a:latin typeface="Cambria Math" panose="02040503050406030204" pitchFamily="18" charset="0"/>
                            <a:cs typeface="DejaVu Math TeX Gyre" panose="02000503000000000000" charset="0"/>
                          </a:rPr>
                        </m:ctrlPr>
                      </m:sSupPr>
                      <m:e>
                        <m:r>
                          <a:rPr lang="en-US" b="1" i="1">
                            <a:latin typeface="Cambria Math" panose="02040503050406030204" pitchFamily="18" charset="0"/>
                            <a:cs typeface="DejaVu Math TeX Gyre" panose="02000503000000000000" charset="0"/>
                          </a:rPr>
                          <m:t>𝑿</m:t>
                        </m:r>
                      </m:e>
                      <m:sup>
                        <m:r>
                          <a:rPr lang="en-US" i="1">
                            <a:latin typeface="Cambria Math" panose="02040503050406030204" pitchFamily="18" charset="0"/>
                            <a:cs typeface="DejaVu Math TeX Gyre" panose="02000503000000000000" charset="0"/>
                          </a:rPr>
                          <m:t>⊺</m:t>
                        </m:r>
                      </m:sup>
                    </m:sSup>
                    <m:r>
                      <a:rPr lang="en-US" b="1" i="1">
                        <a:latin typeface="Cambria Math" panose="02040503050406030204" pitchFamily="18" charset="0"/>
                        <a:cs typeface="DejaVu Math TeX Gyre" panose="02000503000000000000" charset="0"/>
                      </a:rPr>
                      <m:t>𝑿</m:t>
                    </m:r>
                    <m:r>
                      <a:rPr lang="en-US" i="1">
                        <a:latin typeface="Cambria Math" panose="02040503050406030204" pitchFamily="18" charset="0"/>
                        <a:cs typeface="DejaVu Math TeX Gyre" panose="02000503000000000000" charset="0"/>
                      </a:rPr>
                      <m:t>=</m:t>
                    </m:r>
                    <m:r>
                      <a:rPr lang="en-US" b="1" i="1">
                        <a:latin typeface="Cambria Math" panose="02040503050406030204" pitchFamily="18" charset="0"/>
                        <a:cs typeface="DejaVu Math TeX Gyre" panose="02000503000000000000" charset="0"/>
                      </a:rPr>
                      <m:t>𝑬</m:t>
                    </m:r>
                    <m:r>
                      <a:rPr lang="en-US" b="1" i="1">
                        <a:latin typeface="Cambria Math" panose="02040503050406030204" pitchFamily="18" charset="0"/>
                        <a:cs typeface="DejaVu Math TeX Gyre" panose="02000503000000000000" charset="0"/>
                      </a:rPr>
                      <m:t>𝜦</m:t>
                    </m:r>
                    <m:sSup>
                      <m:sSupPr>
                        <m:ctrlPr>
                          <a:rPr lang="en-US" i="1">
                            <a:latin typeface="Cambria Math" panose="02040503050406030204" pitchFamily="18" charset="0"/>
                            <a:cs typeface="DejaVu Math TeX Gyre" panose="02000503000000000000" charset="0"/>
                          </a:rPr>
                        </m:ctrlPr>
                      </m:sSupPr>
                      <m:e>
                        <m:r>
                          <a:rPr lang="en-US" b="1" i="1">
                            <a:latin typeface="Cambria Math" panose="02040503050406030204" pitchFamily="18" charset="0"/>
                            <a:cs typeface="DejaVu Math TeX Gyre" panose="02000503000000000000" charset="0"/>
                          </a:rPr>
                          <m:t>𝑬</m:t>
                        </m:r>
                      </m:e>
                      <m:sup>
                        <m:r>
                          <a:rPr lang="en-US" i="1">
                            <a:latin typeface="Cambria Math" panose="02040503050406030204" pitchFamily="18" charset="0"/>
                            <a:cs typeface="DejaVu Math TeX Gyre" panose="02000503000000000000" charset="0"/>
                          </a:rPr>
                          <m:t>⊺</m:t>
                        </m:r>
                      </m:sup>
                    </m:sSup>
                  </m:oMath>
                </a14:m>
                <a:endParaRPr lang="en-US"/>
              </a:p>
            </p:txBody>
          </p:sp>
        </mc:Choice>
        <mc:Fallback xmlns="">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en-US" altLang="en-US">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en-US"/>
                  <a:t>Equivalent decomposition of </a:t>
                </a:r>
                <a14:m>
                  <m:oMath xmlns:m="http://schemas.openxmlformats.org/officeDocument/2006/math">
                    <m:r>
                      <a:rPr lang="en-US" b="1" i="1">
                        <a:latin typeface="Cambria Math" panose="02040503050406030204" pitchFamily="18" charset="0"/>
                        <a:cs typeface="DejaVu Math TeX Gyre" panose="02000503000000000000" charset="0"/>
                        <a:sym typeface="+mn-ea"/>
                      </a:rPr>
                      <m:t>𝑿</m:t>
                    </m:r>
                  </m:oMath>
                </a14:m>
                <a:endParaRPr lang="en-US"/>
              </a:p>
            </p:txBody>
          </p:sp>
        </mc:Choice>
        <mc:Fallback xmlns="">
          <p:sp>
            <p:nvSpPr>
              <p:cNvPr id="2" name="Title 1"/>
              <p:cNvSpPr>
                <a:spLocks noRot="1" noChangeAspect="1" noMove="1" noResize="1" noEditPoints="1" noAdjustHandles="1" noChangeArrowheads="1" noChangeShapeType="1" noTextEdit="1"/>
              </p:cNvSpPr>
              <p:nvPr>
                <p:ph type="title"/>
              </p:nvPr>
            </p:nvSpPr>
            <p:spPr>
              <a:blipFill rotWithShape="1">
                <a:blip r:embed="rId2"/>
                <a:stretch>
                  <a:fillRect/>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 name="Text Placeholder 2"/>
              <p:cNvSpPr>
                <a:spLocks noGrp="1"/>
              </p:cNvSpPr>
              <p:nvPr>
                <p:ph type="body" idx="1"/>
              </p:nvPr>
            </p:nvSpPr>
            <p:spPr/>
            <p:txBody>
              <a:bodyPr/>
              <a:lstStyle/>
              <a:p>
                <a:r>
                  <a:rPr lang="en-US"/>
                  <a:t>Singular value decomposition </a:t>
                </a:r>
                <a14:m>
                  <m:oMath xmlns:m="http://schemas.openxmlformats.org/officeDocument/2006/math">
                    <m:r>
                      <a:rPr lang="en-US" b="1" i="1">
                        <a:latin typeface="Cambria Math" panose="02040503050406030204" pitchFamily="18" charset="0"/>
                        <a:cs typeface="DejaVu Math TeX Gyre" panose="02000503000000000000" charset="0"/>
                      </a:rPr>
                      <m:t>𝑿</m:t>
                    </m:r>
                    <m:r>
                      <a:rPr lang="en-US" i="1">
                        <a:latin typeface="Cambria Math" panose="02040503050406030204" pitchFamily="18" charset="0"/>
                        <a:cs typeface="DejaVu Math TeX Gyre" panose="02000503000000000000" charset="0"/>
                      </a:rPr>
                      <m:t>=</m:t>
                    </m:r>
                    <m:r>
                      <a:rPr lang="en-US" b="1" i="1">
                        <a:latin typeface="Cambria Math" panose="02040503050406030204" pitchFamily="18" charset="0"/>
                        <a:cs typeface="DejaVu Math TeX Gyre" panose="02000503000000000000" charset="0"/>
                      </a:rPr>
                      <m:t>𝑼</m:t>
                    </m:r>
                    <m:r>
                      <a:rPr lang="en-US" b="1" i="1">
                        <a:latin typeface="Cambria Math" panose="02040503050406030204" pitchFamily="18" charset="0"/>
                        <a:cs typeface="DejaVu Math TeX Gyre" panose="02000503000000000000" charset="0"/>
                      </a:rPr>
                      <m:t>𝜮</m:t>
                    </m:r>
                    <m:sSup>
                      <m:sSupPr>
                        <m:ctrlPr>
                          <a:rPr lang="en-US" i="1">
                            <a:latin typeface="Cambria Math" panose="02040503050406030204" pitchFamily="18" charset="0"/>
                            <a:cs typeface="DejaVu Math TeX Gyre" panose="02000503000000000000" charset="0"/>
                          </a:rPr>
                        </m:ctrlPr>
                      </m:sSupPr>
                      <m:e>
                        <m:r>
                          <a:rPr lang="en-US" b="1" i="1">
                            <a:latin typeface="Cambria Math" panose="02040503050406030204" pitchFamily="18" charset="0"/>
                            <a:cs typeface="DejaVu Math TeX Gyre" panose="02000503000000000000" charset="0"/>
                          </a:rPr>
                          <m:t>𝑽</m:t>
                        </m:r>
                      </m:e>
                      <m:sup>
                        <m:r>
                          <a:rPr lang="en-US" i="1">
                            <a:latin typeface="Cambria Math" panose="02040503050406030204" pitchFamily="18" charset="0"/>
                            <a:cs typeface="DejaVu Math TeX Gyre" panose="02000503000000000000" charset="0"/>
                          </a:rPr>
                          <m:t>⊺</m:t>
                        </m:r>
                      </m:sup>
                    </m:sSup>
                  </m:oMath>
                </a14:m>
                <a:endParaRPr lang="en-US" i="1">
                  <a:latin typeface="DejaVu Math TeX Gyre" panose="02000503000000000000" charset="0"/>
                  <a:cs typeface="DejaVu Math TeX Gyre" panose="02000503000000000000" charset="0"/>
                </a:endParaRPr>
              </a:p>
              <a:p>
                <a:pPr lvl="1"/>
                <a14:m>
                  <m:oMath xmlns:m="http://schemas.openxmlformats.org/officeDocument/2006/math">
                    <m:r>
                      <a:rPr lang="en-US" b="1" i="1">
                        <a:latin typeface="Cambria Math" panose="02040503050406030204" pitchFamily="18" charset="0"/>
                        <a:cs typeface="DejaVu Math TeX Gyre" panose="02000503000000000000" charset="0"/>
                      </a:rPr>
                      <m:t>𝑼</m:t>
                    </m:r>
                  </m:oMath>
                </a14:m>
                <a:r>
                  <a:rPr lang="en-US"/>
                  <a:t> is </a:t>
                </a:r>
                <a14:m>
                  <m:oMath xmlns:m="http://schemas.openxmlformats.org/officeDocument/2006/math">
                    <m:r>
                      <a:rPr lang="en-US" i="1">
                        <a:latin typeface="Cambria Math" panose="02040503050406030204" pitchFamily="18" charset="0"/>
                        <a:cs typeface="DejaVu Math TeX Gyre" panose="02000503000000000000" charset="0"/>
                      </a:rPr>
                      <m:t>𝑊</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𝑅</m:t>
                    </m:r>
                  </m:oMath>
                </a14:m>
                <a:r>
                  <a:rPr lang="en-US"/>
                  <a:t> (left singular matrix, columns orthonormal)</a:t>
                </a:r>
              </a:p>
              <a:p>
                <a:pPr lvl="1"/>
                <a14:m>
                  <m:oMath xmlns:m="http://schemas.openxmlformats.org/officeDocument/2006/math">
                    <m:r>
                      <a:rPr lang="en-US" b="1" i="1">
                        <a:latin typeface="Cambria Math" panose="02040503050406030204" pitchFamily="18" charset="0"/>
                        <a:cs typeface="DejaVu Math TeX Gyre" panose="02000503000000000000" charset="0"/>
                      </a:rPr>
                      <m:t>𝜮</m:t>
                    </m:r>
                  </m:oMath>
                </a14:m>
                <a:r>
                  <a:rPr lang="en-US"/>
                  <a:t> is </a:t>
                </a:r>
                <a14:m>
                  <m:oMath xmlns:m="http://schemas.openxmlformats.org/officeDocument/2006/math">
                    <m:r>
                      <a:rPr lang="en-US" i="1">
                        <a:latin typeface="Cambria Math" panose="02040503050406030204" pitchFamily="18" charset="0"/>
                        <a:cs typeface="DejaVu Math TeX Gyre" panose="02000503000000000000" charset="0"/>
                      </a:rPr>
                      <m:t>𝑅</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𝑅</m:t>
                    </m:r>
                  </m:oMath>
                </a14:m>
                <a:r>
                  <a:rPr lang="en-US"/>
                  <a:t> (diagonal matrix with singular values)</a:t>
                </a:r>
              </a:p>
              <a:p>
                <a:pPr lvl="1"/>
                <a14:m>
                  <m:oMath xmlns:m="http://schemas.openxmlformats.org/officeDocument/2006/math">
                    <m:r>
                      <a:rPr lang="en-US" b="1" i="1">
                        <a:latin typeface="Cambria Math" panose="02040503050406030204" pitchFamily="18" charset="0"/>
                        <a:cs typeface="DejaVu Math TeX Gyre" panose="02000503000000000000" charset="0"/>
                      </a:rPr>
                      <m:t>𝑽</m:t>
                    </m:r>
                  </m:oMath>
                </a14:m>
                <a:r>
                  <a:rPr lang="en-US"/>
                  <a:t> is </a:t>
                </a:r>
                <a14:m>
                  <m:oMath xmlns:m="http://schemas.openxmlformats.org/officeDocument/2006/math">
                    <m:r>
                      <a:rPr lang="en-US" i="1">
                        <a:latin typeface="Cambria Math" panose="02040503050406030204" pitchFamily="18" charset="0"/>
                        <a:cs typeface="DejaVu Math TeX Gyre" panose="02000503000000000000" charset="0"/>
                      </a:rPr>
                      <m:t>𝐹</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𝑅</m:t>
                    </m:r>
                  </m:oMath>
                </a14:m>
                <a:r>
                  <a:rPr lang="en-US"/>
                  <a:t> (right singular matrix)</a:t>
                </a:r>
              </a:p>
              <a:p>
                <a:pPr lvl="1"/>
                <a14:m>
                  <m:oMath xmlns:m="http://schemas.openxmlformats.org/officeDocument/2006/math">
                    <m:r>
                      <a:rPr lang="en-US" i="1">
                        <a:latin typeface="Cambria Math" panose="02040503050406030204" pitchFamily="18" charset="0"/>
                        <a:cs typeface="DejaVu Math TeX Gyre" panose="02000503000000000000" charset="0"/>
                      </a:rPr>
                      <m:t>𝑅</m:t>
                    </m:r>
                  </m:oMath>
                </a14:m>
                <a:r>
                  <a:rPr lang="en-US"/>
                  <a:t> is the rank of </a:t>
                </a:r>
                <a14:m>
                  <m:oMath xmlns:m="http://schemas.openxmlformats.org/officeDocument/2006/math">
                    <m:r>
                      <a:rPr lang="en-US" b="1" i="1">
                        <a:latin typeface="Cambria Math" panose="02040503050406030204" pitchFamily="18" charset="0"/>
                        <a:cs typeface="DejaVu Math TeX Gyre" panose="02000503000000000000" charset="0"/>
                      </a:rPr>
                      <m:t>𝑿</m:t>
                    </m:r>
                  </m:oMath>
                </a14:m>
                <a:endParaRPr lang="en-US"/>
              </a:p>
              <a:p>
                <a:pPr lvl="0"/>
                <a14:m>
                  <m:oMath xmlns:m="http://schemas.openxmlformats.org/officeDocument/2006/math">
                    <m:sSup>
                      <m:sSupPr>
                        <m:ctrlPr>
                          <a:rPr lang="en-US" i="1">
                            <a:latin typeface="Cambria Math" panose="02040503050406030204" pitchFamily="18" charset="0"/>
                            <a:cs typeface="DejaVu Math TeX Gyre" panose="02000503000000000000" charset="0"/>
                          </a:rPr>
                        </m:ctrlPr>
                      </m:sSupPr>
                      <m:e>
                        <m:r>
                          <a:rPr lang="en-US" b="1" i="1">
                            <a:latin typeface="Cambria Math" panose="02040503050406030204" pitchFamily="18" charset="0"/>
                            <a:cs typeface="DejaVu Math TeX Gyre" panose="02000503000000000000" charset="0"/>
                          </a:rPr>
                          <m:t>𝑿</m:t>
                        </m:r>
                      </m:e>
                      <m:sup>
                        <m:r>
                          <a:rPr lang="en-US" i="1">
                            <a:latin typeface="Cambria Math" panose="02040503050406030204" pitchFamily="18" charset="0"/>
                            <a:cs typeface="DejaVu Math TeX Gyre" panose="02000503000000000000" charset="0"/>
                          </a:rPr>
                          <m:t>⊺</m:t>
                        </m:r>
                      </m:sup>
                    </m:sSup>
                    <m:r>
                      <a:rPr lang="en-US" b="1" i="1">
                        <a:latin typeface="Cambria Math" panose="02040503050406030204" pitchFamily="18" charset="0"/>
                        <a:cs typeface="DejaVu Math TeX Gyre" panose="02000503000000000000" charset="0"/>
                      </a:rPr>
                      <m:t>𝑿</m:t>
                    </m:r>
                    <m:r>
                      <a:rPr lang="en-US" i="1">
                        <a:latin typeface="Cambria Math" panose="02040503050406030204" pitchFamily="18" charset="0"/>
                        <a:cs typeface="DejaVu Math TeX Gyre" panose="02000503000000000000" charset="0"/>
                      </a:rPr>
                      <m:t>=</m:t>
                    </m:r>
                    <m:r>
                      <a:rPr lang="en-US" b="1" i="1">
                        <a:latin typeface="Cambria Math" panose="02040503050406030204" pitchFamily="18" charset="0"/>
                        <a:cs typeface="DejaVu Math TeX Gyre" panose="02000503000000000000" charset="0"/>
                      </a:rPr>
                      <m:t>𝑽</m:t>
                    </m:r>
                    <m:r>
                      <a:rPr lang="en-US" b="1" i="1">
                        <a:latin typeface="Cambria Math" panose="02040503050406030204" pitchFamily="18" charset="0"/>
                        <a:cs typeface="DejaVu Math TeX Gyre" panose="02000503000000000000" charset="0"/>
                      </a:rPr>
                      <m:t>𝜮</m:t>
                    </m:r>
                    <m:sSup>
                      <m:sSupPr>
                        <m:ctrlPr>
                          <a:rPr lang="en-US" i="1">
                            <a:latin typeface="Cambria Math" panose="02040503050406030204" pitchFamily="18" charset="0"/>
                            <a:cs typeface="DejaVu Math TeX Gyre" panose="02000503000000000000" charset="0"/>
                          </a:rPr>
                        </m:ctrlPr>
                      </m:sSupPr>
                      <m:e>
                        <m:r>
                          <a:rPr lang="en-US" b="1" i="1">
                            <a:latin typeface="Cambria Math" panose="02040503050406030204" pitchFamily="18" charset="0"/>
                            <a:cs typeface="DejaVu Math TeX Gyre" panose="02000503000000000000" charset="0"/>
                          </a:rPr>
                          <m:t>𝑼</m:t>
                        </m:r>
                      </m:e>
                      <m:sup>
                        <m:r>
                          <a:rPr lang="en-US" i="1">
                            <a:latin typeface="Cambria Math" panose="02040503050406030204" pitchFamily="18" charset="0"/>
                            <a:cs typeface="DejaVu Math TeX Gyre" panose="02000503000000000000" charset="0"/>
                          </a:rPr>
                          <m:t>⊺</m:t>
                        </m:r>
                      </m:sup>
                    </m:sSup>
                    <m:r>
                      <a:rPr lang="en-US" b="1" i="1">
                        <a:latin typeface="Cambria Math" panose="02040503050406030204" pitchFamily="18" charset="0"/>
                        <a:cs typeface="DejaVu Math TeX Gyre" panose="02000503000000000000" charset="0"/>
                      </a:rPr>
                      <m:t>𝑼</m:t>
                    </m:r>
                    <m:r>
                      <a:rPr lang="en-US" b="1" i="1">
                        <a:latin typeface="Cambria Math" panose="02040503050406030204" pitchFamily="18" charset="0"/>
                        <a:cs typeface="DejaVu Math TeX Gyre" panose="02000503000000000000" charset="0"/>
                      </a:rPr>
                      <m:t>𝜮</m:t>
                    </m:r>
                    <m:sSup>
                      <m:sSupPr>
                        <m:ctrlPr>
                          <a:rPr lang="en-US" i="1">
                            <a:latin typeface="Cambria Math" panose="02040503050406030204" pitchFamily="18" charset="0"/>
                            <a:cs typeface="DejaVu Math TeX Gyre" panose="02000503000000000000" charset="0"/>
                          </a:rPr>
                        </m:ctrlPr>
                      </m:sSupPr>
                      <m:e>
                        <m:r>
                          <a:rPr lang="en-US" b="1" i="1">
                            <a:latin typeface="Cambria Math" panose="02040503050406030204" pitchFamily="18" charset="0"/>
                            <a:cs typeface="DejaVu Math TeX Gyre" panose="02000503000000000000" charset="0"/>
                          </a:rPr>
                          <m:t>𝑽</m:t>
                        </m:r>
                      </m:e>
                      <m:sup>
                        <m:r>
                          <a:rPr lang="en-US" i="1">
                            <a:latin typeface="Cambria Math" panose="02040503050406030204" pitchFamily="18" charset="0"/>
                            <a:cs typeface="DejaVu Math TeX Gyre" panose="02000503000000000000" charset="0"/>
                          </a:rPr>
                          <m:t>⊺</m:t>
                        </m:r>
                      </m:sup>
                    </m:sSup>
                    <m:r>
                      <a:rPr lang="en-US" i="1">
                        <a:latin typeface="Cambria Math" panose="02040503050406030204" pitchFamily="18" charset="0"/>
                        <a:cs typeface="DejaVu Math TeX Gyre" panose="02000503000000000000" charset="0"/>
                      </a:rPr>
                      <m:t>=</m:t>
                    </m:r>
                    <m:r>
                      <a:rPr lang="en-US" b="1" i="1">
                        <a:latin typeface="Cambria Math" panose="02040503050406030204" pitchFamily="18" charset="0"/>
                        <a:cs typeface="DejaVu Math TeX Gyre" panose="02000503000000000000" charset="0"/>
                      </a:rPr>
                      <m:t>𝑽</m:t>
                    </m:r>
                    <m:sSup>
                      <m:sSupPr>
                        <m:ctrlPr>
                          <a:rPr lang="en-US" i="1">
                            <a:latin typeface="Cambria Math" panose="02040503050406030204" pitchFamily="18" charset="0"/>
                            <a:cs typeface="DejaVu Math TeX Gyre" panose="02000503000000000000" charset="0"/>
                          </a:rPr>
                        </m:ctrlPr>
                      </m:sSupPr>
                      <m:e>
                        <m:r>
                          <a:rPr lang="en-US" b="1" i="1">
                            <a:latin typeface="Cambria Math" panose="02040503050406030204" pitchFamily="18" charset="0"/>
                            <a:cs typeface="DejaVu Math TeX Gyre" panose="02000503000000000000" charset="0"/>
                          </a:rPr>
                          <m:t>𝜮</m:t>
                        </m:r>
                      </m:e>
                      <m:sup>
                        <m:r>
                          <a:rPr lang="en-US" i="1">
                            <a:latin typeface="Cambria Math" panose="02040503050406030204" pitchFamily="18" charset="0"/>
                            <a:cs typeface="DejaVu Math TeX Gyre" panose="02000503000000000000" charset="0"/>
                          </a:rPr>
                          <m:t>2</m:t>
                        </m:r>
                      </m:sup>
                    </m:sSup>
                    <m:sSup>
                      <m:sSupPr>
                        <m:ctrlPr>
                          <a:rPr lang="en-US" i="1">
                            <a:latin typeface="Cambria Math" panose="02040503050406030204" pitchFamily="18" charset="0"/>
                            <a:cs typeface="DejaVu Math TeX Gyre" panose="02000503000000000000" charset="0"/>
                          </a:rPr>
                        </m:ctrlPr>
                      </m:sSupPr>
                      <m:e>
                        <m:r>
                          <a:rPr lang="en-US" b="1" i="1">
                            <a:latin typeface="Cambria Math" panose="02040503050406030204" pitchFamily="18" charset="0"/>
                            <a:cs typeface="DejaVu Math TeX Gyre" panose="02000503000000000000" charset="0"/>
                          </a:rPr>
                          <m:t>𝑽</m:t>
                        </m:r>
                      </m:e>
                      <m:sup>
                        <m:r>
                          <a:rPr lang="en-US" i="1">
                            <a:latin typeface="Cambria Math" panose="02040503050406030204" pitchFamily="18" charset="0"/>
                            <a:cs typeface="DejaVu Math TeX Gyre" panose="02000503000000000000" charset="0"/>
                          </a:rPr>
                          <m:t>⊺</m:t>
                        </m:r>
                      </m:sup>
                    </m:sSup>
                  </m:oMath>
                </a14:m>
                <a:endParaRPr lang="en-US" i="1">
                  <a:latin typeface="DejaVu Math TeX Gyre" panose="02000503000000000000" charset="0"/>
                  <a:cs typeface="DejaVu Math TeX Gyre" panose="02000503000000000000" charset="0"/>
                </a:endParaRPr>
              </a:p>
              <a:p>
                <a:pPr lvl="0"/>
                <a:r>
                  <a:rPr lang="en-US"/>
                  <a:t>Compare with </a:t>
                </a:r>
                <a14:m>
                  <m:oMath xmlns:m="http://schemas.openxmlformats.org/officeDocument/2006/math">
                    <m:sSup>
                      <m:sSupPr>
                        <m:ctrlPr>
                          <a:rPr lang="en-US" i="1">
                            <a:latin typeface="Cambria Math" panose="02040503050406030204" pitchFamily="18" charset="0"/>
                            <a:cs typeface="DejaVu Math TeX Gyre" panose="02000503000000000000" charset="0"/>
                          </a:rPr>
                        </m:ctrlPr>
                      </m:sSupPr>
                      <m:e>
                        <m:r>
                          <a:rPr lang="en-US" b="1" i="1">
                            <a:latin typeface="Cambria Math" panose="02040503050406030204" pitchFamily="18" charset="0"/>
                            <a:cs typeface="DejaVu Math TeX Gyre" panose="02000503000000000000" charset="0"/>
                          </a:rPr>
                          <m:t>𝑿</m:t>
                        </m:r>
                      </m:e>
                      <m:sup>
                        <m:r>
                          <a:rPr lang="en-US" i="1">
                            <a:latin typeface="Cambria Math" panose="02040503050406030204" pitchFamily="18" charset="0"/>
                            <a:cs typeface="DejaVu Math TeX Gyre" panose="02000503000000000000" charset="0"/>
                          </a:rPr>
                          <m:t>⊺</m:t>
                        </m:r>
                      </m:sup>
                    </m:sSup>
                    <m:r>
                      <a:rPr lang="en-US" b="1" i="1">
                        <a:latin typeface="Cambria Math" panose="02040503050406030204" pitchFamily="18" charset="0"/>
                        <a:cs typeface="DejaVu Math TeX Gyre" panose="02000503000000000000" charset="0"/>
                      </a:rPr>
                      <m:t>𝑿</m:t>
                    </m:r>
                    <m:r>
                      <a:rPr lang="en-US" i="1">
                        <a:latin typeface="Cambria Math" panose="02040503050406030204" pitchFamily="18" charset="0"/>
                        <a:cs typeface="DejaVu Math TeX Gyre" panose="02000503000000000000" charset="0"/>
                      </a:rPr>
                      <m:t>=</m:t>
                    </m:r>
                    <m:r>
                      <a:rPr lang="en-US" b="1" i="1">
                        <a:latin typeface="Cambria Math" panose="02040503050406030204" pitchFamily="18" charset="0"/>
                        <a:cs typeface="DejaVu Math TeX Gyre" panose="02000503000000000000" charset="0"/>
                      </a:rPr>
                      <m:t>𝑬</m:t>
                    </m:r>
                    <m:r>
                      <a:rPr lang="en-US" b="1" i="1">
                        <a:latin typeface="Cambria Math" panose="02040503050406030204" pitchFamily="18" charset="0"/>
                        <a:cs typeface="DejaVu Math TeX Gyre" panose="02000503000000000000" charset="0"/>
                      </a:rPr>
                      <m:t>𝜦</m:t>
                    </m:r>
                    <m:sSup>
                      <m:sSupPr>
                        <m:ctrlPr>
                          <a:rPr lang="en-US" i="1">
                            <a:latin typeface="Cambria Math" panose="02040503050406030204" pitchFamily="18" charset="0"/>
                            <a:cs typeface="DejaVu Math TeX Gyre" panose="02000503000000000000" charset="0"/>
                          </a:rPr>
                        </m:ctrlPr>
                      </m:sSupPr>
                      <m:e>
                        <m:r>
                          <a:rPr lang="en-US" b="1" i="1">
                            <a:latin typeface="Cambria Math" panose="02040503050406030204" pitchFamily="18" charset="0"/>
                            <a:cs typeface="DejaVu Math TeX Gyre" panose="02000503000000000000" charset="0"/>
                          </a:rPr>
                          <m:t>𝑬</m:t>
                        </m:r>
                      </m:e>
                      <m:sup>
                        <m:r>
                          <a:rPr lang="en-US" i="1">
                            <a:latin typeface="Cambria Math" panose="02040503050406030204" pitchFamily="18" charset="0"/>
                            <a:cs typeface="DejaVu Math TeX Gyre" panose="02000503000000000000" charset="0"/>
                          </a:rPr>
                          <m:t>⊺</m:t>
                        </m:r>
                      </m:sup>
                    </m:sSup>
                  </m:oMath>
                </a14:m>
                <a:endParaRPr lang="en-US" i="1">
                  <a:latin typeface="DejaVu Math TeX Gyre" panose="02000503000000000000" charset="0"/>
                  <a:cs typeface="DejaVu Math TeX Gyre" panose="02000503000000000000" charset="0"/>
                </a:endParaRPr>
              </a:p>
              <a:p>
                <a:pPr lvl="0"/>
                <a:endParaRPr lang="en-US"/>
              </a:p>
            </p:txBody>
          </p:sp>
        </mc:Choice>
        <mc:Fallback xmlns="">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en-US" altLang="en-US">
                    <a:noFill/>
                  </a:rPr>
                  <a:t> </a:t>
                </a:r>
              </a:p>
            </p:txBody>
          </p:sp>
        </mc:Fallback>
      </mc:AlternateContent>
      <p:sp>
        <p:nvSpPr>
          <p:cNvPr id="21" name="Rectangle 20"/>
          <p:cNvSpPr/>
          <p:nvPr/>
        </p:nvSpPr>
        <p:spPr>
          <a:xfrm>
            <a:off x="8430434" y="4726919"/>
            <a:ext cx="1130719" cy="1907244"/>
          </a:xfrm>
          <a:prstGeom prst="rect">
            <a:avLst/>
          </a:prstGeom>
          <a:solidFill>
            <a:schemeClr val="bg2"/>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2" name="TextBox 21"/>
              <p:cNvSpPr txBox="1"/>
              <p:nvPr/>
            </p:nvSpPr>
            <p:spPr>
              <a:xfrm>
                <a:off x="9500698" y="5418931"/>
                <a:ext cx="60946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 </m:t>
                      </m:r>
                    </m:oMath>
                  </m:oMathPara>
                </a14:m>
                <a:endParaRPr lang="en-US" sz="2800"/>
              </a:p>
            </p:txBody>
          </p:sp>
        </mc:Choice>
        <mc:Fallback xmlns="">
          <p:sp>
            <p:nvSpPr>
              <p:cNvPr id="22" name="TextBox 21"/>
              <p:cNvSpPr txBox="1">
                <a:spLocks noRot="1" noChangeAspect="1" noMove="1" noResize="1" noEditPoints="1" noAdjustHandles="1" noChangeArrowheads="1" noChangeShapeType="1" noTextEdit="1"/>
              </p:cNvSpPr>
              <p:nvPr/>
            </p:nvSpPr>
            <p:spPr>
              <a:xfrm>
                <a:off x="9500698" y="5418931"/>
                <a:ext cx="609461" cy="523220"/>
              </a:xfrm>
              <a:prstGeom prst="rect">
                <a:avLst/>
              </a:prstGeom>
              <a:blipFill rotWithShape="1">
                <a:blip r:embed="rId4"/>
                <a:stretch>
                  <a:fillRect l="-76" t="-91" r="-8595" b="87"/>
                </a:stretch>
              </a:blipFill>
            </p:spPr>
            <p:txBody>
              <a:bodyPr/>
              <a:lstStyle/>
              <a:p>
                <a:r>
                  <a:rPr lang="en-US" altLang="en-US">
                    <a:noFill/>
                  </a:rPr>
                  <a:t> </a:t>
                </a:r>
              </a:p>
            </p:txBody>
          </p:sp>
        </mc:Fallback>
      </mc:AlternateContent>
      <p:sp>
        <p:nvSpPr>
          <p:cNvPr id="23" name="Rectangle 22"/>
          <p:cNvSpPr/>
          <p:nvPr/>
        </p:nvSpPr>
        <p:spPr>
          <a:xfrm>
            <a:off x="9960731" y="4711185"/>
            <a:ext cx="461923" cy="1907244"/>
          </a:xfrm>
          <a:prstGeom prst="rect">
            <a:avLst/>
          </a:prstGeom>
          <a:solidFill>
            <a:schemeClr val="accent2">
              <a:lumMod val="40000"/>
              <a:lumOff val="60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10631417" y="4711185"/>
            <a:ext cx="1130719" cy="499384"/>
          </a:xfrm>
          <a:prstGeom prst="rect">
            <a:avLst/>
          </a:prstGeom>
          <a:solidFill>
            <a:schemeClr val="accent6">
              <a:lumMod val="40000"/>
              <a:lumOff val="6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Arrow Connector 25"/>
          <p:cNvCxnSpPr/>
          <p:nvPr/>
        </p:nvCxnSpPr>
        <p:spPr>
          <a:xfrm>
            <a:off x="8563626" y="4545550"/>
            <a:ext cx="80104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8593854" y="4235713"/>
            <a:ext cx="1084580" cy="368300"/>
          </a:xfrm>
          <a:prstGeom prst="rect">
            <a:avLst/>
          </a:prstGeom>
          <a:noFill/>
        </p:spPr>
        <p:txBody>
          <a:bodyPr wrap="none" rtlCol="0">
            <a:spAutoFit/>
          </a:bodyPr>
          <a:lstStyle/>
          <a:p>
            <a:r>
              <a:rPr lang="en-US"/>
              <a:t>Features</a:t>
            </a:r>
          </a:p>
        </p:txBody>
      </p:sp>
      <p:cxnSp>
        <p:nvCxnSpPr>
          <p:cNvPr id="29" name="Straight Arrow Connector 28"/>
          <p:cNvCxnSpPr/>
          <p:nvPr/>
        </p:nvCxnSpPr>
        <p:spPr>
          <a:xfrm>
            <a:off x="8246231" y="5210569"/>
            <a:ext cx="0" cy="9672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rot="16200000">
            <a:off x="7811057" y="5495874"/>
            <a:ext cx="838835" cy="368300"/>
          </a:xfrm>
          <a:prstGeom prst="rect">
            <a:avLst/>
          </a:prstGeom>
          <a:noFill/>
        </p:spPr>
        <p:txBody>
          <a:bodyPr wrap="none" rtlCol="0">
            <a:spAutoFit/>
          </a:bodyPr>
          <a:lstStyle/>
          <a:p>
            <a:r>
              <a:rPr lang="en-US"/>
              <a:t>Words</a:t>
            </a:r>
          </a:p>
        </p:txBody>
      </p:sp>
      <p:sp>
        <p:nvSpPr>
          <p:cNvPr id="31" name="Rectangle 30"/>
          <p:cNvSpPr/>
          <p:nvPr/>
        </p:nvSpPr>
        <p:spPr>
          <a:xfrm>
            <a:off x="11196776" y="4711185"/>
            <a:ext cx="102493" cy="499384"/>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2" name="TextBox 31"/>
              <p:cNvSpPr txBox="1"/>
              <p:nvPr/>
            </p:nvSpPr>
            <p:spPr>
              <a:xfrm>
                <a:off x="11669878" y="4776211"/>
                <a:ext cx="396240" cy="36830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𝑅</m:t>
                      </m:r>
                    </m:oMath>
                  </m:oMathPara>
                </a14:m>
                <a:endParaRPr lang="en-US"/>
              </a:p>
            </p:txBody>
          </p:sp>
        </mc:Choice>
        <mc:Fallback xmlns="">
          <p:sp>
            <p:nvSpPr>
              <p:cNvPr id="32" name="TextBox 31"/>
              <p:cNvSpPr txBox="1">
                <a:spLocks noRot="1" noChangeAspect="1" noMove="1" noResize="1" noEditPoints="1" noAdjustHandles="1" noChangeArrowheads="1" noChangeShapeType="1" noTextEdit="1"/>
              </p:cNvSpPr>
              <p:nvPr/>
            </p:nvSpPr>
            <p:spPr>
              <a:xfrm>
                <a:off x="11669878" y="4776211"/>
                <a:ext cx="396240" cy="368300"/>
              </a:xfrm>
              <a:prstGeom prst="rect">
                <a:avLst/>
              </a:prstGeom>
              <a:blipFill rotWithShape="1">
                <a:blip r:embed="rId5"/>
                <a:stretch>
                  <a:fillRect l="-122" t="-102" r="122" b="102"/>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3" name="TextBox 32"/>
              <p:cNvSpPr txBox="1"/>
              <p:nvPr/>
            </p:nvSpPr>
            <p:spPr>
              <a:xfrm>
                <a:off x="9988463" y="4341359"/>
                <a:ext cx="396240" cy="36830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𝑅</m:t>
                      </m:r>
                    </m:oMath>
                  </m:oMathPara>
                </a14:m>
                <a:endParaRPr lang="en-US"/>
              </a:p>
            </p:txBody>
          </p:sp>
        </mc:Choice>
        <mc:Fallback xmlns="">
          <p:sp>
            <p:nvSpPr>
              <p:cNvPr id="33" name="TextBox 32"/>
              <p:cNvSpPr txBox="1">
                <a:spLocks noRot="1" noChangeAspect="1" noMove="1" noResize="1" noEditPoints="1" noAdjustHandles="1" noChangeArrowheads="1" noChangeShapeType="1" noTextEdit="1"/>
              </p:cNvSpPr>
              <p:nvPr/>
            </p:nvSpPr>
            <p:spPr>
              <a:xfrm>
                <a:off x="9988463" y="4341359"/>
                <a:ext cx="396240" cy="368300"/>
              </a:xfrm>
              <a:prstGeom prst="rect">
                <a:avLst/>
              </a:prstGeom>
              <a:blipFill rotWithShape="1">
                <a:blip r:embed="rId5"/>
                <a:stretch>
                  <a:fillRect l="-138" t="-135" r="138" b="135"/>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4" name="TextBox 33"/>
              <p:cNvSpPr txBox="1"/>
              <p:nvPr/>
            </p:nvSpPr>
            <p:spPr>
              <a:xfrm>
                <a:off x="10741917" y="5694218"/>
                <a:ext cx="1517015" cy="922020"/>
              </a:xfrm>
              <a:prstGeom prst="rect">
                <a:avLst/>
              </a:prstGeom>
              <a:noFill/>
            </p:spPr>
            <p:txBody>
              <a:bodyPr wrap="none" rtlCol="0">
                <a:spAutoFit/>
              </a:bodyPr>
              <a:lstStyle/>
              <a:p>
                <a14:m>
                  <m:oMath xmlns:m="http://schemas.openxmlformats.org/officeDocument/2006/math">
                    <m:r>
                      <a:rPr lang="en-US" i="1" dirty="0" smtClean="0">
                        <a:latin typeface="Cambria Math" panose="02040503050406030204" pitchFamily="18" charset="0"/>
                      </a:rPr>
                      <m:t>𝑅</m:t>
                    </m:r>
                  </m:oMath>
                </a14:m>
                <a:r>
                  <a:rPr lang="en-US"/>
                  <a:t>-dim dense</a:t>
                </a:r>
                <a:br>
                  <a:rPr lang="en-US"/>
                </a:br>
                <a:r>
                  <a:rPr lang="en-US"/>
                  <a:t>vector rep</a:t>
                </a:r>
                <a:br>
                  <a:rPr lang="en-US"/>
                </a:br>
                <a:r>
                  <a:rPr lang="en-US"/>
                  <a:t>for a word</a:t>
                </a:r>
              </a:p>
            </p:txBody>
          </p:sp>
        </mc:Choice>
        <mc:Fallback xmlns="">
          <p:sp>
            <p:nvSpPr>
              <p:cNvPr id="34" name="TextBox 33"/>
              <p:cNvSpPr txBox="1">
                <a:spLocks noRot="1" noChangeAspect="1" noMove="1" noResize="1" noEditPoints="1" noAdjustHandles="1" noChangeArrowheads="1" noChangeShapeType="1" noTextEdit="1"/>
              </p:cNvSpPr>
              <p:nvPr/>
            </p:nvSpPr>
            <p:spPr>
              <a:xfrm>
                <a:off x="10741917" y="5694218"/>
                <a:ext cx="1517015" cy="922020"/>
              </a:xfrm>
              <a:prstGeom prst="rect">
                <a:avLst/>
              </a:prstGeom>
              <a:blipFill rotWithShape="1">
                <a:blip r:embed="rId6"/>
                <a:stretch>
                  <a:fillRect l="-17" t="-19" r="17" b="19"/>
                </a:stretch>
              </a:blipFill>
            </p:spPr>
            <p:txBody>
              <a:bodyPr/>
              <a:lstStyle/>
              <a:p>
                <a:r>
                  <a:rPr lang="en-US" altLang="en-US">
                    <a:noFill/>
                  </a:rPr>
                  <a:t> </a:t>
                </a:r>
              </a:p>
            </p:txBody>
          </p:sp>
        </mc:Fallback>
      </mc:AlternateContent>
      <p:cxnSp>
        <p:nvCxnSpPr>
          <p:cNvPr id="36" name="Straight Arrow Connector 35"/>
          <p:cNvCxnSpPr>
            <a:stCxn id="34" idx="1"/>
            <a:endCxn id="37" idx="3"/>
          </p:cNvCxnSpPr>
          <p:nvPr/>
        </p:nvCxnSpPr>
        <p:spPr>
          <a:xfrm flipH="1">
            <a:off x="10422255" y="6155055"/>
            <a:ext cx="319405" cy="831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Rectangle 36"/>
          <p:cNvSpPr/>
          <p:nvPr/>
        </p:nvSpPr>
        <p:spPr>
          <a:xfrm>
            <a:off x="9960731" y="6177868"/>
            <a:ext cx="461923" cy="1209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Passage window</a:t>
            </a:r>
          </a:p>
        </p:txBody>
      </p:sp>
      <p:sp>
        <p:nvSpPr>
          <p:cNvPr id="3" name="Text Placeholder 2"/>
          <p:cNvSpPr>
            <a:spLocks noGrp="1"/>
          </p:cNvSpPr>
          <p:nvPr>
            <p:ph type="body" idx="1"/>
          </p:nvPr>
        </p:nvSpPr>
        <p:spPr/>
        <p:txBody>
          <a:bodyPr/>
          <a:lstStyle/>
          <a:p>
            <a:r>
              <a:rPr lang="en-US"/>
              <a:t>In older works (IBM’s clustering, 1992; Bellcore’s Latent Semantic Indexing using SVD, 1993) on embedding words and documents, word-word cooccurrence was at a whole-document level</a:t>
            </a:r>
          </a:p>
          <a:p>
            <a:r>
              <a:rPr lang="en-US"/>
              <a:t>With word2vec and GloVE, from 2013 onward, cooccurrence was measured using much shorter windows</a:t>
            </a:r>
          </a:p>
          <a:p>
            <a:r>
              <a:rPr lang="en-US"/>
              <a:t>Structure of analysis of cooccurrence shares a lot between the two families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Speech Bubble: Rectangle with Corners Rounded 4"/>
              <p:cNvSpPr/>
              <p:nvPr/>
            </p:nvSpPr>
            <p:spPr>
              <a:xfrm>
                <a:off x="10024745" y="4665345"/>
                <a:ext cx="2167255" cy="1104265"/>
              </a:xfrm>
              <a:prstGeom prst="wedgeRoundRectCallout">
                <a:avLst>
                  <a:gd name="adj1" fmla="val -81907"/>
                  <a:gd name="adj2" fmla="val 95198"/>
                  <a:gd name="adj3" fmla="val 16667"/>
                </a:avLst>
              </a:prstGeom>
              <a:solidFill>
                <a:schemeClr val="accent5">
                  <a:lumMod val="20000"/>
                  <a:lumOff val="80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accent1">
                        <a:lumMod val="75000"/>
                      </a:schemeClr>
                    </a:solidFill>
                  </a:rPr>
                  <a:t>Collectively</a:t>
                </a:r>
                <a:br>
                  <a:rPr lang="en-US" sz="2400">
                    <a:solidFill>
                      <a:schemeClr val="accent1">
                        <a:lumMod val="75000"/>
                      </a:schemeClr>
                    </a:solidFill>
                  </a:rPr>
                </a:br>
                <a:r>
                  <a:rPr lang="en-US" sz="2400">
                    <a:solidFill>
                      <a:schemeClr val="accent1">
                        <a:lumMod val="75000"/>
                      </a:schemeClr>
                    </a:solidFill>
                  </a:rPr>
                  <a:t> </a:t>
                </a:r>
                <a14:m>
                  <m:oMath xmlns:m="http://schemas.openxmlformats.org/officeDocument/2006/math">
                    <m:r>
                      <a:rPr lang="en-US" sz="2400" b="1" i="1" smtClean="0">
                        <a:solidFill>
                          <a:schemeClr val="accent1">
                            <a:lumMod val="75000"/>
                          </a:schemeClr>
                        </a:solidFill>
                        <a:latin typeface="Cambria Math" panose="02040503050406030204" pitchFamily="18" charset="0"/>
                      </a:rPr>
                      <m:t>𝑼</m:t>
                    </m:r>
                    <m:r>
                      <a:rPr lang="en-US" sz="2400" b="0" i="1" smtClean="0">
                        <a:solidFill>
                          <a:schemeClr val="accent1">
                            <a:lumMod val="75000"/>
                          </a:schemeClr>
                        </a:solidFill>
                        <a:latin typeface="Cambria Math" panose="02040503050406030204" pitchFamily="18" charset="0"/>
                      </a:rPr>
                      <m:t>, </m:t>
                    </m:r>
                    <m:r>
                      <a:rPr lang="en-US" sz="2400" b="1" i="1" smtClean="0">
                        <a:solidFill>
                          <a:schemeClr val="accent1">
                            <a:lumMod val="75000"/>
                          </a:schemeClr>
                        </a:solidFill>
                        <a:latin typeface="Cambria Math" panose="02040503050406030204" pitchFamily="18" charset="0"/>
                      </a:rPr>
                      <m:t>𝑽</m:t>
                    </m:r>
                    <m:r>
                      <a:rPr lang="en-US" sz="2400" b="0" i="1" smtClean="0">
                        <a:solidFill>
                          <a:schemeClr val="accent1">
                            <a:lumMod val="75000"/>
                          </a:schemeClr>
                        </a:solidFill>
                        <a:latin typeface="Cambria Math" panose="02040503050406030204" pitchFamily="18" charset="0"/>
                      </a:rPr>
                      <m:t>∈</m:t>
                    </m:r>
                    <m:sSup>
                      <m:sSupPr>
                        <m:ctrlPr>
                          <a:rPr lang="en-US" sz="2400" i="1">
                            <a:solidFill>
                              <a:schemeClr val="accent1">
                                <a:lumMod val="75000"/>
                              </a:schemeClr>
                            </a:solidFill>
                            <a:latin typeface="Cambria Math" panose="02040503050406030204" pitchFamily="18" charset="0"/>
                            <a:ea typeface="Cambria Math" panose="02040503050406030204" pitchFamily="18" charset="0"/>
                          </a:rPr>
                        </m:ctrlPr>
                      </m:sSupPr>
                      <m:e>
                        <m:r>
                          <a:rPr lang="en-US" sz="2400" i="1">
                            <a:solidFill>
                              <a:schemeClr val="accent1">
                                <a:lumMod val="75000"/>
                              </a:schemeClr>
                            </a:solidFill>
                            <a:latin typeface="Cambria Math" panose="02040503050406030204" pitchFamily="18" charset="0"/>
                            <a:ea typeface="Cambria Math" panose="02040503050406030204" pitchFamily="18" charset="0"/>
                          </a:rPr>
                          <m:t>ℝ</m:t>
                        </m:r>
                      </m:e>
                      <m:sup>
                        <m:r>
                          <a:rPr lang="en-US" sz="2400" b="0" i="1" smtClean="0">
                            <a:solidFill>
                              <a:schemeClr val="accent1">
                                <a:lumMod val="75000"/>
                              </a:schemeClr>
                            </a:solidFill>
                            <a:latin typeface="Cambria Math" panose="02040503050406030204" pitchFamily="18" charset="0"/>
                            <a:ea typeface="Cambria Math" panose="02040503050406030204" pitchFamily="18" charset="0"/>
                          </a:rPr>
                          <m:t>𝑊</m:t>
                        </m:r>
                        <m:r>
                          <a:rPr lang="en-US" sz="2400" b="0" i="1" smtClean="0">
                            <a:solidFill>
                              <a:schemeClr val="accent1">
                                <a:lumMod val="75000"/>
                              </a:schemeClr>
                            </a:solidFill>
                            <a:latin typeface="Cambria Math" panose="02040503050406030204" pitchFamily="18" charset="0"/>
                            <a:ea typeface="Cambria Math" panose="02040503050406030204" pitchFamily="18" charset="0"/>
                          </a:rPr>
                          <m:t>×</m:t>
                        </m:r>
                        <m:r>
                          <a:rPr lang="en-US" sz="2400" i="1">
                            <a:solidFill>
                              <a:schemeClr val="accent1">
                                <a:lumMod val="75000"/>
                              </a:schemeClr>
                            </a:solidFill>
                            <a:latin typeface="Cambria Math" panose="02040503050406030204" pitchFamily="18" charset="0"/>
                            <a:ea typeface="Cambria Math" panose="02040503050406030204" pitchFamily="18" charset="0"/>
                          </a:rPr>
                          <m:t>𝐷</m:t>
                        </m:r>
                      </m:sup>
                    </m:sSup>
                  </m:oMath>
                </a14:m>
                <a:endParaRPr lang="en-US" sz="2400">
                  <a:solidFill>
                    <a:schemeClr val="accent1">
                      <a:lumMod val="75000"/>
                    </a:schemeClr>
                  </a:solidFill>
                </a:endParaRPr>
              </a:p>
            </p:txBody>
          </p:sp>
        </mc:Choice>
        <mc:Fallback xmlns="">
          <p:sp>
            <p:nvSpPr>
              <p:cNvPr id="5" name="Speech Bubble: Rectangle with Corners Rounded 4"/>
              <p:cNvSpPr>
                <a:spLocks noRot="1" noChangeAspect="1" noMove="1" noResize="1" noEditPoints="1" noAdjustHandles="1" noChangeArrowheads="1" noChangeShapeType="1" noTextEdit="1"/>
              </p:cNvSpPr>
              <p:nvPr/>
            </p:nvSpPr>
            <p:spPr>
              <a:xfrm>
                <a:off x="10024745" y="4665345"/>
                <a:ext cx="2167255" cy="1104265"/>
              </a:xfrm>
              <a:prstGeom prst="wedgeRoundRectCallout">
                <a:avLst>
                  <a:gd name="adj1" fmla="val -81907"/>
                  <a:gd name="adj2" fmla="val 95198"/>
                  <a:gd name="adj3" fmla="val 16667"/>
                </a:avLst>
              </a:prstGeom>
              <a:blipFill rotWithShape="1">
                <a:blip r:embed="rId2"/>
                <a:stretch>
                  <a:fillRect l="-34163" t="-575" r="-293" b="-47096"/>
                </a:stretch>
              </a:blip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74930" y="2114550"/>
                <a:ext cx="10946130" cy="4658360"/>
              </a:xfrm>
            </p:spPr>
            <p:txBody>
              <a:bodyPr>
                <a:normAutofit fontScale="72500" lnSpcReduction="20000"/>
              </a:bodyPr>
              <a:lstStyle/>
              <a:p>
                <a:pPr>
                  <a:lnSpc>
                    <a:spcPct val="120000"/>
                  </a:lnSpc>
                </a:pPr>
                <a:r>
                  <a:rPr lang="en-US"/>
                  <a:t>Corpus as one giant sequence of words</a:t>
                </a:r>
              </a:p>
              <a:p>
                <a:pPr lvl="1">
                  <a:lnSpc>
                    <a:spcPct val="120000"/>
                  </a:lnSpc>
                </a:pPr>
                <a:r>
                  <a:rPr lang="en-US"/>
                  <a:t>Words from vocabulary (indexed) </a:t>
                </a:r>
                <a14:m>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 </m:t>
                    </m:r>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𝑊</m:t>
                    </m:r>
                    <m:r>
                      <a:rPr lang="en-US" b="0" i="1" smtClean="0">
                        <a:latin typeface="Cambria Math" panose="02040503050406030204" pitchFamily="18" charset="0"/>
                      </a:rPr>
                      <m:t>]</m:t>
                    </m:r>
                  </m:oMath>
                </a14:m>
                <a:endParaRPr lang="en-US"/>
              </a:p>
              <a:p>
                <a:pPr>
                  <a:lnSpc>
                    <a:spcPct val="120000"/>
                  </a:lnSpc>
                </a:pPr>
                <a:r>
                  <a:rPr lang="en-US"/>
                  <a:t>For each of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𝑓</m:t>
                        </m:r>
                      </m:sub>
                    </m:sSub>
                  </m:oMath>
                </a14:m>
                <a:r>
                  <a:rPr lang="en-US"/>
                  <a:t> occurrences of word </a:t>
                </a:r>
                <a14:m>
                  <m:oMath xmlns:m="http://schemas.openxmlformats.org/officeDocument/2006/math">
                    <m:r>
                      <a:rPr lang="en-US" i="1" dirty="0" smtClean="0">
                        <a:latin typeface="Cambria Math" panose="02040503050406030204" pitchFamily="18" charset="0"/>
                      </a:rPr>
                      <m:t>𝑓</m:t>
                    </m:r>
                  </m:oMath>
                </a14:m>
                <a:r>
                  <a:rPr lang="en-US"/>
                  <a:t> in the giant sequence</a:t>
                </a:r>
              </a:p>
              <a:p>
                <a:pPr lvl="1">
                  <a:lnSpc>
                    <a:spcPct val="120000"/>
                  </a:lnSpc>
                </a:pPr>
                <a:r>
                  <a:rPr lang="en-US"/>
                  <a:t>Consider a window of some fixed width around each occurrence</a:t>
                </a:r>
              </a:p>
              <a:p>
                <a:pPr lvl="1">
                  <a:lnSpc>
                    <a:spcPct val="120000"/>
                  </a:lnSpc>
                </a:pPr>
                <a:r>
                  <a:rPr lang="en-US"/>
                  <a:t>For each other word </a:t>
                </a:r>
                <a14:m>
                  <m:oMath xmlns:m="http://schemas.openxmlformats.org/officeDocument/2006/math">
                    <m:r>
                      <a:rPr lang="en-US" i="1" dirty="0" smtClean="0">
                        <a:latin typeface="Cambria Math" panose="02040503050406030204" pitchFamily="18" charset="0"/>
                      </a:rPr>
                      <m:t>𝑐</m:t>
                    </m:r>
                  </m:oMath>
                </a14:m>
                <a:r>
                  <a:rPr lang="en-US"/>
                  <a:t> in the vocabulary, two possible events:</a:t>
                </a:r>
              </a:p>
              <a:p>
                <a:pPr lvl="2">
                  <a:lnSpc>
                    <a:spcPct val="120000"/>
                  </a:lnSpc>
                </a:pPr>
                <a14:m>
                  <m:oMath xmlns:m="http://schemas.openxmlformats.org/officeDocument/2006/math">
                    <m:r>
                      <a:rPr lang="en-US" i="1" dirty="0" smtClean="0">
                        <a:latin typeface="Cambria Math" panose="02040503050406030204" pitchFamily="18" charset="0"/>
                      </a:rPr>
                      <m:t>𝑐</m:t>
                    </m:r>
                  </m:oMath>
                </a14:m>
                <a:r>
                  <a:rPr lang="en-US"/>
                  <a:t> occurs in the window, or it does not; suppose it occurs in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𝑀</m:t>
                        </m:r>
                      </m:e>
                      <m:sub>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𝑐</m:t>
                        </m:r>
                      </m:sub>
                    </m:sSub>
                  </m:oMath>
                </a14:m>
                <a:r>
                  <a:rPr lang="en-US"/>
                  <a:t> windows out of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𝑓</m:t>
                        </m:r>
                      </m:sub>
                    </m:sSub>
                  </m:oMath>
                </a14:m>
                <a:r>
                  <a:rPr lang="en-US"/>
                  <a:t> windows</a:t>
                </a:r>
              </a:p>
              <a:p>
                <a:pPr>
                  <a:lnSpc>
                    <a:spcPct val="120000"/>
                  </a:lnSpc>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𝑀</m:t>
                        </m:r>
                      </m:e>
                      <m:sub>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𝑐</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𝑓</m:t>
                        </m:r>
                      </m:sub>
                    </m:sSub>
                  </m:oMath>
                </a14:m>
                <a:r>
                  <a:rPr lang="en-US"/>
                  <a:t> is an estimate of prob </a:t>
                </a:r>
                <a14:m>
                  <m:oMath xmlns:m="http://schemas.openxmlformats.org/officeDocument/2006/math">
                    <m:r>
                      <a:rPr lang="en-US" b="0" i="1" smtClean="0">
                        <a:latin typeface="Cambria Math" panose="02040503050406030204" pitchFamily="18" charset="0"/>
                      </a:rPr>
                      <m:t>𝑐</m:t>
                    </m:r>
                  </m:oMath>
                </a14:m>
                <a:r>
                  <a:rPr lang="en-US"/>
                  <a:t> given </a:t>
                </a:r>
                <a14:m>
                  <m:oMath xmlns:m="http://schemas.openxmlformats.org/officeDocument/2006/math">
                    <m:r>
                      <a:rPr lang="en-US" i="1" dirty="0" smtClean="0">
                        <a:latin typeface="Cambria Math" panose="02040503050406030204" pitchFamily="18" charset="0"/>
                      </a:rPr>
                      <m:t>𝑓</m:t>
                    </m:r>
                  </m:oMath>
                </a14:m>
                <a:endParaRPr lang="en-US"/>
              </a:p>
              <a:p>
                <a:pPr>
                  <a:lnSpc>
                    <a:spcPct val="120000"/>
                  </a:lnSpc>
                </a:pPr>
                <a:r>
                  <a:rPr lang="en-US"/>
                  <a:t>Represent each word </a:t>
                </a:r>
                <a14:m>
                  <m:oMath xmlns:m="http://schemas.openxmlformats.org/officeDocument/2006/math">
                    <m:r>
                      <a:rPr lang="en-US" i="1" dirty="0" smtClean="0">
                        <a:latin typeface="Cambria Math" panose="02040503050406030204" pitchFamily="18" charset="0"/>
                      </a:rPr>
                      <m:t>𝑤</m:t>
                    </m:r>
                  </m:oMath>
                </a14:m>
                <a:r>
                  <a:rPr lang="en-US"/>
                  <a:t> using </a:t>
                </a:r>
                <a:r>
                  <a:rPr lang="en-US">
                    <a:effectLst>
                      <a:glow rad="228600">
                        <a:schemeClr val="accent4">
                          <a:satMod val="175000"/>
                          <a:alpha val="40000"/>
                        </a:schemeClr>
                      </a:glow>
                    </a:effectLst>
                  </a:rPr>
                  <a:t>two</a:t>
                </a:r>
                <a:r>
                  <a:rPr lang="en-US"/>
                  <a:t> embeddings </a:t>
                </a:r>
                <a14:m>
                  <m:oMath xmlns:m="http://schemas.openxmlformats.org/officeDocument/2006/math">
                    <m:sSub>
                      <m:sSubPr>
                        <m:ctrlPr>
                          <a:rPr lang="en-US" b="0" i="1" smtClean="0">
                            <a:latin typeface="Cambria Math" panose="02040503050406030204" pitchFamily="18" charset="0"/>
                          </a:rPr>
                        </m:ctrlPr>
                      </m:sSubPr>
                      <m:e>
                        <m:r>
                          <a:rPr lang="en-US" b="1" i="1" smtClean="0">
                            <a:latin typeface="Cambria Math" panose="02040503050406030204" pitchFamily="18" charset="0"/>
                          </a:rPr>
                          <m:t>𝒖</m:t>
                        </m:r>
                      </m:e>
                      <m:sub>
                        <m:r>
                          <a:rPr lang="en-US" b="0" i="1" smtClean="0">
                            <a:latin typeface="Cambria Math" panose="02040503050406030204" pitchFamily="18" charset="0"/>
                          </a:rPr>
                          <m:t>𝑤</m:t>
                        </m:r>
                      </m:sub>
                    </m:sSub>
                    <m:r>
                      <a:rPr lang="en-US" b="0" i="0" smtClean="0">
                        <a:latin typeface="Cambria Math" panose="02040503050406030204" pitchFamily="18" charset="0"/>
                      </a:rPr>
                      <m:t>, </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𝒗</m:t>
                        </m:r>
                      </m:e>
                      <m:sub>
                        <m:r>
                          <a:rPr lang="en-US" b="0" i="1" smtClean="0">
                            <a:latin typeface="Cambria Math" panose="02040503050406030204" pitchFamily="18" charset="0"/>
                          </a:rPr>
                          <m:t>𝑤</m:t>
                        </m:r>
                      </m:sub>
                    </m:sSub>
                    <m:r>
                      <a:rPr lang="en-US" b="0" i="1" smtClean="0">
                        <a:latin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ea typeface="Cambria Math" panose="02040503050406030204" pitchFamily="18" charset="0"/>
                          </a:rPr>
                          <m:t>𝐷</m:t>
                        </m:r>
                      </m:sup>
                    </m:sSup>
                  </m:oMath>
                </a14:m>
                <a:endParaRPr lang="en-US"/>
              </a:p>
              <a:p>
                <a:pPr>
                  <a:lnSpc>
                    <a:spcPct val="120000"/>
                  </a:lnSpc>
                </a:pPr>
                <a:endParaRPr lang="en-US"/>
              </a:p>
            </p:txBody>
          </p:sp>
        </mc:Choice>
        <mc:Fallback xmlns="">
          <p:sp>
            <p:nvSpPr>
              <p:cNvPr id="3" name="Text Placeholder 2"/>
              <p:cNvSpPr>
                <a:spLocks noRot="1" noChangeAspect="1" noMove="1" noResize="1" noEditPoints="1" noAdjustHandles="1" noChangeArrowheads="1" noChangeShapeType="1" noTextEdit="1"/>
              </p:cNvSpPr>
              <p:nvPr>
                <p:ph type="body" idx="1"/>
              </p:nvPr>
            </p:nvSpPr>
            <p:spPr>
              <a:xfrm>
                <a:off x="74930" y="2114550"/>
                <a:ext cx="10946130" cy="4658360"/>
              </a:xfrm>
              <a:blipFill rotWithShape="1">
                <a:blip r:embed="rId3"/>
                <a:stretch>
                  <a:fillRect b="-8956"/>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8" name="Speech Bubble: Rectangle with Corners Rounded 7"/>
              <p:cNvSpPr/>
              <p:nvPr/>
            </p:nvSpPr>
            <p:spPr>
              <a:xfrm>
                <a:off x="10520045" y="2197735"/>
                <a:ext cx="1671955" cy="815340"/>
              </a:xfrm>
              <a:prstGeom prst="wedgeRoundRectCallout">
                <a:avLst>
                  <a:gd name="adj1" fmla="val -94284"/>
                  <a:gd name="adj2" fmla="val 266121"/>
                  <a:gd name="adj3" fmla="val 16667"/>
                </a:avLst>
              </a:prstGeom>
              <a:solidFill>
                <a:schemeClr val="accent5">
                  <a:lumMod val="20000"/>
                  <a:lumOff val="80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accent1">
                        <a:lumMod val="75000"/>
                      </a:schemeClr>
                    </a:solidFill>
                  </a:rPr>
                  <a:t>Most </a:t>
                </a:r>
                <a14:m>
                  <m:oMath xmlns:m="http://schemas.openxmlformats.org/officeDocument/2006/math">
                    <m:sSub>
                      <m:sSubPr>
                        <m:ctrlPr>
                          <a:rPr lang="en-US" sz="2400" i="1">
                            <a:solidFill>
                              <a:schemeClr val="accent1">
                                <a:lumMod val="75000"/>
                              </a:schemeClr>
                            </a:solidFill>
                            <a:latin typeface="Cambria Math" panose="02040503050406030204" pitchFamily="18" charset="0"/>
                          </a:rPr>
                        </m:ctrlPr>
                      </m:sSubPr>
                      <m:e>
                        <m:r>
                          <a:rPr lang="en-US" sz="2400" i="1">
                            <a:solidFill>
                              <a:schemeClr val="accent1">
                                <a:lumMod val="75000"/>
                              </a:schemeClr>
                            </a:solidFill>
                            <a:latin typeface="Cambria Math" panose="02040503050406030204" pitchFamily="18" charset="0"/>
                          </a:rPr>
                          <m:t>𝑀</m:t>
                        </m:r>
                      </m:e>
                      <m:sub>
                        <m:r>
                          <a:rPr lang="en-US" sz="2400" i="1">
                            <a:solidFill>
                              <a:schemeClr val="accent1">
                                <a:lumMod val="75000"/>
                              </a:schemeClr>
                            </a:solidFill>
                            <a:latin typeface="Cambria Math" panose="02040503050406030204" pitchFamily="18" charset="0"/>
                          </a:rPr>
                          <m:t>𝑓</m:t>
                        </m:r>
                        <m:r>
                          <a:rPr lang="en-US" sz="2400" i="1">
                            <a:solidFill>
                              <a:schemeClr val="accent1">
                                <a:lumMod val="75000"/>
                              </a:schemeClr>
                            </a:solidFill>
                            <a:latin typeface="Cambria Math" panose="02040503050406030204" pitchFamily="18" charset="0"/>
                          </a:rPr>
                          <m:t>,</m:t>
                        </m:r>
                        <m:r>
                          <a:rPr lang="en-US" sz="2400" i="1">
                            <a:solidFill>
                              <a:schemeClr val="accent1">
                                <a:lumMod val="75000"/>
                              </a:schemeClr>
                            </a:solidFill>
                            <a:latin typeface="Cambria Math" panose="02040503050406030204" pitchFamily="18" charset="0"/>
                          </a:rPr>
                          <m:t>𝑐</m:t>
                        </m:r>
                      </m:sub>
                    </m:sSub>
                  </m:oMath>
                </a14:m>
                <a:r>
                  <a:rPr lang="en-US" sz="2400">
                    <a:solidFill>
                      <a:schemeClr val="accent1">
                        <a:lumMod val="75000"/>
                      </a:schemeClr>
                    </a:solidFill>
                  </a:rPr>
                  <a:t>=0</a:t>
                </a:r>
                <a:endParaRPr lang="en-US" sz="2400">
                  <a:solidFill>
                    <a:schemeClr val="accent1"/>
                  </a:solidFill>
                </a:endParaRPr>
              </a:p>
            </p:txBody>
          </p:sp>
        </mc:Choice>
        <mc:Fallback xmlns="">
          <p:sp>
            <p:nvSpPr>
              <p:cNvPr id="8" name="Speech Bubble: Rectangle with Corners Rounded 7"/>
              <p:cNvSpPr>
                <a:spLocks noRot="1" noChangeAspect="1" noMove="1" noResize="1" noEditPoints="1" noAdjustHandles="1" noChangeArrowheads="1" noChangeShapeType="1" noTextEdit="1"/>
              </p:cNvSpPr>
              <p:nvPr/>
            </p:nvSpPr>
            <p:spPr>
              <a:xfrm>
                <a:off x="10520045" y="2197735"/>
                <a:ext cx="1671955" cy="815340"/>
              </a:xfrm>
              <a:prstGeom prst="wedgeRoundRectCallout">
                <a:avLst>
                  <a:gd name="adj1" fmla="val -94284"/>
                  <a:gd name="adj2" fmla="val 266121"/>
                  <a:gd name="adj3" fmla="val 16667"/>
                </a:avLst>
              </a:prstGeom>
              <a:blipFill rotWithShape="1">
                <a:blip r:embed="rId4"/>
                <a:stretch>
                  <a:fillRect l="-46145" t="-779" r="-380" b="-221340"/>
                </a:stretch>
              </a:blip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sp>
        <p:nvSpPr>
          <p:cNvPr id="2" name="Title 1"/>
          <p:cNvSpPr>
            <a:spLocks noGrp="1"/>
          </p:cNvSpPr>
          <p:nvPr>
            <p:ph type="title"/>
          </p:nvPr>
        </p:nvSpPr>
        <p:spPr/>
        <p:txBody>
          <a:bodyPr/>
          <a:lstStyle/>
          <a:p>
            <a:r>
              <a:rPr lang="en-US"/>
              <a:t>word2vec (2013)</a:t>
            </a:r>
          </a:p>
        </p:txBody>
      </p:sp>
      <p:cxnSp>
        <p:nvCxnSpPr>
          <p:cNvPr id="6" name="Straight Connector 5"/>
          <p:cNvCxnSpPr/>
          <p:nvPr/>
        </p:nvCxnSpPr>
        <p:spPr>
          <a:xfrm flipV="1">
            <a:off x="2023813" y="1497125"/>
            <a:ext cx="4715584" cy="2"/>
          </a:xfrm>
          <a:prstGeom prst="line">
            <a:avLst/>
          </a:prstGeom>
          <a:ln w="28575">
            <a:solidFill>
              <a:schemeClr val="accent5">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4" name="Rectangle: Rounded Corners 3"/>
          <p:cNvSpPr/>
          <p:nvPr/>
        </p:nvSpPr>
        <p:spPr>
          <a:xfrm>
            <a:off x="3988435" y="1289050"/>
            <a:ext cx="917575" cy="416560"/>
          </a:xfrm>
          <a:prstGeom prst="roundRect">
            <a:avLst/>
          </a:prstGeom>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apple</a:t>
            </a:r>
          </a:p>
        </p:txBody>
      </p:sp>
      <p:sp>
        <p:nvSpPr>
          <p:cNvPr id="11" name="Rectangle: Rounded Corners 10"/>
          <p:cNvSpPr/>
          <p:nvPr/>
        </p:nvSpPr>
        <p:spPr>
          <a:xfrm>
            <a:off x="2625225" y="1288795"/>
            <a:ext cx="287167" cy="416660"/>
          </a:xfrm>
          <a:prstGeom prst="roundRect">
            <a:avLst/>
          </a:prstGeom>
          <a:solidFill>
            <a:schemeClr val="accent6">
              <a:lumMod val="40000"/>
              <a:lumOff val="6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5">
            <p14:nvContentPartPr>
              <p14:cNvPr id="7" name="Ink 6"/>
              <p14:cNvContentPartPr/>
              <p14:nvPr/>
            </p14:nvContentPartPr>
            <p14:xfrm>
              <a:off x="2294640" y="522720"/>
              <a:ext cx="9522720" cy="4028040"/>
            </p14:xfrm>
          </p:contentPart>
        </mc:Choice>
        <mc:Fallback xmlns="">
          <p:pic>
            <p:nvPicPr>
              <p:cNvPr id="7" name="Ink 6"/>
            </p:nvPicPr>
            <p:blipFill>
              <a:blip r:embed="rId6"/>
            </p:blipFill>
            <p:spPr>
              <a:xfrm>
                <a:off x="2294640" y="522720"/>
                <a:ext cx="9522720" cy="4028040"/>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8"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Probability model</a:t>
            </a:r>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p:txBody>
              <a:bodyPr>
                <a:normAutofit fontScale="90000" lnSpcReduction="20000"/>
              </a:bodyPr>
              <a:lstStyle/>
              <a:p>
                <a:pPr>
                  <a:lnSpc>
                    <a:spcPct val="120000"/>
                  </a:lnSpc>
                </a:pPr>
                <a:r>
                  <a:rPr lang="en-US" sz="4000">
                    <a:sym typeface="+mn-ea"/>
                  </a:rPr>
                  <a:t>Probability word </a:t>
                </a:r>
                <a14:m>
                  <m:oMath xmlns:m="http://schemas.openxmlformats.org/officeDocument/2006/math">
                    <m:r>
                      <a:rPr lang="en-US" sz="4000" i="1">
                        <a:latin typeface="Cambria Math" panose="02040503050406030204" pitchFamily="18" charset="0"/>
                        <a:cs typeface="DejaVu Math TeX Gyre" panose="02000503000000000000" charset="0"/>
                        <a:sym typeface="+mn-ea"/>
                      </a:rPr>
                      <m:t>𝑐</m:t>
                    </m:r>
                  </m:oMath>
                </a14:m>
                <a:r>
                  <a:rPr lang="en-US" sz="4000">
                    <a:sym typeface="+mn-ea"/>
                  </a:rPr>
                  <a:t> </a:t>
                </a:r>
                <a:r>
                  <a:rPr lang="en-US" sz="4000" i="1">
                    <a:sym typeface="+mn-ea"/>
                  </a:rPr>
                  <a:t>occurs</a:t>
                </a:r>
                <a:r>
                  <a:rPr lang="en-US" sz="4000">
                    <a:sym typeface="+mn-ea"/>
                  </a:rPr>
                  <a:t> in context, given </a:t>
                </a:r>
                <a14:m>
                  <m:oMath xmlns:m="http://schemas.openxmlformats.org/officeDocument/2006/math">
                    <m:r>
                      <a:rPr lang="en-US" sz="4000" i="1">
                        <a:latin typeface="Cambria Math" panose="02040503050406030204" pitchFamily="18" charset="0"/>
                        <a:cs typeface="DejaVu Math TeX Gyre" panose="02000503000000000000" charset="0"/>
                        <a:sym typeface="+mn-ea"/>
                      </a:rPr>
                      <m:t>𝑓</m:t>
                    </m:r>
                  </m:oMath>
                </a14:m>
                <a:r>
                  <a:rPr lang="en-US" sz="4000">
                    <a:sym typeface="+mn-ea"/>
                  </a:rPr>
                  <a:t> is in the center position, is </a:t>
                </a:r>
                <a14:m>
                  <m:oMath xmlns:m="http://schemas.openxmlformats.org/officeDocument/2006/math">
                    <m:r>
                      <a:rPr lang="en-US" sz="4000" b="0" i="1" smtClean="0">
                        <a:latin typeface="Cambria Math" panose="02040503050406030204" pitchFamily="18" charset="0"/>
                      </a:rPr>
                      <m:t>𝜎</m:t>
                    </m:r>
                    <m:r>
                      <a:rPr lang="en-US" sz="4000" b="0" i="1" smtClean="0">
                        <a:latin typeface="Cambria Math" panose="02040503050406030204" pitchFamily="18" charset="0"/>
                      </a:rPr>
                      <m:t>(</m:t>
                    </m:r>
                    <m:sSub>
                      <m:sSubPr>
                        <m:ctrlPr>
                          <a:rPr lang="en-US" sz="4000" i="1">
                            <a:latin typeface="Cambria Math" panose="02040503050406030204" pitchFamily="18" charset="0"/>
                          </a:rPr>
                        </m:ctrlPr>
                      </m:sSubPr>
                      <m:e>
                        <m:r>
                          <a:rPr lang="en-US" sz="4000" b="1" i="1">
                            <a:latin typeface="Cambria Math" panose="02040503050406030204" pitchFamily="18" charset="0"/>
                          </a:rPr>
                          <m:t>𝒖</m:t>
                        </m:r>
                      </m:e>
                      <m:sub>
                        <m:r>
                          <a:rPr lang="en-US" sz="4000" b="0" i="1" smtClean="0">
                            <a:latin typeface="Cambria Math" panose="02040503050406030204" pitchFamily="18" charset="0"/>
                          </a:rPr>
                          <m:t>𝑓</m:t>
                        </m:r>
                      </m:sub>
                    </m:sSub>
                    <m:r>
                      <a:rPr lang="en-US" sz="4000" b="0" i="1" smtClean="0">
                        <a:latin typeface="Cambria Math" panose="02040503050406030204" pitchFamily="18" charset="0"/>
                      </a:rPr>
                      <m:t>⋅</m:t>
                    </m:r>
                    <m:sSub>
                      <m:sSubPr>
                        <m:ctrlPr>
                          <a:rPr lang="en-US" sz="4000" i="1">
                            <a:latin typeface="Cambria Math" panose="02040503050406030204" pitchFamily="18" charset="0"/>
                          </a:rPr>
                        </m:ctrlPr>
                      </m:sSubPr>
                      <m:e>
                        <m:r>
                          <a:rPr lang="en-US" sz="4000" b="1" i="1">
                            <a:latin typeface="Cambria Math" panose="02040503050406030204" pitchFamily="18" charset="0"/>
                          </a:rPr>
                          <m:t>𝒗</m:t>
                        </m:r>
                      </m:e>
                      <m:sub>
                        <m:r>
                          <a:rPr lang="en-US" sz="4000" b="0" i="1" smtClean="0">
                            <a:latin typeface="Cambria Math" panose="02040503050406030204" pitchFamily="18" charset="0"/>
                          </a:rPr>
                          <m:t>𝑐</m:t>
                        </m:r>
                      </m:sub>
                    </m:sSub>
                    <m:r>
                      <a:rPr lang="en-US" sz="4000" b="0" i="1" smtClean="0">
                        <a:latin typeface="Cambria Math" panose="02040503050406030204" pitchFamily="18" charset="0"/>
                      </a:rPr>
                      <m:t>)</m:t>
                    </m:r>
                  </m:oMath>
                </a14:m>
                <a:endParaRPr lang="en-US" sz="4000"/>
              </a:p>
              <a:p>
                <a:pPr lvl="1">
                  <a:lnSpc>
                    <a:spcPct val="120000"/>
                  </a:lnSpc>
                </a:pPr>
                <a14:m>
                  <m:oMath xmlns:m="http://schemas.openxmlformats.org/officeDocument/2006/math">
                    <m:r>
                      <a:rPr lang="en-US" sz="4000" b="0" i="1" smtClean="0">
                        <a:latin typeface="Cambria Math" panose="02040503050406030204" pitchFamily="18" charset="0"/>
                      </a:rPr>
                      <m:t>𝜎</m:t>
                    </m:r>
                    <m:d>
                      <m:dPr>
                        <m:ctrlPr>
                          <a:rPr lang="en-US" sz="4000" b="0" i="1" smtClean="0">
                            <a:latin typeface="Cambria Math" panose="02040503050406030204" pitchFamily="18" charset="0"/>
                          </a:rPr>
                        </m:ctrlPr>
                      </m:dPr>
                      <m:e>
                        <m:r>
                          <a:rPr lang="en-US" sz="4000" b="0" i="1" smtClean="0">
                            <a:latin typeface="Cambria Math" panose="02040503050406030204" pitchFamily="18" charset="0"/>
                          </a:rPr>
                          <m:t>𝑎</m:t>
                        </m:r>
                      </m:e>
                    </m:d>
                    <m:r>
                      <a:rPr lang="en-US" sz="4000" b="0" i="1" smtClean="0">
                        <a:latin typeface="Cambria Math" panose="02040503050406030204" pitchFamily="18" charset="0"/>
                      </a:rPr>
                      <m:t>=</m:t>
                    </m:r>
                    <m:f>
                      <m:fPr>
                        <m:ctrlPr>
                          <a:rPr lang="en-US" sz="4000" b="0" i="1" smtClean="0">
                            <a:latin typeface="Cambria Math" panose="02040503050406030204" pitchFamily="18" charset="0"/>
                          </a:rPr>
                        </m:ctrlPr>
                      </m:fPr>
                      <m:num>
                        <m:r>
                          <a:rPr lang="en-US" sz="4000" b="0" i="1" smtClean="0">
                            <a:latin typeface="Cambria Math" panose="02040503050406030204" pitchFamily="18" charset="0"/>
                          </a:rPr>
                          <m:t>1</m:t>
                        </m:r>
                      </m:num>
                      <m:den>
                        <m:r>
                          <a:rPr lang="en-US" sz="4000" b="0" i="1" smtClean="0">
                            <a:latin typeface="Cambria Math" panose="02040503050406030204" pitchFamily="18" charset="0"/>
                          </a:rPr>
                          <m:t>1+</m:t>
                        </m:r>
                        <m:sSup>
                          <m:sSupPr>
                            <m:ctrlPr>
                              <a:rPr lang="en-US" sz="4000" b="0" i="1" smtClean="0">
                                <a:latin typeface="Cambria Math" panose="02040503050406030204" pitchFamily="18" charset="0"/>
                              </a:rPr>
                            </m:ctrlPr>
                          </m:sSupPr>
                          <m:e>
                            <m:r>
                              <a:rPr lang="en-US" sz="4000" b="0" i="1" smtClean="0">
                                <a:latin typeface="Cambria Math" panose="02040503050406030204" pitchFamily="18" charset="0"/>
                              </a:rPr>
                              <m:t>𝑒</m:t>
                            </m:r>
                          </m:e>
                          <m:sup>
                            <m:r>
                              <a:rPr lang="en-US" sz="4000" b="0" i="1" smtClean="0">
                                <a:latin typeface="Cambria Math" panose="02040503050406030204" pitchFamily="18" charset="0"/>
                              </a:rPr>
                              <m:t>−</m:t>
                            </m:r>
                            <m:r>
                              <a:rPr lang="en-US" sz="4000" b="0" i="1" smtClean="0">
                                <a:latin typeface="Cambria Math" panose="02040503050406030204" pitchFamily="18" charset="0"/>
                              </a:rPr>
                              <m:t>𝑎</m:t>
                            </m:r>
                          </m:sup>
                        </m:sSup>
                      </m:den>
                    </m:f>
                  </m:oMath>
                </a14:m>
                <a:r>
                  <a:rPr lang="en-US" sz="4000">
                    <a:sym typeface="+mn-ea"/>
                  </a:rPr>
                  <a:t> is sigmoid function</a:t>
                </a:r>
              </a:p>
              <a:p>
                <a:pPr lvl="1">
                  <a:lnSpc>
                    <a:spcPct val="120000"/>
                  </a:lnSpc>
                </a:pPr>
                <a14:m>
                  <m:oMath xmlns:m="http://schemas.openxmlformats.org/officeDocument/2006/math">
                    <m:f>
                      <m:fPr>
                        <m:ctrlPr>
                          <a:rPr lang="en-US" sz="4000" i="1" smtClean="0">
                            <a:latin typeface="Cambria Math" panose="02040503050406030204" pitchFamily="18" charset="0"/>
                          </a:rPr>
                        </m:ctrlPr>
                      </m:fPr>
                      <m:num>
                        <m:r>
                          <a:rPr lang="en-US" sz="4000" b="0" i="1" smtClean="0">
                            <a:latin typeface="Cambria Math" panose="02040503050406030204" pitchFamily="18" charset="0"/>
                          </a:rPr>
                          <m:t>𝑑</m:t>
                        </m:r>
                        <m:r>
                          <a:rPr lang="en-US" sz="4000" b="0" i="1" smtClean="0">
                            <a:latin typeface="Cambria Math" panose="02040503050406030204" pitchFamily="18" charset="0"/>
                          </a:rPr>
                          <m:t>𝜎</m:t>
                        </m:r>
                        <m:r>
                          <a:rPr lang="en-US" sz="4000" b="0" i="1" smtClean="0">
                            <a:latin typeface="Cambria Math" panose="02040503050406030204" pitchFamily="18" charset="0"/>
                          </a:rPr>
                          <m:t>(</m:t>
                        </m:r>
                        <m:r>
                          <a:rPr lang="en-US" sz="4000" b="0" i="1" smtClean="0">
                            <a:latin typeface="Cambria Math" panose="02040503050406030204" pitchFamily="18" charset="0"/>
                          </a:rPr>
                          <m:t>𝑎</m:t>
                        </m:r>
                        <m:r>
                          <a:rPr lang="en-US" sz="4000" b="0" i="1" smtClean="0">
                            <a:latin typeface="Cambria Math" panose="02040503050406030204" pitchFamily="18" charset="0"/>
                          </a:rPr>
                          <m:t>)</m:t>
                        </m:r>
                      </m:num>
                      <m:den>
                        <m:r>
                          <a:rPr lang="en-US" sz="4000" b="0" i="1" smtClean="0">
                            <a:latin typeface="Cambria Math" panose="02040503050406030204" pitchFamily="18" charset="0"/>
                          </a:rPr>
                          <m:t>𝑑𝑎</m:t>
                        </m:r>
                      </m:den>
                    </m:f>
                    <m:r>
                      <a:rPr lang="en-US" sz="4000" b="0" i="1" smtClean="0">
                        <a:latin typeface="Cambria Math" panose="02040503050406030204" pitchFamily="18" charset="0"/>
                      </a:rPr>
                      <m:t>=</m:t>
                    </m:r>
                    <m:r>
                      <a:rPr lang="en-US" sz="4000" b="0" i="1" smtClean="0">
                        <a:latin typeface="Cambria Math" panose="02040503050406030204" pitchFamily="18" charset="0"/>
                      </a:rPr>
                      <m:t>𝜎</m:t>
                    </m:r>
                    <m:d>
                      <m:dPr>
                        <m:ctrlPr>
                          <a:rPr lang="en-US" sz="4000" b="0" i="1" smtClean="0">
                            <a:latin typeface="Cambria Math" panose="02040503050406030204" pitchFamily="18" charset="0"/>
                          </a:rPr>
                        </m:ctrlPr>
                      </m:dPr>
                      <m:e>
                        <m:r>
                          <a:rPr lang="en-US" sz="4000" b="0" i="1" smtClean="0">
                            <a:latin typeface="Cambria Math" panose="02040503050406030204" pitchFamily="18" charset="0"/>
                          </a:rPr>
                          <m:t>𝑎</m:t>
                        </m:r>
                      </m:e>
                    </m:d>
                    <m:r>
                      <a:rPr lang="en-US" sz="4000" b="0" i="1" smtClean="0">
                        <a:latin typeface="Cambria Math" panose="02040503050406030204" pitchFamily="18" charset="0"/>
                      </a:rPr>
                      <m:t>𝜎</m:t>
                    </m:r>
                    <m:r>
                      <a:rPr lang="en-US" sz="4000" b="0" i="1" smtClean="0">
                        <a:latin typeface="Cambria Math" panose="02040503050406030204" pitchFamily="18" charset="0"/>
                      </a:rPr>
                      <m:t>(−</m:t>
                    </m:r>
                    <m:r>
                      <a:rPr lang="en-US" sz="4000" b="0" i="1" smtClean="0">
                        <a:latin typeface="Cambria Math" panose="02040503050406030204" pitchFamily="18" charset="0"/>
                      </a:rPr>
                      <m:t>𝑎</m:t>
                    </m:r>
                    <m:r>
                      <a:rPr lang="en-US" sz="4000" b="0" i="1" smtClean="0">
                        <a:latin typeface="Cambria Math" panose="02040503050406030204" pitchFamily="18" charset="0"/>
                      </a:rPr>
                      <m:t>)</m:t>
                    </m:r>
                  </m:oMath>
                </a14:m>
                <a:endParaRPr lang="en-US" sz="4000" b="0" i="1">
                  <a:latin typeface="Cambria Math" panose="02040503050406030204" pitchFamily="18" charset="0"/>
                </a:endParaRPr>
              </a:p>
              <a:p>
                <a:pPr lvl="1">
                  <a:lnSpc>
                    <a:spcPct val="120000"/>
                  </a:lnSpc>
                </a:pPr>
                <a14:m>
                  <m:oMath xmlns:m="http://schemas.openxmlformats.org/officeDocument/2006/math">
                    <m:r>
                      <a:rPr lang="en-US" sz="4000" b="0" i="1" smtClean="0">
                        <a:latin typeface="Cambria Math" panose="02040503050406030204" pitchFamily="18" charset="0"/>
                      </a:rPr>
                      <m:t>1−</m:t>
                    </m:r>
                    <m:r>
                      <a:rPr lang="en-US" sz="4000" b="0" i="1" smtClean="0">
                        <a:latin typeface="Cambria Math" panose="02040503050406030204" pitchFamily="18" charset="0"/>
                      </a:rPr>
                      <m:t>𝜎</m:t>
                    </m:r>
                    <m:d>
                      <m:dPr>
                        <m:ctrlPr>
                          <a:rPr lang="en-US" sz="4000" b="0" i="1" smtClean="0">
                            <a:latin typeface="Cambria Math" panose="02040503050406030204" pitchFamily="18" charset="0"/>
                          </a:rPr>
                        </m:ctrlPr>
                      </m:dPr>
                      <m:e>
                        <m:r>
                          <a:rPr lang="en-US" sz="4000" b="0" i="1" smtClean="0">
                            <a:latin typeface="Cambria Math" panose="02040503050406030204" pitchFamily="18" charset="0"/>
                          </a:rPr>
                          <m:t>𝑎</m:t>
                        </m:r>
                      </m:e>
                    </m:d>
                    <m:r>
                      <a:rPr lang="en-US" sz="4000" b="0" i="1" smtClean="0">
                        <a:latin typeface="Cambria Math" panose="02040503050406030204" pitchFamily="18" charset="0"/>
                      </a:rPr>
                      <m:t>=</m:t>
                    </m:r>
                    <m:r>
                      <a:rPr lang="en-US" sz="4000" b="0" i="1" smtClean="0">
                        <a:latin typeface="Cambria Math" panose="02040503050406030204" pitchFamily="18" charset="0"/>
                      </a:rPr>
                      <m:t>𝜎</m:t>
                    </m:r>
                    <m:d>
                      <m:dPr>
                        <m:ctrlPr>
                          <a:rPr lang="en-US" sz="4000" b="0" i="1" smtClean="0">
                            <a:latin typeface="Cambria Math" panose="02040503050406030204" pitchFamily="18" charset="0"/>
                          </a:rPr>
                        </m:ctrlPr>
                      </m:dPr>
                      <m:e>
                        <m:r>
                          <a:rPr lang="en-US" sz="4000" b="0" i="1" smtClean="0">
                            <a:latin typeface="Cambria Math" panose="02040503050406030204" pitchFamily="18" charset="0"/>
                          </a:rPr>
                          <m:t>−</m:t>
                        </m:r>
                        <m:r>
                          <a:rPr lang="en-US" sz="4000" b="0" i="1" smtClean="0">
                            <a:latin typeface="Cambria Math" panose="02040503050406030204" pitchFamily="18" charset="0"/>
                          </a:rPr>
                          <m:t>𝑎</m:t>
                        </m:r>
                      </m:e>
                    </m:d>
                  </m:oMath>
                </a14:m>
                <a:r>
                  <a:rPr lang="en-US" sz="4000">
                    <a:sym typeface="+mn-ea"/>
                  </a:rPr>
                  <a:t> and thus </a:t>
                </a:r>
                <a14:m>
                  <m:oMath xmlns:m="http://schemas.openxmlformats.org/officeDocument/2006/math">
                    <m:f>
                      <m:fPr>
                        <m:ctrlPr>
                          <a:rPr lang="en-US" sz="4000" i="1" dirty="0" smtClean="0">
                            <a:latin typeface="Cambria Math" panose="02040503050406030204" pitchFamily="18" charset="0"/>
                          </a:rPr>
                        </m:ctrlPr>
                      </m:fPr>
                      <m:num>
                        <m:r>
                          <a:rPr lang="en-US" sz="4000" b="0" i="1" dirty="0" smtClean="0">
                            <a:latin typeface="Cambria Math" panose="02040503050406030204" pitchFamily="18" charset="0"/>
                          </a:rPr>
                          <m:t>𝑑</m:t>
                        </m:r>
                        <m:r>
                          <a:rPr lang="en-US" sz="4000" b="0" i="1" dirty="0" smtClean="0">
                            <a:latin typeface="Cambria Math" panose="02040503050406030204" pitchFamily="18" charset="0"/>
                          </a:rPr>
                          <m:t>𝜎</m:t>
                        </m:r>
                        <m:r>
                          <a:rPr lang="en-US" sz="4000" b="0" i="1" dirty="0" smtClean="0">
                            <a:latin typeface="Cambria Math" panose="02040503050406030204" pitchFamily="18" charset="0"/>
                          </a:rPr>
                          <m:t>(−</m:t>
                        </m:r>
                        <m:r>
                          <a:rPr lang="en-US" sz="4000" b="0" i="1" dirty="0" smtClean="0">
                            <a:latin typeface="Cambria Math" panose="02040503050406030204" pitchFamily="18" charset="0"/>
                          </a:rPr>
                          <m:t>𝑎</m:t>
                        </m:r>
                        <m:r>
                          <a:rPr lang="en-US" sz="4000" b="0" i="1" dirty="0" smtClean="0">
                            <a:latin typeface="Cambria Math" panose="02040503050406030204" pitchFamily="18" charset="0"/>
                          </a:rPr>
                          <m:t>)</m:t>
                        </m:r>
                      </m:num>
                      <m:den>
                        <m:r>
                          <a:rPr lang="en-US" sz="4000" b="0" i="1" dirty="0" smtClean="0">
                            <a:latin typeface="Cambria Math" panose="02040503050406030204" pitchFamily="18" charset="0"/>
                          </a:rPr>
                          <m:t>𝑑𝑎</m:t>
                        </m:r>
                      </m:den>
                    </m:f>
                    <m:r>
                      <a:rPr lang="en-US" sz="4000" b="0" i="1" dirty="0" smtClean="0">
                        <a:latin typeface="Cambria Math" panose="02040503050406030204" pitchFamily="18" charset="0"/>
                      </a:rPr>
                      <m:t>=−</m:t>
                    </m:r>
                    <m:f>
                      <m:fPr>
                        <m:ctrlPr>
                          <a:rPr lang="en-US" sz="4000" b="0" i="1" dirty="0" smtClean="0">
                            <a:latin typeface="Cambria Math" panose="02040503050406030204" pitchFamily="18" charset="0"/>
                          </a:rPr>
                        </m:ctrlPr>
                      </m:fPr>
                      <m:num>
                        <m:r>
                          <a:rPr lang="en-US" sz="4000" b="0" i="1" dirty="0" smtClean="0">
                            <a:latin typeface="Cambria Math" panose="02040503050406030204" pitchFamily="18" charset="0"/>
                          </a:rPr>
                          <m:t>𝑑</m:t>
                        </m:r>
                        <m:r>
                          <a:rPr lang="en-US" sz="4000" b="0" i="1" dirty="0" smtClean="0">
                            <a:latin typeface="Cambria Math" panose="02040503050406030204" pitchFamily="18" charset="0"/>
                          </a:rPr>
                          <m:t>𝜎</m:t>
                        </m:r>
                        <m:r>
                          <a:rPr lang="en-US" sz="4000" b="0" i="1" dirty="0" smtClean="0">
                            <a:latin typeface="Cambria Math" panose="02040503050406030204" pitchFamily="18" charset="0"/>
                          </a:rPr>
                          <m:t>(</m:t>
                        </m:r>
                        <m:r>
                          <a:rPr lang="en-US" sz="4000" b="0" i="1" dirty="0" smtClean="0">
                            <a:latin typeface="Cambria Math" panose="02040503050406030204" pitchFamily="18" charset="0"/>
                          </a:rPr>
                          <m:t>𝑎</m:t>
                        </m:r>
                        <m:r>
                          <a:rPr lang="en-US" sz="4000" b="0" i="1" dirty="0" smtClean="0">
                            <a:latin typeface="Cambria Math" panose="02040503050406030204" pitchFamily="18" charset="0"/>
                          </a:rPr>
                          <m:t>)</m:t>
                        </m:r>
                      </m:num>
                      <m:den>
                        <m:r>
                          <a:rPr lang="en-US" sz="4000" b="0" i="1" dirty="0" smtClean="0">
                            <a:latin typeface="Cambria Math" panose="02040503050406030204" pitchFamily="18" charset="0"/>
                          </a:rPr>
                          <m:t>𝑑𝑎</m:t>
                        </m:r>
                      </m:den>
                    </m:f>
                  </m:oMath>
                </a14:m>
                <a:endParaRPr lang="en-US" sz="4000" b="0" i="1" dirty="0">
                  <a:latin typeface="Cambria Math" panose="02040503050406030204" pitchFamily="18" charset="0"/>
                </a:endParaRPr>
              </a:p>
              <a:p>
                <a:pPr lvl="0">
                  <a:lnSpc>
                    <a:spcPct val="120000"/>
                  </a:lnSpc>
                </a:pPr>
                <a:r>
                  <a:rPr lang="en-US"/>
                  <a:t>Probability that </a:t>
                </a:r>
                <a14:m>
                  <m:oMath xmlns:m="http://schemas.openxmlformats.org/officeDocument/2006/math">
                    <m:r>
                      <a:rPr lang="en-US">
                        <a:latin typeface="Cambria Math" panose="02040503050406030204" pitchFamily="18" charset="0"/>
                        <a:cs typeface="DejaVu Math TeX Gyre" panose="02000503000000000000" charset="0"/>
                      </a:rPr>
                      <m:t>𝑐</m:t>
                    </m:r>
                  </m:oMath>
                </a14:m>
                <a:r>
                  <a:rPr lang="en-US"/>
                  <a:t> </a:t>
                </a:r>
                <a:r>
                  <a:rPr lang="en-US" i="1"/>
                  <a:t>does not occur</a:t>
                </a:r>
                <a:r>
                  <a:rPr lang="en-US"/>
                  <a:t> in the context centered on </a:t>
                </a:r>
                <a14:m>
                  <m:oMath xmlns:m="http://schemas.openxmlformats.org/officeDocument/2006/math">
                    <m:r>
                      <a:rPr lang="en-US" i="1">
                        <a:latin typeface="Cambria Math" panose="02040503050406030204" pitchFamily="18" charset="0"/>
                        <a:cs typeface="DejaVu Math TeX Gyre" panose="02000503000000000000" charset="0"/>
                      </a:rPr>
                      <m:t>𝑓</m:t>
                    </m:r>
                  </m:oMath>
                </a14:m>
                <a:r>
                  <a:rPr lang="en-US"/>
                  <a:t> is </a:t>
                </a:r>
                <a14:m>
                  <m:oMath xmlns:m="http://schemas.openxmlformats.org/officeDocument/2006/math">
                    <m:r>
                      <a:rPr lang="en-US" b="0" i="1" smtClean="0">
                        <a:latin typeface="Cambria Math" panose="02040503050406030204" pitchFamily="18" charset="0"/>
                      </a:rPr>
                      <m:t>𝜎</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1" i="1">
                            <a:latin typeface="Cambria Math" panose="02040503050406030204" pitchFamily="18" charset="0"/>
                          </a:rPr>
                          <m:t>𝒖</m:t>
                        </m:r>
                      </m:e>
                      <m:sub>
                        <m:r>
                          <a:rPr lang="en-US" b="0" i="1" smtClean="0">
                            <a:latin typeface="Cambria Math" panose="02040503050406030204" pitchFamily="18" charset="0"/>
                          </a:rPr>
                          <m:t>𝑓</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1" i="1">
                            <a:latin typeface="Cambria Math" panose="02040503050406030204" pitchFamily="18" charset="0"/>
                          </a:rPr>
                          <m:t>𝒗</m:t>
                        </m:r>
                      </m:e>
                      <m:sub>
                        <m:r>
                          <a:rPr lang="en-US" b="0" i="1" smtClean="0">
                            <a:latin typeface="Cambria Math" panose="02040503050406030204" pitchFamily="18" charset="0"/>
                          </a:rPr>
                          <m:t>𝑐</m:t>
                        </m:r>
                      </m:sub>
                    </m:sSub>
                    <m:r>
                      <a:rPr lang="en-US" b="0" i="1" smtClean="0">
                        <a:latin typeface="Cambria Math" panose="02040503050406030204" pitchFamily="18" charset="0"/>
                      </a:rPr>
                      <m:t>)</m:t>
                    </m:r>
                  </m:oMath>
                </a14:m>
                <a:endParaRPr lang="en-US" b="0" i="1">
                  <a:latin typeface="Cambria Math" panose="02040503050406030204" pitchFamily="18" charset="0"/>
                </a:endParaRPr>
              </a:p>
              <a:p>
                <a:pPr lvl="0">
                  <a:lnSpc>
                    <a:spcPct val="120000"/>
                  </a:lnSpc>
                </a:pPr>
                <a:r>
                  <a:rPr lang="en-US"/>
                  <a:t>I.e., toss a biased coin with head prob </a:t>
                </a:r>
                <a14:m>
                  <m:oMath xmlns:m="http://schemas.openxmlformats.org/officeDocument/2006/math">
                    <m:r>
                      <a:rPr lang="en-US" b="0" i="1" smtClean="0">
                        <a:latin typeface="Cambria Math" panose="02040503050406030204" pitchFamily="18" charset="0"/>
                      </a:rPr>
                      <m:t>𝜎</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1" i="1">
                            <a:latin typeface="Cambria Math" panose="02040503050406030204" pitchFamily="18" charset="0"/>
                          </a:rPr>
                          <m:t>𝒖</m:t>
                        </m:r>
                      </m:e>
                      <m:sub>
                        <m:r>
                          <a:rPr lang="en-US" b="0" i="1" smtClean="0">
                            <a:latin typeface="Cambria Math" panose="02040503050406030204" pitchFamily="18" charset="0"/>
                          </a:rPr>
                          <m:t>𝑓</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1" i="1">
                            <a:latin typeface="Cambria Math" panose="02040503050406030204" pitchFamily="18" charset="0"/>
                          </a:rPr>
                          <m:t>𝒗</m:t>
                        </m:r>
                      </m:e>
                      <m:sub>
                        <m:r>
                          <a:rPr lang="en-US" b="0" i="1" smtClean="0">
                            <a:latin typeface="Cambria Math" panose="02040503050406030204" pitchFamily="18" charset="0"/>
                          </a:rPr>
                          <m:t>𝑐</m:t>
                        </m:r>
                      </m:sub>
                    </m:sSub>
                    <m:r>
                      <a:rPr lang="en-US" b="0" i="1" smtClean="0">
                        <a:latin typeface="Cambria Math" panose="02040503050406030204" pitchFamily="18" charset="0"/>
                      </a:rPr>
                      <m:t>)</m:t>
                    </m:r>
                  </m:oMath>
                </a14:m>
                <a:endParaRPr lang="en-US"/>
              </a:p>
              <a:p>
                <a:endParaRPr lang="en-US"/>
              </a:p>
            </p:txBody>
          </p:sp>
        </mc:Choice>
        <mc:Fallback xmlns="">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2"/>
                <a:stretch>
                  <a:fillRect b="-7716"/>
                </a:stretch>
              </a:blipFill>
            </p:spPr>
            <p:txBody>
              <a:bodyPr/>
              <a:lstStyle/>
              <a:p>
                <a:r>
                  <a:rPr lang="en-US" altLang="en-US">
                    <a:noFill/>
                  </a:rPr>
                  <a:t> </a:t>
                </a:r>
              </a:p>
            </p:txBody>
          </p:sp>
        </mc:Fallback>
      </mc:AlternateContent>
      <p:pic>
        <p:nvPicPr>
          <p:cNvPr id="5" name="Picture 4"/>
          <p:cNvPicPr>
            <a:picLocks noChangeAspect="1"/>
          </p:cNvPicPr>
          <p:nvPr/>
        </p:nvPicPr>
        <p:blipFill>
          <a:blip r:embed="rId3"/>
          <a:stretch>
            <a:fillRect/>
          </a:stretch>
        </p:blipFill>
        <p:spPr>
          <a:xfrm>
            <a:off x="7689215" y="1578610"/>
            <a:ext cx="4441190" cy="2081530"/>
          </a:xfrm>
          <a:prstGeom prst="rect">
            <a:avLst/>
          </a:prstGeom>
        </p:spPr>
      </p:pic>
      <mc:AlternateContent xmlns:mc="http://schemas.openxmlformats.org/markup-compatibility/2006" xmlns:p14="http://schemas.microsoft.com/office/powerpoint/2010/main">
        <mc:Choice Requires="p14">
          <p:contentPart p14:bwMode="auto" r:id="rId4">
            <p14:nvContentPartPr>
              <p14:cNvPr id="4" name="Ink 3"/>
              <p14:cNvContentPartPr/>
              <p14:nvPr/>
            </p14:nvContentPartPr>
            <p14:xfrm>
              <a:off x="9858240" y="2508120"/>
              <a:ext cx="144000" cy="139680"/>
            </p14:xfrm>
          </p:contentPart>
        </mc:Choice>
        <mc:Fallback xmlns="">
          <p:pic>
            <p:nvPicPr>
              <p:cNvPr id="4" name="Ink 3"/>
            </p:nvPicPr>
            <p:blipFill>
              <a:blip r:embed="rId5"/>
            </p:blipFill>
            <p:spPr>
              <a:xfrm>
                <a:off x="9858240" y="2508120"/>
                <a:ext cx="144000" cy="139680"/>
              </a:xfrm>
              <a:prstGeom prst="rect"/>
            </p:spPr>
          </p:pic>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en-US"/>
                  <a:t>Why two embeddings </a:t>
                </a:r>
                <a14:m>
                  <m:oMath xmlns:m="http://schemas.openxmlformats.org/officeDocument/2006/math">
                    <m:sSub>
                      <m:sSubPr>
                        <m:ctrlPr>
                          <a:rPr lang="en-US" b="0" i="1">
                            <a:latin typeface="Cambria Math" panose="02040503050406030204" pitchFamily="18" charset="0"/>
                          </a:rPr>
                        </m:ctrlPr>
                      </m:sSubPr>
                      <m:e>
                        <m:r>
                          <a:rPr lang="en-US" i="1">
                            <a:latin typeface="Cambria Math" panose="02040503050406030204" pitchFamily="18" charset="0"/>
                          </a:rPr>
                          <m:t>𝒖</m:t>
                        </m:r>
                      </m:e>
                      <m:sub>
                        <m:r>
                          <a:rPr lang="en-US" b="0" i="1">
                            <a:latin typeface="Cambria Math" panose="02040503050406030204" pitchFamily="18" charset="0"/>
                          </a:rPr>
                          <m:t>𝑤</m:t>
                        </m:r>
                      </m:sub>
                    </m:sSub>
                    <m:r>
                      <a:rPr lang="en-US" b="0">
                        <a:latin typeface="Cambria Math" panose="02040503050406030204" pitchFamily="18" charset="0"/>
                      </a:rPr>
                      <m:t>, </m:t>
                    </m:r>
                    <m:sSub>
                      <m:sSubPr>
                        <m:ctrlPr>
                          <a:rPr lang="en-US" b="0" i="1">
                            <a:latin typeface="Cambria Math" panose="02040503050406030204" pitchFamily="18" charset="0"/>
                          </a:rPr>
                        </m:ctrlPr>
                      </m:sSubPr>
                      <m:e>
                        <m:r>
                          <a:rPr lang="en-US" i="1">
                            <a:latin typeface="Cambria Math" panose="02040503050406030204" pitchFamily="18" charset="0"/>
                          </a:rPr>
                          <m:t>𝒗</m:t>
                        </m:r>
                      </m:e>
                      <m:sub>
                        <m:r>
                          <a:rPr lang="en-US" b="0" i="1">
                            <a:latin typeface="Cambria Math" panose="02040503050406030204" pitchFamily="18" charset="0"/>
                          </a:rPr>
                          <m:t>𝑤</m:t>
                        </m:r>
                      </m:sub>
                    </m:sSub>
                    <m:r>
                      <a:rPr lang="en-US" b="0" i="1">
                        <a:latin typeface="Cambria Math" panose="02040503050406030204" pitchFamily="18" charset="0"/>
                      </a:rPr>
                      <m:t> </m:t>
                    </m:r>
                  </m:oMath>
                </a14:m>
                <a:r>
                  <a:rPr lang="en-US"/>
                  <a:t>per word?</a:t>
                </a:r>
              </a:p>
            </p:txBody>
          </p:sp>
        </mc:Choice>
        <mc:Fallback xmlns="">
          <p:sp>
            <p:nvSpPr>
              <p:cNvPr id="2" name="Title 1"/>
              <p:cNvSpPr>
                <a:spLocks noRot="1" noChangeAspect="1" noMove="1" noResize="1" noEditPoints="1" noAdjustHandles="1" noChangeArrowheads="1" noChangeShapeType="1" noTextEdit="1"/>
              </p:cNvSpPr>
              <p:nvPr>
                <p:ph type="title"/>
              </p:nvPr>
            </p:nvSpPr>
            <p:spPr>
              <a:blipFill rotWithShape="1">
                <a:blip r:embed="rId2"/>
                <a:stretch>
                  <a:fillRect/>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 name="Text Placeholder 2"/>
              <p:cNvSpPr>
                <a:spLocks noGrp="1"/>
              </p:cNvSpPr>
              <p:nvPr>
                <p:ph type="body" idx="1"/>
              </p:nvPr>
            </p:nvSpPr>
            <p:spPr/>
            <p:txBody>
              <a:bodyPr>
                <a:normAutofit fontScale="90000"/>
              </a:bodyPr>
              <a:lstStyle/>
              <a:p>
                <a:r>
                  <a:rPr lang="en-US"/>
                  <a:t>January and August do co-occur to some extent</a:t>
                </a:r>
              </a:p>
              <a:p>
                <a:r>
                  <a:rPr lang="en-US"/>
                  <a:t>But contexts like these are expected to be much more common</a:t>
                </a:r>
              </a:p>
              <a:p>
                <a:pPr lvl="1"/>
                <a:r>
                  <a:rPr lang="en-US"/>
                  <a:t>… was conducted in </a:t>
                </a:r>
                <a:r>
                  <a:rPr lang="en-US">
                    <a:effectLst>
                      <a:glow rad="228600">
                        <a:schemeClr val="accent6">
                          <a:satMod val="175000"/>
                          <a:alpha val="40000"/>
                        </a:schemeClr>
                      </a:glow>
                    </a:effectLst>
                  </a:rPr>
                  <a:t>August</a:t>
                </a:r>
                <a:r>
                  <a:rPr lang="en-US"/>
                  <a:t> at the …</a:t>
                </a:r>
              </a:p>
              <a:p>
                <a:pPr lvl="1"/>
                <a:r>
                  <a:rPr lang="en-US">
                    <a:sym typeface="+mn-ea"/>
                  </a:rPr>
                  <a:t>… was conducted in </a:t>
                </a:r>
                <a:r>
                  <a:rPr lang="en-US">
                    <a:effectLst>
                      <a:glow rad="228600">
                        <a:schemeClr val="accent6">
                          <a:satMod val="175000"/>
                          <a:alpha val="40000"/>
                        </a:schemeClr>
                      </a:glow>
                    </a:effectLst>
                    <a:sym typeface="+mn-ea"/>
                  </a:rPr>
                  <a:t>January</a:t>
                </a:r>
                <a:r>
                  <a:rPr lang="en-US">
                    <a:sym typeface="+mn-ea"/>
                  </a:rPr>
                  <a:t> at the …</a:t>
                </a:r>
                <a:endParaRPr lang="en-US"/>
              </a:p>
              <a:p>
                <a:pPr lvl="1"/>
                <a:r>
                  <a:rPr lang="en-US"/>
                  <a:t>… the park will open on 1</a:t>
                </a:r>
                <a:r>
                  <a:rPr lang="en-US" baseline="30000"/>
                  <a:t>st</a:t>
                </a:r>
                <a:r>
                  <a:rPr lang="en-US"/>
                  <a:t> </a:t>
                </a:r>
                <a:r>
                  <a:rPr lang="en-US">
                    <a:effectLst>
                      <a:glow rad="228600">
                        <a:schemeClr val="accent6">
                          <a:satMod val="175000"/>
                          <a:alpha val="40000"/>
                        </a:schemeClr>
                      </a:glow>
                    </a:effectLst>
                  </a:rPr>
                  <a:t>January</a:t>
                </a:r>
                <a:r>
                  <a:rPr lang="en-US"/>
                  <a:t> </a:t>
                </a:r>
                <a:r>
                  <a:rPr lang="en-US">
                    <a:effectLst>
                      <a:glow rad="228600">
                        <a:schemeClr val="accent2">
                          <a:satMod val="175000"/>
                          <a:alpha val="40000"/>
                        </a:schemeClr>
                      </a:glow>
                    </a:effectLst>
                  </a:rPr>
                  <a:t>after</a:t>
                </a:r>
                <a:r>
                  <a:rPr lang="en-US"/>
                  <a:t> …</a:t>
                </a:r>
              </a:p>
              <a:p>
                <a:pPr lvl="1"/>
                <a:r>
                  <a:rPr lang="en-US">
                    <a:sym typeface="+mn-ea"/>
                  </a:rPr>
                  <a:t>… the park will open on 1</a:t>
                </a:r>
                <a:r>
                  <a:rPr lang="en-US" baseline="30000">
                    <a:sym typeface="+mn-ea"/>
                  </a:rPr>
                  <a:t>st</a:t>
                </a:r>
                <a:r>
                  <a:rPr lang="en-US">
                    <a:sym typeface="+mn-ea"/>
                  </a:rPr>
                  <a:t> </a:t>
                </a:r>
                <a:r>
                  <a:rPr lang="en-US">
                    <a:effectLst>
                      <a:glow rad="228600">
                        <a:schemeClr val="accent6">
                          <a:satMod val="175000"/>
                          <a:alpha val="40000"/>
                        </a:schemeClr>
                      </a:glow>
                    </a:effectLst>
                    <a:sym typeface="+mn-ea"/>
                  </a:rPr>
                  <a:t>August</a:t>
                </a:r>
                <a:r>
                  <a:rPr lang="en-US">
                    <a:sym typeface="+mn-ea"/>
                  </a:rPr>
                  <a:t> </a:t>
                </a:r>
                <a:r>
                  <a:rPr lang="en-US">
                    <a:effectLst>
                      <a:glow rad="228600">
                        <a:schemeClr val="accent2">
                          <a:satMod val="175000"/>
                          <a:alpha val="40000"/>
                        </a:schemeClr>
                      </a:glow>
                    </a:effectLst>
                    <a:sym typeface="+mn-ea"/>
                  </a:rPr>
                  <a:t>after</a:t>
                </a:r>
                <a:r>
                  <a:rPr lang="en-US">
                    <a:sym typeface="+mn-ea"/>
                  </a:rPr>
                  <a:t> …</a:t>
                </a:r>
                <a:endParaRPr lang="en-US"/>
              </a:p>
              <a:p>
                <a:r>
                  <a:rPr lang="en-US"/>
                  <a:t>We expect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𝒖</m:t>
                        </m:r>
                      </m:e>
                      <m:sub>
                        <m:r>
                          <m:rPr>
                            <m:sty m:val="p"/>
                          </m:rPr>
                          <a:rPr lang="en-US" b="0" i="0" smtClean="0">
                            <a:latin typeface="Cambria Math" panose="02040503050406030204" pitchFamily="18" charset="0"/>
                          </a:rPr>
                          <m:t>January</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𝒖</m:t>
                        </m:r>
                      </m:e>
                      <m:sub>
                        <m:r>
                          <m:rPr>
                            <m:sty m:val="p"/>
                          </m:rPr>
                          <a:rPr lang="en-US" b="0" i="0" smtClean="0">
                            <a:latin typeface="Cambria Math" panose="02040503050406030204" pitchFamily="18" charset="0"/>
                          </a:rPr>
                          <m:t>August</m:t>
                        </m:r>
                      </m:sub>
                    </m:sSub>
                  </m:oMath>
                </a14:m>
                <a:r>
                  <a:rPr lang="en-US"/>
                  <a:t> </a:t>
                </a:r>
              </a:p>
              <a:p>
                <a:pPr lvl="1"/>
                <a:r>
                  <a:rPr lang="en-US"/>
                  <a:t>But not necessarily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𝒖</m:t>
                        </m:r>
                      </m:e>
                      <m:sub>
                        <m:r>
                          <m:rPr>
                            <m:sty m:val="p"/>
                          </m:rPr>
                          <a:rPr lang="en-US">
                            <a:latin typeface="Cambria Math" panose="02040503050406030204" pitchFamily="18" charset="0"/>
                          </a:rPr>
                          <m:t>January</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1" i="1">
                            <a:latin typeface="Cambria Math" panose="02040503050406030204" pitchFamily="18" charset="0"/>
                          </a:rPr>
                          <m:t>𝒖</m:t>
                        </m:r>
                      </m:e>
                      <m:sub>
                        <m:r>
                          <m:rPr>
                            <m:sty m:val="p"/>
                          </m:rPr>
                          <a:rPr lang="en-US" b="0" i="0" smtClean="0">
                            <a:latin typeface="Cambria Math" panose="02040503050406030204" pitchFamily="18" charset="0"/>
                          </a:rPr>
                          <m:t>after</m:t>
                        </m:r>
                      </m:sub>
                    </m:sSub>
                  </m:oMath>
                </a14:m>
                <a:endParaRPr lang="en-US"/>
              </a:p>
              <a:p>
                <a:pPr lvl="1"/>
                <a:r>
                  <a:rPr lang="en-US"/>
                  <a:t>Instead we can hope for </a:t>
                </a:r>
                <a14:m>
                  <m:oMath xmlns:m="http://schemas.openxmlformats.org/officeDocument/2006/math">
                    <m:sSub>
                      <m:sSubPr>
                        <m:ctrlPr>
                          <a:rPr lang="en-US" i="1">
                            <a:latin typeface="Cambria Math" panose="02040503050406030204" pitchFamily="18" charset="0"/>
                          </a:rPr>
                        </m:ctrlPr>
                      </m:sSubPr>
                      <m:e>
                        <m:r>
                          <a:rPr lang="en-US" i="1">
                            <a:effectLst>
                              <a:glow rad="228600">
                                <a:schemeClr val="accent6">
                                  <a:satMod val="175000"/>
                                  <a:alpha val="40000"/>
                                </a:schemeClr>
                              </a:glow>
                            </a:effectLst>
                            <a:latin typeface="Cambria Math" panose="02040503050406030204" pitchFamily="18" charset="0"/>
                          </a:rPr>
                          <m:t>𝒖</m:t>
                        </m:r>
                      </m:e>
                      <m:sub>
                        <m:r>
                          <m:rPr>
                            <m:sty m:val="p"/>
                          </m:rPr>
                          <a:rPr lang="en-US">
                            <a:latin typeface="Cambria Math" panose="02040503050406030204" pitchFamily="18" charset="0"/>
                          </a:rPr>
                          <m:t>January</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1" i="1">
                            <a:effectLst>
                              <a:glow rad="228600">
                                <a:schemeClr val="accent6">
                                  <a:satMod val="175000"/>
                                  <a:alpha val="40000"/>
                                </a:schemeClr>
                              </a:glow>
                            </a:effectLst>
                            <a:latin typeface="Cambria Math" panose="02040503050406030204" pitchFamily="18" charset="0"/>
                          </a:rPr>
                          <m:t>𝒖</m:t>
                        </m:r>
                      </m:e>
                      <m:sub>
                        <m:r>
                          <m:rPr>
                            <m:sty m:val="p"/>
                          </m:rPr>
                          <a:rPr lang="en-US">
                            <a:latin typeface="Cambria Math" panose="02040503050406030204" pitchFamily="18" charset="0"/>
                          </a:rPr>
                          <m:t>August</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1" i="1" smtClean="0">
                            <a:effectLst>
                              <a:glow rad="228600">
                                <a:schemeClr val="accent2">
                                  <a:satMod val="175000"/>
                                  <a:alpha val="40000"/>
                                </a:schemeClr>
                              </a:glow>
                            </a:effectLst>
                            <a:latin typeface="Cambria Math" panose="02040503050406030204" pitchFamily="18" charset="0"/>
                          </a:rPr>
                          <m:t>𝒗</m:t>
                        </m:r>
                      </m:e>
                      <m:sub>
                        <m:r>
                          <m:rPr>
                            <m:sty m:val="p"/>
                          </m:rPr>
                          <a:rPr lang="en-US">
                            <a:latin typeface="Cambria Math" panose="02040503050406030204" pitchFamily="18" charset="0"/>
                          </a:rPr>
                          <m:t>after</m:t>
                        </m:r>
                      </m:sub>
                    </m:sSub>
                  </m:oMath>
                </a14:m>
                <a:endParaRPr lang="en-US"/>
              </a:p>
            </p:txBody>
          </p:sp>
        </mc:Choice>
        <mc:Fallback xmlns="">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en-US" altLang="en-US">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en-US"/>
                  <a:t>Further comments on </a:t>
                </a:r>
                <a14:m>
                  <m:oMath xmlns:m="http://schemas.openxmlformats.org/officeDocument/2006/math">
                    <m:sSub>
                      <m:sSubPr>
                        <m:ctrlPr>
                          <a:rPr lang="en-US" b="0" i="1">
                            <a:latin typeface="Cambria Math" panose="02040503050406030204" pitchFamily="18" charset="0"/>
                          </a:rPr>
                        </m:ctrlPr>
                      </m:sSubPr>
                      <m:e>
                        <m:r>
                          <a:rPr lang="en-US" i="1">
                            <a:latin typeface="Cambria Math" panose="02040503050406030204" pitchFamily="18" charset="0"/>
                          </a:rPr>
                          <m:t>𝒖</m:t>
                        </m:r>
                      </m:e>
                      <m:sub>
                        <m:r>
                          <a:rPr lang="en-US" b="0" i="1">
                            <a:latin typeface="Cambria Math" panose="02040503050406030204" pitchFamily="18" charset="0"/>
                          </a:rPr>
                          <m:t>𝑤</m:t>
                        </m:r>
                      </m:sub>
                    </m:sSub>
                    <m:r>
                      <a:rPr lang="en-US" b="0">
                        <a:latin typeface="Cambria Math" panose="02040503050406030204" pitchFamily="18" charset="0"/>
                      </a:rPr>
                      <m:t>, </m:t>
                    </m:r>
                    <m:sSub>
                      <m:sSubPr>
                        <m:ctrlPr>
                          <a:rPr lang="en-US" b="0" i="1">
                            <a:latin typeface="Cambria Math" panose="02040503050406030204" pitchFamily="18" charset="0"/>
                          </a:rPr>
                        </m:ctrlPr>
                      </m:sSubPr>
                      <m:e>
                        <m:r>
                          <a:rPr lang="en-US" i="1">
                            <a:latin typeface="Cambria Math" panose="02040503050406030204" pitchFamily="18" charset="0"/>
                          </a:rPr>
                          <m:t>𝒗</m:t>
                        </m:r>
                      </m:e>
                      <m:sub>
                        <m:r>
                          <a:rPr lang="en-US" b="0" i="1">
                            <a:latin typeface="Cambria Math" panose="02040503050406030204" pitchFamily="18" charset="0"/>
                          </a:rPr>
                          <m:t>𝑤</m:t>
                        </m:r>
                      </m:sub>
                    </m:sSub>
                  </m:oMath>
                </a14:m>
                <a:endParaRPr lang="en-US"/>
              </a:p>
            </p:txBody>
          </p:sp>
        </mc:Choice>
        <mc:Fallback xmlns="">
          <p:sp>
            <p:nvSpPr>
              <p:cNvPr id="2" name="Title 1"/>
              <p:cNvSpPr>
                <a:spLocks noRot="1" noChangeAspect="1" noMove="1" noResize="1" noEditPoints="1" noAdjustHandles="1" noChangeArrowheads="1" noChangeShapeType="1" noTextEdit="1"/>
              </p:cNvSpPr>
              <p:nvPr>
                <p:ph type="title"/>
              </p:nvPr>
            </p:nvSpPr>
            <p:spPr>
              <a:blipFill rotWithShape="1">
                <a:blip r:embed="rId2"/>
                <a:stretch>
                  <a:fillRect/>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 name="Text Placeholder 2"/>
              <p:cNvSpPr>
                <a:spLocks noGrp="1"/>
              </p:cNvSpPr>
              <p:nvPr>
                <p:ph type="body" idx="1"/>
              </p:nvPr>
            </p:nvSpPr>
            <p:spPr/>
            <p:txBody>
              <a:bodyPr/>
              <a:lstStyle/>
              <a:p>
                <a:r>
                  <a:rPr lang="en-US" sz="4000">
                    <a:sym typeface="+mn-ea"/>
                  </a:rPr>
                  <a:t>After training</a:t>
                </a:r>
                <a:endParaRPr lang="en-US" sz="4000"/>
              </a:p>
              <a:p>
                <a:pPr lvl="1"/>
                <a:r>
                  <a:rPr lang="en-US" sz="4000">
                    <a:sym typeface="+mn-ea"/>
                  </a:rPr>
                  <a:t>Most systems have nothing to do with </a:t>
                </a:r>
                <a14:m>
                  <m:oMath xmlns:m="http://schemas.openxmlformats.org/officeDocument/2006/math">
                    <m:sSub>
                      <m:sSubPr>
                        <m:ctrlPr>
                          <a:rPr lang="en-US" sz="4000" i="1">
                            <a:latin typeface="Cambria Math" panose="02040503050406030204" pitchFamily="18" charset="0"/>
                          </a:rPr>
                        </m:ctrlPr>
                      </m:sSubPr>
                      <m:e>
                        <m:r>
                          <a:rPr lang="en-US" sz="4000" i="1">
                            <a:latin typeface="Cambria Math" panose="02040503050406030204" pitchFamily="18" charset="0"/>
                          </a:rPr>
                          <m:t>𝒗</m:t>
                        </m:r>
                      </m:e>
                      <m:sub>
                        <m:r>
                          <a:rPr lang="en-US" sz="4000" i="1">
                            <a:latin typeface="Cambria Math" panose="02040503050406030204" pitchFamily="18" charset="0"/>
                          </a:rPr>
                          <m:t>𝑤</m:t>
                        </m:r>
                      </m:sub>
                    </m:sSub>
                  </m:oMath>
                </a14:m>
                <a:endParaRPr lang="en-US" sz="4000"/>
              </a:p>
              <a:p>
                <a:pPr lvl="1"/>
                <a:r>
                  <a:rPr lang="en-US" sz="4000">
                    <a:sym typeface="+mn-ea"/>
                  </a:rPr>
                  <a:t>Downstream modules generally use only </a:t>
                </a:r>
                <a14:m>
                  <m:oMath xmlns:m="http://schemas.openxmlformats.org/officeDocument/2006/math">
                    <m:sSub>
                      <m:sSubPr>
                        <m:ctrlPr>
                          <a:rPr lang="en-US" sz="4000" i="1">
                            <a:latin typeface="Cambria Math" panose="02040503050406030204" pitchFamily="18" charset="0"/>
                          </a:rPr>
                        </m:ctrlPr>
                      </m:sSubPr>
                      <m:e>
                        <m:r>
                          <a:rPr lang="en-US" sz="4000" i="1">
                            <a:latin typeface="Cambria Math" panose="02040503050406030204" pitchFamily="18" charset="0"/>
                          </a:rPr>
                          <m:t>𝒖</m:t>
                        </m:r>
                      </m:e>
                      <m:sub>
                        <m:r>
                          <a:rPr lang="en-US" sz="4000" i="1">
                            <a:latin typeface="Cambria Math" panose="02040503050406030204" pitchFamily="18" charset="0"/>
                          </a:rPr>
                          <m:t>𝑤</m:t>
                        </m:r>
                      </m:sub>
                    </m:sSub>
                  </m:oMath>
                </a14:m>
                <a:endParaRPr lang="en-US" sz="4000"/>
              </a:p>
              <a:p>
                <a:pPr lvl="1"/>
                <a:r>
                  <a:rPr lang="en-US" sz="4000">
                    <a:sym typeface="+mn-ea"/>
                  </a:rPr>
                  <a:t>Sometimes normalized to unit </a:t>
                </a:r>
                <a14:m>
                  <m:oMath xmlns:m="http://schemas.openxmlformats.org/officeDocument/2006/math">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𝐿</m:t>
                        </m:r>
                      </m:e>
                      <m:sub>
                        <m:r>
                          <a:rPr lang="en-US" sz="4000" b="0" i="1" smtClean="0">
                            <a:latin typeface="Cambria Math" panose="02040503050406030204" pitchFamily="18" charset="0"/>
                          </a:rPr>
                          <m:t>2</m:t>
                        </m:r>
                      </m:sub>
                    </m:sSub>
                  </m:oMath>
                </a14:m>
                <a:r>
                  <a:rPr lang="en-US" sz="4000">
                    <a:sym typeface="+mn-ea"/>
                  </a:rPr>
                  <a:t> or </a:t>
                </a:r>
                <a14:m>
                  <m:oMath xmlns:m="http://schemas.openxmlformats.org/officeDocument/2006/math">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𝐿</m:t>
                        </m:r>
                      </m:e>
                      <m:sub>
                        <m:r>
                          <a:rPr lang="en-US" sz="4000" b="0" i="1" smtClean="0">
                            <a:latin typeface="Cambria Math" panose="02040503050406030204" pitchFamily="18" charset="0"/>
                          </a:rPr>
                          <m:t>1</m:t>
                        </m:r>
                      </m:sub>
                    </m:sSub>
                  </m:oMath>
                </a14:m>
                <a:r>
                  <a:rPr lang="en-US" sz="4000">
                    <a:sym typeface="+mn-ea"/>
                  </a:rPr>
                  <a:t> length</a:t>
                </a:r>
              </a:p>
              <a:p>
                <a:pPr lvl="1"/>
                <a14:m>
                  <m:oMath xmlns:m="http://schemas.openxmlformats.org/officeDocument/2006/math">
                    <m:sSub>
                      <m:sSubPr>
                        <m:ctrlPr>
                          <a:rPr lang="en-US" sz="4000" b="0" i="1">
                            <a:latin typeface="Cambria Math" panose="02040503050406030204" pitchFamily="18" charset="0"/>
                          </a:rPr>
                        </m:ctrlPr>
                      </m:sSubPr>
                      <m:e>
                        <m:r>
                          <a:rPr lang="en-US" sz="4000" i="1">
                            <a:latin typeface="Cambria Math" panose="02040503050406030204" pitchFamily="18" charset="0"/>
                          </a:rPr>
                          <m:t>𝒗</m:t>
                        </m:r>
                      </m:e>
                      <m:sub>
                        <m:r>
                          <a:rPr lang="en-US" sz="4000" b="0" i="1">
                            <a:latin typeface="Cambria Math" panose="02040503050406030204" pitchFamily="18" charset="0"/>
                          </a:rPr>
                          <m:t>𝑤</m:t>
                        </m:r>
                      </m:sub>
                    </m:sSub>
                  </m:oMath>
                </a14:m>
                <a:r>
                  <a:rPr lang="en-US" sz="4000"/>
                  <a:t> might be useful for retrieval applications?</a:t>
                </a:r>
              </a:p>
              <a:p>
                <a:r>
                  <a:rPr lang="en-US" sz="4000">
                    <a:sym typeface="+mn-ea"/>
                  </a:rPr>
                  <a:t>Embedding of ambiguous words (March, John Smith) and entities</a:t>
                </a:r>
              </a:p>
              <a:p>
                <a:pPr lvl="1"/>
                <a:r>
                  <a:rPr lang="en-US"/>
                  <a:t>Superposition of multiple senses</a:t>
                </a:r>
              </a:p>
              <a:p>
                <a:pPr lvl="1"/>
                <a:r>
                  <a:rPr lang="en-US">
                    <a:hlinkClick r:id="rId3" action="ppaction://hlinkfile"/>
                  </a:rPr>
                  <a:t>Blind signal separation</a:t>
                </a:r>
                <a:r>
                  <a:rPr lang="en-US"/>
                  <a:t>?</a:t>
                </a:r>
              </a:p>
            </p:txBody>
          </p:sp>
        </mc:Choice>
        <mc:Fallback xmlns="">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4"/>
                <a:stretch>
                  <a:fillRect/>
                </a:stretch>
              </a:blipFill>
            </p:spPr>
            <p:txBody>
              <a:bodyPr/>
              <a:lstStyle/>
              <a:p>
                <a:r>
                  <a:rPr lang="en-US" altLang="en-US">
                    <a:noFill/>
                  </a:rPr>
                  <a:t> </a:t>
                </a:r>
              </a:p>
            </p:txBody>
          </p:sp>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word2vec bulk training</a:t>
            </a:r>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p:txBody>
              <a:bodyPr/>
              <a:lstStyle/>
              <a:p>
                <a:pPr>
                  <a:lnSpc>
                    <a:spcPct val="110000"/>
                  </a:lnSpc>
                </a:pPr>
                <a:r>
                  <a:rPr lang="en-US" sz="2400"/>
                  <a:t>For all </a:t>
                </a:r>
                <a14:m>
                  <m:oMath xmlns:m="http://schemas.openxmlformats.org/officeDocument/2006/math">
                    <m:r>
                      <a:rPr lang="en-US" sz="2400" i="1" dirty="0" smtClean="0">
                        <a:latin typeface="Cambria Math" panose="02040503050406030204" pitchFamily="18" charset="0"/>
                      </a:rPr>
                      <m:t>𝑓</m:t>
                    </m:r>
                  </m:oMath>
                </a14:m>
                <a:r>
                  <a:rPr lang="en-US" sz="2400"/>
                  <a:t>, collect </a:t>
                </a:r>
                <a14:m>
                  <m:oMath xmlns:m="http://schemas.openxmlformats.org/officeDocument/2006/math">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𝑁</m:t>
                        </m:r>
                      </m:e>
                      <m:sub>
                        <m:r>
                          <a:rPr lang="en-US" sz="2400" i="1" dirty="0" smtClean="0">
                            <a:latin typeface="Cambria Math" panose="02040503050406030204" pitchFamily="18" charset="0"/>
                          </a:rPr>
                          <m:t>𝑓</m:t>
                        </m:r>
                      </m:sub>
                    </m:sSub>
                  </m:oMath>
                </a14:m>
                <a:r>
                  <a:rPr lang="en-US" sz="2400"/>
                  <a:t> counts in a corpus scan</a:t>
                </a:r>
              </a:p>
              <a:p>
                <a:pPr>
                  <a:lnSpc>
                    <a:spcPct val="110000"/>
                  </a:lnSpc>
                </a:pPr>
                <a:r>
                  <a:rPr lang="en-US" sz="2400"/>
                  <a:t>For all </a:t>
                </a:r>
                <a14:m>
                  <m:oMath xmlns:m="http://schemas.openxmlformats.org/officeDocument/2006/math">
                    <m:r>
                      <a:rPr lang="en-US" sz="2400" b="0" i="1" smtClean="0">
                        <a:latin typeface="Cambria Math" panose="02040503050406030204" pitchFamily="18" charset="0"/>
                      </a:rPr>
                      <m:t>𝑓</m:t>
                    </m:r>
                    <m:r>
                      <a:rPr lang="en-US" sz="2400" b="0" i="1" smtClean="0">
                        <a:latin typeface="Cambria Math" panose="02040503050406030204" pitchFamily="18" charset="0"/>
                      </a:rPr>
                      <m:t>,</m:t>
                    </m:r>
                    <m:r>
                      <a:rPr lang="en-US" sz="2400" b="0" i="1" smtClean="0">
                        <a:latin typeface="Cambria Math" panose="02040503050406030204" pitchFamily="18" charset="0"/>
                      </a:rPr>
                      <m:t>𝑐</m:t>
                    </m:r>
                  </m:oMath>
                </a14:m>
                <a:r>
                  <a:rPr lang="en-US" sz="2400"/>
                  <a:t>, collect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𝑀</m:t>
                        </m:r>
                      </m:e>
                      <m:sub>
                        <m:r>
                          <a:rPr lang="en-US" sz="2400" i="1">
                            <a:latin typeface="Cambria Math" panose="02040503050406030204" pitchFamily="18" charset="0"/>
                          </a:rPr>
                          <m:t>𝑓</m:t>
                        </m:r>
                        <m:r>
                          <a:rPr lang="en-US" sz="2400" i="1">
                            <a:latin typeface="Cambria Math" panose="02040503050406030204" pitchFamily="18" charset="0"/>
                          </a:rPr>
                          <m:t>,</m:t>
                        </m:r>
                        <m:r>
                          <a:rPr lang="en-US" sz="2400" i="1">
                            <a:latin typeface="Cambria Math" panose="02040503050406030204" pitchFamily="18" charset="0"/>
                          </a:rPr>
                          <m:t>𝑐</m:t>
                        </m:r>
                      </m:sub>
                    </m:sSub>
                  </m:oMath>
                </a14:m>
                <a:r>
                  <a:rPr lang="en-US" sz="2400"/>
                  <a:t> counts </a:t>
                </a:r>
                <a:r>
                  <a:rPr lang="en-US" sz="2400">
                    <a:solidFill>
                      <a:schemeClr val="bg2">
                        <a:lumMod val="75000"/>
                      </a:schemeClr>
                    </a:solidFill>
                  </a:rPr>
                  <a:t>(don’t waste time collecting zeros)</a:t>
                </a:r>
              </a:p>
              <a:p>
                <a:pPr>
                  <a:lnSpc>
                    <a:spcPct val="110000"/>
                  </a:lnSpc>
                </a:pPr>
                <a:r>
                  <a:rPr lang="en-US" sz="2400"/>
                  <a:t>No further corpus scans while optimizing </a:t>
                </a:r>
                <a14:m>
                  <m:oMath xmlns:m="http://schemas.openxmlformats.org/officeDocument/2006/math">
                    <m:r>
                      <a:rPr lang="en-US" sz="2400" b="1" i="1">
                        <a:latin typeface="Cambria Math" panose="02040503050406030204" pitchFamily="18" charset="0"/>
                      </a:rPr>
                      <m:t>𝑼</m:t>
                    </m:r>
                    <m:r>
                      <a:rPr lang="en-US" sz="2400" i="1">
                        <a:latin typeface="Cambria Math" panose="02040503050406030204" pitchFamily="18" charset="0"/>
                      </a:rPr>
                      <m:t>, </m:t>
                    </m:r>
                    <m:r>
                      <a:rPr lang="en-US" sz="2400" b="1" i="1">
                        <a:latin typeface="Cambria Math" panose="02040503050406030204" pitchFamily="18" charset="0"/>
                      </a:rPr>
                      <m:t>𝑽</m:t>
                    </m:r>
                  </m:oMath>
                </a14:m>
                <a:endParaRPr lang="en-US" sz="2400"/>
              </a:p>
              <a:p>
                <a:pPr>
                  <a:lnSpc>
                    <a:spcPct val="110000"/>
                  </a:lnSpc>
                </a:pPr>
                <a:r>
                  <a:rPr lang="en-US" sz="2400"/>
                  <a:t>Bulk optimization objective is</a:t>
                </a:r>
                <a:br>
                  <a:rPr lang="en-US" sz="2400"/>
                </a:br>
                <a14:m>
                  <m:oMath xmlns:m="http://schemas.openxmlformats.org/officeDocument/2006/math">
                    <m:func>
                      <m:funcPr>
                        <m:ctrlPr>
                          <a:rPr lang="en-US" sz="2400" b="0" i="1" smtClean="0">
                            <a:latin typeface="Cambria Math" panose="02040503050406030204" pitchFamily="18" charset="0"/>
                          </a:rPr>
                        </m:ctrlPr>
                      </m:funcPr>
                      <m:fName>
                        <m:limLow>
                          <m:limLowPr>
                            <m:ctrlPr>
                              <a:rPr lang="en-US" sz="2400" b="0" i="1" smtClean="0">
                                <a:latin typeface="Cambria Math" panose="02040503050406030204" pitchFamily="18" charset="0"/>
                              </a:rPr>
                            </m:ctrlPr>
                          </m:limLowPr>
                          <m:e>
                            <m:r>
                              <m:rPr>
                                <m:sty m:val="p"/>
                              </m:rPr>
                              <a:rPr lang="en-US" sz="2400" b="0" i="0" smtClean="0">
                                <a:latin typeface="Cambria Math" panose="02040503050406030204" pitchFamily="18" charset="0"/>
                              </a:rPr>
                              <m:t>argmax</m:t>
                            </m:r>
                          </m:e>
                          <m:lim>
                            <m:r>
                              <a:rPr lang="en-US" sz="2400" b="1" i="1">
                                <a:latin typeface="Cambria Math" panose="02040503050406030204" pitchFamily="18" charset="0"/>
                              </a:rPr>
                              <m:t>𝑼</m:t>
                            </m:r>
                            <m:r>
                              <a:rPr lang="en-US" sz="2400" i="1">
                                <a:latin typeface="Cambria Math" panose="02040503050406030204" pitchFamily="18" charset="0"/>
                              </a:rPr>
                              <m:t>, </m:t>
                            </m:r>
                            <m:r>
                              <a:rPr lang="en-US" sz="2400" b="1" i="1">
                                <a:latin typeface="Cambria Math" panose="02040503050406030204" pitchFamily="18" charset="0"/>
                              </a:rPr>
                              <m:t>𝑽</m:t>
                            </m:r>
                            <m:r>
                              <a:rPr lang="en-US" sz="2400" i="1">
                                <a:latin typeface="Cambria Math" panose="02040503050406030204" pitchFamily="18" charset="0"/>
                              </a:rPr>
                              <m:t>∈</m:t>
                            </m:r>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ℝ</m:t>
                                </m:r>
                              </m:e>
                              <m:sup>
                                <m:r>
                                  <a:rPr lang="en-US" sz="2400" i="1">
                                    <a:latin typeface="Cambria Math" panose="02040503050406030204" pitchFamily="18" charset="0"/>
                                    <a:ea typeface="Cambria Math" panose="02040503050406030204" pitchFamily="18" charset="0"/>
                                  </a:rPr>
                                  <m:t>𝑊</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𝐷</m:t>
                                </m:r>
                              </m:sup>
                            </m:sSup>
                          </m:lim>
                        </m:limLow>
                      </m:fName>
                      <m:e>
                        <m:nary>
                          <m:naryPr>
                            <m:chr m:val="∏"/>
                            <m:supHide m:val="on"/>
                            <m:ctrlPr>
                              <a:rPr lang="en-US" sz="2400" b="0" i="1" smtClean="0">
                                <a:latin typeface="Cambria Math" panose="02040503050406030204" pitchFamily="18" charset="0"/>
                              </a:rPr>
                            </m:ctrlPr>
                          </m:naryPr>
                          <m:sub>
                            <m:r>
                              <m:rPr>
                                <m:brk m:alnAt="7"/>
                              </m:rPr>
                              <a:rPr lang="en-US" sz="2400" b="0" i="1" smtClean="0">
                                <a:latin typeface="Cambria Math" panose="02040503050406030204" pitchFamily="18" charset="0"/>
                              </a:rPr>
                              <m:t>𝑓</m:t>
                            </m:r>
                            <m:r>
                              <a:rPr lang="en-US" sz="2400" b="0" i="1" smtClean="0">
                                <a:latin typeface="Cambria Math" panose="02040503050406030204" pitchFamily="18" charset="0"/>
                              </a:rPr>
                              <m:t>,</m:t>
                            </m:r>
                            <m:r>
                              <a:rPr lang="en-US" sz="2400" b="0" i="1" smtClean="0">
                                <a:latin typeface="Cambria Math" panose="02040503050406030204" pitchFamily="18" charset="0"/>
                              </a:rPr>
                              <m:t>𝑐</m:t>
                            </m:r>
                            <m:r>
                              <a:rPr lang="en-US" sz="2400" i="1" smtClean="0">
                                <a:latin typeface="Cambria Math" panose="02040503050406030204" pitchFamily="18" charset="0"/>
                                <a:cs typeface="DejaVu Math TeX Gyre" panose="02000503000000000000" charset="0"/>
                              </a:rPr>
                              <m:t>∈</m:t>
                            </m:r>
                            <m:d>
                              <m:dPr>
                                <m:begChr m:val="["/>
                                <m:endChr m:val="]"/>
                                <m:ctrlPr>
                                  <a:rPr lang="en-US" sz="2400" i="1" smtClean="0">
                                    <a:latin typeface="Cambria Math" panose="02040503050406030204" pitchFamily="18" charset="0"/>
                                    <a:cs typeface="DejaVu Math TeX Gyre" panose="02000503000000000000" charset="0"/>
                                  </a:rPr>
                                </m:ctrlPr>
                              </m:dPr>
                              <m:e>
                                <m:r>
                                  <a:rPr lang="en-US" sz="2400" i="1" smtClean="0">
                                    <a:latin typeface="Cambria Math" panose="02040503050406030204" pitchFamily="18" charset="0"/>
                                    <a:cs typeface="DejaVu Math TeX Gyre" panose="02000503000000000000" charset="0"/>
                                  </a:rPr>
                                  <m:t>𝑊</m:t>
                                </m:r>
                              </m:e>
                            </m:d>
                          </m:sub>
                          <m:sup/>
                          <m:e>
                            <m:r>
                              <a:rPr lang="en-US" sz="2400" b="0" i="1" smtClean="0">
                                <a:latin typeface="Cambria Math" panose="02040503050406030204" pitchFamily="18" charset="0"/>
                              </a:rPr>
                              <m:t>𝜎</m:t>
                            </m:r>
                            <m:sSup>
                              <m:sSupPr>
                                <m:ctrlPr>
                                  <a:rPr lang="en-US" sz="2400" b="0" i="1" smtClean="0">
                                    <a:latin typeface="Cambria Math" panose="02040503050406030204" pitchFamily="18" charset="0"/>
                                  </a:rPr>
                                </m:ctrlPr>
                              </m:sSupPr>
                              <m:e>
                                <m:d>
                                  <m:dPr>
                                    <m:ctrlPr>
                                      <a:rPr lang="en-US" sz="2400" b="0" i="1" smtClean="0">
                                        <a:latin typeface="Cambria Math" panose="02040503050406030204" pitchFamily="18" charset="0"/>
                                      </a:rPr>
                                    </m:ctrlPr>
                                  </m:dPr>
                                  <m:e>
                                    <m:sSub>
                                      <m:sSubPr>
                                        <m:ctrlPr>
                                          <a:rPr lang="en-US" sz="2400" i="1">
                                            <a:latin typeface="Cambria Math" panose="02040503050406030204" pitchFamily="18" charset="0"/>
                                          </a:rPr>
                                        </m:ctrlPr>
                                      </m:sSubPr>
                                      <m:e>
                                        <m:r>
                                          <a:rPr lang="en-US" sz="2400" b="1" i="1">
                                            <a:latin typeface="Cambria Math" panose="02040503050406030204" pitchFamily="18" charset="0"/>
                                          </a:rPr>
                                          <m:t>𝒖</m:t>
                                        </m:r>
                                      </m:e>
                                      <m:sub>
                                        <m:r>
                                          <a:rPr lang="en-US" sz="2400" i="1">
                                            <a:latin typeface="Cambria Math" panose="02040503050406030204" pitchFamily="18" charset="0"/>
                                          </a:rPr>
                                          <m:t>𝑓</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b="1" i="1">
                                            <a:latin typeface="Cambria Math" panose="02040503050406030204" pitchFamily="18" charset="0"/>
                                          </a:rPr>
                                          <m:t>𝒗</m:t>
                                        </m:r>
                                      </m:e>
                                      <m:sub>
                                        <m:r>
                                          <a:rPr lang="en-US" sz="2400" i="1">
                                            <a:latin typeface="Cambria Math" panose="02040503050406030204" pitchFamily="18" charset="0"/>
                                          </a:rPr>
                                          <m:t>𝑐</m:t>
                                        </m:r>
                                      </m:sub>
                                    </m:sSub>
                                  </m:e>
                                </m:d>
                              </m:e>
                              <m:sup>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𝑀</m:t>
                                    </m:r>
                                  </m:e>
                                  <m:sub>
                                    <m:r>
                                      <a:rPr lang="en-US" sz="2400" b="0" i="1" smtClean="0">
                                        <a:latin typeface="Cambria Math" panose="02040503050406030204" pitchFamily="18" charset="0"/>
                                      </a:rPr>
                                      <m:t>𝑓</m:t>
                                    </m:r>
                                    <m:r>
                                      <a:rPr lang="en-US" sz="2400" b="0" i="1" smtClean="0">
                                        <a:latin typeface="Cambria Math" panose="02040503050406030204" pitchFamily="18" charset="0"/>
                                      </a:rPr>
                                      <m:t>,</m:t>
                                    </m:r>
                                    <m:r>
                                      <a:rPr lang="en-US" sz="2400" b="0" i="1" smtClean="0">
                                        <a:latin typeface="Cambria Math" panose="02040503050406030204" pitchFamily="18" charset="0"/>
                                      </a:rPr>
                                      <m:t>𝑐</m:t>
                                    </m:r>
                                  </m:sub>
                                </m:sSub>
                              </m:sup>
                            </m:sSup>
                          </m:e>
                        </m:nary>
                        <m:sSup>
                          <m:sSupPr>
                            <m:ctrlPr>
                              <a:rPr lang="en-US" sz="2400" b="0" i="1" smtClean="0">
                                <a:latin typeface="Cambria Math" panose="02040503050406030204" pitchFamily="18" charset="0"/>
                              </a:rPr>
                            </m:ctrlPr>
                          </m:sSupPr>
                          <m:e>
                            <m:d>
                              <m:dPr>
                                <m:ctrlPr>
                                  <a:rPr lang="en-US" sz="2400" b="0" i="1" smtClean="0">
                                    <a:latin typeface="Cambria Math" panose="02040503050406030204" pitchFamily="18" charset="0"/>
                                  </a:rPr>
                                </m:ctrlPr>
                              </m:dPr>
                              <m:e>
                                <m:r>
                                  <a:rPr lang="en-US" sz="2400" i="1">
                                    <a:latin typeface="Cambria Math" panose="02040503050406030204" pitchFamily="18" charset="0"/>
                                  </a:rPr>
                                  <m:t>1−</m:t>
                                </m:r>
                                <m:r>
                                  <a:rPr lang="en-US" sz="2400" i="1">
                                    <a:latin typeface="Cambria Math" panose="02040503050406030204" pitchFamily="18" charset="0"/>
                                  </a:rPr>
                                  <m:t>𝜎</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b="1" i="1">
                                            <a:latin typeface="Cambria Math" panose="02040503050406030204" pitchFamily="18" charset="0"/>
                                          </a:rPr>
                                          <m:t>𝒖</m:t>
                                        </m:r>
                                      </m:e>
                                      <m:sub>
                                        <m:r>
                                          <a:rPr lang="en-US" sz="2400" i="1">
                                            <a:latin typeface="Cambria Math" panose="02040503050406030204" pitchFamily="18" charset="0"/>
                                          </a:rPr>
                                          <m:t>𝑓</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b="1" i="1">
                                            <a:latin typeface="Cambria Math" panose="02040503050406030204" pitchFamily="18" charset="0"/>
                                          </a:rPr>
                                          <m:t>𝒗</m:t>
                                        </m:r>
                                      </m:e>
                                      <m:sub>
                                        <m:r>
                                          <a:rPr lang="en-US" sz="2400" i="1">
                                            <a:latin typeface="Cambria Math" panose="02040503050406030204" pitchFamily="18" charset="0"/>
                                          </a:rPr>
                                          <m:t>𝑐</m:t>
                                        </m:r>
                                      </m:sub>
                                    </m:sSub>
                                  </m:e>
                                </m:d>
                              </m:e>
                            </m:d>
                          </m:e>
                          <m:sup>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𝑁</m:t>
                                </m:r>
                              </m:e>
                              <m:sub>
                                <m:r>
                                  <a:rPr lang="en-US" sz="2400" b="0" i="1" smtClean="0">
                                    <a:latin typeface="Cambria Math" panose="02040503050406030204" pitchFamily="18" charset="0"/>
                                  </a:rPr>
                                  <m:t>𝑓</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𝑀</m:t>
                                </m:r>
                              </m:e>
                              <m:sub>
                                <m:r>
                                  <a:rPr lang="en-US" sz="2400" b="0" i="1" smtClean="0">
                                    <a:latin typeface="Cambria Math" panose="02040503050406030204" pitchFamily="18" charset="0"/>
                                  </a:rPr>
                                  <m:t>𝑓</m:t>
                                </m:r>
                                <m:r>
                                  <a:rPr lang="en-US" sz="2400" b="0" i="1" smtClean="0">
                                    <a:latin typeface="Cambria Math" panose="02040503050406030204" pitchFamily="18" charset="0"/>
                                  </a:rPr>
                                  <m:t>,</m:t>
                                </m:r>
                                <m:r>
                                  <a:rPr lang="en-US" sz="2400" b="0" i="1" smtClean="0">
                                    <a:latin typeface="Cambria Math" panose="02040503050406030204" pitchFamily="18" charset="0"/>
                                  </a:rPr>
                                  <m:t>𝑐</m:t>
                                </m:r>
                              </m:sub>
                            </m:sSub>
                          </m:sup>
                        </m:sSup>
                      </m:e>
                    </m:func>
                  </m:oMath>
                </a14:m>
                <a:br>
                  <a:rPr lang="en-US" sz="2400" b="0" i="1">
                    <a:latin typeface="Cambria Math" panose="02040503050406030204" pitchFamily="18" charset="0"/>
                  </a:rPr>
                </a:br>
                <a14:m>
                  <m:oMath xmlns:m="http://schemas.openxmlformats.org/officeDocument/2006/math">
                    <m:r>
                      <a:rPr lang="en-US" sz="2400" b="0" i="1" smtClean="0">
                        <a:latin typeface="Cambria Math" panose="02040503050406030204" pitchFamily="18" charset="0"/>
                      </a:rPr>
                      <m:t>=</m:t>
                    </m:r>
                    <m:func>
                      <m:funcPr>
                        <m:ctrlPr>
                          <a:rPr lang="en-US" sz="2400" i="1">
                            <a:latin typeface="Cambria Math" panose="02040503050406030204" pitchFamily="18" charset="0"/>
                          </a:rPr>
                        </m:ctrlPr>
                      </m:funcPr>
                      <m:fName>
                        <m:limLow>
                          <m:limLowPr>
                            <m:ctrlPr>
                              <a:rPr lang="en-US" sz="2400" i="1">
                                <a:latin typeface="Cambria Math" panose="02040503050406030204" pitchFamily="18" charset="0"/>
                              </a:rPr>
                            </m:ctrlPr>
                          </m:limLowPr>
                          <m:e>
                            <m:r>
                              <m:rPr>
                                <m:sty m:val="p"/>
                              </m:rPr>
                              <a:rPr lang="en-US" sz="2400">
                                <a:latin typeface="Cambria Math" panose="02040503050406030204" pitchFamily="18" charset="0"/>
                              </a:rPr>
                              <m:t>argmax</m:t>
                            </m:r>
                          </m:e>
                          <m:lim>
                            <m:r>
                              <a:rPr lang="en-US" sz="2400" b="1" i="1">
                                <a:latin typeface="Cambria Math" panose="02040503050406030204" pitchFamily="18" charset="0"/>
                              </a:rPr>
                              <m:t>𝑼</m:t>
                            </m:r>
                            <m:r>
                              <a:rPr lang="en-US" sz="2400" i="1">
                                <a:latin typeface="Cambria Math" panose="02040503050406030204" pitchFamily="18" charset="0"/>
                              </a:rPr>
                              <m:t>, </m:t>
                            </m:r>
                            <m:r>
                              <a:rPr lang="en-US" sz="2400" b="1" i="1">
                                <a:latin typeface="Cambria Math" panose="02040503050406030204" pitchFamily="18" charset="0"/>
                              </a:rPr>
                              <m:t>𝑽</m:t>
                            </m:r>
                            <m:r>
                              <a:rPr lang="en-US" sz="2400" i="1">
                                <a:latin typeface="Cambria Math" panose="02040503050406030204" pitchFamily="18" charset="0"/>
                              </a:rPr>
                              <m:t>∈</m:t>
                            </m:r>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ℝ</m:t>
                                </m:r>
                              </m:e>
                              <m:sup>
                                <m:r>
                                  <a:rPr lang="en-US" sz="2400" i="1">
                                    <a:latin typeface="Cambria Math" panose="02040503050406030204" pitchFamily="18" charset="0"/>
                                    <a:ea typeface="Cambria Math" panose="02040503050406030204" pitchFamily="18" charset="0"/>
                                  </a:rPr>
                                  <m:t>𝑊</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𝐷</m:t>
                                </m:r>
                              </m:sup>
                            </m:sSup>
                          </m:lim>
                        </m:limLow>
                      </m:fName>
                      <m:e>
                        <m:nary>
                          <m:naryPr>
                            <m:chr m:val="∏"/>
                            <m:supHide m:val="on"/>
                            <m:ctrlPr>
                              <a:rPr lang="en-US" sz="2400" i="1">
                                <a:latin typeface="Cambria Math" panose="02040503050406030204" pitchFamily="18" charset="0"/>
                              </a:rPr>
                            </m:ctrlPr>
                          </m:naryPr>
                          <m:sub>
                            <m:r>
                              <m:rPr>
                                <m:brk m:alnAt="7"/>
                              </m:rPr>
                              <a:rPr lang="en-US" sz="2400" i="1">
                                <a:latin typeface="Cambria Math" panose="02040503050406030204" pitchFamily="18" charset="0"/>
                              </a:rPr>
                              <m:t>𝑓</m:t>
                            </m:r>
                            <m:r>
                              <a:rPr lang="en-US" sz="2400" i="1">
                                <a:latin typeface="Cambria Math" panose="02040503050406030204" pitchFamily="18" charset="0"/>
                              </a:rPr>
                              <m:t>,</m:t>
                            </m:r>
                            <m:r>
                              <a:rPr lang="en-US" sz="2400" i="1">
                                <a:latin typeface="Cambria Math" panose="02040503050406030204" pitchFamily="18" charset="0"/>
                              </a:rPr>
                              <m:t>𝑐</m:t>
                            </m:r>
                            <m:r>
                              <a:rPr lang="en-US" sz="2400" i="1" smtClean="0">
                                <a:latin typeface="Cambria Math" panose="02040503050406030204" pitchFamily="18" charset="0"/>
                                <a:cs typeface="DejaVu Math TeX Gyre" panose="02000503000000000000" charset="0"/>
                              </a:rPr>
                              <m:t>∈</m:t>
                            </m:r>
                            <m:d>
                              <m:dPr>
                                <m:begChr m:val="["/>
                                <m:endChr m:val="]"/>
                                <m:ctrlPr>
                                  <a:rPr lang="en-US" sz="2400" i="1" smtClean="0">
                                    <a:latin typeface="Cambria Math" panose="02040503050406030204" pitchFamily="18" charset="0"/>
                                    <a:cs typeface="DejaVu Math TeX Gyre" panose="02000503000000000000" charset="0"/>
                                  </a:rPr>
                                </m:ctrlPr>
                              </m:dPr>
                              <m:e>
                                <m:r>
                                  <a:rPr lang="en-US" sz="2400" i="1" smtClean="0">
                                    <a:latin typeface="Cambria Math" panose="02040503050406030204" pitchFamily="18" charset="0"/>
                                    <a:cs typeface="DejaVu Math TeX Gyre" panose="02000503000000000000" charset="0"/>
                                  </a:rPr>
                                  <m:t>𝑊</m:t>
                                </m:r>
                              </m:e>
                            </m:d>
                          </m:sub>
                          <m:sup/>
                          <m:e>
                            <m:r>
                              <a:rPr lang="en-US" sz="2400" i="1">
                                <a:latin typeface="Cambria Math" panose="02040503050406030204" pitchFamily="18" charset="0"/>
                              </a:rPr>
                              <m:t>𝜎</m:t>
                            </m:r>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b="1" i="1">
                                            <a:latin typeface="Cambria Math" panose="02040503050406030204" pitchFamily="18" charset="0"/>
                                          </a:rPr>
                                          <m:t>𝒖</m:t>
                                        </m:r>
                                      </m:e>
                                      <m:sub>
                                        <m:r>
                                          <a:rPr lang="en-US" sz="2400" i="1">
                                            <a:latin typeface="Cambria Math" panose="02040503050406030204" pitchFamily="18" charset="0"/>
                                          </a:rPr>
                                          <m:t>𝑓</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b="1" i="1">
                                            <a:latin typeface="Cambria Math" panose="02040503050406030204" pitchFamily="18" charset="0"/>
                                          </a:rPr>
                                          <m:t>𝒗</m:t>
                                        </m:r>
                                      </m:e>
                                      <m:sub>
                                        <m:r>
                                          <a:rPr lang="en-US" sz="2400" i="1">
                                            <a:latin typeface="Cambria Math" panose="02040503050406030204" pitchFamily="18" charset="0"/>
                                          </a:rPr>
                                          <m:t>𝑐</m:t>
                                        </m:r>
                                      </m:sub>
                                    </m:sSub>
                                  </m:e>
                                </m:d>
                              </m:e>
                              <m:sup>
                                <m:sSub>
                                  <m:sSubPr>
                                    <m:ctrlPr>
                                      <a:rPr lang="en-US" sz="2400" i="1">
                                        <a:latin typeface="Cambria Math" panose="02040503050406030204" pitchFamily="18" charset="0"/>
                                      </a:rPr>
                                    </m:ctrlPr>
                                  </m:sSubPr>
                                  <m:e>
                                    <m:r>
                                      <a:rPr lang="en-US" sz="2400" i="1">
                                        <a:latin typeface="Cambria Math" panose="02040503050406030204" pitchFamily="18" charset="0"/>
                                      </a:rPr>
                                      <m:t>𝑀</m:t>
                                    </m:r>
                                  </m:e>
                                  <m:sub>
                                    <m:r>
                                      <a:rPr lang="en-US" sz="2400" i="1">
                                        <a:latin typeface="Cambria Math" panose="02040503050406030204" pitchFamily="18" charset="0"/>
                                      </a:rPr>
                                      <m:t>𝑓</m:t>
                                    </m:r>
                                    <m:r>
                                      <a:rPr lang="en-US" sz="2400" i="1">
                                        <a:latin typeface="Cambria Math" panose="02040503050406030204" pitchFamily="18" charset="0"/>
                                      </a:rPr>
                                      <m:t>,</m:t>
                                    </m:r>
                                    <m:r>
                                      <a:rPr lang="en-US" sz="2400" i="1">
                                        <a:latin typeface="Cambria Math" panose="02040503050406030204" pitchFamily="18" charset="0"/>
                                      </a:rPr>
                                      <m:t>𝑐</m:t>
                                    </m:r>
                                  </m:sub>
                                </m:sSub>
                              </m:sup>
                            </m:sSup>
                          </m:e>
                        </m:nary>
                        <m:sSup>
                          <m:sSupPr>
                            <m:ctrlPr>
                              <a:rPr lang="en-US" sz="2400" i="1">
                                <a:latin typeface="Cambria Math" panose="02040503050406030204" pitchFamily="18" charset="0"/>
                              </a:rPr>
                            </m:ctrlPr>
                          </m:sSupPr>
                          <m:e>
                            <m:r>
                              <a:rPr lang="en-US" sz="2400" i="1">
                                <a:latin typeface="Cambria Math" panose="02040503050406030204" pitchFamily="18" charset="0"/>
                              </a:rPr>
                              <m:t>𝜎</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b="1" i="1" smtClean="0">
                                        <a:latin typeface="Cambria Math" panose="02040503050406030204" pitchFamily="18" charset="0"/>
                                      </a:rPr>
                                      <m:t>−</m:t>
                                    </m:r>
                                    <m:r>
                                      <a:rPr lang="en-US" sz="2400" b="1" i="1">
                                        <a:latin typeface="Cambria Math" panose="02040503050406030204" pitchFamily="18" charset="0"/>
                                      </a:rPr>
                                      <m:t>𝒖</m:t>
                                    </m:r>
                                  </m:e>
                                  <m:sub>
                                    <m:r>
                                      <a:rPr lang="en-US" sz="2400" i="1">
                                        <a:latin typeface="Cambria Math" panose="02040503050406030204" pitchFamily="18" charset="0"/>
                                      </a:rPr>
                                      <m:t>𝑓</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b="1" i="1">
                                        <a:latin typeface="Cambria Math" panose="02040503050406030204" pitchFamily="18" charset="0"/>
                                      </a:rPr>
                                      <m:t>𝒗</m:t>
                                    </m:r>
                                  </m:e>
                                  <m:sub>
                                    <m:r>
                                      <a:rPr lang="en-US" sz="2400" i="1">
                                        <a:latin typeface="Cambria Math" panose="02040503050406030204" pitchFamily="18" charset="0"/>
                                      </a:rPr>
                                      <m:t>𝑐</m:t>
                                    </m:r>
                                  </m:sub>
                                </m:sSub>
                              </m:e>
                            </m:d>
                          </m:e>
                          <m:sup>
                            <m:sSub>
                              <m:sSubPr>
                                <m:ctrlPr>
                                  <a:rPr lang="en-US" sz="2400" i="1">
                                    <a:latin typeface="Cambria Math" panose="02040503050406030204" pitchFamily="18" charset="0"/>
                                  </a:rPr>
                                </m:ctrlPr>
                              </m:sSubPr>
                              <m:e>
                                <m:r>
                                  <a:rPr lang="en-US" sz="2400" i="1">
                                    <a:latin typeface="Cambria Math" panose="02040503050406030204" pitchFamily="18" charset="0"/>
                                  </a:rPr>
                                  <m:t>𝑁</m:t>
                                </m:r>
                              </m:e>
                              <m:sub>
                                <m:r>
                                  <a:rPr lang="en-US" sz="2400" i="1">
                                    <a:latin typeface="Cambria Math" panose="02040503050406030204" pitchFamily="18" charset="0"/>
                                  </a:rPr>
                                  <m:t>𝑓</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𝑀</m:t>
                                </m:r>
                              </m:e>
                              <m:sub>
                                <m:r>
                                  <a:rPr lang="en-US" sz="2400" i="1">
                                    <a:latin typeface="Cambria Math" panose="02040503050406030204" pitchFamily="18" charset="0"/>
                                  </a:rPr>
                                  <m:t>𝑓</m:t>
                                </m:r>
                                <m:r>
                                  <a:rPr lang="en-US" sz="2400" i="1">
                                    <a:latin typeface="Cambria Math" panose="02040503050406030204" pitchFamily="18" charset="0"/>
                                  </a:rPr>
                                  <m:t>,</m:t>
                                </m:r>
                                <m:r>
                                  <a:rPr lang="en-US" sz="2400" i="1">
                                    <a:latin typeface="Cambria Math" panose="02040503050406030204" pitchFamily="18" charset="0"/>
                                  </a:rPr>
                                  <m:t>𝑐</m:t>
                                </m:r>
                              </m:sub>
                            </m:sSub>
                          </m:sup>
                        </m:sSup>
                      </m:e>
                    </m:func>
                  </m:oMath>
                </a14:m>
                <a:br>
                  <a:rPr lang="en-US" sz="2400"/>
                </a:br>
                <a14:m>
                  <m:oMath xmlns:m="http://schemas.openxmlformats.org/officeDocument/2006/math">
                    <m:r>
                      <a:rPr lang="en-US" sz="2400" i="1">
                        <a:latin typeface="Cambria Math" panose="02040503050406030204" pitchFamily="18" charset="0"/>
                      </a:rPr>
                      <m:t>=</m:t>
                    </m:r>
                    <m:func>
                      <m:funcPr>
                        <m:ctrlPr>
                          <a:rPr lang="en-US" sz="2400" i="1" smtClean="0">
                            <a:latin typeface="Cambria Math" panose="02040503050406030204" pitchFamily="18" charset="0"/>
                          </a:rPr>
                        </m:ctrlPr>
                      </m:funcPr>
                      <m:fName>
                        <m:limLow>
                          <m:limLowPr>
                            <m:ctrlPr>
                              <a:rPr lang="en-US" sz="2400" i="1">
                                <a:latin typeface="Cambria Math" panose="02040503050406030204" pitchFamily="18" charset="0"/>
                              </a:rPr>
                            </m:ctrlPr>
                          </m:limLowPr>
                          <m:e>
                            <m:r>
                              <m:rPr>
                                <m:sty m:val="p"/>
                              </m:rPr>
                              <a:rPr lang="en-US" sz="2400">
                                <a:latin typeface="Cambria Math" panose="02040503050406030204" pitchFamily="18" charset="0"/>
                              </a:rPr>
                              <m:t>argmax</m:t>
                            </m:r>
                          </m:e>
                          <m:lim>
                            <m:r>
                              <a:rPr lang="en-US" sz="2400" b="1" i="1">
                                <a:latin typeface="Cambria Math" panose="02040503050406030204" pitchFamily="18" charset="0"/>
                              </a:rPr>
                              <m:t>𝑼</m:t>
                            </m:r>
                            <m:r>
                              <a:rPr lang="en-US" sz="2400" i="1">
                                <a:latin typeface="Cambria Math" panose="02040503050406030204" pitchFamily="18" charset="0"/>
                              </a:rPr>
                              <m:t>, </m:t>
                            </m:r>
                            <m:r>
                              <a:rPr lang="en-US" sz="2400" b="1" i="1">
                                <a:latin typeface="Cambria Math" panose="02040503050406030204" pitchFamily="18" charset="0"/>
                              </a:rPr>
                              <m:t>𝑽</m:t>
                            </m:r>
                            <m:r>
                              <a:rPr lang="en-US" sz="2400" i="1">
                                <a:latin typeface="Cambria Math" panose="02040503050406030204" pitchFamily="18" charset="0"/>
                              </a:rPr>
                              <m:t>∈</m:t>
                            </m:r>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ℝ</m:t>
                                </m:r>
                              </m:e>
                              <m:sup>
                                <m:r>
                                  <a:rPr lang="en-US" sz="2400" i="1">
                                    <a:latin typeface="Cambria Math" panose="02040503050406030204" pitchFamily="18" charset="0"/>
                                    <a:ea typeface="Cambria Math" panose="02040503050406030204" pitchFamily="18" charset="0"/>
                                  </a:rPr>
                                  <m:t>𝑊</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𝐷</m:t>
                                </m:r>
                              </m:sup>
                            </m:sSup>
                          </m:lim>
                        </m:limLow>
                      </m:fName>
                      <m:e>
                        <m:nary>
                          <m:naryPr>
                            <m:chr m:val="∑"/>
                            <m:limLoc m:val="undOvr"/>
                            <m:supHide m:val="on"/>
                            <m:ctrlPr>
                              <a:rPr lang="en-US" sz="2400" i="1">
                                <a:latin typeface="Cambria Math" panose="02040503050406030204" pitchFamily="18" charset="0"/>
                                <a:ea typeface="Cambria Math" panose="02040503050406030204" pitchFamily="18" charset="0"/>
                                <a:cs typeface="DejaVu Math TeX Gyre" panose="02000503000000000000" charset="0"/>
                              </a:rPr>
                            </m:ctrlPr>
                          </m:naryPr>
                          <m:sub>
                            <m:r>
                              <m:rPr>
                                <m:brk m:alnAt="7"/>
                              </m:rPr>
                              <a:rPr lang="en-US" sz="2400" b="0" i="1" smtClean="0">
                                <a:latin typeface="Cambria Math" panose="02040503050406030204" pitchFamily="18" charset="0"/>
                                <a:ea typeface="Cambria Math" panose="02040503050406030204" pitchFamily="18" charset="0"/>
                              </a:rPr>
                              <m:t>𝑓</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𝑐</m:t>
                            </m:r>
                            <m:r>
                              <a:rPr lang="en-US" sz="2400" i="1" smtClean="0">
                                <a:latin typeface="Cambria Math" panose="02040503050406030204" pitchFamily="18" charset="0"/>
                                <a:cs typeface="DejaVu Math TeX Gyre" panose="02000503000000000000" charset="0"/>
                              </a:rPr>
                              <m:t>∈</m:t>
                            </m:r>
                            <m:d>
                              <m:dPr>
                                <m:begChr m:val="["/>
                                <m:endChr m:val="]"/>
                                <m:ctrlPr>
                                  <a:rPr lang="en-US" sz="2400" i="1" smtClean="0">
                                    <a:latin typeface="Cambria Math" panose="02040503050406030204" pitchFamily="18" charset="0"/>
                                    <a:cs typeface="DejaVu Math TeX Gyre" panose="02000503000000000000" charset="0"/>
                                  </a:rPr>
                                </m:ctrlPr>
                              </m:dPr>
                              <m:e>
                                <m:r>
                                  <a:rPr lang="en-US" sz="2400" i="1" smtClean="0">
                                    <a:latin typeface="Cambria Math" panose="02040503050406030204" pitchFamily="18" charset="0"/>
                                    <a:cs typeface="DejaVu Math TeX Gyre" panose="02000503000000000000" charset="0"/>
                                  </a:rPr>
                                  <m:t>𝑊</m:t>
                                </m:r>
                              </m:e>
                            </m:d>
                          </m:sub>
                          <m:sup/>
                          <m:e>
                            <m:sSub>
                              <m:sSubPr>
                                <m:ctrlPr>
                                  <a:rPr lang="en-US" sz="2400" b="0" i="1" smtClean="0">
                                    <a:effectLst>
                                      <a:glow rad="228600">
                                        <a:schemeClr val="accent4">
                                          <a:satMod val="175000"/>
                                          <a:alpha val="40000"/>
                                        </a:schemeClr>
                                      </a:glow>
                                    </a:effectLst>
                                    <a:latin typeface="Cambria Math" panose="02040503050406030204" pitchFamily="18" charset="0"/>
                                    <a:ea typeface="Cambria Math" panose="02040503050406030204" pitchFamily="18" charset="0"/>
                                  </a:rPr>
                                </m:ctrlPr>
                              </m:sSubPr>
                              <m:e>
                                <m:r>
                                  <a:rPr lang="en-US" sz="2400" b="0" i="1" smtClean="0">
                                    <a:effectLst>
                                      <a:glow rad="228600">
                                        <a:schemeClr val="accent4">
                                          <a:satMod val="175000"/>
                                          <a:alpha val="40000"/>
                                        </a:schemeClr>
                                      </a:glow>
                                    </a:effectLst>
                                    <a:latin typeface="Cambria Math" panose="02040503050406030204" pitchFamily="18" charset="0"/>
                                    <a:ea typeface="Cambria Math" panose="02040503050406030204" pitchFamily="18" charset="0"/>
                                  </a:rPr>
                                  <m:t>𝑀</m:t>
                                </m:r>
                              </m:e>
                              <m:sub>
                                <m:r>
                                  <a:rPr lang="en-US" sz="2400" b="0" i="1" smtClean="0">
                                    <a:effectLst>
                                      <a:glow rad="228600">
                                        <a:schemeClr val="accent4">
                                          <a:satMod val="175000"/>
                                          <a:alpha val="40000"/>
                                        </a:schemeClr>
                                      </a:glow>
                                    </a:effectLst>
                                    <a:latin typeface="Cambria Math" panose="02040503050406030204" pitchFamily="18" charset="0"/>
                                    <a:ea typeface="Cambria Math" panose="02040503050406030204" pitchFamily="18" charset="0"/>
                                  </a:rPr>
                                  <m:t>𝑓</m:t>
                                </m:r>
                                <m:r>
                                  <a:rPr lang="en-US" sz="2400" b="0" i="1" smtClean="0">
                                    <a:effectLst>
                                      <a:glow rad="228600">
                                        <a:schemeClr val="accent4">
                                          <a:satMod val="175000"/>
                                          <a:alpha val="40000"/>
                                        </a:schemeClr>
                                      </a:glow>
                                    </a:effectLst>
                                    <a:latin typeface="Cambria Math" panose="02040503050406030204" pitchFamily="18" charset="0"/>
                                    <a:ea typeface="Cambria Math" panose="02040503050406030204" pitchFamily="18" charset="0"/>
                                  </a:rPr>
                                  <m:t>,</m:t>
                                </m:r>
                                <m:r>
                                  <a:rPr lang="en-US" sz="2400" b="0" i="1" smtClean="0">
                                    <a:effectLst>
                                      <a:glow rad="228600">
                                        <a:schemeClr val="accent4">
                                          <a:satMod val="175000"/>
                                          <a:alpha val="40000"/>
                                        </a:schemeClr>
                                      </a:glow>
                                    </a:effectLst>
                                    <a:latin typeface="Cambria Math" panose="02040503050406030204" pitchFamily="18" charset="0"/>
                                    <a:ea typeface="Cambria Math" panose="02040503050406030204" pitchFamily="18" charset="0"/>
                                  </a:rPr>
                                  <m:t>𝑐</m:t>
                                </m:r>
                              </m:sub>
                            </m:sSub>
                            <m:func>
                              <m:funcPr>
                                <m:ctrlPr>
                                  <a:rPr lang="en-US" sz="2400" b="0" i="1" smtClean="0">
                                    <a:latin typeface="Cambria Math" panose="02040503050406030204" pitchFamily="18" charset="0"/>
                                    <a:ea typeface="Cambria Math" panose="02040503050406030204" pitchFamily="18" charset="0"/>
                                  </a:rPr>
                                </m:ctrlPr>
                              </m:funcPr>
                              <m:fName>
                                <m:r>
                                  <m:rPr>
                                    <m:sty m:val="p"/>
                                  </m:rPr>
                                  <a:rPr lang="en-US" sz="2400" b="0" i="0" smtClean="0">
                                    <a:latin typeface="Cambria Math" panose="02040503050406030204" pitchFamily="18" charset="0"/>
                                    <a:ea typeface="Cambria Math" panose="02040503050406030204" pitchFamily="18" charset="0"/>
                                  </a:rPr>
                                  <m:t>log</m:t>
                                </m:r>
                              </m:fName>
                              <m:e>
                                <m:r>
                                  <a:rPr lang="en-US" sz="2400" b="0" i="1" smtClean="0">
                                    <a:latin typeface="Cambria Math" panose="02040503050406030204" pitchFamily="18" charset="0"/>
                                    <a:ea typeface="Cambria Math" panose="02040503050406030204" pitchFamily="18" charset="0"/>
                                  </a:rPr>
                                  <m:t>𝜎</m:t>
                                </m:r>
                                <m:d>
                                  <m:dPr>
                                    <m:ctrlPr>
                                      <a:rPr lang="en-US" sz="2400" b="0" i="1" smtClean="0">
                                        <a:latin typeface="Cambria Math" panose="02040503050406030204" pitchFamily="18" charset="0"/>
                                        <a:ea typeface="Cambria Math" panose="02040503050406030204" pitchFamily="18" charset="0"/>
                                      </a:rPr>
                                    </m:ctrlPr>
                                  </m:dPr>
                                  <m:e>
                                    <m:sSub>
                                      <m:sSubPr>
                                        <m:ctrlPr>
                                          <a:rPr lang="en-US" sz="2400" i="1">
                                            <a:latin typeface="Cambria Math" panose="02040503050406030204" pitchFamily="18" charset="0"/>
                                          </a:rPr>
                                        </m:ctrlPr>
                                      </m:sSubPr>
                                      <m:e>
                                        <m:r>
                                          <a:rPr lang="en-US" sz="2400" b="1" i="1">
                                            <a:latin typeface="Cambria Math" panose="02040503050406030204" pitchFamily="18" charset="0"/>
                                          </a:rPr>
                                          <m:t>𝒖</m:t>
                                        </m:r>
                                      </m:e>
                                      <m:sub>
                                        <m:r>
                                          <a:rPr lang="en-US" sz="2400" i="1">
                                            <a:latin typeface="Cambria Math" panose="02040503050406030204" pitchFamily="18" charset="0"/>
                                          </a:rPr>
                                          <m:t>𝑓</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b="1" i="1">
                                            <a:latin typeface="Cambria Math" panose="02040503050406030204" pitchFamily="18" charset="0"/>
                                          </a:rPr>
                                          <m:t>𝒗</m:t>
                                        </m:r>
                                      </m:e>
                                      <m:sub>
                                        <m:r>
                                          <a:rPr lang="en-US" sz="2400" i="1">
                                            <a:latin typeface="Cambria Math" panose="02040503050406030204" pitchFamily="18" charset="0"/>
                                          </a:rPr>
                                          <m:t>𝑐</m:t>
                                        </m:r>
                                      </m:sub>
                                    </m:sSub>
                                  </m:e>
                                </m:d>
                                <m:r>
                                  <a:rPr lang="en-US" sz="2400" b="0" i="1" smtClean="0">
                                    <a:latin typeface="Cambria Math" panose="02040503050406030204" pitchFamily="18" charset="0"/>
                                    <a:ea typeface="Cambria Math" panose="02040503050406030204" pitchFamily="18" charset="0"/>
                                  </a:rPr>
                                  <m:t>+</m:t>
                                </m:r>
                                <m:d>
                                  <m:dPr>
                                    <m:ctrlPr>
                                      <a:rPr lang="en-US" sz="2400" b="0" i="1" smtClean="0">
                                        <a:effectLst>
                                          <a:glow rad="228600">
                                            <a:schemeClr val="accent6">
                                              <a:satMod val="175000"/>
                                              <a:alpha val="40000"/>
                                            </a:schemeClr>
                                          </a:glow>
                                        </a:effectLst>
                                        <a:latin typeface="Cambria Math" panose="02040503050406030204" pitchFamily="18" charset="0"/>
                                        <a:ea typeface="Cambria Math" panose="02040503050406030204" pitchFamily="18" charset="0"/>
                                      </a:rPr>
                                    </m:ctrlPr>
                                  </m:dPr>
                                  <m:e>
                                    <m:sSub>
                                      <m:sSubPr>
                                        <m:ctrlPr>
                                          <a:rPr lang="en-US" sz="2400" b="0" i="1" smtClean="0">
                                            <a:effectLst>
                                              <a:glow rad="228600">
                                                <a:schemeClr val="accent6">
                                                  <a:satMod val="175000"/>
                                                  <a:alpha val="40000"/>
                                                </a:schemeClr>
                                              </a:glow>
                                            </a:effectLst>
                                            <a:latin typeface="Cambria Math" panose="02040503050406030204" pitchFamily="18" charset="0"/>
                                            <a:ea typeface="Cambria Math" panose="02040503050406030204" pitchFamily="18" charset="0"/>
                                          </a:rPr>
                                        </m:ctrlPr>
                                      </m:sSubPr>
                                      <m:e>
                                        <m:r>
                                          <a:rPr lang="en-US" sz="2400" b="0" i="1" smtClean="0">
                                            <a:effectLst>
                                              <a:glow rad="228600">
                                                <a:schemeClr val="accent6">
                                                  <a:satMod val="175000"/>
                                                  <a:alpha val="40000"/>
                                                </a:schemeClr>
                                              </a:glow>
                                            </a:effectLst>
                                            <a:latin typeface="Cambria Math" panose="02040503050406030204" pitchFamily="18" charset="0"/>
                                            <a:ea typeface="Cambria Math" panose="02040503050406030204" pitchFamily="18" charset="0"/>
                                          </a:rPr>
                                          <m:t>𝑁</m:t>
                                        </m:r>
                                      </m:e>
                                      <m:sub>
                                        <m:r>
                                          <a:rPr lang="en-US" sz="2400" b="0" i="1" smtClean="0">
                                            <a:effectLst>
                                              <a:glow rad="228600">
                                                <a:schemeClr val="accent6">
                                                  <a:satMod val="175000"/>
                                                  <a:alpha val="40000"/>
                                                </a:schemeClr>
                                              </a:glow>
                                            </a:effectLst>
                                            <a:latin typeface="Cambria Math" panose="02040503050406030204" pitchFamily="18" charset="0"/>
                                            <a:ea typeface="Cambria Math" panose="02040503050406030204" pitchFamily="18" charset="0"/>
                                          </a:rPr>
                                          <m:t>𝑓</m:t>
                                        </m:r>
                                      </m:sub>
                                    </m:sSub>
                                    <m:r>
                                      <a:rPr lang="en-US" sz="2400" b="0" i="1" smtClean="0">
                                        <a:effectLst>
                                          <a:glow rad="228600">
                                            <a:schemeClr val="accent6">
                                              <a:satMod val="175000"/>
                                              <a:alpha val="40000"/>
                                            </a:schemeClr>
                                          </a:glow>
                                        </a:effectLst>
                                        <a:latin typeface="Cambria Math" panose="02040503050406030204" pitchFamily="18" charset="0"/>
                                        <a:ea typeface="Cambria Math" panose="02040503050406030204" pitchFamily="18" charset="0"/>
                                      </a:rPr>
                                      <m:t>−</m:t>
                                    </m:r>
                                    <m:sSub>
                                      <m:sSubPr>
                                        <m:ctrlPr>
                                          <a:rPr lang="en-US" sz="2400" b="0" i="1" smtClean="0">
                                            <a:effectLst>
                                              <a:glow rad="228600">
                                                <a:schemeClr val="accent6">
                                                  <a:satMod val="175000"/>
                                                  <a:alpha val="40000"/>
                                                </a:schemeClr>
                                              </a:glow>
                                            </a:effectLst>
                                            <a:latin typeface="Cambria Math" panose="02040503050406030204" pitchFamily="18" charset="0"/>
                                            <a:ea typeface="Cambria Math" panose="02040503050406030204" pitchFamily="18" charset="0"/>
                                          </a:rPr>
                                        </m:ctrlPr>
                                      </m:sSubPr>
                                      <m:e>
                                        <m:r>
                                          <a:rPr lang="en-US" sz="2400" b="0" i="1" smtClean="0">
                                            <a:effectLst>
                                              <a:glow rad="228600">
                                                <a:schemeClr val="accent6">
                                                  <a:satMod val="175000"/>
                                                  <a:alpha val="40000"/>
                                                </a:schemeClr>
                                              </a:glow>
                                            </a:effectLst>
                                            <a:latin typeface="Cambria Math" panose="02040503050406030204" pitchFamily="18" charset="0"/>
                                            <a:ea typeface="Cambria Math" panose="02040503050406030204" pitchFamily="18" charset="0"/>
                                          </a:rPr>
                                          <m:t>𝑀</m:t>
                                        </m:r>
                                      </m:e>
                                      <m:sub>
                                        <m:r>
                                          <a:rPr lang="en-US" sz="2400" b="0" i="1" smtClean="0">
                                            <a:effectLst>
                                              <a:glow rad="228600">
                                                <a:schemeClr val="accent6">
                                                  <a:satMod val="175000"/>
                                                  <a:alpha val="40000"/>
                                                </a:schemeClr>
                                              </a:glow>
                                            </a:effectLst>
                                            <a:latin typeface="Cambria Math" panose="02040503050406030204" pitchFamily="18" charset="0"/>
                                            <a:ea typeface="Cambria Math" panose="02040503050406030204" pitchFamily="18" charset="0"/>
                                          </a:rPr>
                                          <m:t>𝑓</m:t>
                                        </m:r>
                                        <m:r>
                                          <a:rPr lang="en-US" sz="2400" b="0" i="1" smtClean="0">
                                            <a:effectLst>
                                              <a:glow rad="228600">
                                                <a:schemeClr val="accent6">
                                                  <a:satMod val="175000"/>
                                                  <a:alpha val="40000"/>
                                                </a:schemeClr>
                                              </a:glow>
                                            </a:effectLst>
                                            <a:latin typeface="Cambria Math" panose="02040503050406030204" pitchFamily="18" charset="0"/>
                                            <a:ea typeface="Cambria Math" panose="02040503050406030204" pitchFamily="18" charset="0"/>
                                          </a:rPr>
                                          <m:t>,</m:t>
                                        </m:r>
                                        <m:r>
                                          <a:rPr lang="en-US" sz="2400" b="0" i="1" smtClean="0">
                                            <a:effectLst>
                                              <a:glow rad="228600">
                                                <a:schemeClr val="accent6">
                                                  <a:satMod val="175000"/>
                                                  <a:alpha val="40000"/>
                                                </a:schemeClr>
                                              </a:glow>
                                            </a:effectLst>
                                            <a:latin typeface="Cambria Math" panose="02040503050406030204" pitchFamily="18" charset="0"/>
                                            <a:ea typeface="Cambria Math" panose="02040503050406030204" pitchFamily="18" charset="0"/>
                                          </a:rPr>
                                          <m:t>𝑐</m:t>
                                        </m:r>
                                      </m:sub>
                                    </m:sSub>
                                  </m:e>
                                </m:d>
                                <m:func>
                                  <m:funcPr>
                                    <m:ctrlPr>
                                      <a:rPr lang="en-US" sz="2400" b="0" i="1" smtClean="0">
                                        <a:latin typeface="Cambria Math" panose="02040503050406030204" pitchFamily="18" charset="0"/>
                                        <a:ea typeface="Cambria Math" panose="02040503050406030204" pitchFamily="18" charset="0"/>
                                      </a:rPr>
                                    </m:ctrlPr>
                                  </m:funcPr>
                                  <m:fName>
                                    <m:r>
                                      <m:rPr>
                                        <m:sty m:val="p"/>
                                      </m:rPr>
                                      <a:rPr lang="en-US" sz="2400" b="0" i="0" smtClean="0">
                                        <a:latin typeface="Cambria Math" panose="02040503050406030204" pitchFamily="18" charset="0"/>
                                        <a:ea typeface="Cambria Math" panose="02040503050406030204" pitchFamily="18" charset="0"/>
                                      </a:rPr>
                                      <m:t>log</m:t>
                                    </m:r>
                                  </m:fName>
                                  <m:e>
                                    <m:r>
                                      <a:rPr lang="en-US" sz="2400" i="1">
                                        <a:latin typeface="Cambria Math" panose="02040503050406030204" pitchFamily="18" charset="0"/>
                                      </a:rPr>
                                      <m:t>𝜎</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b="1" i="1">
                                                <a:latin typeface="Cambria Math" panose="02040503050406030204" pitchFamily="18" charset="0"/>
                                              </a:rPr>
                                              <m:t>−</m:t>
                                            </m:r>
                                            <m:r>
                                              <a:rPr lang="en-US" sz="2400" b="1" i="1">
                                                <a:latin typeface="Cambria Math" panose="02040503050406030204" pitchFamily="18" charset="0"/>
                                              </a:rPr>
                                              <m:t>𝒖</m:t>
                                            </m:r>
                                          </m:e>
                                          <m:sub>
                                            <m:r>
                                              <a:rPr lang="en-US" sz="2400" i="1">
                                                <a:latin typeface="Cambria Math" panose="02040503050406030204" pitchFamily="18" charset="0"/>
                                              </a:rPr>
                                              <m:t>𝑓</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b="1" i="1">
                                                <a:latin typeface="Cambria Math" panose="02040503050406030204" pitchFamily="18" charset="0"/>
                                              </a:rPr>
                                              <m:t>𝒗</m:t>
                                            </m:r>
                                          </m:e>
                                          <m:sub>
                                            <m:r>
                                              <a:rPr lang="en-US" sz="2400" i="1">
                                                <a:latin typeface="Cambria Math" panose="02040503050406030204" pitchFamily="18" charset="0"/>
                                              </a:rPr>
                                              <m:t>𝑐</m:t>
                                            </m:r>
                                          </m:sub>
                                        </m:sSub>
                                      </m:e>
                                    </m:d>
                                  </m:e>
                                </m:func>
                              </m:e>
                            </m:func>
                          </m:e>
                        </m:nary>
                      </m:e>
                    </m:func>
                  </m:oMath>
                </a14:m>
                <a:r>
                  <a:rPr lang="en-US" sz="2400" b="0"/>
                  <a:t> </a:t>
                </a:r>
              </a:p>
            </p:txBody>
          </p:sp>
        </mc:Choice>
        <mc:Fallback xmlns="">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2"/>
                <a:stretch>
                  <a:fillRect/>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4" name="Speech Bubble: Rectangle with Corners Rounded 3"/>
              <p:cNvSpPr/>
              <p:nvPr/>
            </p:nvSpPr>
            <p:spPr>
              <a:xfrm>
                <a:off x="3156951" y="5782204"/>
                <a:ext cx="2092344" cy="990737"/>
              </a:xfrm>
              <a:prstGeom prst="wedgeRoundRectCallout">
                <a:avLst>
                  <a:gd name="adj1" fmla="val -3614"/>
                  <a:gd name="adj2" fmla="val -9017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t>#Heads: </a:t>
                </a:r>
                <a14:m>
                  <m:oMath xmlns:m="http://schemas.openxmlformats.org/officeDocument/2006/math">
                    <m:r>
                      <a:rPr lang="en-US" sz="2000" b="0" i="1" smtClean="0">
                        <a:latin typeface="Cambria Math" panose="02040503050406030204" pitchFamily="18" charset="0"/>
                      </a:rPr>
                      <m:t>𝑓</m:t>
                    </m:r>
                    <m:r>
                      <a:rPr lang="en-US" sz="2000" b="0" i="1" smtClean="0">
                        <a:latin typeface="Cambria Math" panose="02040503050406030204" pitchFamily="18" charset="0"/>
                      </a:rPr>
                      <m:t>, </m:t>
                    </m:r>
                    <m:r>
                      <a:rPr lang="en-US" sz="2000" b="0" i="1" smtClean="0">
                        <a:latin typeface="Cambria Math" panose="02040503050406030204" pitchFamily="18" charset="0"/>
                      </a:rPr>
                      <m:t>𝑐</m:t>
                    </m:r>
                  </m:oMath>
                </a14:m>
                <a:br>
                  <a:rPr lang="en-US" sz="2000" b="0"/>
                </a:br>
                <a:r>
                  <a:rPr lang="en-US" sz="2000"/>
                  <a:t>co-occurred</a:t>
                </a:r>
              </a:p>
            </p:txBody>
          </p:sp>
        </mc:Choice>
        <mc:Fallback xmlns="">
          <p:sp>
            <p:nvSpPr>
              <p:cNvPr id="4" name="Speech Bubble: Rectangle with Corners Rounded 3"/>
              <p:cNvSpPr>
                <a:spLocks noRot="1" noChangeAspect="1" noMove="1" noResize="1" noEditPoints="1" noAdjustHandles="1" noChangeArrowheads="1" noChangeShapeType="1" noTextEdit="1"/>
              </p:cNvSpPr>
              <p:nvPr/>
            </p:nvSpPr>
            <p:spPr>
              <a:xfrm>
                <a:off x="3156951" y="5782204"/>
                <a:ext cx="2092344" cy="990737"/>
              </a:xfrm>
              <a:prstGeom prst="wedgeRoundRectCallout">
                <a:avLst>
                  <a:gd name="adj1" fmla="val -3614"/>
                  <a:gd name="adj2" fmla="val -90176"/>
                  <a:gd name="adj3" fmla="val 16667"/>
                </a:avLst>
              </a:prstGeom>
              <a:blipFill rotWithShape="1">
                <a:blip r:embed="rId3"/>
                <a:stretch>
                  <a:fillRect l="-321" t="-41586" r="-285" b="-638"/>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5" name="Speech Bubble: Rectangle with Corners Rounded 4"/>
              <p:cNvSpPr/>
              <p:nvPr/>
            </p:nvSpPr>
            <p:spPr>
              <a:xfrm>
                <a:off x="6860540" y="5782310"/>
                <a:ext cx="2168525" cy="990600"/>
              </a:xfrm>
              <a:prstGeom prst="wedgeRoundRectCallout">
                <a:avLst>
                  <a:gd name="adj1" fmla="val -26127"/>
                  <a:gd name="adj2" fmla="val -9152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#Tails</a:t>
                </a:r>
                <a:r>
                  <a:rPr lang="en-US" sz="1800"/>
                  <a:t>: </a:t>
                </a:r>
                <a14:m>
                  <m:oMath xmlns:m="http://schemas.openxmlformats.org/officeDocument/2006/math">
                    <m:r>
                      <a:rPr lang="en-US" sz="1800" b="0" i="1" smtClean="0">
                        <a:latin typeface="Cambria Math" panose="02040503050406030204" pitchFamily="18" charset="0"/>
                      </a:rPr>
                      <m:t>𝑓</m:t>
                    </m:r>
                    <m:r>
                      <a:rPr lang="en-US" sz="1800" b="0" i="1" smtClean="0">
                        <a:latin typeface="Cambria Math" panose="02040503050406030204" pitchFamily="18" charset="0"/>
                      </a:rPr>
                      <m:t>, </m:t>
                    </m:r>
                    <m:r>
                      <a:rPr lang="en-US" sz="1800" b="0" i="1" smtClean="0">
                        <a:latin typeface="Cambria Math" panose="02040503050406030204" pitchFamily="18" charset="0"/>
                      </a:rPr>
                      <m:t>𝑐</m:t>
                    </m:r>
                  </m:oMath>
                </a14:m>
                <a:r>
                  <a:rPr lang="en-US"/>
                  <a:t> did </a:t>
                </a:r>
                <a:br>
                  <a:rPr lang="en-US"/>
                </a:br>
                <a:r>
                  <a:rPr lang="en-US"/>
                  <a:t>not co-occur</a:t>
                </a:r>
              </a:p>
            </p:txBody>
          </p:sp>
        </mc:Choice>
        <mc:Fallback xmlns="">
          <p:sp>
            <p:nvSpPr>
              <p:cNvPr id="5" name="Speech Bubble: Rectangle with Corners Rounded 4"/>
              <p:cNvSpPr>
                <a:spLocks noRot="1" noChangeAspect="1" noMove="1" noResize="1" noEditPoints="1" noAdjustHandles="1" noChangeArrowheads="1" noChangeShapeType="1" noTextEdit="1"/>
              </p:cNvSpPr>
              <p:nvPr/>
            </p:nvSpPr>
            <p:spPr>
              <a:xfrm>
                <a:off x="6860540" y="5782310"/>
                <a:ext cx="2168525" cy="990600"/>
              </a:xfrm>
              <a:prstGeom prst="wedgeRoundRectCallout">
                <a:avLst>
                  <a:gd name="adj1" fmla="val -26127"/>
                  <a:gd name="adj2" fmla="val -91523"/>
                  <a:gd name="adj3" fmla="val 16667"/>
                </a:avLst>
              </a:prstGeom>
              <a:blipFill rotWithShape="1">
                <a:blip r:embed="rId4"/>
                <a:stretch>
                  <a:fillRect l="-293" t="-42756" r="-293" b="-641"/>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 Placeholder 2"/>
              <p:cNvSpPr>
                <a:spLocks noGrp="1"/>
              </p:cNvSpPr>
              <p:nvPr>
                <p:ph type="body" idx="1"/>
              </p:nvPr>
            </p:nvSpPr>
            <p:spPr/>
            <p:txBody>
              <a:bodyPr>
                <a:noAutofit/>
              </a:bodyPr>
              <a:lstStyle/>
              <a:p>
                <a:pPr fontAlgn="auto">
                  <a:lnSpc>
                    <a:spcPct val="100000"/>
                  </a:lnSpc>
                </a:pPr>
                <a:r>
                  <a:rPr lang="en-US" sz="2400"/>
                  <a:t>Original code a stochastic gradient {a/de}scent with live text scans</a:t>
                </a:r>
              </a:p>
              <a:p>
                <a:pPr lvl="1" fontAlgn="auto">
                  <a:lnSpc>
                    <a:spcPct val="100000"/>
                  </a:lnSpc>
                </a:pPr>
                <a:r>
                  <a:rPr lang="en-US" sz="2000"/>
                  <a:t>Instead of counting co-occurrences in a preprocessing step</a:t>
                </a:r>
              </a:p>
              <a:p>
                <a:pPr fontAlgn="auto">
                  <a:lnSpc>
                    <a:spcPct val="100000"/>
                  </a:lnSpc>
                </a:pPr>
                <a14:m>
                  <m:oMath xmlns:m="http://schemas.openxmlformats.org/officeDocument/2006/math">
                    <m:sSub>
                      <m:sSubPr>
                        <m:ctrlPr>
                          <a:rPr lang="en-US" sz="2400" i="1">
                            <a:latin typeface="Cambria Math" panose="02040503050406030204" pitchFamily="18" charset="0"/>
                            <a:cs typeface="DejaVu Math TeX Gyre" panose="02000503000000000000" charset="0"/>
                          </a:rPr>
                        </m:ctrlPr>
                      </m:sSubPr>
                      <m:e>
                        <m:r>
                          <a:rPr lang="en-US" sz="2400">
                            <a:latin typeface="Cambria Math" panose="02040503050406030204" pitchFamily="18" charset="0"/>
                            <a:cs typeface="DejaVu Math TeX Gyre" panose="02000503000000000000" charset="0"/>
                          </a:rPr>
                          <m:t>𝑀</m:t>
                        </m:r>
                      </m:e>
                      <m:sub>
                        <m:r>
                          <a:rPr lang="en-US" sz="2400">
                            <a:latin typeface="Cambria Math" panose="02040503050406030204" pitchFamily="18" charset="0"/>
                            <a:cs typeface="DejaVu Math TeX Gyre" panose="02000503000000000000" charset="0"/>
                          </a:rPr>
                          <m:t>𝑓</m:t>
                        </m:r>
                        <m:r>
                          <a:rPr lang="en-US" sz="2400">
                            <a:latin typeface="Cambria Math" panose="02040503050406030204" pitchFamily="18" charset="0"/>
                            <a:ea typeface="MS Mincho" charset="0"/>
                            <a:cs typeface="DejaVu Math TeX Gyre" panose="02000503000000000000" charset="0"/>
                          </a:rPr>
                          <m:t>,</m:t>
                        </m:r>
                        <m:r>
                          <a:rPr lang="en-US" sz="2400">
                            <a:latin typeface="Cambria Math" panose="02040503050406030204" pitchFamily="18" charset="0"/>
                            <a:cs typeface="DejaVu Math TeX Gyre" panose="02000503000000000000" charset="0"/>
                          </a:rPr>
                          <m:t>𝑐</m:t>
                        </m:r>
                      </m:sub>
                    </m:sSub>
                  </m:oMath>
                </a14:m>
                <a:r>
                  <a:rPr lang="en-US" sz="2400"/>
                  <a:t> co-occurrences (“heads”) will be encountered explicitly</a:t>
                </a:r>
              </a:p>
              <a:p>
                <a:pPr fontAlgn="auto">
                  <a:lnSpc>
                    <a:spcPct val="100000"/>
                  </a:lnSpc>
                </a:pPr>
                <a:r>
                  <a:rPr lang="en-US" sz="2400"/>
                  <a:t>How about </a:t>
                </a:r>
                <a14:m>
                  <m:oMath xmlns:m="http://schemas.openxmlformats.org/officeDocument/2006/math">
                    <m:sSub>
                      <m:sSubPr>
                        <m:ctrlPr>
                          <a:rPr lang="en-US" sz="2400" i="1">
                            <a:latin typeface="Cambria Math" panose="02040503050406030204" pitchFamily="18" charset="0"/>
                            <a:cs typeface="DejaVu Math TeX Gyre" panose="02000503000000000000" charset="0"/>
                          </a:rPr>
                        </m:ctrlPr>
                      </m:sSubPr>
                      <m:e>
                        <m:r>
                          <a:rPr lang="en-US" sz="2400">
                            <a:latin typeface="Cambria Math" panose="02040503050406030204" pitchFamily="18" charset="0"/>
                            <a:cs typeface="DejaVu Math TeX Gyre" panose="02000503000000000000" charset="0"/>
                          </a:rPr>
                          <m:t>𝑁</m:t>
                        </m:r>
                      </m:e>
                      <m:sub>
                        <m:r>
                          <a:rPr lang="en-US" sz="2400">
                            <a:latin typeface="Cambria Math" panose="02040503050406030204" pitchFamily="18" charset="0"/>
                            <a:cs typeface="DejaVu Math TeX Gyre" panose="02000503000000000000" charset="0"/>
                          </a:rPr>
                          <m:t>𝑓</m:t>
                        </m:r>
                      </m:sub>
                    </m:sSub>
                    <m:r>
                      <a:rPr lang="en-US" sz="2400">
                        <a:latin typeface="Cambria Math" panose="02040503050406030204" pitchFamily="18" charset="0"/>
                        <a:ea typeface="MS Mincho" charset="0"/>
                        <a:cs typeface="DejaVu Math TeX Gyre" panose="02000503000000000000" charset="0"/>
                      </a:rPr>
                      <m:t>−</m:t>
                    </m:r>
                    <m:sSub>
                      <m:sSubPr>
                        <m:ctrlPr>
                          <a:rPr lang="en-US" sz="2400" i="1">
                            <a:latin typeface="Cambria Math" panose="02040503050406030204" pitchFamily="18" charset="0"/>
                            <a:cs typeface="DejaVu Math TeX Gyre" panose="02000503000000000000" charset="0"/>
                          </a:rPr>
                        </m:ctrlPr>
                      </m:sSubPr>
                      <m:e>
                        <m:r>
                          <a:rPr lang="en-US" sz="2400">
                            <a:latin typeface="Cambria Math" panose="02040503050406030204" pitchFamily="18" charset="0"/>
                            <a:cs typeface="DejaVu Math TeX Gyre" panose="02000503000000000000" charset="0"/>
                          </a:rPr>
                          <m:t>𝑀</m:t>
                        </m:r>
                      </m:e>
                      <m:sub>
                        <m:r>
                          <a:rPr lang="en-US" sz="2400">
                            <a:latin typeface="Cambria Math" panose="02040503050406030204" pitchFamily="18" charset="0"/>
                            <a:cs typeface="DejaVu Math TeX Gyre" panose="02000503000000000000" charset="0"/>
                          </a:rPr>
                          <m:t>𝑓</m:t>
                        </m:r>
                        <m:r>
                          <a:rPr lang="en-US" sz="2400">
                            <a:latin typeface="Cambria Math" panose="02040503050406030204" pitchFamily="18" charset="0"/>
                            <a:ea typeface="MS Mincho" charset="0"/>
                            <a:cs typeface="DejaVu Math TeX Gyre" panose="02000503000000000000" charset="0"/>
                          </a:rPr>
                          <m:t>,</m:t>
                        </m:r>
                        <m:r>
                          <a:rPr lang="en-US" sz="2400">
                            <a:latin typeface="Cambria Math" panose="02040503050406030204" pitchFamily="18" charset="0"/>
                            <a:cs typeface="DejaVu Math TeX Gyre" panose="02000503000000000000" charset="0"/>
                          </a:rPr>
                          <m:t>𝑐</m:t>
                        </m:r>
                      </m:sub>
                    </m:sSub>
                  </m:oMath>
                </a14:m>
                <a:r>
                  <a:rPr lang="en-US" sz="2400"/>
                  <a:t> non-co-occurrences (“tails”)?</a:t>
                </a:r>
                <a:br>
                  <a:rPr lang="en-US" sz="2400"/>
                </a:br>
                <a14:m>
                  <m:oMath xmlns:m="http://schemas.openxmlformats.org/officeDocument/2006/math">
                    <m:func>
                      <m:funcPr>
                        <m:ctrlPr>
                          <a:rPr lang="en-US" sz="2400" i="1">
                            <a:latin typeface="Cambria Math" panose="02040503050406030204" pitchFamily="18" charset="0"/>
                            <a:cs typeface="DejaVu Math TeX Gyre" panose="02000503000000000000" charset="0"/>
                          </a:rPr>
                        </m:ctrlPr>
                      </m:funcPr>
                      <m:fName>
                        <m:limLow>
                          <m:limLowPr>
                            <m:ctrlPr>
                              <a:rPr lang="en-US" sz="2400" i="1">
                                <a:latin typeface="Cambria Math" panose="02040503050406030204" pitchFamily="18" charset="0"/>
                                <a:cs typeface="DejaVu Math TeX Gyre" panose="02000503000000000000" charset="0"/>
                              </a:rPr>
                            </m:ctrlPr>
                          </m:limLowPr>
                          <m:e>
                            <m:r>
                              <m:rPr>
                                <m:sty m:val="p"/>
                              </m:rPr>
                              <a:rPr lang="en-US" sz="2400">
                                <a:latin typeface="Cambria Math" panose="02040503050406030204" pitchFamily="18" charset="0"/>
                                <a:cs typeface="DejaVu Math TeX Gyre" panose="02000503000000000000" charset="0"/>
                              </a:rPr>
                              <m:t>argmax</m:t>
                            </m:r>
                          </m:e>
                          <m:lim>
                            <m:r>
                              <a:rPr lang="en-US" sz="2400">
                                <a:latin typeface="Cambria Math" panose="02040503050406030204" pitchFamily="18" charset="0"/>
                                <a:cs typeface="DejaVu Math TeX Gyre" panose="02000503000000000000" charset="0"/>
                              </a:rPr>
                              <m:t>𝑼</m:t>
                            </m:r>
                            <m:r>
                              <a:rPr lang="en-US" sz="2400">
                                <a:latin typeface="Cambria Math" panose="02040503050406030204" pitchFamily="18" charset="0"/>
                                <a:ea typeface="MS Mincho" charset="0"/>
                                <a:cs typeface="DejaVu Math TeX Gyre" panose="02000503000000000000" charset="0"/>
                              </a:rPr>
                              <m:t>, </m:t>
                            </m:r>
                            <m:r>
                              <a:rPr lang="en-US" sz="2400">
                                <a:latin typeface="Cambria Math" panose="02040503050406030204" pitchFamily="18" charset="0"/>
                                <a:cs typeface="DejaVu Math TeX Gyre" panose="02000503000000000000" charset="0"/>
                              </a:rPr>
                              <m:t>𝑽</m:t>
                            </m:r>
                            <m:r>
                              <a:rPr lang="en-US" sz="2400">
                                <a:latin typeface="Cambria Math" panose="02040503050406030204" pitchFamily="18" charset="0"/>
                                <a:ea typeface="MS Mincho" charset="0"/>
                                <a:cs typeface="DejaVu Math TeX Gyre" panose="02000503000000000000" charset="0"/>
                              </a:rPr>
                              <m:t>∈</m:t>
                            </m:r>
                            <m:sSup>
                              <m:sSupPr>
                                <m:ctrlPr>
                                  <a:rPr lang="en-US" sz="2400" i="1">
                                    <a:latin typeface="Cambria Math" panose="02040503050406030204" pitchFamily="18" charset="0"/>
                                    <a:cs typeface="DejaVu Math TeX Gyre" panose="02000503000000000000" charset="0"/>
                                  </a:rPr>
                                </m:ctrlPr>
                              </m:sSupPr>
                              <m:e>
                                <m:r>
                                  <a:rPr lang="en-US" sz="2400">
                                    <a:latin typeface="Cambria Math" panose="02040503050406030204" pitchFamily="18" charset="0"/>
                                    <a:ea typeface="MS Mincho" charset="0"/>
                                    <a:cs typeface="DejaVu Math TeX Gyre" panose="02000503000000000000" charset="0"/>
                                  </a:rPr>
                                  <m:t>ℝ</m:t>
                                </m:r>
                              </m:e>
                              <m:sup>
                                <m:r>
                                  <a:rPr lang="en-US" sz="2400">
                                    <a:latin typeface="Cambria Math" panose="02040503050406030204" pitchFamily="18" charset="0"/>
                                    <a:cs typeface="DejaVu Math TeX Gyre" panose="02000503000000000000" charset="0"/>
                                  </a:rPr>
                                  <m:t>𝑉</m:t>
                                </m:r>
                                <m:r>
                                  <a:rPr lang="en-US" sz="2400">
                                    <a:latin typeface="Cambria Math" panose="02040503050406030204" pitchFamily="18" charset="0"/>
                                    <a:ea typeface="MS Mincho" charset="0"/>
                                    <a:cs typeface="DejaVu Math TeX Gyre" panose="02000503000000000000" charset="0"/>
                                  </a:rPr>
                                  <m:t>×</m:t>
                                </m:r>
                                <m:r>
                                  <a:rPr lang="en-US" sz="2400">
                                    <a:latin typeface="Cambria Math" panose="02040503050406030204" pitchFamily="18" charset="0"/>
                                    <a:cs typeface="DejaVu Math TeX Gyre" panose="02000503000000000000" charset="0"/>
                                  </a:rPr>
                                  <m:t>𝐷</m:t>
                                </m:r>
                              </m:sup>
                            </m:sSup>
                          </m:lim>
                        </m:limLow>
                      </m:fName>
                      <m:e>
                        <m:nary>
                          <m:naryPr>
                            <m:chr m:val="∑"/>
                            <m:supHide m:val="on"/>
                            <m:ctrlPr>
                              <a:rPr lang="en-US" sz="2400" i="1">
                                <a:latin typeface="Cambria Math" panose="02040503050406030204" pitchFamily="18" charset="0"/>
                                <a:cs typeface="DejaVu Math TeX Gyre" panose="02000503000000000000" charset="0"/>
                              </a:rPr>
                            </m:ctrlPr>
                          </m:naryPr>
                          <m:sub>
                            <m:r>
                              <m:rPr>
                                <m:brk m:alnAt="7"/>
                              </m:rPr>
                              <a:rPr lang="en-US" sz="2400">
                                <a:effectLst>
                                  <a:glow rad="228600">
                                    <a:schemeClr val="accent3">
                                      <a:satMod val="175000"/>
                                      <a:alpha val="40000"/>
                                    </a:schemeClr>
                                  </a:glow>
                                </a:effectLst>
                                <a:latin typeface="Cambria Math" panose="02040503050406030204" pitchFamily="18" charset="0"/>
                                <a:cs typeface="DejaVu Math TeX Gyre" panose="02000503000000000000" charset="0"/>
                              </a:rPr>
                              <m:t>𝑓</m:t>
                            </m:r>
                            <m:r>
                              <a:rPr lang="en-US" sz="2400">
                                <a:effectLst>
                                  <a:glow rad="228600">
                                    <a:schemeClr val="accent3">
                                      <a:satMod val="175000"/>
                                      <a:alpha val="40000"/>
                                    </a:schemeClr>
                                  </a:glow>
                                </a:effectLst>
                                <a:latin typeface="Cambria Math" panose="02040503050406030204" pitchFamily="18" charset="0"/>
                                <a:ea typeface="MS Mincho" charset="0"/>
                                <a:cs typeface="DejaVu Math TeX Gyre" panose="02000503000000000000" charset="0"/>
                              </a:rPr>
                              <m:t>,</m:t>
                            </m:r>
                            <m:r>
                              <a:rPr lang="en-US" sz="2400">
                                <a:effectLst>
                                  <a:glow rad="228600">
                                    <a:schemeClr val="accent3">
                                      <a:satMod val="175000"/>
                                      <a:alpha val="40000"/>
                                    </a:schemeClr>
                                  </a:glow>
                                </a:effectLst>
                                <a:latin typeface="Cambria Math" panose="02040503050406030204" pitchFamily="18" charset="0"/>
                                <a:cs typeface="DejaVu Math TeX Gyre" panose="02000503000000000000" charset="0"/>
                              </a:rPr>
                              <m:t>𝑐</m:t>
                            </m:r>
                            <m:r>
                              <a:rPr lang="en-US" sz="2400">
                                <a:effectLst>
                                  <a:glow rad="228600">
                                    <a:schemeClr val="accent3">
                                      <a:satMod val="175000"/>
                                      <a:alpha val="40000"/>
                                    </a:schemeClr>
                                  </a:glow>
                                </a:effectLst>
                                <a:latin typeface="Cambria Math" panose="02040503050406030204" pitchFamily="18" charset="0"/>
                                <a:ea typeface="MS Mincho" charset="0"/>
                                <a:cs typeface="DejaVu Math TeX Gyre" panose="02000503000000000000" charset="0"/>
                              </a:rPr>
                              <m:t>∈</m:t>
                            </m:r>
                            <m:d>
                              <m:dPr>
                                <m:begChr m:val="["/>
                                <m:endChr m:val="]"/>
                                <m:ctrlPr>
                                  <a:rPr lang="en-US" sz="2400" i="1">
                                    <a:effectLst>
                                      <a:glow rad="228600">
                                        <a:schemeClr val="accent3">
                                          <a:satMod val="175000"/>
                                          <a:alpha val="40000"/>
                                        </a:schemeClr>
                                      </a:glow>
                                    </a:effectLst>
                                    <a:latin typeface="Cambria Math" panose="02040503050406030204" pitchFamily="18" charset="0"/>
                                    <a:cs typeface="DejaVu Math TeX Gyre" panose="02000503000000000000" charset="0"/>
                                  </a:rPr>
                                </m:ctrlPr>
                              </m:dPr>
                              <m:e>
                                <m:r>
                                  <a:rPr lang="en-US" sz="2400">
                                    <a:effectLst>
                                      <a:glow rad="228600">
                                        <a:schemeClr val="accent3">
                                          <a:satMod val="175000"/>
                                          <a:alpha val="40000"/>
                                        </a:schemeClr>
                                      </a:glow>
                                    </a:effectLst>
                                    <a:latin typeface="Cambria Math" panose="02040503050406030204" pitchFamily="18" charset="0"/>
                                    <a:cs typeface="DejaVu Math TeX Gyre" panose="02000503000000000000" charset="0"/>
                                  </a:rPr>
                                  <m:t>𝑊</m:t>
                                </m:r>
                              </m:e>
                            </m:d>
                          </m:sub>
                          <m:sup/>
                          <m:e>
                            <m:sSub>
                              <m:sSubPr>
                                <m:ctrlPr>
                                  <a:rPr lang="en-US" sz="2400" i="1">
                                    <a:latin typeface="Cambria Math" panose="02040503050406030204" pitchFamily="18" charset="0"/>
                                    <a:cs typeface="DejaVu Math TeX Gyre" panose="02000503000000000000" charset="0"/>
                                  </a:rPr>
                                </m:ctrlPr>
                              </m:sSubPr>
                              <m:e>
                                <m:r>
                                  <a:rPr lang="en-US" sz="2400">
                                    <a:latin typeface="Cambria Math" panose="02040503050406030204" pitchFamily="18" charset="0"/>
                                    <a:cs typeface="DejaVu Math TeX Gyre" panose="02000503000000000000" charset="0"/>
                                  </a:rPr>
                                  <m:t>𝑀</m:t>
                                </m:r>
                              </m:e>
                              <m:sub>
                                <m:r>
                                  <a:rPr lang="en-US" sz="2400">
                                    <a:latin typeface="Cambria Math" panose="02040503050406030204" pitchFamily="18" charset="0"/>
                                    <a:cs typeface="DejaVu Math TeX Gyre" panose="02000503000000000000" charset="0"/>
                                  </a:rPr>
                                  <m:t>𝑓</m:t>
                                </m:r>
                                <m:r>
                                  <a:rPr lang="en-US" sz="2400">
                                    <a:latin typeface="Cambria Math" panose="02040503050406030204" pitchFamily="18" charset="0"/>
                                    <a:ea typeface="MS Mincho" charset="0"/>
                                    <a:cs typeface="DejaVu Math TeX Gyre" panose="02000503000000000000" charset="0"/>
                                  </a:rPr>
                                  <m:t>,</m:t>
                                </m:r>
                                <m:r>
                                  <a:rPr lang="en-US" sz="2400">
                                    <a:latin typeface="Cambria Math" panose="02040503050406030204" pitchFamily="18" charset="0"/>
                                    <a:cs typeface="DejaVu Math TeX Gyre" panose="02000503000000000000" charset="0"/>
                                  </a:rPr>
                                  <m:t>𝑐</m:t>
                                </m:r>
                              </m:sub>
                            </m:sSub>
                            <m:func>
                              <m:funcPr>
                                <m:ctrlPr>
                                  <a:rPr lang="en-US" sz="2400" i="1">
                                    <a:latin typeface="Cambria Math" panose="02040503050406030204" pitchFamily="18" charset="0"/>
                                    <a:cs typeface="DejaVu Math TeX Gyre" panose="02000503000000000000" charset="0"/>
                                  </a:rPr>
                                </m:ctrlPr>
                              </m:funcPr>
                              <m:fName>
                                <m:r>
                                  <m:rPr>
                                    <m:sty m:val="p"/>
                                  </m:rPr>
                                  <a:rPr lang="en-US" sz="2400">
                                    <a:latin typeface="Cambria Math" panose="02040503050406030204" pitchFamily="18" charset="0"/>
                                    <a:cs typeface="DejaVu Math TeX Gyre" panose="02000503000000000000" charset="0"/>
                                  </a:rPr>
                                  <m:t>log</m:t>
                                </m:r>
                              </m:fName>
                              <m:e>
                                <m:r>
                                  <a:rPr lang="en-US" sz="2400">
                                    <a:latin typeface="Cambria Math" panose="02040503050406030204" pitchFamily="18" charset="0"/>
                                    <a:ea typeface="MS Mincho" charset="0"/>
                                    <a:cs typeface="DejaVu Math TeX Gyre" panose="02000503000000000000" charset="0"/>
                                  </a:rPr>
                                  <m:t>𝜎</m:t>
                                </m:r>
                                <m:d>
                                  <m:dPr>
                                    <m:ctrlPr>
                                      <a:rPr lang="en-US" sz="2400" i="1">
                                        <a:latin typeface="Cambria Math" panose="02040503050406030204" pitchFamily="18" charset="0"/>
                                        <a:cs typeface="DejaVu Math TeX Gyre" panose="02000503000000000000" charset="0"/>
                                      </a:rPr>
                                    </m:ctrlPr>
                                  </m:dPr>
                                  <m:e>
                                    <m:sSub>
                                      <m:sSubPr>
                                        <m:ctrlPr>
                                          <a:rPr lang="en-US" sz="2400" i="1">
                                            <a:latin typeface="Cambria Math" panose="02040503050406030204" pitchFamily="18" charset="0"/>
                                            <a:cs typeface="DejaVu Math TeX Gyre" panose="02000503000000000000" charset="0"/>
                                          </a:rPr>
                                        </m:ctrlPr>
                                      </m:sSubPr>
                                      <m:e>
                                        <m:r>
                                          <a:rPr lang="en-US" sz="2400">
                                            <a:latin typeface="Cambria Math" panose="02040503050406030204" pitchFamily="18" charset="0"/>
                                            <a:cs typeface="DejaVu Math TeX Gyre" panose="02000503000000000000" charset="0"/>
                                          </a:rPr>
                                          <m:t>𝒖</m:t>
                                        </m:r>
                                      </m:e>
                                      <m:sub>
                                        <m:r>
                                          <a:rPr lang="en-US" sz="2400">
                                            <a:latin typeface="Cambria Math" panose="02040503050406030204" pitchFamily="18" charset="0"/>
                                            <a:cs typeface="DejaVu Math TeX Gyre" panose="02000503000000000000" charset="0"/>
                                          </a:rPr>
                                          <m:t>𝑓</m:t>
                                        </m:r>
                                      </m:sub>
                                    </m:sSub>
                                    <m:r>
                                      <a:rPr lang="en-US" sz="2400">
                                        <a:latin typeface="Cambria Math" panose="02040503050406030204" pitchFamily="18" charset="0"/>
                                        <a:ea typeface="MS Mincho" charset="0"/>
                                        <a:cs typeface="DejaVu Math TeX Gyre" panose="02000503000000000000" charset="0"/>
                                      </a:rPr>
                                      <m:t>⋅</m:t>
                                    </m:r>
                                    <m:sSub>
                                      <m:sSubPr>
                                        <m:ctrlPr>
                                          <a:rPr lang="en-US" sz="2400" i="1">
                                            <a:latin typeface="Cambria Math" panose="02040503050406030204" pitchFamily="18" charset="0"/>
                                            <a:cs typeface="DejaVu Math TeX Gyre" panose="02000503000000000000" charset="0"/>
                                          </a:rPr>
                                        </m:ctrlPr>
                                      </m:sSubPr>
                                      <m:e>
                                        <m:r>
                                          <a:rPr lang="en-US" sz="2400">
                                            <a:latin typeface="Cambria Math" panose="02040503050406030204" pitchFamily="18" charset="0"/>
                                            <a:cs typeface="DejaVu Math TeX Gyre" panose="02000503000000000000" charset="0"/>
                                          </a:rPr>
                                          <m:t>𝒗</m:t>
                                        </m:r>
                                      </m:e>
                                      <m:sub>
                                        <m:r>
                                          <a:rPr lang="en-US" sz="2400">
                                            <a:latin typeface="Cambria Math" panose="02040503050406030204" pitchFamily="18" charset="0"/>
                                            <a:cs typeface="DejaVu Math TeX Gyre" panose="02000503000000000000" charset="0"/>
                                          </a:rPr>
                                          <m:t>𝑐</m:t>
                                        </m:r>
                                      </m:sub>
                                    </m:sSub>
                                  </m:e>
                                </m:d>
                                <m:r>
                                  <a:rPr lang="en-US" sz="2400">
                                    <a:latin typeface="Cambria Math" panose="02040503050406030204" pitchFamily="18" charset="0"/>
                                    <a:ea typeface="MS Mincho" charset="0"/>
                                    <a:cs typeface="DejaVu Math TeX Gyre" panose="02000503000000000000" charset="0"/>
                                  </a:rPr>
                                  <m:t>+</m:t>
                                </m:r>
                                <m:d>
                                  <m:dPr>
                                    <m:ctrlPr>
                                      <a:rPr lang="en-US" sz="2400" i="1">
                                        <a:latin typeface="Cambria Math" panose="02040503050406030204" pitchFamily="18" charset="0"/>
                                        <a:cs typeface="DejaVu Math TeX Gyre" panose="02000503000000000000" charset="0"/>
                                      </a:rPr>
                                    </m:ctrlPr>
                                  </m:dPr>
                                  <m:e>
                                    <m:sSub>
                                      <m:sSubPr>
                                        <m:ctrlPr>
                                          <a:rPr lang="en-US" sz="2400" i="1">
                                            <a:latin typeface="Cambria Math" panose="02040503050406030204" pitchFamily="18" charset="0"/>
                                            <a:cs typeface="DejaVu Math TeX Gyre" panose="02000503000000000000" charset="0"/>
                                          </a:rPr>
                                        </m:ctrlPr>
                                      </m:sSubPr>
                                      <m:e>
                                        <m:r>
                                          <a:rPr lang="en-US" sz="2400">
                                            <a:latin typeface="Cambria Math" panose="02040503050406030204" pitchFamily="18" charset="0"/>
                                            <a:cs typeface="DejaVu Math TeX Gyre" panose="02000503000000000000" charset="0"/>
                                          </a:rPr>
                                          <m:t>𝑁</m:t>
                                        </m:r>
                                      </m:e>
                                      <m:sub>
                                        <m:r>
                                          <a:rPr lang="en-US" sz="2400">
                                            <a:latin typeface="Cambria Math" panose="02040503050406030204" pitchFamily="18" charset="0"/>
                                            <a:cs typeface="DejaVu Math TeX Gyre" panose="02000503000000000000" charset="0"/>
                                          </a:rPr>
                                          <m:t>𝑓</m:t>
                                        </m:r>
                                      </m:sub>
                                    </m:sSub>
                                    <m:r>
                                      <a:rPr lang="en-US" sz="2400">
                                        <a:latin typeface="Cambria Math" panose="02040503050406030204" pitchFamily="18" charset="0"/>
                                        <a:ea typeface="MS Mincho" charset="0"/>
                                        <a:cs typeface="DejaVu Math TeX Gyre" panose="02000503000000000000" charset="0"/>
                                      </a:rPr>
                                      <m:t>−</m:t>
                                    </m:r>
                                    <m:sSub>
                                      <m:sSubPr>
                                        <m:ctrlPr>
                                          <a:rPr lang="en-US" sz="2400" i="1">
                                            <a:latin typeface="Cambria Math" panose="02040503050406030204" pitchFamily="18" charset="0"/>
                                            <a:cs typeface="DejaVu Math TeX Gyre" panose="02000503000000000000" charset="0"/>
                                          </a:rPr>
                                        </m:ctrlPr>
                                      </m:sSubPr>
                                      <m:e>
                                        <m:r>
                                          <a:rPr lang="en-US" sz="2400">
                                            <a:latin typeface="Cambria Math" panose="02040503050406030204" pitchFamily="18" charset="0"/>
                                            <a:cs typeface="DejaVu Math TeX Gyre" panose="02000503000000000000" charset="0"/>
                                          </a:rPr>
                                          <m:t>𝑀</m:t>
                                        </m:r>
                                      </m:e>
                                      <m:sub>
                                        <m:r>
                                          <a:rPr lang="en-US" sz="2400">
                                            <a:latin typeface="Cambria Math" panose="02040503050406030204" pitchFamily="18" charset="0"/>
                                            <a:cs typeface="DejaVu Math TeX Gyre" panose="02000503000000000000" charset="0"/>
                                          </a:rPr>
                                          <m:t>𝑓</m:t>
                                        </m:r>
                                        <m:r>
                                          <a:rPr lang="en-US" sz="2400">
                                            <a:latin typeface="Cambria Math" panose="02040503050406030204" pitchFamily="18" charset="0"/>
                                            <a:ea typeface="MS Mincho" charset="0"/>
                                            <a:cs typeface="DejaVu Math TeX Gyre" panose="02000503000000000000" charset="0"/>
                                          </a:rPr>
                                          <m:t>,</m:t>
                                        </m:r>
                                        <m:r>
                                          <a:rPr lang="en-US" sz="2400">
                                            <a:latin typeface="Cambria Math" panose="02040503050406030204" pitchFamily="18" charset="0"/>
                                            <a:cs typeface="DejaVu Math TeX Gyre" panose="02000503000000000000" charset="0"/>
                                          </a:rPr>
                                          <m:t>𝑐</m:t>
                                        </m:r>
                                      </m:sub>
                                    </m:sSub>
                                  </m:e>
                                </m:d>
                                <m:func>
                                  <m:funcPr>
                                    <m:ctrlPr>
                                      <a:rPr lang="en-US" sz="2400" i="1">
                                        <a:latin typeface="Cambria Math" panose="02040503050406030204" pitchFamily="18" charset="0"/>
                                        <a:cs typeface="DejaVu Math TeX Gyre" panose="02000503000000000000" charset="0"/>
                                      </a:rPr>
                                    </m:ctrlPr>
                                  </m:funcPr>
                                  <m:fName>
                                    <m:r>
                                      <m:rPr>
                                        <m:sty m:val="p"/>
                                      </m:rPr>
                                      <a:rPr lang="en-US" sz="2400">
                                        <a:latin typeface="Cambria Math" panose="02040503050406030204" pitchFamily="18" charset="0"/>
                                        <a:cs typeface="DejaVu Math TeX Gyre" panose="02000503000000000000" charset="0"/>
                                      </a:rPr>
                                      <m:t>log</m:t>
                                    </m:r>
                                  </m:fName>
                                  <m:e>
                                    <m:r>
                                      <a:rPr lang="en-US" sz="2400">
                                        <a:latin typeface="Cambria Math" panose="02040503050406030204" pitchFamily="18" charset="0"/>
                                        <a:ea typeface="MS Mincho" charset="0"/>
                                        <a:cs typeface="DejaVu Math TeX Gyre" panose="02000503000000000000" charset="0"/>
                                      </a:rPr>
                                      <m:t>𝜎</m:t>
                                    </m:r>
                                    <m:d>
                                      <m:dPr>
                                        <m:ctrlPr>
                                          <a:rPr lang="en-US" sz="2400" i="1">
                                            <a:latin typeface="Cambria Math" panose="02040503050406030204" pitchFamily="18" charset="0"/>
                                            <a:cs typeface="DejaVu Math TeX Gyre" panose="02000503000000000000" charset="0"/>
                                          </a:rPr>
                                        </m:ctrlPr>
                                      </m:dPr>
                                      <m:e>
                                        <m:sSub>
                                          <m:sSubPr>
                                            <m:ctrlPr>
                                              <a:rPr lang="en-US" sz="2400" i="1">
                                                <a:latin typeface="Cambria Math" panose="02040503050406030204" pitchFamily="18" charset="0"/>
                                                <a:cs typeface="DejaVu Math TeX Gyre" panose="02000503000000000000" charset="0"/>
                                              </a:rPr>
                                            </m:ctrlPr>
                                          </m:sSubPr>
                                          <m:e>
                                            <m:r>
                                              <a:rPr lang="en-US" sz="2400">
                                                <a:latin typeface="Cambria Math" panose="02040503050406030204" pitchFamily="18" charset="0"/>
                                                <a:ea typeface="MS Mincho" charset="0"/>
                                                <a:cs typeface="DejaVu Math TeX Gyre" panose="02000503000000000000" charset="0"/>
                                              </a:rPr>
                                              <m:t>−</m:t>
                                            </m:r>
                                            <m:r>
                                              <a:rPr lang="en-US" sz="2400">
                                                <a:latin typeface="Cambria Math" panose="02040503050406030204" pitchFamily="18" charset="0"/>
                                                <a:cs typeface="DejaVu Math TeX Gyre" panose="02000503000000000000" charset="0"/>
                                              </a:rPr>
                                              <m:t>𝒖</m:t>
                                            </m:r>
                                          </m:e>
                                          <m:sub>
                                            <m:r>
                                              <a:rPr lang="en-US" sz="2400">
                                                <a:latin typeface="Cambria Math" panose="02040503050406030204" pitchFamily="18" charset="0"/>
                                                <a:cs typeface="DejaVu Math TeX Gyre" panose="02000503000000000000" charset="0"/>
                                              </a:rPr>
                                              <m:t>𝑓</m:t>
                                            </m:r>
                                          </m:sub>
                                        </m:sSub>
                                        <m:r>
                                          <a:rPr lang="en-US" sz="2400">
                                            <a:latin typeface="Cambria Math" panose="02040503050406030204" pitchFamily="18" charset="0"/>
                                            <a:ea typeface="MS Mincho" charset="0"/>
                                            <a:cs typeface="DejaVu Math TeX Gyre" panose="02000503000000000000" charset="0"/>
                                          </a:rPr>
                                          <m:t>⋅</m:t>
                                        </m:r>
                                        <m:sSub>
                                          <m:sSubPr>
                                            <m:ctrlPr>
                                              <a:rPr lang="en-US" sz="2400" i="1">
                                                <a:latin typeface="Cambria Math" panose="02040503050406030204" pitchFamily="18" charset="0"/>
                                                <a:cs typeface="DejaVu Math TeX Gyre" panose="02000503000000000000" charset="0"/>
                                              </a:rPr>
                                            </m:ctrlPr>
                                          </m:sSubPr>
                                          <m:e>
                                            <m:r>
                                              <a:rPr lang="en-US" sz="2400">
                                                <a:latin typeface="Cambria Math" panose="02040503050406030204" pitchFamily="18" charset="0"/>
                                                <a:cs typeface="DejaVu Math TeX Gyre" panose="02000503000000000000" charset="0"/>
                                              </a:rPr>
                                              <m:t>𝒗</m:t>
                                            </m:r>
                                          </m:e>
                                          <m:sub>
                                            <m:r>
                                              <a:rPr lang="en-US" sz="2400">
                                                <a:latin typeface="Cambria Math" panose="02040503050406030204" pitchFamily="18" charset="0"/>
                                                <a:cs typeface="DejaVu Math TeX Gyre" panose="02000503000000000000" charset="0"/>
                                              </a:rPr>
                                              <m:t>𝑐</m:t>
                                            </m:r>
                                          </m:sub>
                                        </m:sSub>
                                      </m:e>
                                    </m:d>
                                  </m:e>
                                </m:func>
                              </m:e>
                            </m:func>
                          </m:e>
                        </m:nary>
                      </m:e>
                    </m:func>
                  </m:oMath>
                </a14:m>
                <a:br>
                  <a:rPr lang="en-US" sz="2400">
                    <a:latin typeface="Cambria Math" panose="02040503050406030204" pitchFamily="18" charset="0"/>
                    <a:cs typeface="DejaVu Math TeX Gyre" panose="02000503000000000000" charset="0"/>
                  </a:rPr>
                </a:br>
                <a14:m>
                  <m:oMath xmlns:m="http://schemas.openxmlformats.org/officeDocument/2006/math">
                    <m:r>
                      <a:rPr lang="en-US" sz="2400">
                        <a:latin typeface="Cambria Math" panose="02040503050406030204" pitchFamily="18" charset="0"/>
                        <a:cs typeface="DejaVu Math TeX Gyre" panose="02000503000000000000" charset="0"/>
                      </a:rPr>
                      <m:t>≈</m:t>
                    </m:r>
                    <m:func>
                      <m:funcPr>
                        <m:ctrlPr>
                          <a:rPr lang="en-US" sz="2400" i="1">
                            <a:latin typeface="Cambria Math" panose="02040503050406030204" pitchFamily="18" charset="0"/>
                            <a:cs typeface="DejaVu Math TeX Gyre" panose="02000503000000000000" charset="0"/>
                          </a:rPr>
                        </m:ctrlPr>
                      </m:funcPr>
                      <m:fName>
                        <m:limLow>
                          <m:limLowPr>
                            <m:ctrlPr>
                              <a:rPr lang="en-US" sz="2400" i="1">
                                <a:latin typeface="Cambria Math" panose="02040503050406030204" pitchFamily="18" charset="0"/>
                                <a:cs typeface="DejaVu Math TeX Gyre" panose="02000503000000000000" charset="0"/>
                              </a:rPr>
                            </m:ctrlPr>
                          </m:limLowPr>
                          <m:e>
                            <m:r>
                              <m:rPr>
                                <m:sty m:val="p"/>
                              </m:rPr>
                              <a:rPr lang="en-US" sz="2400">
                                <a:latin typeface="Cambria Math" panose="02040503050406030204" pitchFamily="18" charset="0"/>
                                <a:cs typeface="DejaVu Math TeX Gyre" panose="02000503000000000000" charset="0"/>
                              </a:rPr>
                              <m:t>argmax</m:t>
                            </m:r>
                          </m:e>
                          <m:lim>
                            <m:r>
                              <a:rPr lang="en-US" sz="2400">
                                <a:latin typeface="Cambria Math" panose="02040503050406030204" pitchFamily="18" charset="0"/>
                                <a:cs typeface="DejaVu Math TeX Gyre" panose="02000503000000000000" charset="0"/>
                              </a:rPr>
                              <m:t>𝑼</m:t>
                            </m:r>
                            <m:r>
                              <a:rPr lang="en-US" sz="2400">
                                <a:latin typeface="Cambria Math" panose="02040503050406030204" pitchFamily="18" charset="0"/>
                                <a:ea typeface="MS Mincho" charset="0"/>
                                <a:cs typeface="DejaVu Math TeX Gyre" panose="02000503000000000000" charset="0"/>
                              </a:rPr>
                              <m:t>, </m:t>
                            </m:r>
                            <m:r>
                              <a:rPr lang="en-US" sz="2400">
                                <a:latin typeface="Cambria Math" panose="02040503050406030204" pitchFamily="18" charset="0"/>
                                <a:cs typeface="DejaVu Math TeX Gyre" panose="02000503000000000000" charset="0"/>
                              </a:rPr>
                              <m:t>𝑽</m:t>
                            </m:r>
                            <m:r>
                              <a:rPr lang="en-US" sz="2400">
                                <a:latin typeface="Cambria Math" panose="02040503050406030204" pitchFamily="18" charset="0"/>
                                <a:ea typeface="MS Mincho" charset="0"/>
                                <a:cs typeface="DejaVu Math TeX Gyre" panose="02000503000000000000" charset="0"/>
                              </a:rPr>
                              <m:t>∈</m:t>
                            </m:r>
                            <m:sSup>
                              <m:sSupPr>
                                <m:ctrlPr>
                                  <a:rPr lang="en-US" sz="2400" i="1">
                                    <a:latin typeface="Cambria Math" panose="02040503050406030204" pitchFamily="18" charset="0"/>
                                    <a:cs typeface="DejaVu Math TeX Gyre" panose="02000503000000000000" charset="0"/>
                                  </a:rPr>
                                </m:ctrlPr>
                              </m:sSupPr>
                              <m:e>
                                <m:r>
                                  <a:rPr lang="en-US" sz="2400">
                                    <a:latin typeface="Cambria Math" panose="02040503050406030204" pitchFamily="18" charset="0"/>
                                    <a:ea typeface="MS Mincho" charset="0"/>
                                    <a:cs typeface="DejaVu Math TeX Gyre" panose="02000503000000000000" charset="0"/>
                                  </a:rPr>
                                  <m:t>ℝ</m:t>
                                </m:r>
                              </m:e>
                              <m:sup>
                                <m:r>
                                  <a:rPr lang="en-US" sz="2400">
                                    <a:latin typeface="Cambria Math" panose="02040503050406030204" pitchFamily="18" charset="0"/>
                                    <a:cs typeface="DejaVu Math TeX Gyre" panose="02000503000000000000" charset="0"/>
                                  </a:rPr>
                                  <m:t>𝑉</m:t>
                                </m:r>
                                <m:r>
                                  <a:rPr lang="en-US" sz="2400">
                                    <a:latin typeface="Cambria Math" panose="02040503050406030204" pitchFamily="18" charset="0"/>
                                    <a:ea typeface="MS Mincho" charset="0"/>
                                    <a:cs typeface="DejaVu Math TeX Gyre" panose="02000503000000000000" charset="0"/>
                                  </a:rPr>
                                  <m:t>×</m:t>
                                </m:r>
                                <m:r>
                                  <a:rPr lang="en-US" sz="2400">
                                    <a:latin typeface="Cambria Math" panose="02040503050406030204" pitchFamily="18" charset="0"/>
                                    <a:cs typeface="DejaVu Math TeX Gyre" panose="02000503000000000000" charset="0"/>
                                  </a:rPr>
                                  <m:t>𝐷</m:t>
                                </m:r>
                              </m:sup>
                            </m:sSup>
                          </m:lim>
                        </m:limLow>
                      </m:fName>
                      <m:e>
                        <m:nary>
                          <m:naryPr>
                            <m:chr m:val="∑"/>
                            <m:supHide m:val="on"/>
                            <m:ctrlPr>
                              <a:rPr lang="en-US" sz="2400" i="1">
                                <a:latin typeface="Cambria Math" panose="02040503050406030204" pitchFamily="18" charset="0"/>
                                <a:cs typeface="DejaVu Math TeX Gyre" panose="02000503000000000000" charset="0"/>
                              </a:rPr>
                            </m:ctrlPr>
                          </m:naryPr>
                          <m:sub>
                            <m:sSub>
                              <m:sSubPr>
                                <m:ctrlPr>
                                  <a:rPr lang="en-US" sz="2400" i="1">
                                    <a:effectLst>
                                      <a:glow rad="228600">
                                        <a:schemeClr val="accent6">
                                          <a:satMod val="175000"/>
                                          <a:alpha val="40000"/>
                                        </a:schemeClr>
                                      </a:glow>
                                    </a:effectLst>
                                    <a:latin typeface="Cambria Math" panose="02040503050406030204" pitchFamily="18" charset="0"/>
                                    <a:cs typeface="DejaVu Math TeX Gyre" panose="02000503000000000000" charset="0"/>
                                  </a:rPr>
                                </m:ctrlPr>
                              </m:sSubPr>
                              <m:e>
                                <m:r>
                                  <a:rPr lang="en-US" sz="2400">
                                    <a:effectLst>
                                      <a:glow rad="228600">
                                        <a:schemeClr val="accent6">
                                          <a:satMod val="175000"/>
                                          <a:alpha val="40000"/>
                                        </a:schemeClr>
                                      </a:glow>
                                    </a:effectLst>
                                    <a:latin typeface="Cambria Math" panose="02040503050406030204" pitchFamily="18" charset="0"/>
                                    <a:cs typeface="DejaVu Math TeX Gyre" panose="02000503000000000000" charset="0"/>
                                  </a:rPr>
                                  <m:t>𝑓</m:t>
                                </m:r>
                                <m:r>
                                  <a:rPr lang="en-US" sz="2400">
                                    <a:effectLst>
                                      <a:glow rad="228600">
                                        <a:schemeClr val="accent6">
                                          <a:satMod val="175000"/>
                                          <a:alpha val="40000"/>
                                        </a:schemeClr>
                                      </a:glow>
                                    </a:effectLst>
                                    <a:latin typeface="Cambria Math" panose="02040503050406030204" pitchFamily="18" charset="0"/>
                                    <a:ea typeface="MS Mincho" charset="0"/>
                                    <a:cs typeface="DejaVu Math TeX Gyre" panose="02000503000000000000" charset="0"/>
                                  </a:rPr>
                                  <m:t>,</m:t>
                                </m:r>
                                <m:r>
                                  <a:rPr lang="en-US" sz="2400">
                                    <a:effectLst>
                                      <a:glow rad="228600">
                                        <a:schemeClr val="accent6">
                                          <a:satMod val="175000"/>
                                          <a:alpha val="40000"/>
                                        </a:schemeClr>
                                      </a:glow>
                                    </a:effectLst>
                                    <a:latin typeface="Cambria Math" panose="02040503050406030204" pitchFamily="18" charset="0"/>
                                    <a:cs typeface="DejaVu Math TeX Gyre" panose="02000503000000000000" charset="0"/>
                                  </a:rPr>
                                  <m:t>𝑐</m:t>
                                </m:r>
                              </m:e>
                              <m:sub>
                                <m:r>
                                  <a:rPr lang="en-US" sz="2400">
                                    <a:effectLst>
                                      <a:glow rad="228600">
                                        <a:schemeClr val="accent6">
                                          <a:satMod val="175000"/>
                                          <a:alpha val="40000"/>
                                        </a:schemeClr>
                                      </a:glow>
                                    </a:effectLst>
                                    <a:latin typeface="Cambria Math" panose="02040503050406030204" pitchFamily="18" charset="0"/>
                                    <a:ea typeface="MS Mincho" charset="0"/>
                                    <a:cs typeface="DejaVu Math TeX Gyre" panose="02000503000000000000" charset="0"/>
                                  </a:rPr>
                                  <m:t>⊕</m:t>
                                </m:r>
                              </m:sub>
                            </m:sSub>
                            <m:r>
                              <a:rPr lang="en-US" sz="2400">
                                <a:effectLst>
                                  <a:glow rad="228600">
                                    <a:schemeClr val="accent6">
                                      <a:satMod val="175000"/>
                                      <a:alpha val="40000"/>
                                    </a:schemeClr>
                                  </a:glow>
                                </a:effectLst>
                                <a:latin typeface="Cambria Math" panose="02040503050406030204" pitchFamily="18" charset="0"/>
                                <a:ea typeface="MS Mincho" charset="0"/>
                                <a:cs typeface="DejaVu Math TeX Gyre" panose="02000503000000000000" charset="0"/>
                              </a:rPr>
                              <m:t>∈</m:t>
                            </m:r>
                            <m:r>
                              <m:rPr>
                                <m:sty m:val="p"/>
                              </m:rPr>
                              <a:rPr lang="en-US" sz="2400">
                                <a:effectLst>
                                  <a:glow rad="228600">
                                    <a:schemeClr val="accent6">
                                      <a:satMod val="175000"/>
                                      <a:alpha val="40000"/>
                                    </a:schemeClr>
                                  </a:glow>
                                </a:effectLst>
                                <a:latin typeface="Cambria Math" panose="02040503050406030204" pitchFamily="18" charset="0"/>
                                <a:cs typeface="DejaVu Math TeX Gyre" panose="02000503000000000000" charset="0"/>
                              </a:rPr>
                              <m:t>text</m:t>
                            </m:r>
                          </m:sub>
                          <m:sup/>
                          <m:e>
                            <m:func>
                              <m:funcPr>
                                <m:ctrlPr>
                                  <a:rPr lang="en-US" sz="2400" i="1">
                                    <a:latin typeface="Cambria Math" panose="02040503050406030204" pitchFamily="18" charset="0"/>
                                    <a:cs typeface="DejaVu Math TeX Gyre" panose="02000503000000000000" charset="0"/>
                                  </a:rPr>
                                </m:ctrlPr>
                              </m:funcPr>
                              <m:fName>
                                <m:r>
                                  <m:rPr>
                                    <m:sty m:val="p"/>
                                  </m:rPr>
                                  <a:rPr lang="en-US" sz="2400">
                                    <a:latin typeface="Cambria Math" panose="02040503050406030204" pitchFamily="18" charset="0"/>
                                    <a:cs typeface="DejaVu Math TeX Gyre" panose="02000503000000000000" charset="0"/>
                                  </a:rPr>
                                  <m:t>log</m:t>
                                </m:r>
                              </m:fName>
                              <m:e>
                                <m:r>
                                  <a:rPr lang="en-US" sz="2400">
                                    <a:latin typeface="Cambria Math" panose="02040503050406030204" pitchFamily="18" charset="0"/>
                                    <a:ea typeface="MS Mincho" charset="0"/>
                                    <a:cs typeface="DejaVu Math TeX Gyre" panose="02000503000000000000" charset="0"/>
                                  </a:rPr>
                                  <m:t>𝜎</m:t>
                                </m:r>
                                <m:d>
                                  <m:dPr>
                                    <m:ctrlPr>
                                      <a:rPr lang="en-US" sz="2400" i="1">
                                        <a:latin typeface="Cambria Math" panose="02040503050406030204" pitchFamily="18" charset="0"/>
                                        <a:cs typeface="DejaVu Math TeX Gyre" panose="02000503000000000000" charset="0"/>
                                      </a:rPr>
                                    </m:ctrlPr>
                                  </m:dPr>
                                  <m:e>
                                    <m:sSub>
                                      <m:sSubPr>
                                        <m:ctrlPr>
                                          <a:rPr lang="en-US" sz="2400" i="1">
                                            <a:latin typeface="Cambria Math" panose="02040503050406030204" pitchFamily="18" charset="0"/>
                                            <a:cs typeface="DejaVu Math TeX Gyre" panose="02000503000000000000" charset="0"/>
                                          </a:rPr>
                                        </m:ctrlPr>
                                      </m:sSubPr>
                                      <m:e>
                                        <m:r>
                                          <a:rPr lang="en-US" sz="2400">
                                            <a:latin typeface="Cambria Math" panose="02040503050406030204" pitchFamily="18" charset="0"/>
                                            <a:cs typeface="DejaVu Math TeX Gyre" panose="02000503000000000000" charset="0"/>
                                          </a:rPr>
                                          <m:t>𝒖</m:t>
                                        </m:r>
                                      </m:e>
                                      <m:sub>
                                        <m:r>
                                          <a:rPr lang="en-US" sz="2400">
                                            <a:latin typeface="Cambria Math" panose="02040503050406030204" pitchFamily="18" charset="0"/>
                                            <a:cs typeface="DejaVu Math TeX Gyre" panose="02000503000000000000" charset="0"/>
                                          </a:rPr>
                                          <m:t>𝑓</m:t>
                                        </m:r>
                                      </m:sub>
                                    </m:sSub>
                                    <m:r>
                                      <a:rPr lang="en-US" sz="2400">
                                        <a:latin typeface="Cambria Math" panose="02040503050406030204" pitchFamily="18" charset="0"/>
                                        <a:ea typeface="MS Mincho" charset="0"/>
                                        <a:cs typeface="DejaVu Math TeX Gyre" panose="02000503000000000000" charset="0"/>
                                      </a:rPr>
                                      <m:t>⋅</m:t>
                                    </m:r>
                                    <m:sSub>
                                      <m:sSubPr>
                                        <m:ctrlPr>
                                          <a:rPr lang="en-US" sz="2400" i="1">
                                            <a:latin typeface="Cambria Math" panose="02040503050406030204" pitchFamily="18" charset="0"/>
                                            <a:cs typeface="DejaVu Math TeX Gyre" panose="02000503000000000000" charset="0"/>
                                          </a:rPr>
                                        </m:ctrlPr>
                                      </m:sSubPr>
                                      <m:e>
                                        <m:r>
                                          <a:rPr lang="en-US" sz="2400">
                                            <a:latin typeface="Cambria Math" panose="02040503050406030204" pitchFamily="18" charset="0"/>
                                            <a:cs typeface="DejaVu Math TeX Gyre" panose="02000503000000000000" charset="0"/>
                                          </a:rPr>
                                          <m:t>𝒗</m:t>
                                        </m:r>
                                      </m:e>
                                      <m:sub>
                                        <m:r>
                                          <a:rPr lang="en-US" sz="2400">
                                            <a:latin typeface="Cambria Math" panose="02040503050406030204" pitchFamily="18" charset="0"/>
                                            <a:cs typeface="DejaVu Math TeX Gyre" panose="02000503000000000000" charset="0"/>
                                          </a:rPr>
                                          <m:t>𝑐</m:t>
                                        </m:r>
                                        <m:r>
                                          <a:rPr lang="en-US" sz="2400">
                                            <a:latin typeface="Cambria Math" panose="02040503050406030204" pitchFamily="18" charset="0"/>
                                            <a:ea typeface="MS Mincho" charset="0"/>
                                            <a:cs typeface="DejaVu Math TeX Gyre" panose="02000503000000000000" charset="0"/>
                                          </a:rPr>
                                          <m:t>⊕</m:t>
                                        </m:r>
                                      </m:sub>
                                    </m:sSub>
                                  </m:e>
                                </m:d>
                              </m:e>
                            </m:func>
                            <m:r>
                              <a:rPr lang="en-US" sz="2400">
                                <a:latin typeface="Cambria Math" panose="02040503050406030204" pitchFamily="18" charset="0"/>
                                <a:ea typeface="MS Mincho" charset="0"/>
                                <a:cs typeface="DejaVu Math TeX Gyre" panose="02000503000000000000" charset="0"/>
                              </a:rPr>
                              <m:t>+</m:t>
                            </m:r>
                          </m:e>
                        </m:nary>
                        <m:nary>
                          <m:naryPr>
                            <m:chr m:val="∑"/>
                            <m:supHide m:val="on"/>
                            <m:ctrlPr>
                              <a:rPr lang="en-US" sz="2400" i="1">
                                <a:latin typeface="Cambria Math" panose="02040503050406030204" pitchFamily="18" charset="0"/>
                                <a:cs typeface="DejaVu Math TeX Gyre" panose="02000503000000000000" charset="0"/>
                              </a:rPr>
                            </m:ctrlPr>
                          </m:naryPr>
                          <m:sub>
                            <m:r>
                              <m:rPr>
                                <m:brk m:alnAt="7"/>
                              </m:rPr>
                              <a:rPr lang="en-US" sz="2400">
                                <a:effectLst>
                                  <a:glow rad="228600">
                                    <a:schemeClr val="accent6">
                                      <a:satMod val="175000"/>
                                      <a:alpha val="40000"/>
                                    </a:schemeClr>
                                  </a:glow>
                                </a:effectLst>
                                <a:latin typeface="Cambria Math" panose="02040503050406030204" pitchFamily="18" charset="0"/>
                                <a:cs typeface="DejaVu Math TeX Gyre" panose="02000503000000000000" charset="0"/>
                              </a:rPr>
                              <m:t>𝑓</m:t>
                            </m:r>
                            <m:r>
                              <a:rPr lang="en-US" sz="2400">
                                <a:effectLst>
                                  <a:glow rad="228600">
                                    <a:schemeClr val="accent6">
                                      <a:satMod val="175000"/>
                                      <a:alpha val="40000"/>
                                    </a:schemeClr>
                                  </a:glow>
                                </a:effectLst>
                                <a:latin typeface="Cambria Math" panose="02040503050406030204" pitchFamily="18" charset="0"/>
                                <a:ea typeface="MS Mincho" charset="0"/>
                                <a:cs typeface="DejaVu Math TeX Gyre" panose="02000503000000000000" charset="0"/>
                              </a:rPr>
                              <m:t>∈</m:t>
                            </m:r>
                            <m:r>
                              <m:rPr>
                                <m:sty m:val="p"/>
                              </m:rPr>
                              <a:rPr lang="en-US" sz="2400">
                                <a:effectLst>
                                  <a:glow rad="228600">
                                    <a:schemeClr val="accent6">
                                      <a:satMod val="175000"/>
                                      <a:alpha val="40000"/>
                                    </a:schemeClr>
                                  </a:glow>
                                </a:effectLst>
                                <a:latin typeface="Cambria Math" panose="02040503050406030204" pitchFamily="18" charset="0"/>
                                <a:cs typeface="DejaVu Math TeX Gyre" panose="02000503000000000000" charset="0"/>
                              </a:rPr>
                              <m:t>text</m:t>
                            </m:r>
                          </m:sub>
                          <m:sup/>
                          <m:e>
                            <m:r>
                              <a:rPr lang="en-US" sz="2400">
                                <a:latin typeface="Cambria Math" panose="02040503050406030204" pitchFamily="18" charset="0"/>
                                <a:cs typeface="DejaVu Math TeX Gyre" panose="02000503000000000000" charset="0"/>
                              </a:rPr>
                              <m:t> </m:t>
                            </m:r>
                            <m:nary>
                              <m:naryPr>
                                <m:chr m:val="∑"/>
                                <m:supHide m:val="on"/>
                                <m:ctrlPr>
                                  <a:rPr lang="en-US" sz="2400" i="1">
                                    <a:latin typeface="Cambria Math" panose="02040503050406030204" pitchFamily="18" charset="0"/>
                                    <a:cs typeface="DejaVu Math TeX Gyre" panose="02000503000000000000" charset="0"/>
                                  </a:rPr>
                                </m:ctrlPr>
                              </m:naryPr>
                              <m:sub>
                                <m:sSub>
                                  <m:sSubPr>
                                    <m:ctrlPr>
                                      <a:rPr lang="en-US" sz="2400" i="1">
                                        <a:effectLst>
                                          <a:glow rad="228600">
                                            <a:schemeClr val="accent2">
                                              <a:satMod val="175000"/>
                                              <a:alpha val="40000"/>
                                            </a:schemeClr>
                                          </a:glow>
                                        </a:effectLst>
                                        <a:latin typeface="Cambria Math" panose="02040503050406030204" pitchFamily="18" charset="0"/>
                                        <a:cs typeface="DejaVu Math TeX Gyre" panose="02000503000000000000" charset="0"/>
                                      </a:rPr>
                                    </m:ctrlPr>
                                  </m:sSubPr>
                                  <m:e>
                                    <m:r>
                                      <m:rPr>
                                        <m:brk m:alnAt="7"/>
                                      </m:rPr>
                                      <a:rPr lang="en-US" sz="2400">
                                        <a:effectLst>
                                          <a:glow rad="228600">
                                            <a:schemeClr val="accent2">
                                              <a:satMod val="175000"/>
                                              <a:alpha val="40000"/>
                                            </a:schemeClr>
                                          </a:glow>
                                        </a:effectLst>
                                        <a:latin typeface="Cambria Math" panose="02040503050406030204" pitchFamily="18" charset="0"/>
                                        <a:cs typeface="DejaVu Math TeX Gyre" panose="02000503000000000000" charset="0"/>
                                      </a:rPr>
                                      <m:t>𝑐</m:t>
                                    </m:r>
                                  </m:e>
                                  <m:sub>
                                    <m:r>
                                      <m:rPr>
                                        <m:brk m:alnAt="7"/>
                                      </m:rPr>
                                      <a:rPr lang="en-US" sz="2400">
                                        <a:effectLst>
                                          <a:glow rad="228600">
                                            <a:schemeClr val="accent2">
                                              <a:satMod val="175000"/>
                                              <a:alpha val="40000"/>
                                            </a:schemeClr>
                                          </a:glow>
                                        </a:effectLst>
                                        <a:latin typeface="Cambria Math" panose="02040503050406030204" pitchFamily="18" charset="0"/>
                                        <a:ea typeface="MS Mincho" charset="0"/>
                                        <a:cs typeface="DejaVu Math TeX Gyre" panose="02000503000000000000" charset="0"/>
                                      </a:rPr>
                                      <m:t>⊖</m:t>
                                    </m:r>
                                  </m:sub>
                                </m:sSub>
                                <m:r>
                                  <a:rPr lang="en-US" sz="2400">
                                    <a:effectLst>
                                      <a:glow rad="228600">
                                        <a:schemeClr val="accent2">
                                          <a:satMod val="175000"/>
                                          <a:alpha val="40000"/>
                                        </a:schemeClr>
                                      </a:glow>
                                    </a:effectLst>
                                    <a:latin typeface="Cambria Math" panose="02040503050406030204" pitchFamily="18" charset="0"/>
                                    <a:ea typeface="MS Mincho" charset="0"/>
                                    <a:cs typeface="DejaVu Math TeX Gyre" panose="02000503000000000000" charset="0"/>
                                  </a:rPr>
                                  <m:t>∈</m:t>
                                </m:r>
                                <m:r>
                                  <m:rPr>
                                    <m:sty m:val="p"/>
                                  </m:rPr>
                                  <a:rPr lang="en-US" sz="2400">
                                    <a:effectLst>
                                      <a:glow rad="228600">
                                        <a:schemeClr val="accent2">
                                          <a:satMod val="175000"/>
                                          <a:alpha val="40000"/>
                                        </a:schemeClr>
                                      </a:glow>
                                    </a:effectLst>
                                    <a:latin typeface="Cambria Math" panose="02040503050406030204" pitchFamily="18" charset="0"/>
                                    <a:cs typeface="DejaVu Math TeX Gyre" panose="02000503000000000000" charset="0"/>
                                  </a:rPr>
                                  <m:t>sample</m:t>
                                </m:r>
                              </m:sub>
                              <m:sup/>
                              <m:e>
                                <m:func>
                                  <m:funcPr>
                                    <m:ctrlPr>
                                      <a:rPr lang="en-US" sz="2400" i="1">
                                        <a:latin typeface="Cambria Math" panose="02040503050406030204" pitchFamily="18" charset="0"/>
                                        <a:cs typeface="DejaVu Math TeX Gyre" panose="02000503000000000000" charset="0"/>
                                      </a:rPr>
                                    </m:ctrlPr>
                                  </m:funcPr>
                                  <m:fName>
                                    <m:r>
                                      <m:rPr>
                                        <m:sty m:val="p"/>
                                      </m:rPr>
                                      <a:rPr lang="en-US" sz="2400">
                                        <a:latin typeface="Cambria Math" panose="02040503050406030204" pitchFamily="18" charset="0"/>
                                        <a:cs typeface="DejaVu Math TeX Gyre" panose="02000503000000000000" charset="0"/>
                                      </a:rPr>
                                      <m:t>log</m:t>
                                    </m:r>
                                  </m:fName>
                                  <m:e>
                                    <m:r>
                                      <a:rPr lang="en-US" sz="2400">
                                        <a:latin typeface="Cambria Math" panose="02040503050406030204" pitchFamily="18" charset="0"/>
                                        <a:ea typeface="MS Mincho" charset="0"/>
                                        <a:cs typeface="DejaVu Math TeX Gyre" panose="02000503000000000000" charset="0"/>
                                      </a:rPr>
                                      <m:t>𝜎</m:t>
                                    </m:r>
                                    <m:d>
                                      <m:dPr>
                                        <m:ctrlPr>
                                          <a:rPr lang="en-US" sz="2400" i="1">
                                            <a:latin typeface="Cambria Math" panose="02040503050406030204" pitchFamily="18" charset="0"/>
                                            <a:cs typeface="DejaVu Math TeX Gyre" panose="02000503000000000000" charset="0"/>
                                          </a:rPr>
                                        </m:ctrlPr>
                                      </m:dPr>
                                      <m:e>
                                        <m:sSub>
                                          <m:sSubPr>
                                            <m:ctrlPr>
                                              <a:rPr lang="en-US" sz="2400" i="1">
                                                <a:latin typeface="Cambria Math" panose="02040503050406030204" pitchFamily="18" charset="0"/>
                                                <a:cs typeface="DejaVu Math TeX Gyre" panose="02000503000000000000" charset="0"/>
                                              </a:rPr>
                                            </m:ctrlPr>
                                          </m:sSubPr>
                                          <m:e>
                                            <m:r>
                                              <a:rPr lang="en-US" sz="2400">
                                                <a:latin typeface="Cambria Math" panose="02040503050406030204" pitchFamily="18" charset="0"/>
                                                <a:ea typeface="MS Mincho" charset="0"/>
                                                <a:cs typeface="DejaVu Math TeX Gyre" panose="02000503000000000000" charset="0"/>
                                              </a:rPr>
                                              <m:t>−</m:t>
                                            </m:r>
                                            <m:r>
                                              <a:rPr lang="en-US" sz="2400">
                                                <a:latin typeface="Cambria Math" panose="02040503050406030204" pitchFamily="18" charset="0"/>
                                                <a:cs typeface="DejaVu Math TeX Gyre" panose="02000503000000000000" charset="0"/>
                                              </a:rPr>
                                              <m:t>𝒖</m:t>
                                            </m:r>
                                          </m:e>
                                          <m:sub>
                                            <m:r>
                                              <a:rPr lang="en-US" sz="2400">
                                                <a:latin typeface="Cambria Math" panose="02040503050406030204" pitchFamily="18" charset="0"/>
                                                <a:cs typeface="DejaVu Math TeX Gyre" panose="02000503000000000000" charset="0"/>
                                              </a:rPr>
                                              <m:t>𝑓</m:t>
                                            </m:r>
                                          </m:sub>
                                        </m:sSub>
                                        <m:r>
                                          <a:rPr lang="en-US" sz="2400">
                                            <a:latin typeface="Cambria Math" panose="02040503050406030204" pitchFamily="18" charset="0"/>
                                            <a:ea typeface="MS Mincho" charset="0"/>
                                            <a:cs typeface="DejaVu Math TeX Gyre" panose="02000503000000000000" charset="0"/>
                                          </a:rPr>
                                          <m:t>⋅</m:t>
                                        </m:r>
                                        <m:sSub>
                                          <m:sSubPr>
                                            <m:ctrlPr>
                                              <a:rPr lang="en-US" sz="2400" i="1">
                                                <a:latin typeface="Cambria Math" panose="02040503050406030204" pitchFamily="18" charset="0"/>
                                                <a:cs typeface="DejaVu Math TeX Gyre" panose="02000503000000000000" charset="0"/>
                                              </a:rPr>
                                            </m:ctrlPr>
                                          </m:sSubPr>
                                          <m:e>
                                            <m:r>
                                              <a:rPr lang="en-US" sz="2400">
                                                <a:latin typeface="Cambria Math" panose="02040503050406030204" pitchFamily="18" charset="0"/>
                                                <a:cs typeface="DejaVu Math TeX Gyre" panose="02000503000000000000" charset="0"/>
                                              </a:rPr>
                                              <m:t>𝒗</m:t>
                                            </m:r>
                                          </m:e>
                                          <m:sub>
                                            <m:r>
                                              <a:rPr lang="en-US" sz="2400">
                                                <a:latin typeface="Cambria Math" panose="02040503050406030204" pitchFamily="18" charset="0"/>
                                                <a:cs typeface="DejaVu Math TeX Gyre" panose="02000503000000000000" charset="0"/>
                                              </a:rPr>
                                              <m:t>𝑐</m:t>
                                            </m:r>
                                            <m:r>
                                              <a:rPr lang="en-US" sz="2400">
                                                <a:latin typeface="Cambria Math" panose="02040503050406030204" pitchFamily="18" charset="0"/>
                                                <a:ea typeface="MS Mincho" charset="0"/>
                                                <a:cs typeface="DejaVu Math TeX Gyre" panose="02000503000000000000" charset="0"/>
                                              </a:rPr>
                                              <m:t>⊖</m:t>
                                            </m:r>
                                          </m:sub>
                                        </m:sSub>
                                      </m:e>
                                    </m:d>
                                  </m:e>
                                </m:func>
                              </m:e>
                            </m:nary>
                          </m:e>
                        </m:nary>
                      </m:e>
                    </m:func>
                  </m:oMath>
                </a14:m>
                <a:endParaRPr lang="en-US" sz="2400"/>
              </a:p>
              <a:p>
                <a:pPr fontAlgn="auto">
                  <a:lnSpc>
                    <a:spcPct val="100000"/>
                  </a:lnSpc>
                </a:pPr>
                <a:r>
                  <a:rPr lang="en-US" sz="2800"/>
                  <a:t>Instead of all </a:t>
                </a:r>
                <a14:m>
                  <m:oMath xmlns:m="http://schemas.openxmlformats.org/officeDocument/2006/math">
                    <m:sSub>
                      <m:sSubPr>
                        <m:ctrlPr>
                          <a:rPr lang="en-US" sz="2800" i="1">
                            <a:latin typeface="Cambria Math" panose="02040503050406030204" pitchFamily="18" charset="0"/>
                            <a:cs typeface="DejaVu Math TeX Gyre" panose="02000503000000000000" charset="0"/>
                          </a:rPr>
                        </m:ctrlPr>
                      </m:sSubPr>
                      <m:e>
                        <m:r>
                          <a:rPr lang="en-US" sz="2800">
                            <a:latin typeface="Cambria Math" panose="02040503050406030204" pitchFamily="18" charset="0"/>
                            <a:cs typeface="DejaVu Math TeX Gyre" panose="02000503000000000000" charset="0"/>
                          </a:rPr>
                          <m:t>𝑐</m:t>
                        </m:r>
                      </m:e>
                      <m:sub>
                        <m:r>
                          <a:rPr lang="en-US" sz="2800">
                            <a:latin typeface="Cambria Math" panose="02040503050406030204" pitchFamily="18" charset="0"/>
                            <a:ea typeface="MS Mincho" charset="0"/>
                            <a:cs typeface="DejaVu Math TeX Gyre" panose="02000503000000000000" charset="0"/>
                          </a:rPr>
                          <m:t>⊖</m:t>
                        </m:r>
                      </m:sub>
                    </m:sSub>
                  </m:oMath>
                </a14:m>
                <a:r>
                  <a:rPr lang="en-US" sz="2800"/>
                  <a:t>, sample a few (</a:t>
                </a:r>
                <a14:m>
                  <m:oMath xmlns:m="http://schemas.openxmlformats.org/officeDocument/2006/math">
                    <m:r>
                      <a:rPr lang="en-US" sz="2800">
                        <a:latin typeface="Cambria Math" panose="02040503050406030204" pitchFamily="18" charset="0"/>
                        <a:cs typeface="DejaVu Math TeX Gyre" panose="02000503000000000000" charset="0"/>
                      </a:rPr>
                      <m:t>𝐾</m:t>
                    </m:r>
                    <m:r>
                      <a:rPr lang="en-US" sz="2800">
                        <a:latin typeface="Cambria Math" panose="02040503050406030204" pitchFamily="18" charset="0"/>
                        <a:ea typeface="MS Mincho" charset="0"/>
                        <a:cs typeface="DejaVu Math TeX Gyre" panose="02000503000000000000" charset="0"/>
                      </a:rPr>
                      <m:t>≈10</m:t>
                    </m:r>
                  </m:oMath>
                </a14:m>
                <a:r>
                  <a:rPr lang="en-US" sz="2800"/>
                  <a:t>) from corpus unigram distribution</a:t>
                </a:r>
              </a:p>
              <a:p>
                <a:pPr lvl="1" fontAlgn="auto">
                  <a:lnSpc>
                    <a:spcPct val="100000"/>
                  </a:lnSpc>
                </a:pPr>
                <a:r>
                  <a:rPr lang="en-US" sz="2400"/>
                  <a:t>Not quite … “</a:t>
                </a:r>
                <a14:m>
                  <m:oMath xmlns:m="http://schemas.openxmlformats.org/officeDocument/2006/math">
                    <m:sSup>
                      <m:sSupPr>
                        <m:ctrlPr>
                          <a:rPr lang="en-US" sz="2400" i="1">
                            <a:latin typeface="Cambria Math" panose="02040503050406030204" pitchFamily="18" charset="0"/>
                            <a:cs typeface="DejaVu Math TeX Gyre" panose="02000503000000000000" charset="0"/>
                          </a:rPr>
                        </m:ctrlPr>
                      </m:sSupPr>
                      <m:e>
                        <m:r>
                          <m:rPr>
                            <m:nor/>
                          </m:rPr>
                          <a:rPr lang="en-US" sz="2400">
                            <a:latin typeface="DejaVu Math TeX Gyre" panose="02000503000000000000" charset="0"/>
                            <a:cs typeface="DejaVu Math TeX Gyre" panose="02000503000000000000" charset="0"/>
                          </a:rPr>
                          <m:t>unigram</m:t>
                        </m:r>
                      </m:e>
                      <m:sup>
                        <m:f>
                          <m:fPr>
                            <m:type m:val="lin"/>
                            <m:ctrlPr>
                              <a:rPr lang="en-US" sz="2400" i="1">
                                <a:latin typeface="Cambria Math" panose="02040503050406030204" pitchFamily="18" charset="0"/>
                                <a:cs typeface="DejaVu Math TeX Gyre" panose="02000503000000000000" charset="0"/>
                              </a:rPr>
                            </m:ctrlPr>
                          </m:fPr>
                          <m:num>
                            <m:r>
                              <a:rPr lang="en-US" sz="2400">
                                <a:latin typeface="Cambria Math" panose="02040503050406030204" pitchFamily="18" charset="0"/>
                                <a:ea typeface="MS Mincho" charset="0"/>
                                <a:cs typeface="DejaVu Math TeX Gyre" panose="02000503000000000000" charset="0"/>
                              </a:rPr>
                              <m:t>3</m:t>
                            </m:r>
                          </m:num>
                          <m:den>
                            <m:r>
                              <a:rPr lang="en-US" sz="2400">
                                <a:latin typeface="Cambria Math" panose="02040503050406030204" pitchFamily="18" charset="0"/>
                                <a:ea typeface="MS Mincho" charset="0"/>
                                <a:cs typeface="DejaVu Math TeX Gyre" panose="02000503000000000000" charset="0"/>
                              </a:rPr>
                              <m:t>4</m:t>
                            </m:r>
                          </m:den>
                        </m:f>
                      </m:sup>
                    </m:sSup>
                  </m:oMath>
                </a14:m>
                <a:r>
                  <a:rPr lang="en-US" sz="2400"/>
                  <a:t>” and other mysteries of nature</a:t>
                </a:r>
              </a:p>
              <a:p>
                <a:pPr lvl="1" fontAlgn="auto">
                  <a:lnSpc>
                    <a:spcPct val="100000"/>
                  </a:lnSpc>
                </a:pPr>
                <a:r>
                  <a:rPr lang="en-US" sz="2400"/>
                  <a:t>Sample with repetition, hope they are not among </a:t>
                </a:r>
                <a14:m>
                  <m:oMath xmlns:m="http://schemas.openxmlformats.org/officeDocument/2006/math">
                    <m:sSub>
                      <m:sSubPr>
                        <m:ctrlPr>
                          <a:rPr lang="en-US" sz="2400" i="1">
                            <a:latin typeface="Cambria Math" panose="02040503050406030204" pitchFamily="18" charset="0"/>
                            <a:cs typeface="DejaVu Math TeX Gyre" panose="02000503000000000000" charset="0"/>
                          </a:rPr>
                        </m:ctrlPr>
                      </m:sSubPr>
                      <m:e>
                        <m:r>
                          <a:rPr lang="en-US" sz="2400">
                            <a:latin typeface="Cambria Math" panose="02040503050406030204" pitchFamily="18" charset="0"/>
                            <a:cs typeface="DejaVu Math TeX Gyre" panose="02000503000000000000" charset="0"/>
                          </a:rPr>
                          <m:t>𝑐</m:t>
                        </m:r>
                      </m:e>
                      <m:sub>
                        <m:r>
                          <a:rPr lang="en-US" sz="2400">
                            <a:latin typeface="Cambria Math" panose="02040503050406030204" pitchFamily="18" charset="0"/>
                            <a:ea typeface="MS Mincho" charset="0"/>
                            <a:cs typeface="DejaVu Math TeX Gyre" panose="02000503000000000000" charset="0"/>
                          </a:rPr>
                          <m:t>⊕</m:t>
                        </m:r>
                      </m:sub>
                    </m:sSub>
                  </m:oMath>
                </a14:m>
                <a:r>
                  <a:rPr lang="en-US" sz="2400"/>
                  <a:t> by chance</a:t>
                </a:r>
              </a:p>
            </p:txBody>
          </p:sp>
        </mc:Choice>
        <mc:Fallback xmlns="">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2"/>
                <a:stretch>
                  <a:fillRect/>
                </a:stretch>
              </a:blipFill>
            </p:spPr>
            <p:txBody>
              <a:bodyPr/>
              <a:lstStyle/>
              <a:p>
                <a:r>
                  <a:rPr lang="en-US" altLang="en-US">
                    <a:noFill/>
                  </a:rPr>
                  <a:t> </a:t>
                </a:r>
              </a:p>
            </p:txBody>
          </p:sp>
        </mc:Fallback>
      </mc:AlternateContent>
      <p:sp>
        <p:nvSpPr>
          <p:cNvPr id="2" name="Title 1"/>
          <p:cNvSpPr>
            <a:spLocks noGrp="1"/>
          </p:cNvSpPr>
          <p:nvPr>
            <p:ph type="title"/>
          </p:nvPr>
        </p:nvSpPr>
        <p:spPr/>
        <p:txBody>
          <a:bodyPr/>
          <a:lstStyle/>
          <a:p>
            <a:r>
              <a:rPr lang="en-US"/>
              <a:t>Stochastic gradient ascent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Solution</a:t>
            </a:r>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74930" y="913130"/>
                <a:ext cx="12055475" cy="5831840"/>
              </a:xfrm>
            </p:spPr>
            <p:txBody>
              <a:bodyPr>
                <a:normAutofit/>
              </a:bodyPr>
              <a:lstStyle/>
              <a:p>
                <a:pPr>
                  <a:lnSpc>
                    <a:spcPct val="100000"/>
                  </a:lnSpc>
                </a:pPr>
                <a:r>
                  <a:rPr lang="en-US" sz="2800">
                    <a:ea typeface="Cambria Math" panose="02040503050406030204" pitchFamily="18" charset="0"/>
                  </a:rPr>
                  <a:t>Objective is </a:t>
                </a:r>
                <a14:m>
                  <m:oMath xmlns:m="http://schemas.openxmlformats.org/officeDocument/2006/math">
                    <m:nary>
                      <m:naryPr>
                        <m:chr m:val="∑"/>
                        <m:supHide m:val="on"/>
                        <m:ctrlPr>
                          <a:rPr lang="en-US" sz="2800" i="1">
                            <a:latin typeface="Cambria Math" panose="02040503050406030204" pitchFamily="18" charset="0"/>
                            <a:ea typeface="Cambria Math" panose="02040503050406030204" pitchFamily="18" charset="0"/>
                          </a:rPr>
                        </m:ctrlPr>
                      </m:naryPr>
                      <m:sub>
                        <m:sSub>
                          <m:sSubPr>
                            <m:ctrlPr>
                              <a:rPr lang="en-US" sz="2800" i="1">
                                <a:effectLst>
                                  <a:glow rad="228600">
                                    <a:schemeClr val="accent6">
                                      <a:satMod val="175000"/>
                                      <a:alpha val="40000"/>
                                    </a:schemeClr>
                                  </a:glow>
                                </a:effectLst>
                                <a:latin typeface="Cambria Math" panose="02040503050406030204" pitchFamily="18" charset="0"/>
                                <a:ea typeface="Cambria Math" panose="02040503050406030204" pitchFamily="18" charset="0"/>
                              </a:rPr>
                            </m:ctrlPr>
                          </m:sSubPr>
                          <m:e>
                            <m:r>
                              <a:rPr lang="en-US" sz="2800" i="1">
                                <a:effectLst>
                                  <a:glow rad="228600">
                                    <a:schemeClr val="accent6">
                                      <a:satMod val="175000"/>
                                      <a:alpha val="40000"/>
                                    </a:schemeClr>
                                  </a:glow>
                                </a:effectLst>
                                <a:latin typeface="Cambria Math" panose="02040503050406030204" pitchFamily="18" charset="0"/>
                                <a:ea typeface="Cambria Math" panose="02040503050406030204" pitchFamily="18" charset="0"/>
                              </a:rPr>
                              <m:t>𝑓</m:t>
                            </m:r>
                            <m:r>
                              <a:rPr lang="en-US" sz="2800" i="1">
                                <a:effectLst>
                                  <a:glow rad="228600">
                                    <a:schemeClr val="accent6">
                                      <a:satMod val="175000"/>
                                      <a:alpha val="40000"/>
                                    </a:schemeClr>
                                  </a:glow>
                                </a:effectLst>
                                <a:latin typeface="Cambria Math" panose="02040503050406030204" pitchFamily="18" charset="0"/>
                                <a:ea typeface="Cambria Math" panose="02040503050406030204" pitchFamily="18" charset="0"/>
                              </a:rPr>
                              <m:t>,</m:t>
                            </m:r>
                            <m:r>
                              <a:rPr lang="en-US" sz="2800" i="1">
                                <a:effectLst>
                                  <a:glow rad="228600">
                                    <a:schemeClr val="accent6">
                                      <a:satMod val="175000"/>
                                      <a:alpha val="40000"/>
                                    </a:schemeClr>
                                  </a:glow>
                                </a:effectLst>
                                <a:latin typeface="Cambria Math" panose="02040503050406030204" pitchFamily="18" charset="0"/>
                                <a:ea typeface="Cambria Math" panose="02040503050406030204" pitchFamily="18" charset="0"/>
                              </a:rPr>
                              <m:t>𝑐</m:t>
                            </m:r>
                          </m:e>
                          <m:sub>
                            <m:r>
                              <a:rPr lang="en-US" sz="2800" i="1">
                                <a:effectLst>
                                  <a:glow rad="228600">
                                    <a:schemeClr val="accent6">
                                      <a:satMod val="175000"/>
                                      <a:alpha val="40000"/>
                                    </a:schemeClr>
                                  </a:glow>
                                </a:effectLst>
                                <a:latin typeface="Cambria Math" panose="02040503050406030204" pitchFamily="18" charset="0"/>
                                <a:ea typeface="Cambria Math" panose="02040503050406030204" pitchFamily="18" charset="0"/>
                              </a:rPr>
                              <m:t>⊕</m:t>
                            </m:r>
                          </m:sub>
                        </m:sSub>
                        <m:r>
                          <a:rPr lang="en-US" sz="2800" i="1">
                            <a:effectLst>
                              <a:glow rad="228600">
                                <a:schemeClr val="accent6">
                                  <a:satMod val="175000"/>
                                  <a:alpha val="40000"/>
                                </a:schemeClr>
                              </a:glow>
                            </a:effectLst>
                            <a:latin typeface="Cambria Math" panose="02040503050406030204" pitchFamily="18" charset="0"/>
                            <a:ea typeface="Cambria Math" panose="02040503050406030204" pitchFamily="18" charset="0"/>
                            <a:cs typeface="DejaVu Math TeX Gyre" panose="02000503000000000000" charset="0"/>
                          </a:rPr>
                          <m:t>∈</m:t>
                        </m:r>
                        <m:r>
                          <m:rPr>
                            <m:sty m:val="p"/>
                          </m:rPr>
                          <a:rPr lang="en-US" sz="2800">
                            <a:effectLst>
                              <a:glow rad="228600">
                                <a:schemeClr val="accent6">
                                  <a:satMod val="175000"/>
                                  <a:alpha val="40000"/>
                                </a:schemeClr>
                              </a:glow>
                            </a:effectLst>
                            <a:latin typeface="Cambria Math" panose="02040503050406030204" pitchFamily="18" charset="0"/>
                            <a:ea typeface="Cambria Math" panose="02040503050406030204" pitchFamily="18" charset="0"/>
                            <a:cs typeface="DejaVu Math TeX Gyre" panose="02000503000000000000" charset="0"/>
                          </a:rPr>
                          <m:t>text</m:t>
                        </m:r>
                      </m:sub>
                      <m:sup/>
                      <m:e>
                        <m:func>
                          <m:funcPr>
                            <m:ctrlPr>
                              <a:rPr lang="en-US" sz="2800" i="1">
                                <a:latin typeface="Cambria Math" panose="02040503050406030204" pitchFamily="18" charset="0"/>
                                <a:ea typeface="Cambria Math" panose="02040503050406030204" pitchFamily="18" charset="0"/>
                              </a:rPr>
                            </m:ctrlPr>
                          </m:funcPr>
                          <m:fName>
                            <m:r>
                              <m:rPr>
                                <m:sty m:val="p"/>
                              </m:rPr>
                              <a:rPr lang="en-US" sz="2800">
                                <a:latin typeface="Cambria Math" panose="02040503050406030204" pitchFamily="18" charset="0"/>
                                <a:ea typeface="Cambria Math" panose="02040503050406030204" pitchFamily="18" charset="0"/>
                              </a:rPr>
                              <m:t>log</m:t>
                            </m:r>
                          </m:fName>
                          <m:e>
                            <m:r>
                              <a:rPr lang="en-US" sz="2800" i="1">
                                <a:latin typeface="Cambria Math" panose="02040503050406030204" pitchFamily="18" charset="0"/>
                                <a:ea typeface="Cambria Math" panose="02040503050406030204" pitchFamily="18" charset="0"/>
                              </a:rPr>
                              <m:t>𝜎</m:t>
                            </m:r>
                            <m:d>
                              <m:dPr>
                                <m:ctrlPr>
                                  <a:rPr lang="en-US" sz="2800" i="1">
                                    <a:latin typeface="Cambria Math" panose="02040503050406030204" pitchFamily="18" charset="0"/>
                                    <a:ea typeface="Cambria Math" panose="02040503050406030204" pitchFamily="18" charset="0"/>
                                  </a:rPr>
                                </m:ctrlPr>
                              </m:dPr>
                              <m:e>
                                <m:sSub>
                                  <m:sSubPr>
                                    <m:ctrlPr>
                                      <a:rPr lang="en-US" sz="2800" i="1">
                                        <a:latin typeface="Cambria Math" panose="02040503050406030204" pitchFamily="18" charset="0"/>
                                      </a:rPr>
                                    </m:ctrlPr>
                                  </m:sSubPr>
                                  <m:e>
                                    <m:r>
                                      <a:rPr lang="en-US" sz="2800" b="1" i="1">
                                        <a:latin typeface="Cambria Math" panose="02040503050406030204" pitchFamily="18" charset="0"/>
                                      </a:rPr>
                                      <m:t>𝒖</m:t>
                                    </m:r>
                                  </m:e>
                                  <m:sub>
                                    <m:r>
                                      <a:rPr lang="en-US" sz="2800" i="1">
                                        <a:latin typeface="Cambria Math" panose="02040503050406030204" pitchFamily="18" charset="0"/>
                                      </a:rPr>
                                      <m:t>𝑓</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b="1" i="1">
                                        <a:latin typeface="Cambria Math" panose="02040503050406030204" pitchFamily="18" charset="0"/>
                                      </a:rPr>
                                      <m:t>𝒗</m:t>
                                    </m:r>
                                  </m:e>
                                  <m:sub>
                                    <m:r>
                                      <a:rPr lang="en-US" sz="2800" i="1">
                                        <a:latin typeface="Cambria Math" panose="02040503050406030204" pitchFamily="18" charset="0"/>
                                      </a:rPr>
                                      <m:t>𝑐</m:t>
                                    </m:r>
                                  </m:sub>
                                </m:sSub>
                              </m:e>
                            </m:d>
                          </m:e>
                        </m:func>
                        <m:r>
                          <a:rPr lang="en-US" sz="2800" i="1">
                            <a:latin typeface="Cambria Math" panose="02040503050406030204" pitchFamily="18" charset="0"/>
                          </a:rPr>
                          <m:t>+</m:t>
                        </m:r>
                      </m:e>
                    </m:nary>
                    <m:nary>
                      <m:naryPr>
                        <m:chr m:val="∑"/>
                        <m:supHide m:val="on"/>
                        <m:ctrlPr>
                          <a:rPr lang="en-US" sz="2800" i="1">
                            <a:latin typeface="Cambria Math" panose="02040503050406030204" pitchFamily="18" charset="0"/>
                          </a:rPr>
                        </m:ctrlPr>
                      </m:naryPr>
                      <m:sub>
                        <m:r>
                          <m:rPr>
                            <m:brk m:alnAt="7"/>
                          </m:rPr>
                          <a:rPr lang="en-US" sz="2800" i="1" smtClean="0">
                            <a:effectLst>
                              <a:glow rad="228600">
                                <a:schemeClr val="accent6">
                                  <a:satMod val="175000"/>
                                  <a:alpha val="40000"/>
                                </a:schemeClr>
                              </a:glow>
                            </a:effectLst>
                            <a:latin typeface="Cambria Math" panose="02040503050406030204" pitchFamily="18" charset="0"/>
                          </a:rPr>
                          <m:t>𝑓</m:t>
                        </m:r>
                        <m:r>
                          <a:rPr lang="en-US" sz="2800" i="1">
                            <a:effectLst>
                              <a:glow rad="228600">
                                <a:schemeClr val="accent6">
                                  <a:satMod val="175000"/>
                                  <a:alpha val="40000"/>
                                </a:schemeClr>
                              </a:glow>
                            </a:effectLst>
                            <a:latin typeface="Cambria Math" panose="02040503050406030204" pitchFamily="18" charset="0"/>
                            <a:ea typeface="Cambria Math" panose="02040503050406030204" pitchFamily="18" charset="0"/>
                            <a:cs typeface="DejaVu Math TeX Gyre" panose="02000503000000000000" charset="0"/>
                          </a:rPr>
                          <m:t>∈</m:t>
                        </m:r>
                        <m:r>
                          <m:rPr>
                            <m:sty m:val="p"/>
                          </m:rPr>
                          <a:rPr lang="en-US" sz="2800">
                            <a:effectLst>
                              <a:glow rad="228600">
                                <a:schemeClr val="accent6">
                                  <a:satMod val="175000"/>
                                  <a:alpha val="40000"/>
                                </a:schemeClr>
                              </a:glow>
                            </a:effectLst>
                            <a:latin typeface="Cambria Math" panose="02040503050406030204" pitchFamily="18" charset="0"/>
                            <a:ea typeface="Cambria Math" panose="02040503050406030204" pitchFamily="18" charset="0"/>
                            <a:cs typeface="DejaVu Math TeX Gyre" panose="02000503000000000000" charset="0"/>
                          </a:rPr>
                          <m:t>text</m:t>
                        </m:r>
                      </m:sub>
                      <m:sup/>
                      <m:e>
                        <m:nary>
                          <m:naryPr>
                            <m:chr m:val="∑"/>
                            <m:supHide m:val="on"/>
                            <m:ctrlPr>
                              <a:rPr lang="en-US" sz="2800" i="1">
                                <a:latin typeface="Cambria Math" panose="02040503050406030204" pitchFamily="18" charset="0"/>
                              </a:rPr>
                            </m:ctrlPr>
                          </m:naryPr>
                          <m:sub>
                            <m:sSub>
                              <m:sSubPr>
                                <m:ctrlPr>
                                  <a:rPr lang="en-US" sz="2800" i="1">
                                    <a:effectLst>
                                      <a:glow rad="228600">
                                        <a:schemeClr val="accent4">
                                          <a:satMod val="175000"/>
                                          <a:alpha val="40000"/>
                                        </a:schemeClr>
                                      </a:glow>
                                    </a:effectLst>
                                    <a:latin typeface="Cambria Math" panose="02040503050406030204" pitchFamily="18" charset="0"/>
                                  </a:rPr>
                                </m:ctrlPr>
                              </m:sSubPr>
                              <m:e>
                                <m:r>
                                  <m:rPr>
                                    <m:brk m:alnAt="7"/>
                                  </m:rPr>
                                  <a:rPr lang="en-US" sz="2800" i="1">
                                    <a:effectLst>
                                      <a:glow rad="228600">
                                        <a:schemeClr val="accent4">
                                          <a:satMod val="175000"/>
                                          <a:alpha val="40000"/>
                                        </a:schemeClr>
                                      </a:glow>
                                    </a:effectLst>
                                    <a:latin typeface="Cambria Math" panose="02040503050406030204" pitchFamily="18" charset="0"/>
                                  </a:rPr>
                                  <m:t>𝑐</m:t>
                                </m:r>
                              </m:e>
                              <m:sub>
                                <m:r>
                                  <m:rPr>
                                    <m:brk m:alnAt="7"/>
                                  </m:rPr>
                                  <a:rPr lang="en-US" sz="2800" i="1">
                                    <a:effectLst>
                                      <a:glow rad="228600">
                                        <a:schemeClr val="accent4">
                                          <a:satMod val="175000"/>
                                          <a:alpha val="40000"/>
                                        </a:schemeClr>
                                      </a:glow>
                                    </a:effectLst>
                                    <a:latin typeface="Cambria Math" panose="02040503050406030204" pitchFamily="18" charset="0"/>
                                  </a:rPr>
                                  <m:t>⊖</m:t>
                                </m:r>
                              </m:sub>
                            </m:sSub>
                          </m:sub>
                          <m:sup/>
                          <m:e>
                            <m:func>
                              <m:funcPr>
                                <m:ctrlPr>
                                  <a:rPr lang="en-US" sz="2800" i="1">
                                    <a:latin typeface="Cambria Math" panose="02040503050406030204" pitchFamily="18" charset="0"/>
                                    <a:ea typeface="Cambria Math" panose="02040503050406030204" pitchFamily="18" charset="0"/>
                                  </a:rPr>
                                </m:ctrlPr>
                              </m:funcPr>
                              <m:fName>
                                <m:r>
                                  <m:rPr>
                                    <m:sty m:val="p"/>
                                  </m:rPr>
                                  <a:rPr lang="en-US" sz="2800">
                                    <a:latin typeface="Cambria Math" panose="02040503050406030204" pitchFamily="18" charset="0"/>
                                    <a:ea typeface="Cambria Math" panose="02040503050406030204" pitchFamily="18" charset="0"/>
                                  </a:rPr>
                                  <m:t>log</m:t>
                                </m:r>
                              </m:fName>
                              <m:e>
                                <m:r>
                                  <a:rPr lang="en-US" sz="2800" i="1">
                                    <a:latin typeface="Cambria Math" panose="02040503050406030204" pitchFamily="18" charset="0"/>
                                  </a:rPr>
                                  <m:t>𝜎</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b="1" i="1">
                                            <a:latin typeface="Cambria Math" panose="02040503050406030204" pitchFamily="18" charset="0"/>
                                          </a:rPr>
                                          <m:t>−</m:t>
                                        </m:r>
                                        <m:r>
                                          <a:rPr lang="en-US" sz="2800" b="1" i="1">
                                            <a:latin typeface="Cambria Math" panose="02040503050406030204" pitchFamily="18" charset="0"/>
                                          </a:rPr>
                                          <m:t>𝒖</m:t>
                                        </m:r>
                                      </m:e>
                                      <m:sub>
                                        <m:r>
                                          <a:rPr lang="en-US" sz="2800" i="1">
                                            <a:latin typeface="Cambria Math" panose="02040503050406030204" pitchFamily="18" charset="0"/>
                                          </a:rPr>
                                          <m:t>𝑓</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b="1" i="1">
                                            <a:latin typeface="Cambria Math" panose="02040503050406030204" pitchFamily="18" charset="0"/>
                                          </a:rPr>
                                          <m:t>𝒗</m:t>
                                        </m:r>
                                      </m:e>
                                      <m:sub>
                                        <m:r>
                                          <a:rPr lang="en-US" sz="2800" i="1">
                                            <a:latin typeface="Cambria Math" panose="02040503050406030204" pitchFamily="18" charset="0"/>
                                          </a:rPr>
                                          <m:t>𝑐</m:t>
                                        </m:r>
                                      </m:sub>
                                    </m:sSub>
                                  </m:e>
                                </m:d>
                              </m:e>
                            </m:func>
                          </m:e>
                        </m:nary>
                      </m:e>
                    </m:nary>
                  </m:oMath>
                </a14:m>
                <a:endParaRPr lang="en-US" sz="2800"/>
              </a:p>
              <a:p>
                <a:pPr>
                  <a:lnSpc>
                    <a:spcPct val="100000"/>
                  </a:lnSpc>
                </a:pPr>
                <a:r>
                  <a:rPr lang="en-US" sz="2800"/>
                  <a:t>Let there be </a:t>
                </a:r>
                <a14:m>
                  <m:oMath xmlns:m="http://schemas.openxmlformats.org/officeDocument/2006/math">
                    <m:r>
                      <a:rPr lang="en-US" sz="2800" i="1" dirty="0" smtClean="0">
                        <a:latin typeface="Cambria Math" panose="02040503050406030204" pitchFamily="18" charset="0"/>
                      </a:rPr>
                      <m:t>𝑁</m:t>
                    </m:r>
                  </m:oMath>
                </a14:m>
                <a:r>
                  <a:rPr lang="en-US" sz="2800"/>
                  <a:t> tokens (with reps) in the corpus, </a:t>
                </a:r>
                <a14:m>
                  <m:oMath xmlns:m="http://schemas.openxmlformats.org/officeDocument/2006/math">
                    <m:r>
                      <a:rPr lang="en-US" sz="2800" i="1" dirty="0" smtClean="0">
                        <a:latin typeface="Cambria Math" panose="02040503050406030204" pitchFamily="18" charset="0"/>
                      </a:rPr>
                      <m:t>𝑤</m:t>
                    </m:r>
                  </m:oMath>
                </a14:m>
                <a:r>
                  <a:rPr lang="en-US" sz="2800"/>
                  <a:t> occurs </a:t>
                </a:r>
                <a14:m>
                  <m:oMath xmlns:m="http://schemas.openxmlformats.org/officeDocument/2006/math">
                    <m:sSub>
                      <m:sSubPr>
                        <m:ctrlPr>
                          <a:rPr lang="en-US" sz="2800" i="1" dirty="0" smtClean="0">
                            <a:latin typeface="Cambria Math" panose="02040503050406030204" pitchFamily="18" charset="0"/>
                          </a:rPr>
                        </m:ctrlPr>
                      </m:sSubPr>
                      <m:e>
                        <m:r>
                          <a:rPr lang="en-US" sz="2800" i="1" dirty="0" smtClean="0">
                            <a:latin typeface="Cambria Math" panose="02040503050406030204" pitchFamily="18" charset="0"/>
                          </a:rPr>
                          <m:t>𝑁</m:t>
                        </m:r>
                      </m:e>
                      <m:sub>
                        <m:r>
                          <a:rPr lang="en-US" sz="2800" i="1" dirty="0" smtClean="0">
                            <a:latin typeface="Cambria Math" panose="02040503050406030204" pitchFamily="18" charset="0"/>
                          </a:rPr>
                          <m:t>𝑤</m:t>
                        </m:r>
                      </m:sub>
                    </m:sSub>
                  </m:oMath>
                </a14:m>
                <a:r>
                  <a:rPr lang="en-US" sz="2800"/>
                  <a:t> times</a:t>
                </a:r>
              </a:p>
              <a:p>
                <a:pPr>
                  <a:lnSpc>
                    <a:spcPct val="100000"/>
                  </a:lnSpc>
                </a:pPr>
                <a:r>
                  <a:rPr lang="en-US" sz="2800"/>
                  <a:t>Suppose </a:t>
                </a:r>
                <a14:m>
                  <m:oMath xmlns:m="http://schemas.openxmlformats.org/officeDocument/2006/math">
                    <m:r>
                      <a:rPr lang="en-US" sz="2800" i="1" dirty="0" smtClean="0">
                        <a:latin typeface="Cambria Math" panose="02040503050406030204" pitchFamily="18" charset="0"/>
                      </a:rPr>
                      <m:t>𝑓</m:t>
                    </m:r>
                  </m:oMath>
                </a14:m>
                <a:r>
                  <a:rPr lang="en-US" sz="2800"/>
                  <a:t> and </a:t>
                </a:r>
                <a14:m>
                  <m:oMath xmlns:m="http://schemas.openxmlformats.org/officeDocument/2006/math">
                    <m:r>
                      <a:rPr lang="en-US" sz="2800" b="0" i="1" smtClean="0">
                        <a:latin typeface="Cambria Math" panose="02040503050406030204" pitchFamily="18" charset="0"/>
                      </a:rPr>
                      <m:t>𝑐</m:t>
                    </m:r>
                  </m:oMath>
                </a14:m>
                <a:r>
                  <a:rPr lang="en-US" sz="2800"/>
                  <a:t> co-occur in window </a:t>
                </a:r>
                <a14:m>
                  <m:oMath xmlns:m="http://schemas.openxmlformats.org/officeDocument/2006/math">
                    <m:sSub>
                      <m:sSubPr>
                        <m:ctrlPr>
                          <a:rPr lang="en-US" sz="2800" b="0" i="1" dirty="0" smtClean="0">
                            <a:latin typeface="Cambria Math" panose="02040503050406030204" pitchFamily="18" charset="0"/>
                          </a:rPr>
                        </m:ctrlPr>
                      </m:sSubPr>
                      <m:e>
                        <m:r>
                          <a:rPr lang="en-US" sz="2800" i="1" dirty="0">
                            <a:latin typeface="Cambria Math" panose="02040503050406030204" pitchFamily="18" charset="0"/>
                          </a:rPr>
                          <m:t>𝑀</m:t>
                        </m:r>
                      </m:e>
                      <m:sub>
                        <m:r>
                          <a:rPr lang="en-US" sz="2800" b="0" i="1" dirty="0" smtClean="0">
                            <a:latin typeface="Cambria Math" panose="02040503050406030204" pitchFamily="18" charset="0"/>
                          </a:rPr>
                          <m:t>𝑓</m:t>
                        </m:r>
                        <m:r>
                          <a:rPr lang="en-US" sz="2800" b="0" i="1" dirty="0" smtClean="0">
                            <a:latin typeface="Cambria Math" panose="02040503050406030204" pitchFamily="18" charset="0"/>
                          </a:rPr>
                          <m:t>,</m:t>
                        </m:r>
                        <m:r>
                          <a:rPr lang="en-US" sz="2800" b="0" i="1" dirty="0" smtClean="0">
                            <a:latin typeface="Cambria Math" panose="02040503050406030204" pitchFamily="18" charset="0"/>
                          </a:rPr>
                          <m:t>𝑐</m:t>
                        </m:r>
                      </m:sub>
                    </m:sSub>
                  </m:oMath>
                </a14:m>
                <a:r>
                  <a:rPr lang="en-US" sz="2800"/>
                  <a:t> times</a:t>
                </a:r>
              </a:p>
              <a:p>
                <a:pPr>
                  <a:lnSpc>
                    <a:spcPct val="100000"/>
                  </a:lnSpc>
                </a:pPr>
                <a:r>
                  <a:rPr lang="en-US" sz="2800"/>
                  <a:t>With some assumptions, </a:t>
                </a:r>
                <a:r>
                  <a:rPr lang="en-US" sz="2800">
                    <a:hlinkClick r:id="rId2" action="ppaction://hlinkfile"/>
                  </a:rPr>
                  <a:t>objective can be approximated</a:t>
                </a:r>
                <a:r>
                  <a:rPr lang="en-US" sz="2800"/>
                  <a:t> as</a:t>
                </a:r>
                <a:br>
                  <a:rPr lang="en-US" sz="2800"/>
                </a:br>
                <a14:m>
                  <m:oMath xmlns:m="http://schemas.openxmlformats.org/officeDocument/2006/math">
                    <m:nary>
                      <m:naryPr>
                        <m:chr m:val="∑"/>
                        <m:limLoc m:val="undOvr"/>
                        <m:supHide m:val="on"/>
                        <m:ctrlPr>
                          <a:rPr lang="en-US" sz="2400" i="1">
                            <a:latin typeface="Cambria Math" panose="02040503050406030204" pitchFamily="18" charset="0"/>
                            <a:cs typeface="DejaVu Math TeX Gyre" panose="02000503000000000000" charset="0"/>
                          </a:rPr>
                        </m:ctrlPr>
                      </m:naryPr>
                      <m:sub>
                        <m:r>
                          <a:rPr lang="en-US" sz="2400" i="1">
                            <a:latin typeface="Cambria Math" panose="02040503050406030204" pitchFamily="18" charset="0"/>
                            <a:cs typeface="DejaVu Math TeX Gyre" panose="02000503000000000000" charset="0"/>
                          </a:rPr>
                          <m:t>𝑓</m:t>
                        </m:r>
                        <m:r>
                          <a:rPr lang="en-US" sz="2400" i="1">
                            <a:latin typeface="Cambria Math" panose="02040503050406030204" pitchFamily="18" charset="0"/>
                            <a:cs typeface="DejaVu Math TeX Gyre" panose="02000503000000000000" charset="0"/>
                          </a:rPr>
                          <m:t>∈</m:t>
                        </m:r>
                        <m:d>
                          <m:dPr>
                            <m:begChr m:val="["/>
                            <m:endChr m:val="]"/>
                            <m:ctrlPr>
                              <a:rPr lang="en-US" sz="2400" i="1">
                                <a:latin typeface="Cambria Math" panose="02040503050406030204" pitchFamily="18" charset="0"/>
                                <a:cs typeface="DejaVu Math TeX Gyre" panose="02000503000000000000" charset="0"/>
                              </a:rPr>
                            </m:ctrlPr>
                          </m:dPr>
                          <m:e>
                            <m:r>
                              <a:rPr lang="en-US" sz="2400" i="1">
                                <a:latin typeface="Cambria Math" panose="02040503050406030204" pitchFamily="18" charset="0"/>
                                <a:cs typeface="DejaVu Math TeX Gyre" panose="02000503000000000000" charset="0"/>
                              </a:rPr>
                              <m:t>𝑊</m:t>
                            </m:r>
                          </m:e>
                        </m:d>
                      </m:sub>
                      <m:sup/>
                      <m:e>
                        <m:nary>
                          <m:naryPr>
                            <m:chr m:val="∑"/>
                            <m:limLoc m:val="undOvr"/>
                            <m:supHide m:val="on"/>
                            <m:ctrlPr>
                              <a:rPr lang="en-US" sz="2400" i="1">
                                <a:latin typeface="Cambria Math" panose="02040503050406030204" pitchFamily="18" charset="0"/>
                                <a:cs typeface="DejaVu Math TeX Gyre" panose="02000503000000000000" charset="0"/>
                              </a:rPr>
                            </m:ctrlPr>
                          </m:naryPr>
                          <m:sub>
                            <m:r>
                              <a:rPr lang="en-US" sz="2400" b="0" i="1" smtClean="0">
                                <a:latin typeface="Cambria Math" panose="02040503050406030204" pitchFamily="18" charset="0"/>
                              </a:rPr>
                              <m:t>𝑐</m:t>
                            </m:r>
                            <m:r>
                              <a:rPr lang="en-US" sz="2400" i="1" smtClean="0">
                                <a:latin typeface="Cambria Math" panose="02040503050406030204" pitchFamily="18" charset="0"/>
                                <a:cs typeface="DejaVu Math TeX Gyre" panose="02000503000000000000" charset="0"/>
                              </a:rPr>
                              <m:t>∈</m:t>
                            </m:r>
                            <m:d>
                              <m:dPr>
                                <m:begChr m:val="["/>
                                <m:endChr m:val="]"/>
                                <m:ctrlPr>
                                  <a:rPr lang="en-US" sz="2400" i="1">
                                    <a:latin typeface="Cambria Math" panose="02040503050406030204" pitchFamily="18" charset="0"/>
                                    <a:cs typeface="DejaVu Math TeX Gyre" panose="02000503000000000000" charset="0"/>
                                  </a:rPr>
                                </m:ctrlPr>
                              </m:dPr>
                              <m:e>
                                <m:r>
                                  <a:rPr lang="en-US" sz="2400" i="1">
                                    <a:latin typeface="Cambria Math" panose="02040503050406030204" pitchFamily="18" charset="0"/>
                                    <a:cs typeface="DejaVu Math TeX Gyre" panose="02000503000000000000" charset="0"/>
                                  </a:rPr>
                                  <m:t>𝑊</m:t>
                                </m:r>
                              </m:e>
                            </m:d>
                          </m:sub>
                          <m:sup/>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𝑀</m:t>
                                </m:r>
                              </m:e>
                              <m:sub>
                                <m:r>
                                  <a:rPr lang="en-US" sz="2400" b="0" i="1" smtClean="0">
                                    <a:latin typeface="Cambria Math" panose="02040503050406030204" pitchFamily="18" charset="0"/>
                                  </a:rPr>
                                  <m:t>𝑓</m:t>
                                </m:r>
                                <m:r>
                                  <a:rPr lang="en-US" sz="2400" b="0" i="1" smtClean="0">
                                    <a:latin typeface="Cambria Math" panose="02040503050406030204" pitchFamily="18" charset="0"/>
                                  </a:rPr>
                                  <m:t>,</m:t>
                                </m:r>
                                <m:r>
                                  <a:rPr lang="en-US" sz="2400" b="0" i="1" smtClean="0">
                                    <a:latin typeface="Cambria Math" panose="02040503050406030204" pitchFamily="18" charset="0"/>
                                  </a:rPr>
                                  <m:t>𝑐</m:t>
                                </m:r>
                              </m:sub>
                            </m:sSub>
                            <m:func>
                              <m:funcPr>
                                <m:ctrlPr>
                                  <a:rPr lang="en-US" sz="2400" i="1">
                                    <a:latin typeface="Cambria Math" panose="02040503050406030204" pitchFamily="18" charset="0"/>
                                    <a:ea typeface="Cambria Math" panose="02040503050406030204" pitchFamily="18" charset="0"/>
                                  </a:rPr>
                                </m:ctrlPr>
                              </m:funcPr>
                              <m:fName>
                                <m:r>
                                  <m:rPr>
                                    <m:sty m:val="p"/>
                                  </m:rPr>
                                  <a:rPr lang="en-US" sz="2400">
                                    <a:latin typeface="Cambria Math" panose="02040503050406030204" pitchFamily="18" charset="0"/>
                                    <a:ea typeface="Cambria Math" panose="02040503050406030204" pitchFamily="18" charset="0"/>
                                  </a:rPr>
                                  <m:t>log</m:t>
                                </m:r>
                              </m:fName>
                              <m:e>
                                <m:r>
                                  <a:rPr lang="en-US" sz="2400" i="1">
                                    <a:latin typeface="Cambria Math" panose="02040503050406030204" pitchFamily="18" charset="0"/>
                                    <a:ea typeface="Cambria Math" panose="02040503050406030204" pitchFamily="18" charset="0"/>
                                  </a:rPr>
                                  <m:t>𝜎</m:t>
                                </m:r>
                                <m:d>
                                  <m:dPr>
                                    <m:ctrlPr>
                                      <a:rPr lang="en-US" sz="2400" i="1">
                                        <a:latin typeface="Cambria Math" panose="02040503050406030204" pitchFamily="18" charset="0"/>
                                        <a:ea typeface="Cambria Math" panose="02040503050406030204" pitchFamily="18" charset="0"/>
                                      </a:rPr>
                                    </m:ctrlPr>
                                  </m:dPr>
                                  <m:e>
                                    <m:sSub>
                                      <m:sSubPr>
                                        <m:ctrlPr>
                                          <a:rPr lang="en-US" sz="2400" i="1">
                                            <a:latin typeface="Cambria Math" panose="02040503050406030204" pitchFamily="18" charset="0"/>
                                          </a:rPr>
                                        </m:ctrlPr>
                                      </m:sSubPr>
                                      <m:e>
                                        <m:r>
                                          <a:rPr lang="en-US" sz="2400" b="1" i="1">
                                            <a:latin typeface="Cambria Math" panose="02040503050406030204" pitchFamily="18" charset="0"/>
                                          </a:rPr>
                                          <m:t>𝒖</m:t>
                                        </m:r>
                                      </m:e>
                                      <m:sub>
                                        <m:r>
                                          <a:rPr lang="en-US" sz="2400" i="1">
                                            <a:latin typeface="Cambria Math" panose="02040503050406030204" pitchFamily="18" charset="0"/>
                                          </a:rPr>
                                          <m:t>𝑓</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b="1" i="1">
                                            <a:latin typeface="Cambria Math" panose="02040503050406030204" pitchFamily="18" charset="0"/>
                                          </a:rPr>
                                          <m:t>𝒗</m:t>
                                        </m:r>
                                      </m:e>
                                      <m:sub>
                                        <m:r>
                                          <a:rPr lang="en-US" sz="2400" i="1">
                                            <a:latin typeface="Cambria Math" panose="02040503050406030204" pitchFamily="18" charset="0"/>
                                          </a:rPr>
                                          <m:t>𝑐</m:t>
                                        </m:r>
                                      </m:sub>
                                    </m:sSub>
                                  </m:e>
                                </m:d>
                              </m:e>
                            </m:func>
                          </m:e>
                        </m:nary>
                      </m:e>
                    </m:nary>
                    <m:r>
                      <a:rPr lang="en-US" sz="2400" i="1">
                        <a:latin typeface="Cambria Math" panose="02040503050406030204" pitchFamily="18" charset="0"/>
                        <a:cs typeface="DejaVu Math TeX Gyre" panose="02000503000000000000" charset="0"/>
                      </a:rPr>
                      <m:t> + </m:t>
                    </m:r>
                    <m:nary>
                      <m:naryPr>
                        <m:chr m:val="∑"/>
                        <m:limLoc m:val="undOvr"/>
                        <m:supHide m:val="on"/>
                        <m:ctrlPr>
                          <a:rPr lang="en-US" sz="2400" i="1">
                            <a:latin typeface="Cambria Math" panose="02040503050406030204" pitchFamily="18" charset="0"/>
                            <a:cs typeface="DejaVu Math TeX Gyre" panose="02000503000000000000" charset="0"/>
                          </a:rPr>
                        </m:ctrlPr>
                      </m:naryPr>
                      <m:sub>
                        <m:r>
                          <a:rPr lang="en-US" sz="2400" i="1">
                            <a:latin typeface="Cambria Math" panose="02040503050406030204" pitchFamily="18" charset="0"/>
                            <a:cs typeface="DejaVu Math TeX Gyre" panose="02000503000000000000" charset="0"/>
                          </a:rPr>
                          <m:t>𝑓</m:t>
                        </m:r>
                        <m:r>
                          <a:rPr lang="en-US" sz="2400" i="1">
                            <a:latin typeface="Cambria Math" panose="02040503050406030204" pitchFamily="18" charset="0"/>
                            <a:cs typeface="DejaVu Math TeX Gyre" panose="02000503000000000000" charset="0"/>
                          </a:rPr>
                          <m:t>∈</m:t>
                        </m:r>
                        <m:d>
                          <m:dPr>
                            <m:begChr m:val="["/>
                            <m:endChr m:val="]"/>
                            <m:ctrlPr>
                              <a:rPr lang="en-US" sz="2400" i="1">
                                <a:latin typeface="Cambria Math" panose="02040503050406030204" pitchFamily="18" charset="0"/>
                                <a:cs typeface="DejaVu Math TeX Gyre" panose="02000503000000000000" charset="0"/>
                              </a:rPr>
                            </m:ctrlPr>
                          </m:dPr>
                          <m:e>
                            <m:r>
                              <a:rPr lang="en-US" sz="2400" i="1">
                                <a:latin typeface="Cambria Math" panose="02040503050406030204" pitchFamily="18" charset="0"/>
                                <a:cs typeface="DejaVu Math TeX Gyre" panose="02000503000000000000" charset="0"/>
                              </a:rPr>
                              <m:t>𝑊</m:t>
                            </m:r>
                          </m:e>
                        </m:d>
                      </m:sub>
                      <m:sup/>
                      <m:e>
                        <m:sSub>
                          <m:sSubPr>
                            <m:ctrlPr>
                              <a:rPr lang="en-US" sz="2400" i="1">
                                <a:effectLst>
                                  <a:glow rad="228600">
                                    <a:schemeClr val="accent3">
                                      <a:satMod val="175000"/>
                                      <a:alpha val="40000"/>
                                    </a:schemeClr>
                                  </a:glow>
                                </a:effectLst>
                                <a:latin typeface="Cambria Math" panose="02040503050406030204" pitchFamily="18" charset="0"/>
                              </a:rPr>
                            </m:ctrlPr>
                          </m:sSubPr>
                          <m:e>
                            <m:r>
                              <a:rPr lang="en-US" sz="2400" i="1">
                                <a:effectLst>
                                  <a:glow rad="228600">
                                    <a:schemeClr val="accent3">
                                      <a:satMod val="175000"/>
                                      <a:alpha val="40000"/>
                                    </a:schemeClr>
                                  </a:glow>
                                </a:effectLst>
                                <a:latin typeface="Cambria Math" panose="02040503050406030204" pitchFamily="18" charset="0"/>
                              </a:rPr>
                              <m:t>𝑁</m:t>
                            </m:r>
                          </m:e>
                          <m:sub>
                            <m:r>
                              <a:rPr lang="en-US" sz="2400" i="1">
                                <a:effectLst>
                                  <a:glow rad="228600">
                                    <a:schemeClr val="accent3">
                                      <a:satMod val="175000"/>
                                      <a:alpha val="40000"/>
                                    </a:schemeClr>
                                  </a:glow>
                                </a:effectLst>
                                <a:latin typeface="Cambria Math" panose="02040503050406030204" pitchFamily="18" charset="0"/>
                              </a:rPr>
                              <m:t>𝑓</m:t>
                            </m:r>
                          </m:sub>
                        </m:sSub>
                      </m:e>
                    </m:nary>
                    <m:nary>
                      <m:naryPr>
                        <m:chr m:val="∑"/>
                        <m:limLoc m:val="undOvr"/>
                        <m:supHide m:val="on"/>
                        <m:ctrlPr>
                          <a:rPr lang="en-US" sz="2400" i="1">
                            <a:latin typeface="Cambria Math" panose="02040503050406030204" pitchFamily="18" charset="0"/>
                            <a:cs typeface="DejaVu Math TeX Gyre" panose="02000503000000000000" charset="0"/>
                          </a:rPr>
                        </m:ctrlPr>
                      </m:naryPr>
                      <m:sub>
                        <m:r>
                          <a:rPr lang="en-US" sz="2400" b="0" i="1" smtClean="0">
                            <a:latin typeface="Cambria Math" panose="02040503050406030204" pitchFamily="18" charset="0"/>
                          </a:rPr>
                          <m:t>𝑐</m:t>
                        </m:r>
                        <m:r>
                          <a:rPr lang="en-US" sz="2400" i="1" smtClean="0">
                            <a:latin typeface="Cambria Math" panose="02040503050406030204" pitchFamily="18" charset="0"/>
                            <a:cs typeface="DejaVu Math TeX Gyre" panose="02000503000000000000" charset="0"/>
                          </a:rPr>
                          <m:t>∈</m:t>
                        </m:r>
                        <m:d>
                          <m:dPr>
                            <m:begChr m:val="["/>
                            <m:endChr m:val="]"/>
                            <m:ctrlPr>
                              <a:rPr lang="en-US" sz="2400" i="1">
                                <a:latin typeface="Cambria Math" panose="02040503050406030204" pitchFamily="18" charset="0"/>
                                <a:cs typeface="DejaVu Math TeX Gyre" panose="02000503000000000000" charset="0"/>
                              </a:rPr>
                            </m:ctrlPr>
                          </m:dPr>
                          <m:e>
                            <m:r>
                              <a:rPr lang="en-US" sz="2400" i="1">
                                <a:latin typeface="Cambria Math" panose="02040503050406030204" pitchFamily="18" charset="0"/>
                                <a:cs typeface="DejaVu Math TeX Gyre" panose="02000503000000000000" charset="0"/>
                              </a:rPr>
                              <m:t>𝑊</m:t>
                            </m:r>
                          </m:e>
                        </m:d>
                      </m:sub>
                      <m:sup/>
                      <m:e>
                        <m:d>
                          <m:dPr>
                            <m:ctrlPr>
                              <a:rPr sz="2400" i="1">
                                <a:effectLst>
                                  <a:glow rad="228600">
                                    <a:schemeClr val="accent4">
                                      <a:satMod val="175000"/>
                                      <a:alpha val="40000"/>
                                    </a:schemeClr>
                                  </a:glow>
                                </a:effectLst>
                                <a:latin typeface="Cambria Math" panose="02040503050406030204" pitchFamily="18" charset="0"/>
                                <a:cs typeface="DejaVu Math TeX Gyre" panose="02000503000000000000" charset="0"/>
                              </a:rPr>
                            </m:ctrlPr>
                          </m:dPr>
                          <m:e>
                            <m:r>
                              <a:rPr lang="en-US" sz="2400" b="0" i="1" smtClean="0">
                                <a:effectLst>
                                  <a:glow rad="228600">
                                    <a:schemeClr val="accent4">
                                      <a:satMod val="175000"/>
                                      <a:alpha val="40000"/>
                                    </a:schemeClr>
                                  </a:glow>
                                </a:effectLst>
                                <a:latin typeface="Cambria Math" panose="02040503050406030204" pitchFamily="18" charset="0"/>
                              </a:rPr>
                              <m:t>𝐾</m:t>
                            </m:r>
                            <m:f>
                              <m:fPr>
                                <m:ctrlPr>
                                  <a:rPr lang="en-US" sz="2400" b="0" i="1" smtClean="0">
                                    <a:effectLst>
                                      <a:glow rad="228600">
                                        <a:schemeClr val="accent4">
                                          <a:satMod val="175000"/>
                                          <a:alpha val="40000"/>
                                        </a:schemeClr>
                                      </a:glow>
                                    </a:effectLst>
                                    <a:latin typeface="Cambria Math" panose="02040503050406030204" pitchFamily="18" charset="0"/>
                                  </a:rPr>
                                </m:ctrlPr>
                              </m:fPr>
                              <m:num>
                                <m:sSub>
                                  <m:sSubPr>
                                    <m:ctrlPr>
                                      <a:rPr lang="en-US" sz="2400" i="1">
                                        <a:effectLst>
                                          <a:glow rad="228600">
                                            <a:schemeClr val="accent4">
                                              <a:satMod val="175000"/>
                                              <a:alpha val="40000"/>
                                            </a:schemeClr>
                                          </a:glow>
                                        </a:effectLst>
                                        <a:latin typeface="Cambria Math" panose="02040503050406030204" pitchFamily="18" charset="0"/>
                                      </a:rPr>
                                    </m:ctrlPr>
                                  </m:sSubPr>
                                  <m:e>
                                    <m:r>
                                      <a:rPr lang="en-US" sz="2400" i="1">
                                        <a:effectLst>
                                          <a:glow rad="228600">
                                            <a:schemeClr val="accent4">
                                              <a:satMod val="175000"/>
                                              <a:alpha val="40000"/>
                                            </a:schemeClr>
                                          </a:glow>
                                        </a:effectLst>
                                        <a:latin typeface="Cambria Math" panose="02040503050406030204" pitchFamily="18" charset="0"/>
                                      </a:rPr>
                                      <m:t>𝑁</m:t>
                                    </m:r>
                                  </m:e>
                                  <m:sub>
                                    <m:r>
                                      <a:rPr lang="en-US" sz="2400" i="1">
                                        <a:effectLst>
                                          <a:glow rad="228600">
                                            <a:schemeClr val="accent4">
                                              <a:satMod val="175000"/>
                                              <a:alpha val="40000"/>
                                            </a:schemeClr>
                                          </a:glow>
                                        </a:effectLst>
                                        <a:latin typeface="Cambria Math" panose="02040503050406030204" pitchFamily="18" charset="0"/>
                                      </a:rPr>
                                      <m:t>𝑐</m:t>
                                    </m:r>
                                  </m:sub>
                                </m:sSub>
                              </m:num>
                              <m:den>
                                <m:r>
                                  <a:rPr lang="en-US" sz="2400" b="0" i="1" smtClean="0">
                                    <a:effectLst>
                                      <a:glow rad="228600">
                                        <a:schemeClr val="accent4">
                                          <a:satMod val="175000"/>
                                          <a:alpha val="40000"/>
                                        </a:schemeClr>
                                      </a:glow>
                                    </a:effectLst>
                                    <a:latin typeface="Cambria Math" panose="02040503050406030204" pitchFamily="18" charset="0"/>
                                  </a:rPr>
                                  <m:t>𝑁</m:t>
                                </m:r>
                              </m:den>
                            </m:f>
                          </m:e>
                        </m:d>
                        <m:func>
                          <m:funcPr>
                            <m:ctrlPr>
                              <a:rPr lang="en-US" sz="2400" i="1">
                                <a:latin typeface="Cambria Math" panose="02040503050406030204" pitchFamily="18" charset="0"/>
                                <a:ea typeface="Cambria Math" panose="02040503050406030204" pitchFamily="18" charset="0"/>
                              </a:rPr>
                            </m:ctrlPr>
                          </m:funcPr>
                          <m:fName>
                            <m:r>
                              <m:rPr>
                                <m:sty m:val="p"/>
                              </m:rPr>
                              <a:rPr lang="en-US" sz="2400">
                                <a:latin typeface="Cambria Math" panose="02040503050406030204" pitchFamily="18" charset="0"/>
                                <a:ea typeface="Cambria Math" panose="02040503050406030204" pitchFamily="18" charset="0"/>
                              </a:rPr>
                              <m:t>log</m:t>
                            </m:r>
                          </m:fName>
                          <m:e>
                            <m:r>
                              <a:rPr lang="en-US" sz="2400" i="1">
                                <a:latin typeface="Cambria Math" panose="02040503050406030204" pitchFamily="18" charset="0"/>
                              </a:rPr>
                              <m:t>𝜎</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b="1" i="1">
                                        <a:latin typeface="Cambria Math" panose="02040503050406030204" pitchFamily="18" charset="0"/>
                                      </a:rPr>
                                      <m:t>−</m:t>
                                    </m:r>
                                    <m:r>
                                      <a:rPr lang="en-US" sz="2400" b="1" i="1">
                                        <a:latin typeface="Cambria Math" panose="02040503050406030204" pitchFamily="18" charset="0"/>
                                      </a:rPr>
                                      <m:t>𝒖</m:t>
                                    </m:r>
                                  </m:e>
                                  <m:sub>
                                    <m:r>
                                      <a:rPr lang="en-US" sz="2400" i="1">
                                        <a:latin typeface="Cambria Math" panose="02040503050406030204" pitchFamily="18" charset="0"/>
                                      </a:rPr>
                                      <m:t>𝑓</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b="1" i="1">
                                        <a:latin typeface="Cambria Math" panose="02040503050406030204" pitchFamily="18" charset="0"/>
                                      </a:rPr>
                                      <m:t>𝒗</m:t>
                                    </m:r>
                                  </m:e>
                                  <m:sub>
                                    <m:r>
                                      <a:rPr lang="en-US" sz="2400" i="1">
                                        <a:latin typeface="Cambria Math" panose="02040503050406030204" pitchFamily="18" charset="0"/>
                                      </a:rPr>
                                      <m:t>𝑐</m:t>
                                    </m:r>
                                  </m:sub>
                                </m:sSub>
                              </m:e>
                            </m:d>
                          </m:e>
                        </m:func>
                      </m:e>
                    </m:nary>
                  </m:oMath>
                </a14:m>
                <a:endParaRPr lang="en-US" sz="2800"/>
              </a:p>
              <a:p>
                <a:pPr>
                  <a:lnSpc>
                    <a:spcPct val="100000"/>
                  </a:lnSpc>
                </a:pPr>
                <a:r>
                  <a:rPr lang="en-US" sz="2800"/>
                  <a:t>Change variable from </a:t>
                </a:r>
                <a14:m>
                  <m:oMath xmlns:m="http://schemas.openxmlformats.org/officeDocument/2006/math">
                    <m:r>
                      <a:rPr lang="en-US" sz="2800" b="1" i="1">
                        <a:latin typeface="Cambria Math" panose="02040503050406030204" pitchFamily="18" charset="0"/>
                      </a:rPr>
                      <m:t>𝑼</m:t>
                    </m:r>
                    <m:r>
                      <a:rPr lang="en-US" sz="2800" i="1">
                        <a:latin typeface="Cambria Math" panose="02040503050406030204" pitchFamily="18" charset="0"/>
                      </a:rPr>
                      <m:t>, </m:t>
                    </m:r>
                    <m:r>
                      <a:rPr lang="en-US" sz="2800" b="1" i="1">
                        <a:latin typeface="Cambria Math" panose="02040503050406030204" pitchFamily="18" charset="0"/>
                      </a:rPr>
                      <m:t>𝑽</m:t>
                    </m:r>
                  </m:oMath>
                </a14:m>
                <a:r>
                  <a:rPr lang="en-US" sz="2800"/>
                  <a:t> to </a:t>
                </a:r>
                <a14:m>
                  <m:oMath xmlns:m="http://schemas.openxmlformats.org/officeDocument/2006/math">
                    <m:r>
                      <a:rPr lang="en-US" sz="2800" b="1" i="1" smtClean="0">
                        <a:latin typeface="Cambria Math" panose="02040503050406030204" pitchFamily="18" charset="0"/>
                      </a:rPr>
                      <m:t>𝑨</m:t>
                    </m:r>
                    <m:r>
                      <a:rPr lang="en-US" sz="2800" b="0" i="1" smtClean="0">
                        <a:latin typeface="Cambria Math" panose="02040503050406030204" pitchFamily="18" charset="0"/>
                      </a:rPr>
                      <m:t>∈</m:t>
                    </m:r>
                    <m:sSup>
                      <m:sSupPr>
                        <m:ctrlPr>
                          <a:rPr lang="en-US" sz="2800" b="0" i="1" smtClean="0">
                            <a:latin typeface="Cambria Math" panose="02040503050406030204" pitchFamily="18" charset="0"/>
                            <a:ea typeface="Cambria Math" panose="02040503050406030204" pitchFamily="18" charset="0"/>
                          </a:rPr>
                        </m:ctrlPr>
                      </m:sSupPr>
                      <m:e>
                        <m:r>
                          <a:rPr lang="en-US" sz="2800" b="0" i="1" smtClean="0">
                            <a:latin typeface="Cambria Math" panose="02040503050406030204" pitchFamily="18" charset="0"/>
                            <a:ea typeface="Cambria Math" panose="02040503050406030204" pitchFamily="18" charset="0"/>
                          </a:rPr>
                          <m:t>ℝ</m:t>
                        </m:r>
                      </m:e>
                      <m:sup>
                        <m:r>
                          <a:rPr lang="en-US" sz="2800" b="0" i="1" smtClean="0">
                            <a:latin typeface="Cambria Math" panose="02040503050406030204" pitchFamily="18" charset="0"/>
                            <a:ea typeface="Cambria Math" panose="02040503050406030204" pitchFamily="18" charset="0"/>
                          </a:rPr>
                          <m:t>𝑊</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𝑊</m:t>
                        </m:r>
                      </m:sup>
                    </m:sSup>
                  </m:oMath>
                </a14:m>
                <a:r>
                  <a:rPr lang="en-US" sz="2800"/>
                  <a:t> with </a:t>
                </a:r>
                <a14:m>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𝐴</m:t>
                        </m:r>
                      </m:e>
                      <m:sub>
                        <m:r>
                          <a:rPr lang="en-US" sz="2800" b="0" i="1" smtClean="0">
                            <a:latin typeface="Cambria Math" panose="02040503050406030204" pitchFamily="18" charset="0"/>
                          </a:rPr>
                          <m:t>𝑓</m:t>
                        </m:r>
                        <m:r>
                          <a:rPr lang="en-US" sz="2800" b="0" i="1" smtClean="0">
                            <a:latin typeface="Cambria Math" panose="02040503050406030204" pitchFamily="18" charset="0"/>
                          </a:rPr>
                          <m:t>,</m:t>
                        </m:r>
                        <m:r>
                          <a:rPr lang="en-US" sz="2800" b="0" i="1" smtClean="0">
                            <a:latin typeface="Cambria Math" panose="02040503050406030204" pitchFamily="18" charset="0"/>
                          </a:rPr>
                          <m:t>𝑐</m:t>
                        </m:r>
                      </m:sub>
                    </m:sSub>
                    <m:r>
                      <a:rPr lang="en-US" sz="2800" b="0" i="1" smtClean="0">
                        <a:latin typeface="Cambria Math" panose="02040503050406030204" pitchFamily="18" charset="0"/>
                      </a:rPr>
                      <m:t>=</m:t>
                    </m:r>
                  </m:oMath>
                </a14:m>
                <a:r>
                  <a:rPr lang="en-US" sz="2800"/>
                  <a:t> </a:t>
                </a:r>
                <a14:m>
                  <m:oMath xmlns:m="http://schemas.openxmlformats.org/officeDocument/2006/math">
                    <m:sSub>
                      <m:sSubPr>
                        <m:ctrlPr>
                          <a:rPr lang="en-US" sz="2800" i="1">
                            <a:latin typeface="Cambria Math" panose="02040503050406030204" pitchFamily="18" charset="0"/>
                          </a:rPr>
                        </m:ctrlPr>
                      </m:sSubPr>
                      <m:e>
                        <m:r>
                          <a:rPr lang="en-US" sz="2800" b="1" i="1">
                            <a:latin typeface="Cambria Math" panose="02040503050406030204" pitchFamily="18" charset="0"/>
                          </a:rPr>
                          <m:t>𝒖</m:t>
                        </m:r>
                      </m:e>
                      <m:sub>
                        <m:r>
                          <a:rPr lang="en-US" sz="2800" i="1">
                            <a:latin typeface="Cambria Math" panose="02040503050406030204" pitchFamily="18" charset="0"/>
                          </a:rPr>
                          <m:t>𝑓</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b="1" i="1">
                            <a:latin typeface="Cambria Math" panose="02040503050406030204" pitchFamily="18" charset="0"/>
                          </a:rPr>
                          <m:t>𝒗</m:t>
                        </m:r>
                      </m:e>
                      <m:sub>
                        <m:r>
                          <a:rPr lang="en-US" sz="2800" i="1">
                            <a:latin typeface="Cambria Math" panose="02040503050406030204" pitchFamily="18" charset="0"/>
                          </a:rPr>
                          <m:t>𝑐</m:t>
                        </m:r>
                      </m:sub>
                    </m:sSub>
                  </m:oMath>
                </a14:m>
                <a:endParaRPr lang="en-US" sz="2800"/>
              </a:p>
              <a:p>
                <a:pPr lvl="1">
                  <a:lnSpc>
                    <a:spcPct val="100000"/>
                  </a:lnSpc>
                </a:pPr>
                <a:r>
                  <a:rPr lang="en-US" sz="2800"/>
                  <a:t>Once we find the best </a:t>
                </a:r>
                <a14:m>
                  <m:oMath xmlns:m="http://schemas.openxmlformats.org/officeDocument/2006/math">
                    <m:r>
                      <a:rPr lang="en-US" sz="2800" b="1" i="1">
                        <a:latin typeface="Cambria Math" panose="02040503050406030204" pitchFamily="18" charset="0"/>
                      </a:rPr>
                      <m:t>𝑨</m:t>
                    </m:r>
                  </m:oMath>
                </a14:m>
                <a:r>
                  <a:rPr lang="en-US" sz="2800"/>
                  <a:t>, we can try to factorize it as </a:t>
                </a:r>
                <a14:m>
                  <m:oMath xmlns:m="http://schemas.openxmlformats.org/officeDocument/2006/math">
                    <m:r>
                      <a:rPr lang="en-US" sz="2800" b="1" i="1" smtClean="0">
                        <a:latin typeface="Cambria Math" panose="02040503050406030204" pitchFamily="18" charset="0"/>
                      </a:rPr>
                      <m:t>𝑨</m:t>
                    </m:r>
                    <m:r>
                      <a:rPr lang="en-US" sz="2800" b="0" i="1" smtClean="0">
                        <a:latin typeface="Cambria Math" panose="02040503050406030204" pitchFamily="18" charset="0"/>
                      </a:rPr>
                      <m:t>≈</m:t>
                    </m:r>
                    <m:r>
                      <a:rPr lang="en-US" sz="2800" b="1" i="1" smtClean="0">
                        <a:latin typeface="Cambria Math" panose="02040503050406030204" pitchFamily="18" charset="0"/>
                      </a:rPr>
                      <m:t>𝑼</m:t>
                    </m:r>
                    <m:sSup>
                      <m:sSupPr>
                        <m:ctrlPr>
                          <a:rPr lang="en-US" sz="2800" b="0" i="1" smtClean="0">
                            <a:latin typeface="Cambria Math" panose="02040503050406030204" pitchFamily="18" charset="0"/>
                          </a:rPr>
                        </m:ctrlPr>
                      </m:sSupPr>
                      <m:e>
                        <m:r>
                          <a:rPr lang="en-US" sz="2800" b="1" i="1" smtClean="0">
                            <a:latin typeface="Cambria Math" panose="02040503050406030204" pitchFamily="18" charset="0"/>
                          </a:rPr>
                          <m:t>𝑽</m:t>
                        </m:r>
                      </m:e>
                      <m:sup>
                        <m:r>
                          <a:rPr lang="en-US" sz="2800" b="0" i="1" smtClean="0">
                            <a:latin typeface="Cambria Math" panose="02040503050406030204" pitchFamily="18" charset="0"/>
                          </a:rPr>
                          <m:t>⊤</m:t>
                        </m:r>
                      </m:sup>
                    </m:sSup>
                  </m:oMath>
                </a14:m>
                <a:endParaRPr lang="en-US" sz="2800" b="0" i="1">
                  <a:latin typeface="Cambria Math" panose="02040503050406030204" pitchFamily="18" charset="0"/>
                </a:endParaRPr>
              </a:p>
              <a:p>
                <a:pPr lvl="0">
                  <a:lnSpc>
                    <a:spcPct val="100000"/>
                  </a:lnSpc>
                </a:pPr>
                <a14:m>
                  <m:oMath xmlns:m="http://schemas.openxmlformats.org/officeDocument/2006/math">
                    <m:func>
                      <m:funcPr>
                        <m:ctrlPr>
                          <a:rPr lang="en-US" sz="3110" b="0" i="1" smtClean="0">
                            <a:latin typeface="Cambria Math" panose="02040503050406030204" pitchFamily="18" charset="0"/>
                          </a:rPr>
                        </m:ctrlPr>
                      </m:funcPr>
                      <m:fName>
                        <m:limLow>
                          <m:limLowPr>
                            <m:ctrlPr>
                              <a:rPr lang="en-US" sz="3110" b="0" i="1" smtClean="0">
                                <a:latin typeface="Cambria Math" panose="02040503050406030204" pitchFamily="18" charset="0"/>
                              </a:rPr>
                            </m:ctrlPr>
                          </m:limLowPr>
                          <m:e>
                            <m:r>
                              <m:rPr>
                                <m:sty m:val="p"/>
                              </m:rPr>
                              <a:rPr lang="en-US" sz="3110" b="0" i="0" smtClean="0">
                                <a:latin typeface="Cambria Math" panose="02040503050406030204" pitchFamily="18" charset="0"/>
                              </a:rPr>
                              <m:t>max</m:t>
                            </m:r>
                          </m:e>
                          <m:lim>
                            <m:r>
                              <a:rPr lang="en-US" sz="3110" b="1" i="1" smtClean="0">
                                <a:latin typeface="Cambria Math" panose="02040503050406030204" pitchFamily="18" charset="0"/>
                              </a:rPr>
                              <m:t>𝑨</m:t>
                            </m:r>
                          </m:lim>
                        </m:limLow>
                      </m:fName>
                      <m:e>
                        <m:nary>
                          <m:naryPr>
                            <m:chr m:val="∑"/>
                            <m:supHide m:val="on"/>
                            <m:ctrlPr>
                              <a:rPr lang="en-US" sz="3110" i="1">
                                <a:latin typeface="Cambria Math" panose="02040503050406030204" pitchFamily="18" charset="0"/>
                              </a:rPr>
                            </m:ctrlPr>
                          </m:naryPr>
                          <m:sub>
                            <m:r>
                              <m:rPr>
                                <m:brk m:alnAt="7"/>
                              </m:rPr>
                              <a:rPr lang="en-US" sz="3110" i="1">
                                <a:latin typeface="Cambria Math" panose="02040503050406030204" pitchFamily="18" charset="0"/>
                              </a:rPr>
                              <m:t>𝑓</m:t>
                            </m:r>
                            <m:r>
                              <a:rPr lang="en-US" sz="3110" i="1">
                                <a:latin typeface="Cambria Math" panose="02040503050406030204" pitchFamily="18" charset="0"/>
                              </a:rPr>
                              <m:t>,</m:t>
                            </m:r>
                            <m:r>
                              <a:rPr lang="en-US" sz="3110" i="1">
                                <a:latin typeface="Cambria Math" panose="02040503050406030204" pitchFamily="18" charset="0"/>
                              </a:rPr>
                              <m:t>𝑐</m:t>
                            </m:r>
                            <m:r>
                              <a:rPr lang="en-US" sz="3110" i="1" smtClean="0">
                                <a:latin typeface="Cambria Math" panose="02040503050406030204" pitchFamily="18" charset="0"/>
                                <a:cs typeface="DejaVu Math TeX Gyre" panose="02000503000000000000" charset="0"/>
                              </a:rPr>
                              <m:t>∈</m:t>
                            </m:r>
                            <m:d>
                              <m:dPr>
                                <m:begChr m:val="["/>
                                <m:endChr m:val="]"/>
                                <m:ctrlPr>
                                  <a:rPr lang="en-US" sz="3110" i="1">
                                    <a:latin typeface="Cambria Math" panose="02040503050406030204" pitchFamily="18" charset="0"/>
                                    <a:cs typeface="DejaVu Math TeX Gyre" panose="02000503000000000000" charset="0"/>
                                  </a:rPr>
                                </m:ctrlPr>
                              </m:dPr>
                              <m:e>
                                <m:r>
                                  <a:rPr lang="en-US" sz="3110" i="1">
                                    <a:latin typeface="Cambria Math" panose="02040503050406030204" pitchFamily="18" charset="0"/>
                                    <a:cs typeface="DejaVu Math TeX Gyre" panose="02000503000000000000" charset="0"/>
                                  </a:rPr>
                                  <m:t>𝑊</m:t>
                                </m:r>
                              </m:e>
                            </m:d>
                          </m:sub>
                          <m:sup/>
                          <m:e>
                            <m:sSub>
                              <m:sSubPr>
                                <m:ctrlPr>
                                  <a:rPr lang="en-US" sz="3110" i="1">
                                    <a:latin typeface="Cambria Math" panose="02040503050406030204" pitchFamily="18" charset="0"/>
                                  </a:rPr>
                                </m:ctrlPr>
                              </m:sSubPr>
                              <m:e>
                                <m:r>
                                  <a:rPr lang="en-US" sz="3110" b="0" i="1" smtClean="0">
                                    <a:latin typeface="Cambria Math" panose="02040503050406030204" pitchFamily="18" charset="0"/>
                                  </a:rPr>
                                  <m:t>𝑀</m:t>
                                </m:r>
                              </m:e>
                              <m:sub>
                                <m:r>
                                  <a:rPr lang="en-US" sz="3110" i="1">
                                    <a:latin typeface="Cambria Math" panose="02040503050406030204" pitchFamily="18" charset="0"/>
                                  </a:rPr>
                                  <m:t>𝑓</m:t>
                                </m:r>
                                <m:r>
                                  <a:rPr lang="en-US" sz="3110" i="1">
                                    <a:latin typeface="Cambria Math" panose="02040503050406030204" pitchFamily="18" charset="0"/>
                                  </a:rPr>
                                  <m:t>,</m:t>
                                </m:r>
                                <m:r>
                                  <a:rPr lang="en-US" sz="3110" i="1">
                                    <a:latin typeface="Cambria Math" panose="02040503050406030204" pitchFamily="18" charset="0"/>
                                  </a:rPr>
                                  <m:t>𝑐</m:t>
                                </m:r>
                              </m:sub>
                            </m:sSub>
                            <m:func>
                              <m:funcPr>
                                <m:ctrlPr>
                                  <a:rPr lang="en-US" sz="3110" i="1">
                                    <a:latin typeface="Cambria Math" panose="02040503050406030204" pitchFamily="18" charset="0"/>
                                    <a:ea typeface="Cambria Math" panose="02040503050406030204" pitchFamily="18" charset="0"/>
                                  </a:rPr>
                                </m:ctrlPr>
                              </m:funcPr>
                              <m:fName>
                                <m:r>
                                  <m:rPr>
                                    <m:sty m:val="p"/>
                                  </m:rPr>
                                  <a:rPr lang="en-US" sz="3110">
                                    <a:latin typeface="Cambria Math" panose="02040503050406030204" pitchFamily="18" charset="0"/>
                                    <a:ea typeface="Cambria Math" panose="02040503050406030204" pitchFamily="18" charset="0"/>
                                  </a:rPr>
                                  <m:t>log</m:t>
                                </m:r>
                              </m:fName>
                              <m:e>
                                <m:r>
                                  <a:rPr lang="en-US" sz="3110" i="1">
                                    <a:latin typeface="Cambria Math" panose="02040503050406030204" pitchFamily="18" charset="0"/>
                                    <a:ea typeface="Cambria Math" panose="02040503050406030204" pitchFamily="18" charset="0"/>
                                  </a:rPr>
                                  <m:t>𝜎</m:t>
                                </m:r>
                                <m:d>
                                  <m:dPr>
                                    <m:ctrlPr>
                                      <a:rPr lang="en-US" sz="3110" i="1">
                                        <a:latin typeface="Cambria Math" panose="02040503050406030204" pitchFamily="18" charset="0"/>
                                        <a:ea typeface="Cambria Math" panose="02040503050406030204" pitchFamily="18" charset="0"/>
                                      </a:rPr>
                                    </m:ctrlPr>
                                  </m:dPr>
                                  <m:e>
                                    <m:sSub>
                                      <m:sSubPr>
                                        <m:ctrlPr>
                                          <a:rPr lang="en-US" sz="3110" b="0" i="1" smtClean="0">
                                            <a:latin typeface="Cambria Math" panose="02040503050406030204" pitchFamily="18" charset="0"/>
                                          </a:rPr>
                                        </m:ctrlPr>
                                      </m:sSubPr>
                                      <m:e>
                                        <m:r>
                                          <a:rPr lang="en-US" sz="3110" i="1" smtClean="0">
                                            <a:latin typeface="Cambria Math" panose="02040503050406030204" pitchFamily="18" charset="0"/>
                                          </a:rPr>
                                          <m:t>𝐴</m:t>
                                        </m:r>
                                      </m:e>
                                      <m:sub>
                                        <m:r>
                                          <a:rPr lang="en-US" sz="3110" b="0" i="1" smtClean="0">
                                            <a:latin typeface="Cambria Math" panose="02040503050406030204" pitchFamily="18" charset="0"/>
                                          </a:rPr>
                                          <m:t>𝑓</m:t>
                                        </m:r>
                                        <m:r>
                                          <a:rPr lang="en-US" sz="3110" b="0" i="1" smtClean="0">
                                            <a:latin typeface="Cambria Math" panose="02040503050406030204" pitchFamily="18" charset="0"/>
                                          </a:rPr>
                                          <m:t>,</m:t>
                                        </m:r>
                                        <m:r>
                                          <a:rPr lang="en-US" sz="3110" b="0" i="1" smtClean="0">
                                            <a:latin typeface="Cambria Math" panose="02040503050406030204" pitchFamily="18" charset="0"/>
                                          </a:rPr>
                                          <m:t>𝑐</m:t>
                                        </m:r>
                                      </m:sub>
                                    </m:sSub>
                                  </m:e>
                                </m:d>
                              </m:e>
                            </m:func>
                            <m:r>
                              <a:rPr lang="en-US" sz="3110" i="1">
                                <a:latin typeface="Cambria Math" panose="02040503050406030204" pitchFamily="18" charset="0"/>
                              </a:rPr>
                              <m:t>+</m:t>
                            </m:r>
                            <m:r>
                              <a:rPr lang="en-US" sz="3110" i="1">
                                <a:effectLst>
                                  <a:glow rad="228600">
                                    <a:schemeClr val="accent4">
                                      <a:satMod val="175000"/>
                                      <a:alpha val="40000"/>
                                    </a:schemeClr>
                                  </a:glow>
                                </a:effectLst>
                                <a:latin typeface="Cambria Math" panose="02040503050406030204" pitchFamily="18" charset="0"/>
                              </a:rPr>
                              <m:t>𝐾</m:t>
                            </m:r>
                            <m:f>
                              <m:fPr>
                                <m:ctrlPr>
                                  <a:rPr lang="en-US" sz="3110" i="1">
                                    <a:effectLst>
                                      <a:glow rad="228600">
                                        <a:schemeClr val="accent4">
                                          <a:satMod val="175000"/>
                                          <a:alpha val="40000"/>
                                        </a:schemeClr>
                                      </a:glow>
                                    </a:effectLst>
                                    <a:latin typeface="Cambria Math" panose="02040503050406030204" pitchFamily="18" charset="0"/>
                                  </a:rPr>
                                </m:ctrlPr>
                              </m:fPr>
                              <m:num>
                                <m:sSub>
                                  <m:sSubPr>
                                    <m:ctrlPr>
                                      <a:rPr lang="en-US" sz="3110" i="1">
                                        <a:effectLst>
                                          <a:glow rad="228600">
                                            <a:schemeClr val="accent3">
                                              <a:satMod val="175000"/>
                                              <a:alpha val="40000"/>
                                            </a:schemeClr>
                                          </a:glow>
                                        </a:effectLst>
                                        <a:latin typeface="Cambria Math" panose="02040503050406030204" pitchFamily="18" charset="0"/>
                                      </a:rPr>
                                    </m:ctrlPr>
                                  </m:sSubPr>
                                  <m:e>
                                    <m:r>
                                      <a:rPr lang="en-US" sz="3110" i="1">
                                        <a:effectLst>
                                          <a:glow rad="228600">
                                            <a:schemeClr val="accent3">
                                              <a:satMod val="175000"/>
                                              <a:alpha val="40000"/>
                                            </a:schemeClr>
                                          </a:glow>
                                        </a:effectLst>
                                        <a:latin typeface="Cambria Math" panose="02040503050406030204" pitchFamily="18" charset="0"/>
                                      </a:rPr>
                                      <m:t>𝑁</m:t>
                                    </m:r>
                                  </m:e>
                                  <m:sub>
                                    <m:r>
                                      <a:rPr lang="en-US" sz="3110" i="1">
                                        <a:effectLst>
                                          <a:glow rad="228600">
                                            <a:schemeClr val="accent3">
                                              <a:satMod val="175000"/>
                                              <a:alpha val="40000"/>
                                            </a:schemeClr>
                                          </a:glow>
                                        </a:effectLst>
                                        <a:latin typeface="Cambria Math" panose="02040503050406030204" pitchFamily="18" charset="0"/>
                                      </a:rPr>
                                      <m:t>𝑓</m:t>
                                    </m:r>
                                  </m:sub>
                                </m:sSub>
                                <m:sSub>
                                  <m:sSubPr>
                                    <m:ctrlPr>
                                      <a:rPr lang="en-US" sz="3110" i="1">
                                        <a:effectLst>
                                          <a:glow rad="228600">
                                            <a:schemeClr val="accent4">
                                              <a:satMod val="175000"/>
                                              <a:alpha val="40000"/>
                                            </a:schemeClr>
                                          </a:glow>
                                        </a:effectLst>
                                        <a:latin typeface="Cambria Math" panose="02040503050406030204" pitchFamily="18" charset="0"/>
                                      </a:rPr>
                                    </m:ctrlPr>
                                  </m:sSubPr>
                                  <m:e>
                                    <m:r>
                                      <a:rPr lang="en-US" sz="3110" i="1">
                                        <a:effectLst>
                                          <a:glow rad="228600">
                                            <a:schemeClr val="accent4">
                                              <a:satMod val="175000"/>
                                              <a:alpha val="40000"/>
                                            </a:schemeClr>
                                          </a:glow>
                                        </a:effectLst>
                                        <a:latin typeface="Cambria Math" panose="02040503050406030204" pitchFamily="18" charset="0"/>
                                      </a:rPr>
                                      <m:t>𝑁</m:t>
                                    </m:r>
                                  </m:e>
                                  <m:sub>
                                    <m:r>
                                      <a:rPr lang="en-US" sz="3110" i="1">
                                        <a:effectLst>
                                          <a:glow rad="228600">
                                            <a:schemeClr val="accent4">
                                              <a:satMod val="175000"/>
                                              <a:alpha val="40000"/>
                                            </a:schemeClr>
                                          </a:glow>
                                        </a:effectLst>
                                        <a:latin typeface="Cambria Math" panose="02040503050406030204" pitchFamily="18" charset="0"/>
                                      </a:rPr>
                                      <m:t>𝑐</m:t>
                                    </m:r>
                                  </m:sub>
                                </m:sSub>
                              </m:num>
                              <m:den>
                                <m:r>
                                  <a:rPr lang="en-US" sz="3110" i="1">
                                    <a:effectLst>
                                      <a:glow rad="228600">
                                        <a:schemeClr val="accent4">
                                          <a:satMod val="175000"/>
                                          <a:alpha val="40000"/>
                                        </a:schemeClr>
                                      </a:glow>
                                    </a:effectLst>
                                    <a:latin typeface="Cambria Math" panose="02040503050406030204" pitchFamily="18" charset="0"/>
                                  </a:rPr>
                                  <m:t>𝑁</m:t>
                                </m:r>
                              </m:den>
                            </m:f>
                            <m:func>
                              <m:funcPr>
                                <m:ctrlPr>
                                  <a:rPr lang="en-US" sz="3110" i="1">
                                    <a:latin typeface="Cambria Math" panose="02040503050406030204" pitchFamily="18" charset="0"/>
                                    <a:ea typeface="Cambria Math" panose="02040503050406030204" pitchFamily="18" charset="0"/>
                                  </a:rPr>
                                </m:ctrlPr>
                              </m:funcPr>
                              <m:fName>
                                <m:r>
                                  <m:rPr>
                                    <m:sty m:val="p"/>
                                  </m:rPr>
                                  <a:rPr lang="en-US" sz="3110">
                                    <a:latin typeface="Cambria Math" panose="02040503050406030204" pitchFamily="18" charset="0"/>
                                    <a:ea typeface="Cambria Math" panose="02040503050406030204" pitchFamily="18" charset="0"/>
                                  </a:rPr>
                                  <m:t>log</m:t>
                                </m:r>
                              </m:fName>
                              <m:e>
                                <m:r>
                                  <a:rPr lang="en-US" sz="3110" i="1">
                                    <a:latin typeface="Cambria Math" panose="02040503050406030204" pitchFamily="18" charset="0"/>
                                  </a:rPr>
                                  <m:t>𝜎</m:t>
                                </m:r>
                                <m:d>
                                  <m:dPr>
                                    <m:ctrlPr>
                                      <a:rPr lang="en-US" sz="3110" i="1">
                                        <a:latin typeface="Cambria Math" panose="02040503050406030204" pitchFamily="18" charset="0"/>
                                      </a:rPr>
                                    </m:ctrlPr>
                                  </m:dPr>
                                  <m:e>
                                    <m:sSub>
                                      <m:sSubPr>
                                        <m:ctrlPr>
                                          <a:rPr lang="en-US" sz="3110" b="0" i="1" smtClean="0">
                                            <a:latin typeface="Cambria Math" panose="02040503050406030204" pitchFamily="18" charset="0"/>
                                          </a:rPr>
                                        </m:ctrlPr>
                                      </m:sSubPr>
                                      <m:e>
                                        <m:r>
                                          <a:rPr lang="en-US" sz="3110" b="0" i="1" smtClean="0">
                                            <a:latin typeface="Cambria Math" panose="02040503050406030204" pitchFamily="18" charset="0"/>
                                          </a:rPr>
                                          <m:t>−</m:t>
                                        </m:r>
                                        <m:r>
                                          <a:rPr lang="en-US" sz="3110" i="1" smtClean="0">
                                            <a:latin typeface="Cambria Math" panose="02040503050406030204" pitchFamily="18" charset="0"/>
                                          </a:rPr>
                                          <m:t>𝐴</m:t>
                                        </m:r>
                                      </m:e>
                                      <m:sub>
                                        <m:r>
                                          <a:rPr lang="en-US" sz="3110" b="0" i="1" smtClean="0">
                                            <a:latin typeface="Cambria Math" panose="02040503050406030204" pitchFamily="18" charset="0"/>
                                          </a:rPr>
                                          <m:t>𝑓</m:t>
                                        </m:r>
                                        <m:r>
                                          <a:rPr lang="en-US" sz="3110" b="0" i="1" smtClean="0">
                                            <a:latin typeface="Cambria Math" panose="02040503050406030204" pitchFamily="18" charset="0"/>
                                          </a:rPr>
                                          <m:t>,</m:t>
                                        </m:r>
                                        <m:r>
                                          <a:rPr lang="en-US" sz="3110" b="0" i="1" smtClean="0">
                                            <a:latin typeface="Cambria Math" panose="02040503050406030204" pitchFamily="18" charset="0"/>
                                          </a:rPr>
                                          <m:t>𝑐</m:t>
                                        </m:r>
                                      </m:sub>
                                    </m:sSub>
                                  </m:e>
                                </m:d>
                              </m:e>
                            </m:func>
                          </m:e>
                        </m:nary>
                      </m:e>
                    </m:func>
                  </m:oMath>
                </a14:m>
                <a:r>
                  <a:rPr lang="en-US" sz="3110"/>
                  <a:t> </a:t>
                </a:r>
              </a:p>
            </p:txBody>
          </p:sp>
        </mc:Choice>
        <mc:Fallback xmlns="">
          <p:sp>
            <p:nvSpPr>
              <p:cNvPr id="3" name="Text Placeholder 2"/>
              <p:cNvSpPr>
                <a:spLocks noRot="1" noChangeAspect="1" noMove="1" noResize="1" noEditPoints="1" noAdjustHandles="1" noChangeArrowheads="1" noChangeShapeType="1" noTextEdit="1"/>
              </p:cNvSpPr>
              <p:nvPr>
                <p:ph type="body" idx="1"/>
              </p:nvPr>
            </p:nvSpPr>
            <p:spPr>
              <a:xfrm>
                <a:off x="74930" y="913130"/>
                <a:ext cx="12055475" cy="5831840"/>
              </a:xfrm>
              <a:blipFill rotWithShape="1">
                <a:blip r:embed="rId3"/>
                <a:stretch>
                  <a:fillRect/>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2680970" y="6127750"/>
                <a:ext cx="9511030" cy="730250"/>
              </a:xfrm>
              <a:prstGeom prst="rect">
                <a:avLst/>
              </a:prstGeom>
              <a:solidFill>
                <a:schemeClr val="accent5">
                  <a:lumMod val="20000"/>
                  <a:lumOff val="80000"/>
                </a:schemeClr>
              </a:solidFill>
            </p:spPr>
            <p:txBody>
              <a:bodyPr wrap="square" rtlCol="0">
                <a:spAutoFit/>
              </a:bodyPr>
              <a:lstStyle/>
              <a:p>
                <a:r>
                  <a:rPr lang="en-US" sz="2000"/>
                  <a:t>One way to factorize </a:t>
                </a:r>
                <a14:m>
                  <m:oMath xmlns:m="http://schemas.openxmlformats.org/officeDocument/2006/math">
                    <m:r>
                      <a:rPr lang="en-US" sz="2000" b="1" i="1">
                        <a:latin typeface="Cambria Math" panose="02040503050406030204" pitchFamily="18" charset="0"/>
                      </a:rPr>
                      <m:t>𝑨</m:t>
                    </m:r>
                    <m:r>
                      <a:rPr lang="en-US" sz="2000" i="1">
                        <a:latin typeface="Cambria Math" panose="02040503050406030204" pitchFamily="18" charset="0"/>
                      </a:rPr>
                      <m:t>≈</m:t>
                    </m:r>
                    <m:r>
                      <a:rPr lang="en-US" sz="2000" b="1" i="1">
                        <a:latin typeface="Cambria Math" panose="02040503050406030204" pitchFamily="18" charset="0"/>
                      </a:rPr>
                      <m:t>𝑼</m:t>
                    </m:r>
                    <m:sSup>
                      <m:sSupPr>
                        <m:ctrlPr>
                          <a:rPr lang="en-US" sz="2000" i="1">
                            <a:latin typeface="Cambria Math" panose="02040503050406030204" pitchFamily="18" charset="0"/>
                          </a:rPr>
                        </m:ctrlPr>
                      </m:sSupPr>
                      <m:e>
                        <m:r>
                          <a:rPr lang="en-US" sz="2000" b="1" i="1">
                            <a:latin typeface="Cambria Math" panose="02040503050406030204" pitchFamily="18" charset="0"/>
                          </a:rPr>
                          <m:t>𝑽</m:t>
                        </m:r>
                      </m:e>
                      <m:sup>
                        <m:r>
                          <a:rPr lang="en-US" sz="2000" i="1">
                            <a:latin typeface="Cambria Math" panose="02040503050406030204" pitchFamily="18" charset="0"/>
                          </a:rPr>
                          <m:t>⊤</m:t>
                        </m:r>
                      </m:sup>
                    </m:sSup>
                  </m:oMath>
                </a14:m>
                <a:r>
                  <a:rPr lang="en-US" sz="2000"/>
                  <a:t>, once </a:t>
                </a:r>
                <a14:m>
                  <m:oMath xmlns:m="http://schemas.openxmlformats.org/officeDocument/2006/math">
                    <m:r>
                      <a:rPr lang="en-US" sz="2000" b="1" i="1" dirty="0" smtClean="0">
                        <a:latin typeface="Cambria Math" panose="02040503050406030204" pitchFamily="18" charset="0"/>
                      </a:rPr>
                      <m:t>𝑨</m:t>
                    </m:r>
                  </m:oMath>
                </a14:m>
                <a:r>
                  <a:rPr lang="en-US" sz="2000"/>
                  <a:t> is fixed, is to alternately fix </a:t>
                </a:r>
                <a14:m>
                  <m:oMath xmlns:m="http://schemas.openxmlformats.org/officeDocument/2006/math">
                    <m:r>
                      <a:rPr lang="en-US" sz="2000" b="1" i="1">
                        <a:latin typeface="Cambria Math" panose="02040503050406030204" pitchFamily="18" charset="0"/>
                      </a:rPr>
                      <m:t>𝑼</m:t>
                    </m:r>
                  </m:oMath>
                </a14:m>
                <a:r>
                  <a:rPr lang="en-US" sz="2000"/>
                  <a:t> and update </a:t>
                </a:r>
                <a14:m>
                  <m:oMath xmlns:m="http://schemas.openxmlformats.org/officeDocument/2006/math">
                    <m:r>
                      <a:rPr lang="en-US" sz="2000" b="1" i="1" dirty="0" smtClean="0">
                        <a:latin typeface="Cambria Math" panose="02040503050406030204" pitchFamily="18" charset="0"/>
                      </a:rPr>
                      <m:t>𝑽</m:t>
                    </m:r>
                  </m:oMath>
                </a14:m>
                <a:r>
                  <a:rPr lang="en-US" sz="2000"/>
                  <a:t>, then fix </a:t>
                </a:r>
                <a14:m>
                  <m:oMath xmlns:m="http://schemas.openxmlformats.org/officeDocument/2006/math">
                    <m:r>
                      <a:rPr lang="en-US" sz="2000" b="1" i="1" dirty="0" smtClean="0">
                        <a:latin typeface="Cambria Math" panose="02040503050406030204" pitchFamily="18" charset="0"/>
                      </a:rPr>
                      <m:t>𝑽</m:t>
                    </m:r>
                  </m:oMath>
                </a14:m>
                <a:r>
                  <a:rPr lang="en-US" sz="2000"/>
                  <a:t> and update </a:t>
                </a:r>
                <a14:m>
                  <m:oMath xmlns:m="http://schemas.openxmlformats.org/officeDocument/2006/math">
                    <m:r>
                      <a:rPr lang="en-US" sz="2000" b="1" i="1" dirty="0" smtClean="0">
                        <a:latin typeface="Cambria Math" panose="02040503050406030204" pitchFamily="18" charset="0"/>
                      </a:rPr>
                      <m:t>𝑼</m:t>
                    </m:r>
                  </m:oMath>
                </a14:m>
                <a:r>
                  <a:rPr lang="en-US" sz="2000"/>
                  <a:t>, each via gradient descent (no guarantees)</a:t>
                </a:r>
              </a:p>
            </p:txBody>
          </p:sp>
        </mc:Choice>
        <mc:Fallback xmlns="">
          <p:sp>
            <p:nvSpPr>
              <p:cNvPr id="5" name="TextBox 4"/>
              <p:cNvSpPr txBox="1">
                <a:spLocks noRot="1" noChangeAspect="1" noMove="1" noResize="1" noEditPoints="1" noAdjustHandles="1" noChangeArrowheads="1" noChangeShapeType="1" noTextEdit="1"/>
              </p:cNvSpPr>
              <p:nvPr/>
            </p:nvSpPr>
            <p:spPr>
              <a:xfrm>
                <a:off x="2680970" y="6127750"/>
                <a:ext cx="9511030" cy="730250"/>
              </a:xfrm>
              <a:prstGeom prst="rect">
                <a:avLst/>
              </a:prstGeom>
              <a:blipFill rotWithShape="1">
                <a:blip r:embed="rId4"/>
                <a:stretch>
                  <a:fillRect/>
                </a:stretch>
              </a:blipFill>
            </p:spPr>
            <p:txBody>
              <a:bodyPr/>
              <a:lstStyle/>
              <a:p>
                <a:r>
                  <a:rPr lang="en-US"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sym typeface="+mn-ea"/>
              </a:rPr>
              <a:t>Pointwise mutual information (PMI)</a:t>
            </a:r>
            <a:endParaRPr lang="en-US"/>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p:txBody>
              <a:bodyPr>
                <a:normAutofit fontScale="80000"/>
              </a:bodyPr>
              <a:lstStyle/>
              <a:p>
                <a:r>
                  <a:rPr lang="en-US">
                    <a:sym typeface="+mn-ea"/>
                  </a:rPr>
                  <a:t>Marginal prob of </a:t>
                </a:r>
                <a14:m>
                  <m:oMath xmlns:m="http://schemas.openxmlformats.org/officeDocument/2006/math">
                    <m:r>
                      <a:rPr lang="en-US">
                        <a:latin typeface="Cambria Math" panose="02040503050406030204" pitchFamily="18" charset="0"/>
                        <a:cs typeface="DejaVu Math TeX Gyre" panose="02000503000000000000" charset="0"/>
                      </a:rPr>
                      <m:t>𝑓</m:t>
                    </m:r>
                  </m:oMath>
                </a14:m>
                <a:r>
                  <a:rPr lang="en-US">
                    <a:sym typeface="+mn-ea"/>
                  </a:rPr>
                  <a:t> and </a:t>
                </a:r>
                <a14:m>
                  <m:oMath xmlns:m="http://schemas.openxmlformats.org/officeDocument/2006/math">
                    <m:r>
                      <a:rPr lang="en-US">
                        <a:latin typeface="Cambria Math" panose="02040503050406030204" pitchFamily="18" charset="0"/>
                        <a:cs typeface="DejaVu Math TeX Gyre" panose="02000503000000000000" charset="0"/>
                      </a:rPr>
                      <m:t>𝑐</m:t>
                    </m:r>
                  </m:oMath>
                </a14:m>
                <a:r>
                  <a:rPr lang="en-US">
                    <a:sym typeface="+mn-ea"/>
                  </a:rPr>
                  <a:t> are </a:t>
                </a:r>
                <a14:m>
                  <m:oMath xmlns:m="http://schemas.openxmlformats.org/officeDocument/2006/math">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𝑝</m:t>
                        </m:r>
                      </m:e>
                      <m:sub>
                        <m:r>
                          <a:rPr lang="en-US" i="1">
                            <a:latin typeface="Cambria Math" panose="02040503050406030204" pitchFamily="18" charset="0"/>
                            <a:cs typeface="DejaVu Math TeX Gyre" panose="02000503000000000000" charset="0"/>
                          </a:rPr>
                          <m:t>𝑓</m:t>
                        </m:r>
                      </m:sub>
                    </m:sSub>
                    <m:r>
                      <a:rPr lang="en-US" i="1">
                        <a:latin typeface="Cambria Math" panose="02040503050406030204" pitchFamily="18" charset="0"/>
                        <a:cs typeface="DejaVu Math TeX Gyre" panose="02000503000000000000" charset="0"/>
                      </a:rPr>
                      <m:t>=</m:t>
                    </m:r>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𝑁</m:t>
                        </m:r>
                      </m:e>
                      <m:sub>
                        <m:r>
                          <a:rPr lang="en-US" i="1">
                            <a:latin typeface="Cambria Math" panose="02040503050406030204" pitchFamily="18" charset="0"/>
                            <a:cs typeface="DejaVu Math TeX Gyre" panose="02000503000000000000" charset="0"/>
                          </a:rPr>
                          <m:t>𝑓</m:t>
                        </m:r>
                      </m:sub>
                    </m:sSub>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𝑁</m:t>
                    </m:r>
                  </m:oMath>
                </a14:m>
                <a:r>
                  <a:rPr lang="en-US">
                    <a:sym typeface="+mn-ea"/>
                  </a:rPr>
                  <a:t> and </a:t>
                </a:r>
                <a14:m>
                  <m:oMath xmlns:m="http://schemas.openxmlformats.org/officeDocument/2006/math">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𝑝</m:t>
                        </m:r>
                      </m:e>
                      <m:sub>
                        <m:r>
                          <a:rPr lang="en-US" i="1">
                            <a:latin typeface="Cambria Math" panose="02040503050406030204" pitchFamily="18" charset="0"/>
                            <a:cs typeface="DejaVu Math TeX Gyre" panose="02000503000000000000" charset="0"/>
                          </a:rPr>
                          <m:t>𝑐</m:t>
                        </m:r>
                      </m:sub>
                    </m:sSub>
                    <m:r>
                      <a:rPr lang="en-US" i="1">
                        <a:latin typeface="Cambria Math" panose="02040503050406030204" pitchFamily="18" charset="0"/>
                        <a:cs typeface="DejaVu Math TeX Gyre" panose="02000503000000000000" charset="0"/>
                      </a:rPr>
                      <m:t>=</m:t>
                    </m:r>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𝑁</m:t>
                        </m:r>
                      </m:e>
                      <m:sub>
                        <m:r>
                          <a:rPr lang="en-US" i="1">
                            <a:latin typeface="Cambria Math" panose="02040503050406030204" pitchFamily="18" charset="0"/>
                            <a:cs typeface="DejaVu Math TeX Gyre" panose="02000503000000000000" charset="0"/>
                          </a:rPr>
                          <m:t>𝑐</m:t>
                        </m:r>
                      </m:sub>
                    </m:sSub>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𝑁</m:t>
                    </m:r>
                  </m:oMath>
                </a14:m>
                <a:endParaRPr lang="en-US" i="1">
                  <a:latin typeface="DejaVu Math TeX Gyre" panose="02000503000000000000" charset="0"/>
                  <a:cs typeface="DejaVu Math TeX Gyre" panose="02000503000000000000" charset="0"/>
                </a:endParaRPr>
              </a:p>
              <a:p>
                <a:r>
                  <a:rPr lang="en-US">
                    <a:sym typeface="+mn-ea"/>
                  </a:rPr>
                  <a:t>Joint prob of </a:t>
                </a:r>
                <a14:m>
                  <m:oMath xmlns:m="http://schemas.openxmlformats.org/officeDocument/2006/math">
                    <m:r>
                      <a:rPr lang="en-US">
                        <a:latin typeface="Cambria Math" panose="02040503050406030204" pitchFamily="18" charset="0"/>
                        <a:cs typeface="DejaVu Math TeX Gyre" panose="02000503000000000000" charset="0"/>
                      </a:rPr>
                      <m:t>𝑓</m:t>
                    </m:r>
                  </m:oMath>
                </a14:m>
                <a:r>
                  <a:rPr lang="en-US">
                    <a:sym typeface="+mn-ea"/>
                  </a:rPr>
                  <a:t> and </a:t>
                </a:r>
                <a14:m>
                  <m:oMath xmlns:m="http://schemas.openxmlformats.org/officeDocument/2006/math">
                    <m:r>
                      <a:rPr lang="en-US">
                        <a:latin typeface="Cambria Math" panose="02040503050406030204" pitchFamily="18" charset="0"/>
                        <a:cs typeface="DejaVu Math TeX Gyre" panose="02000503000000000000" charset="0"/>
                      </a:rPr>
                      <m:t>𝑐</m:t>
                    </m:r>
                  </m:oMath>
                </a14:m>
                <a:r>
                  <a:rPr lang="en-US">
                    <a:sym typeface="+mn-ea"/>
                  </a:rPr>
                  <a:t> is </a:t>
                </a:r>
                <a14:m>
                  <m:oMath xmlns:m="http://schemas.openxmlformats.org/officeDocument/2006/math">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𝑝</m:t>
                        </m:r>
                      </m:e>
                      <m:sub>
                        <m:r>
                          <a:rPr lang="en-US" i="1">
                            <a:latin typeface="Cambria Math" panose="02040503050406030204" pitchFamily="18" charset="0"/>
                            <a:cs typeface="DejaVu Math TeX Gyre" panose="02000503000000000000" charset="0"/>
                          </a:rPr>
                          <m:t>𝑓𝑐</m:t>
                        </m:r>
                      </m:sub>
                    </m:sSub>
                    <m:r>
                      <a:rPr lang="en-US" i="1">
                        <a:latin typeface="Cambria Math" panose="02040503050406030204" pitchFamily="18" charset="0"/>
                        <a:cs typeface="DejaVu Math TeX Gyre" panose="02000503000000000000" charset="0"/>
                      </a:rPr>
                      <m:t>=</m:t>
                    </m:r>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𝑀</m:t>
                        </m:r>
                      </m:e>
                      <m:sub>
                        <m:r>
                          <a:rPr lang="en-US" i="1">
                            <a:latin typeface="Cambria Math" panose="02040503050406030204" pitchFamily="18" charset="0"/>
                            <a:cs typeface="DejaVu Math TeX Gyre" panose="02000503000000000000" charset="0"/>
                          </a:rPr>
                          <m:t>𝑓𝑐</m:t>
                        </m:r>
                      </m:sub>
                    </m:sSub>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𝑁</m:t>
                    </m:r>
                  </m:oMath>
                </a14:m>
                <a:endParaRPr lang="en-US" i="1">
                  <a:latin typeface="DejaVu Math TeX Gyre" panose="02000503000000000000" charset="0"/>
                  <a:cs typeface="DejaVu Math TeX Gyre" panose="02000503000000000000" charset="0"/>
                </a:endParaRPr>
              </a:p>
              <a:p>
                <a:r>
                  <a:rPr lang="en-US"/>
                  <a:t>If </a:t>
                </a:r>
                <a14:m>
                  <m:oMath xmlns:m="http://schemas.openxmlformats.org/officeDocument/2006/math">
                    <m:r>
                      <a:rPr lang="en-US">
                        <a:latin typeface="Cambria Math" panose="02040503050406030204" pitchFamily="18" charset="0"/>
                        <a:cs typeface="DejaVu Math TeX Gyre" panose="02000503000000000000" charset="0"/>
                      </a:rPr>
                      <m:t>𝑓</m:t>
                    </m:r>
                  </m:oMath>
                </a14:m>
                <a:r>
                  <a:rPr lang="en-US">
                    <a:sym typeface="+mn-ea"/>
                  </a:rPr>
                  <a:t> and </a:t>
                </a:r>
                <a14:m>
                  <m:oMath xmlns:m="http://schemas.openxmlformats.org/officeDocument/2006/math">
                    <m:r>
                      <a:rPr lang="en-US">
                        <a:latin typeface="Cambria Math" panose="02040503050406030204" pitchFamily="18" charset="0"/>
                        <a:cs typeface="DejaVu Math TeX Gyre" panose="02000503000000000000" charset="0"/>
                      </a:rPr>
                      <m:t>𝑐</m:t>
                    </m:r>
                  </m:oMath>
                </a14:m>
                <a:r>
                  <a:rPr lang="en-US"/>
                  <a:t> occur independently, we expect </a:t>
                </a:r>
                <a14:m>
                  <m:oMath xmlns:m="http://schemas.openxmlformats.org/officeDocument/2006/math">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𝑝</m:t>
                        </m:r>
                      </m:e>
                      <m:sub>
                        <m:r>
                          <a:rPr lang="en-US" i="1">
                            <a:latin typeface="Cambria Math" panose="02040503050406030204" pitchFamily="18" charset="0"/>
                            <a:cs typeface="DejaVu Math TeX Gyre" panose="02000503000000000000" charset="0"/>
                          </a:rPr>
                          <m:t>𝑓𝑐</m:t>
                        </m:r>
                      </m:sub>
                    </m:sSub>
                    <m:r>
                      <a:rPr lang="en-US" i="1">
                        <a:latin typeface="Cambria Math" panose="02040503050406030204" pitchFamily="18" charset="0"/>
                        <a:cs typeface="DejaVu Math TeX Gyre" panose="02000503000000000000" charset="0"/>
                      </a:rPr>
                      <m:t>≈</m:t>
                    </m:r>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𝑝</m:t>
                        </m:r>
                      </m:e>
                      <m:sub>
                        <m:r>
                          <a:rPr lang="en-US" i="1">
                            <a:latin typeface="Cambria Math" panose="02040503050406030204" pitchFamily="18" charset="0"/>
                            <a:cs typeface="DejaVu Math TeX Gyre" panose="02000503000000000000" charset="0"/>
                          </a:rPr>
                          <m:t>𝑓</m:t>
                        </m:r>
                      </m:sub>
                    </m:sSub>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𝑝</m:t>
                        </m:r>
                      </m:e>
                      <m:sub>
                        <m:r>
                          <a:rPr lang="en-US" i="1">
                            <a:latin typeface="Cambria Math" panose="02040503050406030204" pitchFamily="18" charset="0"/>
                            <a:cs typeface="DejaVu Math TeX Gyre" panose="02000503000000000000" charset="0"/>
                          </a:rPr>
                          <m:t>𝑐</m:t>
                        </m:r>
                      </m:sub>
                    </m:sSub>
                  </m:oMath>
                </a14:m>
                <a:endParaRPr lang="en-US" i="1">
                  <a:latin typeface="DejaVu Math TeX Gyre" panose="02000503000000000000" charset="0"/>
                  <a:cs typeface="DejaVu Math TeX Gyre" panose="02000503000000000000" charset="0"/>
                </a:endParaRPr>
              </a:p>
              <a:p>
                <a:r>
                  <a:rPr lang="en-US"/>
                  <a:t>If strongly positively correlated, </a:t>
                </a:r>
                <a14:m>
                  <m:oMath xmlns:m="http://schemas.openxmlformats.org/officeDocument/2006/math">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𝑝</m:t>
                        </m:r>
                      </m:e>
                      <m:sub>
                        <m:r>
                          <a:rPr lang="en-US" i="1">
                            <a:latin typeface="Cambria Math" panose="02040503050406030204" pitchFamily="18" charset="0"/>
                            <a:cs typeface="DejaVu Math TeX Gyre" panose="02000503000000000000" charset="0"/>
                          </a:rPr>
                          <m:t>𝑓𝑐</m:t>
                        </m:r>
                      </m:sub>
                    </m:sSub>
                    <m:r>
                      <a:rPr lang="en-US" i="1">
                        <a:latin typeface="Cambria Math" panose="02040503050406030204" pitchFamily="18" charset="0"/>
                        <a:cs typeface="DejaVu Math TeX Gyre" panose="02000503000000000000" charset="0"/>
                      </a:rPr>
                      <m:t>≫</m:t>
                    </m:r>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𝑝</m:t>
                        </m:r>
                      </m:e>
                      <m:sub>
                        <m:r>
                          <a:rPr lang="en-US" i="1">
                            <a:latin typeface="Cambria Math" panose="02040503050406030204" pitchFamily="18" charset="0"/>
                            <a:cs typeface="DejaVu Math TeX Gyre" panose="02000503000000000000" charset="0"/>
                          </a:rPr>
                          <m:t>𝑓</m:t>
                        </m:r>
                      </m:sub>
                    </m:sSub>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𝑝</m:t>
                        </m:r>
                      </m:e>
                      <m:sub>
                        <m:r>
                          <a:rPr lang="en-US" i="1">
                            <a:latin typeface="Cambria Math" panose="02040503050406030204" pitchFamily="18" charset="0"/>
                            <a:cs typeface="DejaVu Math TeX Gyre" panose="02000503000000000000" charset="0"/>
                          </a:rPr>
                          <m:t>𝑐</m:t>
                        </m:r>
                      </m:sub>
                    </m:sSub>
                  </m:oMath>
                </a14:m>
                <a:endParaRPr lang="en-US" i="1">
                  <a:latin typeface="DejaVu Math TeX Gyre" panose="02000503000000000000" charset="0"/>
                  <a:cs typeface="DejaVu Math TeX Gyre" panose="02000503000000000000" charset="0"/>
                </a:endParaRPr>
              </a:p>
              <a:p>
                <a14:m>
                  <m:oMath xmlns:m="http://schemas.openxmlformats.org/officeDocument/2006/math">
                    <m:f>
                      <m:fPr>
                        <m:ctrlPr>
                          <a:rPr lang="en-US" i="1">
                            <a:latin typeface="Cambria Math" panose="02040503050406030204" pitchFamily="18" charset="0"/>
                            <a:cs typeface="DejaVu Math TeX Gyre" panose="02000503000000000000" charset="0"/>
                          </a:rPr>
                        </m:ctrlPr>
                      </m:fPr>
                      <m:num>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𝑝</m:t>
                            </m:r>
                          </m:e>
                          <m:sub>
                            <m:r>
                              <a:rPr lang="en-US" i="1">
                                <a:latin typeface="Cambria Math" panose="02040503050406030204" pitchFamily="18" charset="0"/>
                                <a:cs typeface="DejaVu Math TeX Gyre" panose="02000503000000000000" charset="0"/>
                              </a:rPr>
                              <m:t>𝑓𝑐</m:t>
                            </m:r>
                          </m:sub>
                        </m:sSub>
                      </m:num>
                      <m:den>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𝑝</m:t>
                            </m:r>
                          </m:e>
                          <m:sub>
                            <m:r>
                              <a:rPr lang="en-US" i="1">
                                <a:latin typeface="Cambria Math" panose="02040503050406030204" pitchFamily="18" charset="0"/>
                                <a:cs typeface="DejaVu Math TeX Gyre" panose="02000503000000000000" charset="0"/>
                              </a:rPr>
                              <m:t>𝑓</m:t>
                            </m:r>
                          </m:sub>
                        </m:sSub>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𝑝</m:t>
                            </m:r>
                          </m:e>
                          <m:sub>
                            <m:r>
                              <a:rPr lang="en-US" i="1">
                                <a:latin typeface="Cambria Math" panose="02040503050406030204" pitchFamily="18" charset="0"/>
                                <a:cs typeface="DejaVu Math TeX Gyre" panose="02000503000000000000" charset="0"/>
                              </a:rPr>
                              <m:t>𝑐</m:t>
                            </m:r>
                          </m:sub>
                        </m:sSub>
                      </m:den>
                    </m:f>
                  </m:oMath>
                </a14:m>
                <a:r>
                  <a:rPr lang="en-US"/>
                  <a:t> is a measure of correlation</a:t>
                </a:r>
              </a:p>
              <a:p>
                <a14:m>
                  <m:oMath xmlns:m="http://schemas.openxmlformats.org/officeDocument/2006/math">
                    <m:r>
                      <m:rPr>
                        <m:sty m:val="p"/>
                      </m:rPr>
                      <a:rPr lang="en-US" b="0" i="0" smtClean="0">
                        <a:latin typeface="Cambria Math" panose="02040503050406030204" pitchFamily="18" charset="0"/>
                      </a:rPr>
                      <m:t>PMI</m:t>
                    </m:r>
                    <m:d>
                      <m:dPr>
                        <m:ctrlPr>
                          <a:rPr lang="en-US" b="0" i="1" smtClean="0">
                            <a:latin typeface="Cambria Math" panose="02040503050406030204" pitchFamily="18" charset="0"/>
                          </a:rPr>
                        </m:ctrlPr>
                      </m:dPr>
                      <m:e>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𝑐</m:t>
                        </m:r>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𝑐</m:t>
                                </m:r>
                              </m:sub>
                            </m:sSub>
                          </m:num>
                          <m:den>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𝑓</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𝑐</m:t>
                                </m:r>
                              </m:sub>
                            </m:sSub>
                          </m:den>
                        </m:f>
                      </m:e>
                    </m:func>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𝑐</m:t>
                                </m:r>
                              </m:sub>
                            </m:sSub>
                            <m:r>
                              <a:rPr lang="en-US" i="1">
                                <a:latin typeface="Cambria Math" panose="02040503050406030204" pitchFamily="18" charset="0"/>
                              </a:rPr>
                              <m:t>/</m:t>
                            </m:r>
                            <m:r>
                              <a:rPr lang="en-US" i="1">
                                <a:latin typeface="Cambria Math" panose="02040503050406030204" pitchFamily="18" charset="0"/>
                              </a:rPr>
                              <m:t>𝑁</m:t>
                            </m:r>
                          </m:num>
                          <m:den>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𝑓</m:t>
                                    </m:r>
                                  </m:sub>
                                </m:sSub>
                                <m:r>
                                  <a:rPr lang="en-US" i="1">
                                    <a:latin typeface="Cambria Math" panose="02040503050406030204" pitchFamily="18" charset="0"/>
                                  </a:rPr>
                                  <m:t>/</m:t>
                                </m:r>
                                <m:r>
                                  <a:rPr lang="en-US" i="1">
                                    <a:latin typeface="Cambria Math" panose="02040503050406030204" pitchFamily="18" charset="0"/>
                                  </a:rPr>
                                  <m:t>𝑁</m:t>
                                </m:r>
                              </m:e>
                            </m:d>
                            <m:r>
                              <a:rPr lang="en-US" i="1">
                                <a:latin typeface="Cambria Math" panose="02040503050406030204" pitchFamily="18" charset="0"/>
                              </a:rPr>
                              <m:t> </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𝑐</m:t>
                                    </m:r>
                                  </m:sub>
                                </m:sSub>
                                <m:r>
                                  <a:rPr lang="en-US" i="1">
                                    <a:latin typeface="Cambria Math" panose="02040503050406030204" pitchFamily="18" charset="0"/>
                                  </a:rPr>
                                  <m:t>/</m:t>
                                </m:r>
                                <m:r>
                                  <a:rPr lang="en-US" i="1">
                                    <a:latin typeface="Cambria Math" panose="02040503050406030204" pitchFamily="18" charset="0"/>
                                  </a:rPr>
                                  <m:t>𝑁</m:t>
                                </m:r>
                              </m:e>
                            </m:d>
                          </m:den>
                        </m:f>
                      </m:e>
                    </m:func>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𝑐</m:t>
                                </m:r>
                              </m:sub>
                            </m:sSub>
                            <m:r>
                              <a:rPr lang="en-US" i="1">
                                <a:latin typeface="Cambria Math" panose="02040503050406030204" pitchFamily="18" charset="0"/>
                              </a:rPr>
                              <m:t> </m:t>
                            </m:r>
                            <m:r>
                              <a:rPr lang="en-US" i="1">
                                <a:latin typeface="Cambria Math" panose="02040503050406030204" pitchFamily="18" charset="0"/>
                              </a:rPr>
                              <m:t>𝑁</m:t>
                            </m:r>
                          </m:num>
                          <m:den>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𝑓</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𝑐</m:t>
                                </m:r>
                              </m:sub>
                            </m:sSub>
                          </m:den>
                        </m:f>
                      </m:e>
                    </m:func>
                  </m:oMath>
                </a14:m>
                <a:endParaRPr lang="en-US" i="1">
                  <a:latin typeface="DejaVu Math TeX Gyre" panose="02000503000000000000" charset="0"/>
                  <a:cs typeface="DejaVu Math TeX Gyre" panose="02000503000000000000" charset="0"/>
                </a:endParaRPr>
              </a:p>
              <a:p>
                <a:endParaRPr lang="en-US"/>
              </a:p>
            </p:txBody>
          </p:sp>
        </mc:Choice>
        <mc:Fallback xmlns="">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2"/>
                <a:stretch>
                  <a:fillRect/>
                </a:stretch>
              </a:blipFill>
            </p:spPr>
            <p:txBody>
              <a:bodyPr/>
              <a:lstStyle/>
              <a:p>
                <a:r>
                  <a:rPr lang="en-US" altLang="en-US">
                    <a:noFill/>
                  </a:rPr>
                  <a:t> </a:t>
                </a:r>
              </a:p>
            </p:txBody>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Solution, continued</a:t>
            </a:r>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p:txBody>
              <a:bodyPr>
                <a:normAutofit fontScale="62500" lnSpcReduction="20000"/>
              </a:bodyPr>
              <a:lstStyle/>
              <a:p>
                <a:pPr>
                  <a:lnSpc>
                    <a:spcPct val="120000"/>
                  </a:lnSpc>
                </a:pPr>
                <a14:m>
                  <m:oMath xmlns:m="http://schemas.openxmlformats.org/officeDocument/2006/math">
                    <m:func>
                      <m:funcPr>
                        <m:ctrlPr>
                          <a:rPr lang="en-US" i="1" smtClean="0">
                            <a:latin typeface="Cambria Math" panose="02040503050406030204" pitchFamily="18" charset="0"/>
                          </a:rPr>
                        </m:ctrlPr>
                      </m:funcPr>
                      <m:fName>
                        <m:limLow>
                          <m:limLowPr>
                            <m:ctrlPr>
                              <a:rPr lang="en-US" i="1">
                                <a:latin typeface="Cambria Math" panose="02040503050406030204" pitchFamily="18" charset="0"/>
                              </a:rPr>
                            </m:ctrlPr>
                          </m:limLowPr>
                          <m:e>
                            <m:r>
                              <m:rPr>
                                <m:sty m:val="p"/>
                              </m:rPr>
                              <a:rPr lang="en-US">
                                <a:latin typeface="Cambria Math" panose="02040503050406030204" pitchFamily="18" charset="0"/>
                              </a:rPr>
                              <m:t>max</m:t>
                            </m:r>
                          </m:e>
                          <m:lim>
                            <m:r>
                              <a:rPr lang="en-US" b="1" i="1">
                                <a:latin typeface="Cambria Math" panose="02040503050406030204" pitchFamily="18" charset="0"/>
                              </a:rPr>
                              <m:t>𝑨</m:t>
                            </m:r>
                          </m:lim>
                        </m:limLow>
                      </m:fName>
                      <m:e>
                        <m:nary>
                          <m:naryPr>
                            <m:chr m:val="∑"/>
                            <m:supHide m:val="on"/>
                            <m:ctrlPr>
                              <a:rPr lang="en-US" i="1">
                                <a:latin typeface="Cambria Math" panose="02040503050406030204" pitchFamily="18" charset="0"/>
                              </a:rPr>
                            </m:ctrlPr>
                          </m:naryPr>
                          <m:sub>
                            <m:r>
                              <m:rPr>
                                <m:brk m:alnAt="7"/>
                              </m:rP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𝑐</m:t>
                            </m:r>
                          </m:sub>
                          <m:sup/>
                          <m:e>
                            <m:sSub>
                              <m:sSubPr>
                                <m:ctrlPr>
                                  <a:rPr lang="en-US" i="1">
                                    <a:latin typeface="Cambria Math" panose="02040503050406030204" pitchFamily="18" charset="0"/>
                                  </a:rPr>
                                </m:ctrlPr>
                              </m:sSubPr>
                              <m:e>
                                <m:r>
                                  <a:rPr lang="en-US" b="0" i="1" smtClean="0">
                                    <a:latin typeface="Cambria Math" panose="02040503050406030204" pitchFamily="18" charset="0"/>
                                  </a:rPr>
                                  <m:t>𝑀</m:t>
                                </m:r>
                              </m:e>
                              <m:sub>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𝑐</m:t>
                                </m:r>
                              </m:sub>
                            </m:sSub>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log</m:t>
                                </m:r>
                              </m:fName>
                              <m:e>
                                <m:r>
                                  <a:rPr lang="en-US" i="1">
                                    <a:latin typeface="Cambria Math" panose="02040503050406030204" pitchFamily="18" charset="0"/>
                                    <a:ea typeface="Cambria Math" panose="02040503050406030204" pitchFamily="18" charset="0"/>
                                  </a:rPr>
                                  <m:t>𝜎</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𝑐</m:t>
                                        </m:r>
                                      </m:sub>
                                    </m:sSub>
                                  </m:e>
                                </m:d>
                              </m:e>
                            </m:func>
                            <m:r>
                              <a:rPr lang="en-US" i="1">
                                <a:latin typeface="Cambria Math" panose="02040503050406030204" pitchFamily="18" charset="0"/>
                              </a:rPr>
                              <m:t>+</m:t>
                            </m:r>
                            <m:r>
                              <a:rPr lang="en-US" i="1">
                                <a:latin typeface="Cambria Math" panose="02040503050406030204" pitchFamily="18" charset="0"/>
                              </a:rPr>
                              <m:t>𝐾</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𝑓</m:t>
                                    </m:r>
                                  </m:sub>
                                </m:sSub>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𝑐</m:t>
                                    </m:r>
                                  </m:sub>
                                </m:sSub>
                              </m:num>
                              <m:den>
                                <m:r>
                                  <a:rPr lang="en-US" i="1">
                                    <a:latin typeface="Cambria Math" panose="02040503050406030204" pitchFamily="18" charset="0"/>
                                  </a:rPr>
                                  <m:t>𝑁</m:t>
                                </m:r>
                              </m:den>
                            </m:f>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log</m:t>
                                </m:r>
                              </m:fName>
                              <m:e>
                                <m:r>
                                  <a:rPr lang="en-US" i="1">
                                    <a:latin typeface="Cambria Math" panose="02040503050406030204" pitchFamily="18" charset="0"/>
                                  </a:rPr>
                                  <m:t>𝜎</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b="0" i="1" smtClean="0">
                                            <a:latin typeface="Cambria Math" panose="02040503050406030204" pitchFamily="18" charset="0"/>
                                          </a:rPr>
                                          <m:t>−</m:t>
                                        </m:r>
                                        <m:r>
                                          <a:rPr lang="en-US" i="1">
                                            <a:latin typeface="Cambria Math" panose="02040503050406030204" pitchFamily="18" charset="0"/>
                                          </a:rPr>
                                          <m:t>𝐴</m:t>
                                        </m:r>
                                      </m:e>
                                      <m:sub>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𝑐</m:t>
                                        </m:r>
                                      </m:sub>
                                    </m:sSub>
                                  </m:e>
                                </m:d>
                              </m:e>
                            </m:func>
                          </m:e>
                        </m:nary>
                      </m:e>
                    </m:func>
                  </m:oMath>
                </a14:m>
                <a:endParaRPr lang="en-US"/>
              </a:p>
              <a:p>
                <a:pPr>
                  <a:lnSpc>
                    <a:spcPct val="120000"/>
                  </a:lnSpc>
                </a:pPr>
                <a:r>
                  <a:rPr lang="en-US"/>
                  <a:t>Can optimize each </a:t>
                </a:r>
                <a14:m>
                  <m:oMath xmlns:m="http://schemas.openxmlformats.org/officeDocument/2006/math">
                    <m:r>
                      <a:rPr lang="en-US" i="1" dirty="0" smtClean="0">
                        <a:latin typeface="Cambria Math" panose="02040503050406030204" pitchFamily="18" charset="0"/>
                      </a:rPr>
                      <m:t>𝑓</m:t>
                    </m:r>
                    <m:r>
                      <a:rPr lang="en-US" i="1" dirty="0" smtClean="0">
                        <a:latin typeface="Cambria Math" panose="02040503050406030204" pitchFamily="18" charset="0"/>
                      </a:rPr>
                      <m:t>,</m:t>
                    </m:r>
                    <m:r>
                      <a:rPr lang="en-US" i="1" dirty="0" smtClean="0">
                        <a:latin typeface="Cambria Math" panose="02040503050406030204" pitchFamily="18" charset="0"/>
                      </a:rPr>
                      <m:t>𝑐</m:t>
                    </m:r>
                  </m:oMath>
                </a14:m>
                <a:r>
                  <a:rPr lang="en-US"/>
                  <a:t> term separately</a:t>
                </a:r>
              </a:p>
              <a:p>
                <a:pPr>
                  <a:lnSpc>
                    <a:spcPct val="120000"/>
                  </a:lnSpc>
                </a:pPr>
                <a:r>
                  <a:rPr lang="en-US"/>
                  <a:t>Setting gradient to zero, we get</a:t>
                </a:r>
                <a:br>
                  <a:rPr lang="en-US"/>
                </a:b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𝑀</m:t>
                        </m:r>
                      </m:e>
                      <m:sub>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𝑐</m:t>
                        </m:r>
                      </m:sub>
                    </m:sSub>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𝜎</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𝑐</m:t>
                            </m:r>
                          </m:sub>
                        </m:sSub>
                        <m:r>
                          <a:rPr lang="en-US" b="0" i="1" smtClean="0">
                            <a:latin typeface="Cambria Math" panose="02040503050406030204" pitchFamily="18" charset="0"/>
                          </a:rPr>
                          <m:t>)</m:t>
                        </m:r>
                      </m:den>
                    </m:f>
                    <m:f>
                      <m:fPr>
                        <m:ctrlPr>
                          <a:rPr lang="en-US" b="0" i="1" smtClean="0">
                            <a:latin typeface="Cambria Math" panose="02040503050406030204" pitchFamily="18" charset="0"/>
                          </a:rPr>
                        </m:ctrlPr>
                      </m:fPr>
                      <m:num>
                        <m:r>
                          <a:rPr lang="en-US" b="0" i="1" smtClean="0">
                            <a:latin typeface="Cambria Math" panose="02040503050406030204" pitchFamily="18" charset="0"/>
                          </a:rPr>
                          <m:t>𝑑</m:t>
                        </m:r>
                        <m:r>
                          <a:rPr lang="en-US" b="0" i="1" smtClean="0">
                            <a:latin typeface="Cambria Math" panose="02040503050406030204" pitchFamily="18" charset="0"/>
                          </a:rPr>
                          <m:t>𝜎</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𝑐</m:t>
                            </m:r>
                          </m:sub>
                        </m:sSub>
                        <m:r>
                          <a:rPr lang="en-US" b="0" i="1" smtClean="0">
                            <a:latin typeface="Cambria Math" panose="02040503050406030204" pitchFamily="18" charset="0"/>
                          </a:rPr>
                          <m:t>)</m:t>
                        </m:r>
                      </m:num>
                      <m:den>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𝑐</m:t>
                            </m:r>
                          </m:sub>
                        </m:sSub>
                      </m:den>
                    </m:f>
                    <m:r>
                      <a:rPr lang="en-US" b="0" i="1" smtClean="0">
                        <a:latin typeface="Cambria Math" panose="02040503050406030204" pitchFamily="18" charset="0"/>
                      </a:rPr>
                      <m:t>+</m:t>
                    </m:r>
                    <m:r>
                      <a:rPr lang="en-US" i="1">
                        <a:latin typeface="Cambria Math" panose="02040503050406030204" pitchFamily="18" charset="0"/>
                      </a:rPr>
                      <m:t>𝐾</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𝑓</m:t>
                            </m:r>
                          </m:sub>
                        </m:sSub>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𝑐</m:t>
                            </m:r>
                          </m:sub>
                        </m:sSub>
                      </m:num>
                      <m:den>
                        <m:r>
                          <a:rPr lang="en-US" i="1">
                            <a:latin typeface="Cambria Math" panose="02040503050406030204" pitchFamily="18" charset="0"/>
                          </a:rPr>
                          <m:t>𝑁</m:t>
                        </m:r>
                      </m:den>
                    </m:f>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𝜎</m:t>
                        </m:r>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m:t>
                            </m:r>
                            <m:r>
                              <a:rPr lang="en-US" i="1">
                                <a:latin typeface="Cambria Math" panose="02040503050406030204" pitchFamily="18" charset="0"/>
                              </a:rPr>
                              <m:t>𝐴</m:t>
                            </m:r>
                          </m:e>
                          <m:sub>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𝑐</m:t>
                            </m:r>
                          </m:sub>
                        </m:sSub>
                        <m:r>
                          <a:rPr lang="en-US" i="1">
                            <a:latin typeface="Cambria Math" panose="02040503050406030204" pitchFamily="18" charset="0"/>
                          </a:rPr>
                          <m:t>)</m:t>
                        </m:r>
                      </m:den>
                    </m:f>
                    <m:f>
                      <m:fPr>
                        <m:ctrlPr>
                          <a:rPr lang="en-US" i="1">
                            <a:latin typeface="Cambria Math" panose="02040503050406030204" pitchFamily="18" charset="0"/>
                          </a:rPr>
                        </m:ctrlPr>
                      </m:fPr>
                      <m:num>
                        <m:r>
                          <a:rPr lang="en-US" i="1">
                            <a:latin typeface="Cambria Math" panose="02040503050406030204" pitchFamily="18" charset="0"/>
                          </a:rPr>
                          <m:t>𝑑</m:t>
                        </m:r>
                        <m:r>
                          <a:rPr lang="en-US" i="1">
                            <a:latin typeface="Cambria Math" panose="02040503050406030204" pitchFamily="18" charset="0"/>
                          </a:rPr>
                          <m:t>𝜎</m:t>
                        </m:r>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m:t>
                            </m:r>
                            <m:r>
                              <a:rPr lang="en-US" i="1">
                                <a:latin typeface="Cambria Math" panose="02040503050406030204" pitchFamily="18" charset="0"/>
                              </a:rPr>
                              <m:t>𝐴</m:t>
                            </m:r>
                          </m:e>
                          <m:sub>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𝑐</m:t>
                            </m:r>
                          </m:sub>
                        </m:sSub>
                        <m:r>
                          <a:rPr lang="en-US" i="1">
                            <a:latin typeface="Cambria Math" panose="02040503050406030204" pitchFamily="18" charset="0"/>
                          </a:rPr>
                          <m:t>)</m:t>
                        </m:r>
                      </m:num>
                      <m:den>
                        <m:r>
                          <a:rPr lang="en-US" i="1">
                            <a:latin typeface="Cambria Math" panose="02040503050406030204" pitchFamily="18" charset="0"/>
                          </a:rPr>
                          <m:t>𝑑</m:t>
                        </m:r>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𝑐</m:t>
                            </m:r>
                          </m:sub>
                        </m:sSub>
                      </m:den>
                    </m:f>
                    <m:r>
                      <a:rPr lang="en-US" b="0" i="1" smtClean="0">
                        <a:latin typeface="Cambria Math" panose="02040503050406030204" pitchFamily="18" charset="0"/>
                      </a:rPr>
                      <m:t>=0</m:t>
                    </m:r>
                  </m:oMath>
                </a14:m>
                <a:br>
                  <a:rPr lang="en-US" b="0" i="1">
                    <a:latin typeface="Cambria Math" panose="02040503050406030204" pitchFamily="18" charset="0"/>
                  </a:rPr>
                </a:br>
                <a14:m>
                  <m:oMath xmlns:m="http://schemas.openxmlformats.org/officeDocument/2006/math">
                    <m:r>
                      <a:rPr lang="en-US" b="0" i="1" smtClean="0">
                        <a:latin typeface="Cambria Math" panose="02040503050406030204" pitchFamily="18" charset="0"/>
                      </a:rPr>
                      <m:t>⇒ </m:t>
                    </m:r>
                    <m:sSub>
                      <m:sSubPr>
                        <m:ctrlPr>
                          <a:rPr lang="en-US" i="1">
                            <a:latin typeface="Cambria Math" panose="02040503050406030204" pitchFamily="18" charset="0"/>
                          </a:rPr>
                        </m:ctrlPr>
                      </m:sSubPr>
                      <m:e>
                        <m:r>
                          <a:rPr lang="en-US" b="0" i="1" smtClean="0">
                            <a:latin typeface="Cambria Math" panose="02040503050406030204" pitchFamily="18" charset="0"/>
                          </a:rPr>
                          <m:t>𝑀</m:t>
                        </m:r>
                      </m:e>
                      <m:sub>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𝑐</m:t>
                        </m:r>
                      </m:sub>
                    </m:sSub>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𝜎</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𝑐</m:t>
                            </m:r>
                          </m:sub>
                        </m:sSub>
                        <m:r>
                          <a:rPr lang="en-US" i="1">
                            <a:latin typeface="Cambria Math" panose="02040503050406030204" pitchFamily="18" charset="0"/>
                          </a:rPr>
                          <m:t>)</m:t>
                        </m:r>
                      </m:den>
                    </m:f>
                    <m:f>
                      <m:fPr>
                        <m:ctrlPr>
                          <a:rPr lang="en-US" i="1">
                            <a:latin typeface="Cambria Math" panose="02040503050406030204" pitchFamily="18" charset="0"/>
                          </a:rPr>
                        </m:ctrlPr>
                      </m:fPr>
                      <m:num>
                        <m:r>
                          <a:rPr lang="en-US" i="1">
                            <a:latin typeface="Cambria Math" panose="02040503050406030204" pitchFamily="18" charset="0"/>
                          </a:rPr>
                          <m:t>𝑑</m:t>
                        </m:r>
                        <m:r>
                          <a:rPr lang="en-US" i="1">
                            <a:latin typeface="Cambria Math" panose="02040503050406030204" pitchFamily="18" charset="0"/>
                          </a:rPr>
                          <m:t>𝜎</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𝑐</m:t>
                            </m:r>
                          </m:sub>
                        </m:sSub>
                        <m:r>
                          <a:rPr lang="en-US" i="1">
                            <a:latin typeface="Cambria Math" panose="02040503050406030204" pitchFamily="18" charset="0"/>
                          </a:rPr>
                          <m:t>)</m:t>
                        </m:r>
                      </m:num>
                      <m:den>
                        <m:r>
                          <a:rPr lang="en-US" i="1">
                            <a:latin typeface="Cambria Math" panose="02040503050406030204" pitchFamily="18" charset="0"/>
                          </a:rPr>
                          <m:t>𝑑</m:t>
                        </m:r>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𝑐</m:t>
                            </m:r>
                          </m:sub>
                        </m:sSub>
                      </m:den>
                    </m:f>
                    <m:r>
                      <a:rPr lang="en-US" b="0" i="1" smtClean="0">
                        <a:latin typeface="Cambria Math" panose="02040503050406030204" pitchFamily="18" charset="0"/>
                      </a:rPr>
                      <m:t>=</m:t>
                    </m:r>
                    <m:r>
                      <a:rPr lang="en-US" i="1">
                        <a:latin typeface="Cambria Math" panose="02040503050406030204" pitchFamily="18" charset="0"/>
                      </a:rPr>
                      <m:t>𝐾</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𝑓</m:t>
                            </m:r>
                          </m:sub>
                        </m:sSub>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𝑐</m:t>
                            </m:r>
                          </m:sub>
                        </m:sSub>
                      </m:num>
                      <m:den>
                        <m:r>
                          <a:rPr lang="en-US" i="1">
                            <a:latin typeface="Cambria Math" panose="02040503050406030204" pitchFamily="18" charset="0"/>
                          </a:rPr>
                          <m:t>𝑁</m:t>
                        </m:r>
                      </m:den>
                    </m:f>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𝜎</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𝐴</m:t>
                            </m:r>
                          </m:e>
                          <m:sub>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𝑐</m:t>
                            </m:r>
                          </m:sub>
                        </m:sSub>
                        <m:r>
                          <a:rPr lang="en-US" i="1">
                            <a:latin typeface="Cambria Math" panose="02040503050406030204" pitchFamily="18" charset="0"/>
                          </a:rPr>
                          <m:t>)</m:t>
                        </m:r>
                      </m:den>
                    </m:f>
                    <m:f>
                      <m:fPr>
                        <m:ctrlPr>
                          <a:rPr lang="en-US" i="1">
                            <a:latin typeface="Cambria Math" panose="02040503050406030204" pitchFamily="18" charset="0"/>
                          </a:rPr>
                        </m:ctrlPr>
                      </m:fPr>
                      <m:num>
                        <m:r>
                          <a:rPr lang="en-US" i="1">
                            <a:latin typeface="Cambria Math" panose="02040503050406030204" pitchFamily="18" charset="0"/>
                          </a:rPr>
                          <m:t>𝑑</m:t>
                        </m:r>
                        <m:r>
                          <a:rPr lang="en-US" i="1">
                            <a:latin typeface="Cambria Math" panose="02040503050406030204" pitchFamily="18" charset="0"/>
                          </a:rPr>
                          <m:t>𝜎</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𝑐</m:t>
                            </m:r>
                          </m:sub>
                        </m:sSub>
                        <m:r>
                          <a:rPr lang="en-US" i="1">
                            <a:latin typeface="Cambria Math" panose="02040503050406030204" pitchFamily="18" charset="0"/>
                          </a:rPr>
                          <m:t>)</m:t>
                        </m:r>
                      </m:num>
                      <m:den>
                        <m:r>
                          <a:rPr lang="en-US" i="1">
                            <a:latin typeface="Cambria Math" panose="02040503050406030204" pitchFamily="18" charset="0"/>
                          </a:rPr>
                          <m:t>𝑑</m:t>
                        </m:r>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𝑐</m:t>
                            </m:r>
                          </m:sub>
                        </m:sSub>
                      </m:den>
                    </m:f>
                  </m:oMath>
                </a14:m>
                <a:br>
                  <a:rPr lang="en-US" i="1">
                    <a:latin typeface="Cambria Math" panose="02040503050406030204" pitchFamily="18" charset="0"/>
                  </a:rPr>
                </a:br>
                <a14:m>
                  <m:oMath xmlns:m="http://schemas.openxmlformats.org/officeDocument/2006/math">
                    <m:r>
                      <a:rPr lang="en-US" b="0" i="1" smtClean="0">
                        <a:latin typeface="Cambria Math" panose="02040503050406030204" pitchFamily="18" charset="0"/>
                      </a:rPr>
                      <m:t>⇒ </m:t>
                    </m:r>
                    <m:sSub>
                      <m:sSubPr>
                        <m:ctrlPr>
                          <a:rPr lang="en-US" i="1">
                            <a:latin typeface="Cambria Math" panose="02040503050406030204" pitchFamily="18" charset="0"/>
                          </a:rPr>
                        </m:ctrlPr>
                      </m:sSubPr>
                      <m:e>
                        <m:r>
                          <a:rPr lang="en-US" b="0" i="1" smtClean="0">
                            <a:latin typeface="Cambria Math" panose="02040503050406030204" pitchFamily="18" charset="0"/>
                          </a:rPr>
                          <m:t>𝑀</m:t>
                        </m:r>
                      </m:e>
                      <m:sub>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𝑐</m:t>
                        </m:r>
                      </m:sub>
                    </m:sSub>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𝜎</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𝑐</m:t>
                                </m:r>
                              </m:sub>
                            </m:sSub>
                          </m:e>
                        </m:d>
                      </m:den>
                    </m:f>
                    <m:r>
                      <a:rPr lang="en-US" b="0" i="1" smtClean="0">
                        <a:latin typeface="Cambria Math" panose="02040503050406030204" pitchFamily="18" charset="0"/>
                      </a:rPr>
                      <m:t>=</m:t>
                    </m:r>
                    <m:r>
                      <a:rPr lang="en-US" i="1">
                        <a:latin typeface="Cambria Math" panose="02040503050406030204" pitchFamily="18" charset="0"/>
                      </a:rPr>
                      <m:t>𝐾</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𝑓</m:t>
                            </m:r>
                          </m:sub>
                        </m:sSub>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𝑐</m:t>
                            </m:r>
                          </m:sub>
                        </m:sSub>
                      </m:num>
                      <m:den>
                        <m:r>
                          <a:rPr lang="en-US" i="1">
                            <a:latin typeface="Cambria Math" panose="02040503050406030204" pitchFamily="18" charset="0"/>
                          </a:rPr>
                          <m:t>𝑁</m:t>
                        </m:r>
                      </m:den>
                    </m:f>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𝜎</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𝐴</m:t>
                            </m:r>
                          </m:e>
                          <m:sub>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𝑐</m:t>
                            </m:r>
                          </m:sub>
                        </m:sSub>
                        <m:r>
                          <a:rPr lang="en-US" i="1">
                            <a:latin typeface="Cambria Math" panose="02040503050406030204" pitchFamily="18" charset="0"/>
                          </a:rPr>
                          <m:t>)</m:t>
                        </m:r>
                      </m:den>
                    </m:f>
                    <m:r>
                      <a:rPr lang="en-US" b="0" i="1" smtClean="0">
                        <a:latin typeface="Cambria Math" panose="02040503050406030204" pitchFamily="18" charset="0"/>
                      </a:rPr>
                      <m:t>⇒ </m:t>
                    </m:r>
                    <m:f>
                      <m:fPr>
                        <m:ctrlPr>
                          <a:rPr lang="en-US" b="0" i="1" smtClean="0">
                            <a:latin typeface="Cambria Math" panose="02040503050406030204" pitchFamily="18" charset="0"/>
                          </a:rPr>
                        </m:ctrlPr>
                      </m:fPr>
                      <m:num>
                        <m:sSub>
                          <m:sSubPr>
                            <m:ctrlPr>
                              <a:rPr lang="en-US" i="1">
                                <a:latin typeface="Cambria Math" panose="02040503050406030204" pitchFamily="18" charset="0"/>
                              </a:rPr>
                            </m:ctrlPr>
                          </m:sSubPr>
                          <m:e>
                            <m:r>
                              <a:rPr lang="en-US" b="0" i="1" smtClean="0">
                                <a:latin typeface="Cambria Math" panose="02040503050406030204" pitchFamily="18" charset="0"/>
                              </a:rPr>
                              <m:t>𝑀</m:t>
                            </m:r>
                          </m:e>
                          <m:sub>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𝑐</m:t>
                            </m:r>
                          </m:sub>
                        </m:sSub>
                        <m:r>
                          <a:rPr lang="en-US" b="0" i="1" smtClean="0">
                            <a:latin typeface="Cambria Math" panose="02040503050406030204" pitchFamily="18" charset="0"/>
                          </a:rPr>
                          <m:t>𝑁</m:t>
                        </m:r>
                      </m:num>
                      <m:den>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𝑓</m:t>
                            </m:r>
                          </m:sub>
                        </m:sSub>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𝑐</m:t>
                            </m:r>
                          </m:sub>
                        </m:sSub>
                      </m:den>
                    </m:f>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𝐾</m:t>
                        </m:r>
                      </m:den>
                    </m:f>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𝑐</m:t>
                            </m:r>
                          </m:sub>
                        </m:sSub>
                      </m:sup>
                    </m:sSup>
                  </m:oMath>
                </a14:m>
                <a:br>
                  <a:rPr lang="en-US" b="0" i="1">
                    <a:latin typeface="Cambria Math" panose="02040503050406030204" pitchFamily="18" charset="0"/>
                  </a:rPr>
                </a:br>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𝑐</m:t>
                        </m:r>
                      </m:sub>
                    </m:sSub>
                    <m:r>
                      <a:rPr lang="en-US" b="0" i="1" smtClean="0">
                        <a:latin typeface="Cambria Math" panose="02040503050406030204" pitchFamily="18" charset="0"/>
                      </a:rPr>
                      <m:t>=</m:t>
                    </m:r>
                    <m:func>
                      <m:funcPr>
                        <m:ctrlPr>
                          <a:rPr lang="en-US" b="0" i="1" smtClean="0">
                            <a:effectLst>
                              <a:glow rad="228600">
                                <a:schemeClr val="accent6">
                                  <a:satMod val="175000"/>
                                  <a:alpha val="40000"/>
                                </a:schemeClr>
                              </a:glow>
                            </a:effectLst>
                            <a:latin typeface="Cambria Math" panose="02040503050406030204" pitchFamily="18" charset="0"/>
                          </a:rPr>
                        </m:ctrlPr>
                      </m:funcPr>
                      <m:fName>
                        <m:r>
                          <m:rPr>
                            <m:sty m:val="p"/>
                          </m:rPr>
                          <a:rPr lang="en-US">
                            <a:effectLst>
                              <a:glow rad="228600">
                                <a:schemeClr val="accent6">
                                  <a:satMod val="175000"/>
                                  <a:alpha val="40000"/>
                                </a:schemeClr>
                              </a:glow>
                            </a:effectLst>
                            <a:latin typeface="Cambria Math" panose="02040503050406030204" pitchFamily="18" charset="0"/>
                          </a:rPr>
                          <m:t>PMI</m:t>
                        </m:r>
                        <m:d>
                          <m:dPr>
                            <m:ctrlPr>
                              <a:rPr lang="en-US" i="1">
                                <a:effectLst>
                                  <a:glow rad="228600">
                                    <a:schemeClr val="accent6">
                                      <a:satMod val="175000"/>
                                      <a:alpha val="40000"/>
                                    </a:schemeClr>
                                  </a:glow>
                                </a:effectLst>
                                <a:latin typeface="Cambria Math" panose="02040503050406030204" pitchFamily="18" charset="0"/>
                              </a:rPr>
                            </m:ctrlPr>
                          </m:dPr>
                          <m:e>
                            <m:r>
                              <a:rPr lang="en-US" i="1">
                                <a:effectLst>
                                  <a:glow rad="228600">
                                    <a:schemeClr val="accent6">
                                      <a:satMod val="175000"/>
                                      <a:alpha val="40000"/>
                                    </a:schemeClr>
                                  </a:glow>
                                </a:effectLst>
                                <a:latin typeface="Cambria Math" panose="02040503050406030204" pitchFamily="18" charset="0"/>
                              </a:rPr>
                              <m:t>𝑓</m:t>
                            </m:r>
                            <m:r>
                              <a:rPr lang="en-US" i="1">
                                <a:effectLst>
                                  <a:glow rad="228600">
                                    <a:schemeClr val="accent6">
                                      <a:satMod val="175000"/>
                                      <a:alpha val="40000"/>
                                    </a:schemeClr>
                                  </a:glow>
                                </a:effectLst>
                                <a:latin typeface="Cambria Math" panose="02040503050406030204" pitchFamily="18" charset="0"/>
                              </a:rPr>
                              <m:t>,</m:t>
                            </m:r>
                            <m:r>
                              <a:rPr lang="en-US" i="1">
                                <a:effectLst>
                                  <a:glow rad="228600">
                                    <a:schemeClr val="accent6">
                                      <a:satMod val="175000"/>
                                      <a:alpha val="40000"/>
                                    </a:schemeClr>
                                  </a:glow>
                                </a:effectLst>
                                <a:latin typeface="Cambria Math" panose="02040503050406030204" pitchFamily="18" charset="0"/>
                              </a:rPr>
                              <m:t>𝑐</m:t>
                            </m:r>
                          </m:e>
                        </m:d>
                      </m:fName>
                      <m:e>
                        <m:r>
                          <a:rPr lang="en-US" b="0" i="1" smtClean="0">
                            <a:effectLst>
                              <a:glow rad="228600">
                                <a:schemeClr val="accent6">
                                  <a:satMod val="175000"/>
                                  <a:alpha val="40000"/>
                                </a:schemeClr>
                              </a:glow>
                            </a:effectLst>
                            <a:latin typeface="Cambria Math" panose="02040503050406030204" pitchFamily="18" charset="0"/>
                          </a:rPr>
                          <m:t>−</m:t>
                        </m:r>
                        <m:func>
                          <m:funcPr>
                            <m:ctrlPr>
                              <a:rPr lang="en-US" b="0" i="1" smtClean="0">
                                <a:effectLst>
                                  <a:glow rad="228600">
                                    <a:schemeClr val="accent6">
                                      <a:satMod val="175000"/>
                                      <a:alpha val="40000"/>
                                    </a:schemeClr>
                                  </a:glow>
                                </a:effectLst>
                                <a:latin typeface="Cambria Math" panose="02040503050406030204" pitchFamily="18" charset="0"/>
                              </a:rPr>
                            </m:ctrlPr>
                          </m:funcPr>
                          <m:fName>
                            <m:r>
                              <m:rPr>
                                <m:sty m:val="p"/>
                              </m:rPr>
                              <a:rPr lang="en-US" b="0" i="0" smtClean="0">
                                <a:effectLst>
                                  <a:glow rad="228600">
                                    <a:schemeClr val="accent6">
                                      <a:satMod val="175000"/>
                                      <a:alpha val="40000"/>
                                    </a:schemeClr>
                                  </a:glow>
                                </a:effectLst>
                                <a:latin typeface="Cambria Math" panose="02040503050406030204" pitchFamily="18" charset="0"/>
                              </a:rPr>
                              <m:t>log</m:t>
                            </m:r>
                          </m:fName>
                          <m:e>
                            <m:r>
                              <a:rPr lang="en-US" b="0" i="1" smtClean="0">
                                <a:effectLst>
                                  <a:glow rad="228600">
                                    <a:schemeClr val="accent6">
                                      <a:satMod val="175000"/>
                                      <a:alpha val="40000"/>
                                    </a:schemeClr>
                                  </a:glow>
                                </a:effectLst>
                                <a:latin typeface="Cambria Math" panose="02040503050406030204" pitchFamily="18" charset="0"/>
                              </a:rPr>
                              <m:t>𝐾</m:t>
                            </m:r>
                          </m:e>
                        </m:func>
                      </m:e>
                    </m:func>
                  </m:oMath>
                </a14:m>
                <a:endParaRPr lang="en-US"/>
              </a:p>
              <a:p>
                <a:pPr>
                  <a:lnSpc>
                    <a:spcPct val="120000"/>
                  </a:lnSpc>
                </a:pPr>
                <a:r>
                  <a:rPr lang="en-US"/>
                  <a:t>In other words, word2vec factorizes matrix with elements</a:t>
                </a:r>
                <a:br>
                  <a:rPr lang="en-US"/>
                </a:br>
                <a:r>
                  <a:rPr lang="en-US"/>
                  <a:t> </a:t>
                </a:r>
                <a14:m>
                  <m:oMath xmlns:m="http://schemas.openxmlformats.org/officeDocument/2006/math">
                    <m:func>
                      <m:funcPr>
                        <m:ctrlPr>
                          <a:rPr lang="en-US" i="1">
                            <a:latin typeface="Cambria Math" panose="02040503050406030204" pitchFamily="18" charset="0"/>
                          </a:rPr>
                        </m:ctrlPr>
                      </m:funcPr>
                      <m:fName>
                        <m:r>
                          <m:rPr>
                            <m:sty m:val="p"/>
                          </m:rPr>
                          <a:rPr lang="en-US">
                            <a:latin typeface="Cambria Math" panose="02040503050406030204" pitchFamily="18" charset="0"/>
                          </a:rPr>
                          <m:t>PMI</m:t>
                        </m:r>
                        <m:d>
                          <m:dPr>
                            <m:ctrlPr>
                              <a:rPr lang="en-US" i="1">
                                <a:latin typeface="Cambria Math" panose="02040503050406030204" pitchFamily="18" charset="0"/>
                              </a:rPr>
                            </m:ctrlPr>
                          </m:dPr>
                          <m:e>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𝑐</m:t>
                            </m:r>
                          </m:e>
                        </m:d>
                      </m:fName>
                      <m:e>
                        <m:r>
                          <a:rPr lang="en-US" i="1">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r>
                              <a:rPr lang="en-US" i="1">
                                <a:latin typeface="Cambria Math" panose="02040503050406030204" pitchFamily="18" charset="0"/>
                              </a:rPr>
                              <m:t>𝐾</m:t>
                            </m:r>
                          </m:e>
                        </m:func>
                      </m:e>
                    </m:func>
                  </m:oMath>
                </a14:m>
                <a:r>
                  <a:rPr lang="en-US"/>
                  <a:t> into </a:t>
                </a:r>
                <a14:m>
                  <m:oMath xmlns:m="http://schemas.openxmlformats.org/officeDocument/2006/math">
                    <m:r>
                      <a:rPr lang="en-US" b="1" i="1">
                        <a:latin typeface="Cambria Math" panose="02040503050406030204" pitchFamily="18" charset="0"/>
                      </a:rPr>
                      <m:t>𝑼</m:t>
                    </m:r>
                    <m:sSup>
                      <m:sSupPr>
                        <m:ctrlPr>
                          <a:rPr lang="en-US" i="1">
                            <a:latin typeface="Cambria Math" panose="02040503050406030204" pitchFamily="18" charset="0"/>
                          </a:rPr>
                        </m:ctrlPr>
                      </m:sSupPr>
                      <m:e>
                        <m:r>
                          <a:rPr lang="en-US" b="1" i="1">
                            <a:latin typeface="Cambria Math" panose="02040503050406030204" pitchFamily="18" charset="0"/>
                          </a:rPr>
                          <m:t>𝑽</m:t>
                        </m:r>
                      </m:e>
                      <m:sup>
                        <m:r>
                          <a:rPr lang="en-US" i="1">
                            <a:latin typeface="Cambria Math" panose="02040503050406030204" pitchFamily="18" charset="0"/>
                          </a:rPr>
                          <m:t>⊤</m:t>
                        </m:r>
                      </m:sup>
                    </m:sSup>
                  </m:oMath>
                </a14:m>
                <a:endParaRPr lang="en-US"/>
              </a:p>
            </p:txBody>
          </p:sp>
        </mc:Choice>
        <mc:Fallback xmlns="">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2"/>
                <a:stretch>
                  <a:fillRect/>
                </a:stretch>
              </a:blipFill>
            </p:spPr>
            <p:txBody>
              <a:bodyPr/>
              <a:lstStyle/>
              <a:p>
                <a:r>
                  <a:rPr lang="en-US" altLang="en-US">
                    <a:noFill/>
                  </a:rPr>
                  <a:t> </a:t>
                </a:r>
              </a:p>
            </p:txBody>
          </p:sp>
        </mc:Fallback>
      </mc:AlternateContent>
      <p:pic>
        <p:nvPicPr>
          <p:cNvPr id="1028" name="Picture 4" descr="💡 Light Bulb Emoji on JoyPixels Animations 2.0"/>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1412885" y="5864122"/>
            <a:ext cx="857351" cy="8573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en-US"/>
                  <a:t>Relation </a:t>
                </a:r>
                <a14:m>
                  <m:oMath xmlns:m="http://schemas.openxmlformats.org/officeDocument/2006/math">
                    <m:r>
                      <a:rPr lang="en-US" b="1" i="1" smtClean="0">
                        <a:latin typeface="Cambria Math" panose="02040503050406030204" pitchFamily="18" charset="0"/>
                      </a:rPr>
                      <m:t>≈</m:t>
                    </m:r>
                  </m:oMath>
                </a14:m>
                <a:r>
                  <a:rPr lang="en-US"/>
                  <a:t> linear translation</a:t>
                </a:r>
              </a:p>
            </p:txBody>
          </p:sp>
        </mc:Choice>
        <mc:Fallback xmlns="">
          <p:sp>
            <p:nvSpPr>
              <p:cNvPr id="2" name="Title 1"/>
              <p:cNvSpPr>
                <a:spLocks noRot="1" noChangeAspect="1" noMove="1" noResize="1" noEditPoints="1" noAdjustHandles="1" noChangeArrowheads="1" noChangeShapeType="1" noTextEdit="1"/>
              </p:cNvSpPr>
              <p:nvPr>
                <p:ph type="title"/>
              </p:nvPr>
            </p:nvSpPr>
            <p:spPr>
              <a:blipFill rotWithShape="1">
                <a:blip r:embed="rId2"/>
                <a:stretch>
                  <a:fillRect/>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5" name="Text Placeholder 4"/>
              <p:cNvSpPr>
                <a:spLocks noGrp="1"/>
              </p:cNvSpPr>
              <p:nvPr>
                <p:ph type="body" idx="1"/>
              </p:nvPr>
            </p:nvSpPr>
            <p:spPr>
              <a:xfrm>
                <a:off x="3992880" y="3968750"/>
                <a:ext cx="8165465" cy="2731135"/>
              </a:xfrm>
            </p:spPr>
            <p:txBody>
              <a:bodyPr>
                <a:normAutofit lnSpcReduction="10000"/>
              </a:bodyPr>
              <a:lstStyle/>
              <a:p>
                <a:r>
                  <a:rPr lang="en-US" sz="2400"/>
                  <a:t>Factoring word-doc or word-word matrices was known, but</a:t>
                </a:r>
              </a:p>
              <a:p>
                <a:r>
                  <a:rPr lang="en-US" sz="2400"/>
                  <a:t>Relation-as-translation and analogy tests were new</a:t>
                </a:r>
              </a:p>
              <a:p>
                <a:pPr lvl="1"/>
                <a:r>
                  <a:rPr lang="en-US" sz="2000"/>
                  <a:t>Man : king :: woman :: ____</a:t>
                </a:r>
              </a:p>
              <a:p>
                <a:pPr lvl="1"/>
                <a:r>
                  <a:rPr lang="en-US" sz="2000"/>
                  <a:t>Buffalo : 14240 :: ____ : 92804</a:t>
                </a:r>
              </a:p>
              <a:p>
                <a:r>
                  <a:rPr lang="en-US" sz="2400"/>
                  <a:t>Translation vs. inner-product/cosine space </a:t>
                </a:r>
                <a14:m>
                  <m:oMath xmlns:m="http://schemas.openxmlformats.org/officeDocument/2006/math">
                    <m:sSub>
                      <m:sSubPr>
                        <m:ctrlPr>
                          <a:rPr lang="en-US" sz="2400" i="1">
                            <a:latin typeface="Cambria Math" panose="02040503050406030204" pitchFamily="18" charset="0"/>
                          </a:rPr>
                        </m:ctrlPr>
                      </m:sSubPr>
                      <m:e>
                        <m:r>
                          <a:rPr lang="en-US" sz="2400" b="1" i="1">
                            <a:latin typeface="Cambria Math" panose="02040503050406030204" pitchFamily="18" charset="0"/>
                          </a:rPr>
                          <m:t>𝒖</m:t>
                        </m:r>
                      </m:e>
                      <m:sub>
                        <m:r>
                          <a:rPr lang="en-US" sz="2400" i="1">
                            <a:latin typeface="Cambria Math" panose="02040503050406030204" pitchFamily="18" charset="0"/>
                          </a:rPr>
                          <m:t>𝑓</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b="1" i="1">
                            <a:latin typeface="Cambria Math" panose="02040503050406030204" pitchFamily="18" charset="0"/>
                          </a:rPr>
                          <m:t>𝒗</m:t>
                        </m:r>
                      </m:e>
                      <m:sub>
                        <m:r>
                          <a:rPr lang="en-US" sz="2400" i="1">
                            <a:latin typeface="Cambria Math" panose="02040503050406030204" pitchFamily="18" charset="0"/>
                          </a:rPr>
                          <m:t>𝑐</m:t>
                        </m:r>
                      </m:sub>
                    </m:sSub>
                  </m:oMath>
                </a14:m>
                <a:endParaRPr lang="en-US" sz="2400"/>
              </a:p>
              <a:p>
                <a:r>
                  <a:rPr lang="en-US" sz="2400"/>
                  <a:t>Led to early knowledge graph (KG) embedding, </a:t>
                </a:r>
                <a:r>
                  <a:rPr lang="en-US" sz="2400" err="1"/>
                  <a:t>TransE</a:t>
                </a:r>
              </a:p>
            </p:txBody>
          </p:sp>
        </mc:Choice>
        <mc:Fallback xmlns="">
          <p:sp>
            <p:nvSpPr>
              <p:cNvPr id="5" name="Text Placeholder 4"/>
              <p:cNvSpPr>
                <a:spLocks noRot="1" noChangeAspect="1" noMove="1" noResize="1" noEditPoints="1" noAdjustHandles="1" noChangeArrowheads="1" noChangeShapeType="1" noTextEdit="1"/>
              </p:cNvSpPr>
              <p:nvPr>
                <p:ph type="body" idx="1"/>
              </p:nvPr>
            </p:nvSpPr>
            <p:spPr>
              <a:xfrm>
                <a:off x="3992880" y="3968750"/>
                <a:ext cx="8165465" cy="2731135"/>
              </a:xfrm>
              <a:blipFill rotWithShape="1">
                <a:blip r:embed="rId3"/>
                <a:stretch>
                  <a:fillRect t="-70"/>
                </a:stretch>
              </a:blipFill>
            </p:spPr>
            <p:txBody>
              <a:bodyPr/>
              <a:lstStyle/>
              <a:p>
                <a:r>
                  <a:rPr lang="en-US" altLang="en-US">
                    <a:noFill/>
                  </a:rPr>
                  <a:t> </a:t>
                </a:r>
              </a:p>
            </p:txBody>
          </p:sp>
        </mc:Fallback>
      </mc:AlternateContent>
      <p:sp>
        <p:nvSpPr>
          <p:cNvPr id="4" name="TextBox 3"/>
          <p:cNvSpPr txBox="1"/>
          <p:nvPr/>
        </p:nvSpPr>
        <p:spPr>
          <a:xfrm>
            <a:off x="6408420" y="6521053"/>
            <a:ext cx="5783580" cy="337185"/>
          </a:xfrm>
          <a:prstGeom prst="rect">
            <a:avLst/>
          </a:prstGeom>
          <a:noFill/>
        </p:spPr>
        <p:txBody>
          <a:bodyPr wrap="none" rtlCol="0">
            <a:spAutoFit/>
          </a:bodyPr>
          <a:lstStyle/>
          <a:p>
            <a:r>
              <a:rPr lang="en-US" sz="1600" err="1">
                <a:hlinkClick r:id="rId4"/>
              </a:rPr>
              <a:t>GloVe</a:t>
            </a:r>
            <a:r>
              <a:rPr lang="en-US" sz="1600">
                <a:hlinkClick r:id="rId4"/>
              </a:rPr>
              <a:t>: Global Vectors for Word Representation (stanford.edu)</a:t>
            </a:r>
          </a:p>
        </p:txBody>
      </p:sp>
      <p:pic>
        <p:nvPicPr>
          <p:cNvPr id="1026" name="Picture 2" descr="https://nlp.stanford.edu/projects/glove/images/man_woman.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9564" y="1041081"/>
            <a:ext cx="3614736" cy="280151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nlp.stanford.edu/projects/glove/images/company_ceo.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61350" y="1041081"/>
            <a:ext cx="3614737" cy="281566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ttps://nlp.stanford.edu/projects/glove/images/city_zip.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82000" y="1041081"/>
            <a:ext cx="3614737" cy="281973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ttps://nlp.stanford.edu/projects/glove/images/comparative_superlative.jp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9564" y="3968465"/>
            <a:ext cx="3614736" cy="280857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GloVe</a:t>
            </a:r>
            <a:r>
              <a:rPr lang="en-US"/>
              <a:t> (Glo</a:t>
            </a:r>
            <a:r>
              <a:rPr lang="en-US">
                <a:solidFill>
                  <a:schemeClr val="accent5">
                    <a:lumMod val="40000"/>
                    <a:lumOff val="60000"/>
                  </a:schemeClr>
                </a:solidFill>
              </a:rPr>
              <a:t>bal</a:t>
            </a:r>
            <a:r>
              <a:rPr lang="en-US"/>
              <a:t> Ve</a:t>
            </a:r>
            <a:r>
              <a:rPr lang="en-US">
                <a:solidFill>
                  <a:schemeClr val="accent5">
                    <a:lumMod val="40000"/>
                    <a:lumOff val="60000"/>
                  </a:schemeClr>
                </a:solidFill>
              </a:rPr>
              <a:t>ctors</a:t>
            </a:r>
            <a:r>
              <a:rPr lang="en-US"/>
              <a:t>)</a:t>
            </a:r>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74930" y="913130"/>
                <a:ext cx="12055475" cy="3429635"/>
              </a:xfrm>
            </p:spPr>
            <p:txBody>
              <a:bodyPr>
                <a:normAutofit fontScale="75000" lnSpcReduction="20000"/>
              </a:bodyPr>
              <a:lstStyle/>
              <a:p>
                <a:pPr>
                  <a:lnSpc>
                    <a:spcPct val="100000"/>
                  </a:lnSpc>
                </a:pPr>
                <a:r>
                  <a:rPr lang="en-US"/>
                  <a:t>Similar formulation to word2vec, but important differences</a:t>
                </a:r>
              </a:p>
              <a:p>
                <a:pPr lvl="1">
                  <a:lnSpc>
                    <a:spcPct val="100000"/>
                  </a:lnSpc>
                </a:pPr>
                <a:r>
                  <a:rPr lang="en-US"/>
                  <a:t>Collects word co-occurrence counts as preprocessing</a:t>
                </a:r>
              </a:p>
              <a:p>
                <a:pPr lvl="1">
                  <a:lnSpc>
                    <a:spcPct val="100000"/>
                  </a:lnSpc>
                </a:pPr>
                <a:r>
                  <a:rPr lang="en-US"/>
                  <a:t>Direct bulk optimization</a:t>
                </a:r>
              </a:p>
              <a:p>
                <a:pPr>
                  <a:lnSpc>
                    <a:spcPct val="100000"/>
                  </a:lnSpc>
                </a:pPr>
                <a:r>
                  <a:rPr lang="en-US"/>
                  <a:t>Derives the model</a:t>
                </a:r>
                <a:br>
                  <a:rPr lang="en-US"/>
                </a:br>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𝑐</m:t>
                            </m:r>
                          </m:sub>
                        </m:sSub>
                        <m:r>
                          <a:rPr lang="en-US" b="0" i="1" smtClean="0">
                            <a:latin typeface="Cambria Math" panose="02040503050406030204" pitchFamily="18" charset="0"/>
                          </a:rPr>
                          <m:t>=</m:t>
                        </m:r>
                      </m:e>
                    </m:func>
                    <m:sSub>
                      <m:sSubPr>
                        <m:ctrlPr>
                          <a:rPr lang="en-US" i="1">
                            <a:latin typeface="Cambria Math" panose="02040503050406030204" pitchFamily="18" charset="0"/>
                          </a:rPr>
                        </m:ctrlPr>
                      </m:sSubPr>
                      <m:e>
                        <m:r>
                          <a:rPr lang="en-US" b="1" i="1">
                            <a:latin typeface="Cambria Math" panose="02040503050406030204" pitchFamily="18" charset="0"/>
                          </a:rPr>
                          <m:t>𝒖</m:t>
                        </m:r>
                      </m:e>
                      <m:sub>
                        <m:r>
                          <a:rPr lang="en-US" i="1">
                            <a:latin typeface="Cambria Math" panose="02040503050406030204" pitchFamily="18" charset="0"/>
                          </a:rPr>
                          <m:t>𝑓</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1" i="1">
                            <a:latin typeface="Cambria Math" panose="02040503050406030204" pitchFamily="18" charset="0"/>
                          </a:rPr>
                          <m:t>𝒗</m:t>
                        </m:r>
                      </m:e>
                      <m:sub>
                        <m:r>
                          <a:rPr lang="en-US" i="1">
                            <a:latin typeface="Cambria Math" panose="02040503050406030204" pitchFamily="18" charset="0"/>
                          </a:rPr>
                          <m:t>𝑐</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𝑓</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𝑐</m:t>
                        </m:r>
                      </m:sub>
                    </m:sSub>
                  </m:oMath>
                </a14:m>
                <a:br>
                  <a:rPr lang="en-US"/>
                </a:br>
                <a:r>
                  <a:rPr lang="en-US"/>
                  <a:t>from some starting axioms</a:t>
                </a:r>
              </a:p>
              <a:p>
                <a:pPr>
                  <a:lnSpc>
                    <a:spcPct val="100000"/>
                  </a:lnSpc>
                </a:pPr>
                <a:r>
                  <a:rPr lang="en-US"/>
                  <a:t>Ratio of co-occurrence more meaningful than co-occurrence itself</a:t>
                </a:r>
              </a:p>
              <a:p>
                <a:pPr lvl="1">
                  <a:lnSpc>
                    <a:spcPct val="100000"/>
                  </a:lnSpc>
                </a:pPr>
                <a:r>
                  <a:rPr lang="en-US"/>
                  <a:t>P(</a:t>
                </a:r>
                <a:r>
                  <a:rPr lang="en-US" err="1"/>
                  <a:t>water|ice</a:t>
                </a:r>
                <a:r>
                  <a:rPr lang="en-US"/>
                  <a:t>)/P(</a:t>
                </a:r>
                <a:r>
                  <a:rPr lang="en-US" err="1"/>
                  <a:t>water|steam</a:t>
                </a:r>
                <a:r>
                  <a:rPr lang="en-US"/>
                  <a:t>) vs. P(</a:t>
                </a:r>
                <a:r>
                  <a:rPr lang="en-US" err="1"/>
                  <a:t>fashion|ice</a:t>
                </a:r>
                <a:r>
                  <a:rPr lang="en-US"/>
                  <a:t>)/P(</a:t>
                </a:r>
                <a:r>
                  <a:rPr lang="en-US" err="1"/>
                  <a:t>fashion|steam</a:t>
                </a:r>
                <a:r>
                  <a:rPr lang="en-US"/>
                  <a:t>)</a:t>
                </a:r>
              </a:p>
            </p:txBody>
          </p:sp>
        </mc:Choice>
        <mc:Fallback xmlns="">
          <p:sp>
            <p:nvSpPr>
              <p:cNvPr id="3" name="Text Placeholder 2"/>
              <p:cNvSpPr>
                <a:spLocks noRot="1" noChangeAspect="1" noMove="1" noResize="1" noEditPoints="1" noAdjustHandles="1" noChangeArrowheads="1" noChangeShapeType="1" noTextEdit="1"/>
              </p:cNvSpPr>
              <p:nvPr>
                <p:ph type="body" idx="1"/>
              </p:nvPr>
            </p:nvSpPr>
            <p:spPr>
              <a:xfrm>
                <a:off x="74930" y="913130"/>
                <a:ext cx="12055475" cy="3429635"/>
              </a:xfrm>
              <a:blipFill rotWithShape="1">
                <a:blip r:embed="rId2"/>
                <a:stretch>
                  <a:fillRect t="-407"/>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4" name="Speech Bubble: Rectangle with Corners Rounded 3"/>
              <p:cNvSpPr/>
              <p:nvPr/>
            </p:nvSpPr>
            <p:spPr>
              <a:xfrm>
                <a:off x="9377045" y="1807210"/>
                <a:ext cx="2814955" cy="803275"/>
              </a:xfrm>
              <a:prstGeom prst="wedgeRoundRectCallout">
                <a:avLst>
                  <a:gd name="adj1" fmla="val -57931"/>
                  <a:gd name="adj2" fmla="val 4054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𝑤</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ℝ</m:t>
                    </m:r>
                  </m:oMath>
                </a14:m>
                <a:r>
                  <a:rPr lang="en-US"/>
                  <a:t> is a popularity/bias term for each word</a:t>
                </a:r>
              </a:p>
            </p:txBody>
          </p:sp>
        </mc:Choice>
        <mc:Fallback xmlns="">
          <p:sp>
            <p:nvSpPr>
              <p:cNvPr id="4" name="Speech Bubble: Rectangle with Corners Rounded 3"/>
              <p:cNvSpPr>
                <a:spLocks noRot="1" noChangeAspect="1" noMove="1" noResize="1" noEditPoints="1" noAdjustHandles="1" noChangeArrowheads="1" noChangeShapeType="1" noTextEdit="1"/>
              </p:cNvSpPr>
              <p:nvPr/>
            </p:nvSpPr>
            <p:spPr>
              <a:xfrm>
                <a:off x="9377045" y="1807210"/>
                <a:ext cx="2814955" cy="803275"/>
              </a:xfrm>
              <a:prstGeom prst="wedgeRoundRectCallout">
                <a:avLst>
                  <a:gd name="adj1" fmla="val -57931"/>
                  <a:gd name="adj2" fmla="val 40540"/>
                  <a:gd name="adj3" fmla="val 16667"/>
                </a:avLst>
              </a:prstGeom>
              <a:blipFill rotWithShape="1">
                <a:blip r:embed="rId3"/>
                <a:stretch>
                  <a:fillRect l="-8595" t="-1265" r="-226" b="-1186"/>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68425" y="4565650"/>
            <a:ext cx="9454515" cy="182118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GloVe</a:t>
            </a:r>
            <a:r>
              <a:rPr lang="en-US"/>
              <a:t> model design</a:t>
            </a:r>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p:txBody>
              <a:bodyPr>
                <a:normAutofit lnSpcReduction="20000"/>
              </a:bodyPr>
              <a:lstStyle/>
              <a:p>
                <a:pPr>
                  <a:lnSpc>
                    <a:spcPct val="100000"/>
                  </a:lnSpc>
                </a:pPr>
                <a:r>
                  <a:rPr lang="en-US" sz="2800"/>
                  <a:t>Start by modeling </a:t>
                </a:r>
                <a14:m>
                  <m:oMath xmlns:m="http://schemas.openxmlformats.org/officeDocument/2006/math">
                    <m:f>
                      <m:fPr>
                        <m:ctrlPr>
                          <a:rPr lang="en-US" sz="2800" b="0" i="1" smtClean="0">
                            <a:latin typeface="Cambria Math" panose="02040503050406030204" pitchFamily="18" charset="0"/>
                          </a:rPr>
                        </m:ctrlPr>
                      </m:fPr>
                      <m:num>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𝑃</m:t>
                            </m:r>
                          </m:e>
                          <m:sub>
                            <m:r>
                              <a:rPr lang="en-US" sz="2800" b="0" i="1" smtClean="0">
                                <a:latin typeface="Cambria Math" panose="02040503050406030204" pitchFamily="18" charset="0"/>
                              </a:rPr>
                              <m:t>𝑖</m:t>
                            </m:r>
                            <m:r>
                              <a:rPr lang="en-US" sz="2800" b="0" i="1" smtClean="0">
                                <a:latin typeface="Cambria Math" panose="02040503050406030204" pitchFamily="18" charset="0"/>
                              </a:rPr>
                              <m:t>|</m:t>
                            </m:r>
                            <m:r>
                              <a:rPr lang="en-US" sz="2800" b="0" i="1" smtClean="0">
                                <a:latin typeface="Cambria Math" panose="02040503050406030204" pitchFamily="18" charset="0"/>
                              </a:rPr>
                              <m:t>𝑘</m:t>
                            </m:r>
                          </m:sub>
                        </m:sSub>
                      </m:num>
                      <m:den>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𝑃</m:t>
                            </m:r>
                          </m:e>
                          <m:sub>
                            <m:r>
                              <a:rPr lang="en-US" sz="2800" b="0" i="1" smtClean="0">
                                <a:latin typeface="Cambria Math" panose="02040503050406030204" pitchFamily="18" charset="0"/>
                              </a:rPr>
                              <m:t>𝑗</m:t>
                            </m:r>
                            <m:r>
                              <a:rPr lang="en-US" sz="2800" b="0" i="1" smtClean="0">
                                <a:latin typeface="Cambria Math" panose="02040503050406030204" pitchFamily="18" charset="0"/>
                              </a:rPr>
                              <m:t>|</m:t>
                            </m:r>
                            <m:r>
                              <a:rPr lang="en-US" sz="2800" b="0" i="1" smtClean="0">
                                <a:latin typeface="Cambria Math" panose="02040503050406030204" pitchFamily="18" charset="0"/>
                              </a:rPr>
                              <m:t>𝑘</m:t>
                            </m:r>
                          </m:sub>
                        </m:sSub>
                      </m:den>
                    </m:f>
                    <m:r>
                      <a:rPr lang="en-US" sz="2800" i="1">
                        <a:latin typeface="Cambria Math" panose="02040503050406030204" pitchFamily="18" charset="0"/>
                      </a:rPr>
                      <m:t>=</m:t>
                    </m:r>
                    <m:r>
                      <a:rPr lang="en-US" sz="2800" i="1">
                        <a:latin typeface="Cambria Math" panose="02040503050406030204" pitchFamily="18" charset="0"/>
                      </a:rPr>
                      <m:t>𝐹</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b="1" i="1">
                                <a:latin typeface="Cambria Math" panose="02040503050406030204" pitchFamily="18" charset="0"/>
                              </a:rPr>
                              <m:t>𝒖</m:t>
                            </m:r>
                          </m:e>
                          <m:sub>
                            <m:r>
                              <a:rPr lang="en-US" sz="2800" i="1">
                                <a:latin typeface="Cambria Math" panose="02040503050406030204" pitchFamily="18" charset="0"/>
                              </a:rPr>
                              <m:t>𝑖</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b="1" i="1">
                                <a:latin typeface="Cambria Math" panose="02040503050406030204" pitchFamily="18" charset="0"/>
                              </a:rPr>
                              <m:t>𝒖</m:t>
                            </m:r>
                          </m:e>
                          <m:sub>
                            <m:r>
                              <a:rPr lang="en-US" sz="2800" i="1">
                                <a:latin typeface="Cambria Math" panose="02040503050406030204" pitchFamily="18" charset="0"/>
                              </a:rPr>
                              <m:t>𝑗</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b="1" i="1">
                                <a:latin typeface="Cambria Math" panose="02040503050406030204" pitchFamily="18" charset="0"/>
                              </a:rPr>
                              <m:t>𝒗</m:t>
                            </m:r>
                          </m:e>
                          <m:sub>
                            <m:r>
                              <a:rPr lang="en-US" sz="2800" i="1">
                                <a:latin typeface="Cambria Math" panose="02040503050406030204" pitchFamily="18" charset="0"/>
                              </a:rPr>
                              <m:t>𝑘</m:t>
                            </m:r>
                          </m:sub>
                        </m:sSub>
                      </m:e>
                    </m:d>
                  </m:oMath>
                </a14:m>
                <a:endParaRPr lang="en-US" sz="2800"/>
              </a:p>
              <a:p>
                <a:pPr lvl="1">
                  <a:lnSpc>
                    <a:spcPct val="100000"/>
                  </a:lnSpc>
                </a:pPr>
                <a14:m>
                  <m:oMath xmlns:m="http://schemas.openxmlformats.org/officeDocument/2006/math">
                    <m:r>
                      <a:rPr lang="en-US" sz="2400" i="1" dirty="0" smtClean="0">
                        <a:latin typeface="Cambria Math" panose="02040503050406030204" pitchFamily="18" charset="0"/>
                      </a:rPr>
                      <m:t>𝑖</m:t>
                    </m:r>
                  </m:oMath>
                </a14:m>
                <a:r>
                  <a:rPr lang="en-US" sz="2400"/>
                  <a:t> and </a:t>
                </a:r>
                <a14:m>
                  <m:oMath xmlns:m="http://schemas.openxmlformats.org/officeDocument/2006/math">
                    <m:r>
                      <a:rPr lang="en-US" sz="2400" i="1" dirty="0" smtClean="0">
                        <a:latin typeface="Cambria Math" panose="02040503050406030204" pitchFamily="18" charset="0"/>
                      </a:rPr>
                      <m:t>𝑗</m:t>
                    </m:r>
                  </m:oMath>
                </a14:m>
                <a:r>
                  <a:rPr lang="en-US" sz="2400"/>
                  <a:t> are “competing” focus words, </a:t>
                </a:r>
                <a14:m>
                  <m:oMath xmlns:m="http://schemas.openxmlformats.org/officeDocument/2006/math">
                    <m:r>
                      <a:rPr lang="en-US" sz="2400" i="1" dirty="0" smtClean="0">
                        <a:latin typeface="Cambria Math" panose="02040503050406030204" pitchFamily="18" charset="0"/>
                      </a:rPr>
                      <m:t>𝑘</m:t>
                    </m:r>
                  </m:oMath>
                </a14:m>
                <a:r>
                  <a:rPr lang="en-US" sz="2400"/>
                  <a:t> is a context word</a:t>
                </a:r>
              </a:p>
              <a:p>
                <a:pPr>
                  <a:lnSpc>
                    <a:spcPct val="100000"/>
                  </a:lnSpc>
                </a:pPr>
                <a:r>
                  <a:rPr lang="en-US" sz="2800"/>
                  <a:t>They choose </a:t>
                </a:r>
                <a14:m>
                  <m:oMath xmlns:m="http://schemas.openxmlformats.org/officeDocument/2006/math">
                    <m:f>
                      <m:fPr>
                        <m:ctrlPr>
                          <a:rPr lang="en-US" sz="2800" i="1">
                            <a:latin typeface="Cambria Math" panose="02040503050406030204" pitchFamily="18" charset="0"/>
                          </a:rPr>
                        </m:ctrlPr>
                      </m:fPr>
                      <m:num>
                        <m:sSub>
                          <m:sSubPr>
                            <m:ctrlPr>
                              <a:rPr lang="en-US" sz="2800" i="1">
                                <a:latin typeface="Cambria Math" panose="02040503050406030204" pitchFamily="18" charset="0"/>
                              </a:rPr>
                            </m:ctrlPr>
                          </m:sSubPr>
                          <m:e>
                            <m:r>
                              <a:rPr lang="en-US" sz="2800" i="1">
                                <a:latin typeface="Cambria Math" panose="02040503050406030204" pitchFamily="18" charset="0"/>
                              </a:rPr>
                              <m:t>𝑃</m:t>
                            </m:r>
                          </m:e>
                          <m:sub>
                            <m:r>
                              <a:rPr lang="en-US" sz="2800" i="1">
                                <a:latin typeface="Cambria Math" panose="02040503050406030204" pitchFamily="18" charset="0"/>
                              </a:rPr>
                              <m:t>𝑖</m:t>
                            </m:r>
                            <m:r>
                              <a:rPr lang="en-US" sz="2800" i="1">
                                <a:latin typeface="Cambria Math" panose="02040503050406030204" pitchFamily="18" charset="0"/>
                              </a:rPr>
                              <m:t>|</m:t>
                            </m:r>
                            <m:r>
                              <a:rPr lang="en-US" sz="2800" i="1">
                                <a:latin typeface="Cambria Math" panose="02040503050406030204" pitchFamily="18" charset="0"/>
                              </a:rPr>
                              <m:t>𝑘</m:t>
                            </m:r>
                          </m:sub>
                        </m:sSub>
                      </m:num>
                      <m:den>
                        <m:sSub>
                          <m:sSubPr>
                            <m:ctrlPr>
                              <a:rPr lang="en-US" sz="2800" i="1">
                                <a:latin typeface="Cambria Math" panose="02040503050406030204" pitchFamily="18" charset="0"/>
                              </a:rPr>
                            </m:ctrlPr>
                          </m:sSubPr>
                          <m:e>
                            <m:r>
                              <a:rPr lang="en-US" sz="2800" i="1">
                                <a:latin typeface="Cambria Math" panose="02040503050406030204" pitchFamily="18" charset="0"/>
                              </a:rPr>
                              <m:t>𝑃</m:t>
                            </m:r>
                          </m:e>
                          <m:sub>
                            <m:r>
                              <a:rPr lang="en-US" sz="2800" i="1">
                                <a:latin typeface="Cambria Math" panose="02040503050406030204" pitchFamily="18" charset="0"/>
                              </a:rPr>
                              <m:t>𝑗</m:t>
                            </m:r>
                            <m:r>
                              <a:rPr lang="en-US" sz="2800" i="1">
                                <a:latin typeface="Cambria Math" panose="02040503050406030204" pitchFamily="18" charset="0"/>
                              </a:rPr>
                              <m:t>|</m:t>
                            </m:r>
                            <m:r>
                              <a:rPr lang="en-US" sz="2800" i="1">
                                <a:latin typeface="Cambria Math" panose="02040503050406030204" pitchFamily="18" charset="0"/>
                              </a:rPr>
                              <m:t>𝑘</m:t>
                            </m:r>
                          </m:sub>
                        </m:sSub>
                      </m:den>
                    </m:f>
                    <m:r>
                      <a:rPr lang="en-US" sz="2800" i="1">
                        <a:latin typeface="Cambria Math" panose="02040503050406030204" pitchFamily="18" charset="0"/>
                      </a:rPr>
                      <m:t>=</m:t>
                    </m:r>
                    <m:r>
                      <a:rPr lang="en-US" sz="2800" i="1">
                        <a:latin typeface="Cambria Math" panose="02040503050406030204" pitchFamily="18" charset="0"/>
                      </a:rPr>
                      <m:t>𝐹</m:t>
                    </m:r>
                    <m:d>
                      <m:dPr>
                        <m:ctrlPr>
                          <a:rPr lang="en-US" sz="2800" i="1">
                            <a:latin typeface="Cambria Math" panose="02040503050406030204" pitchFamily="18" charset="0"/>
                          </a:rPr>
                        </m:ctrlPr>
                      </m:dPr>
                      <m:e>
                        <m:sSub>
                          <m:sSubPr>
                            <m:ctrlPr>
                              <a:rPr lang="en-US" sz="2800" i="1" smtClean="0">
                                <a:effectLst>
                                  <a:glow rad="228600">
                                    <a:schemeClr val="accent4">
                                      <a:satMod val="175000"/>
                                      <a:alpha val="40000"/>
                                    </a:schemeClr>
                                  </a:glow>
                                </a:effectLst>
                                <a:latin typeface="Cambria Math" panose="02040503050406030204" pitchFamily="18" charset="0"/>
                              </a:rPr>
                            </m:ctrlPr>
                          </m:sSubPr>
                          <m:e>
                            <m:r>
                              <a:rPr lang="en-US" sz="2800" b="1" i="1">
                                <a:effectLst>
                                  <a:glow rad="228600">
                                    <a:schemeClr val="accent4">
                                      <a:satMod val="175000"/>
                                      <a:alpha val="40000"/>
                                    </a:schemeClr>
                                  </a:glow>
                                </a:effectLst>
                                <a:latin typeface="Cambria Math" panose="02040503050406030204" pitchFamily="18" charset="0"/>
                              </a:rPr>
                              <m:t>𝒖</m:t>
                            </m:r>
                          </m:e>
                          <m:sub>
                            <m:r>
                              <a:rPr lang="en-US" sz="2800" i="1">
                                <a:effectLst>
                                  <a:glow rad="228600">
                                    <a:schemeClr val="accent4">
                                      <a:satMod val="175000"/>
                                      <a:alpha val="40000"/>
                                    </a:schemeClr>
                                  </a:glow>
                                </a:effectLst>
                                <a:latin typeface="Cambria Math" panose="02040503050406030204" pitchFamily="18" charset="0"/>
                              </a:rPr>
                              <m:t>𝑖</m:t>
                            </m:r>
                          </m:sub>
                        </m:sSub>
                        <m:r>
                          <a:rPr lang="en-US" sz="2800" b="0" i="1" smtClean="0">
                            <a:effectLst>
                              <a:glow rad="228600">
                                <a:schemeClr val="accent4">
                                  <a:satMod val="175000"/>
                                  <a:alpha val="40000"/>
                                </a:schemeClr>
                              </a:glow>
                            </a:effectLst>
                            <a:latin typeface="Cambria Math" panose="02040503050406030204" pitchFamily="18" charset="0"/>
                          </a:rPr>
                          <m:t>−</m:t>
                        </m:r>
                        <m:sSub>
                          <m:sSubPr>
                            <m:ctrlPr>
                              <a:rPr lang="en-US" sz="2800" i="1">
                                <a:effectLst>
                                  <a:glow rad="228600">
                                    <a:schemeClr val="accent4">
                                      <a:satMod val="175000"/>
                                      <a:alpha val="40000"/>
                                    </a:schemeClr>
                                  </a:glow>
                                </a:effectLst>
                                <a:latin typeface="Cambria Math" panose="02040503050406030204" pitchFamily="18" charset="0"/>
                              </a:rPr>
                            </m:ctrlPr>
                          </m:sSubPr>
                          <m:e>
                            <m:r>
                              <a:rPr lang="en-US" sz="2800" b="1" i="1">
                                <a:effectLst>
                                  <a:glow rad="228600">
                                    <a:schemeClr val="accent4">
                                      <a:satMod val="175000"/>
                                      <a:alpha val="40000"/>
                                    </a:schemeClr>
                                  </a:glow>
                                </a:effectLst>
                                <a:latin typeface="Cambria Math" panose="02040503050406030204" pitchFamily="18" charset="0"/>
                              </a:rPr>
                              <m:t>𝒖</m:t>
                            </m:r>
                          </m:e>
                          <m:sub>
                            <m:r>
                              <a:rPr lang="en-US" sz="2800" i="1">
                                <a:effectLst>
                                  <a:glow rad="228600">
                                    <a:schemeClr val="accent4">
                                      <a:satMod val="175000"/>
                                      <a:alpha val="40000"/>
                                    </a:schemeClr>
                                  </a:glow>
                                </a:effectLst>
                                <a:latin typeface="Cambria Math" panose="02040503050406030204" pitchFamily="18" charset="0"/>
                              </a:rPr>
                              <m:t>𝑗</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b="1" i="1">
                                <a:latin typeface="Cambria Math" panose="02040503050406030204" pitchFamily="18" charset="0"/>
                              </a:rPr>
                              <m:t>𝒗</m:t>
                            </m:r>
                          </m:e>
                          <m:sub>
                            <m:r>
                              <a:rPr lang="en-US" sz="2800" i="1">
                                <a:latin typeface="Cambria Math" panose="02040503050406030204" pitchFamily="18" charset="0"/>
                              </a:rPr>
                              <m:t>𝑘</m:t>
                            </m:r>
                          </m:sub>
                        </m:sSub>
                      </m:e>
                    </m:d>
                  </m:oMath>
                </a14:m>
                <a:endParaRPr lang="en-US" sz="2800"/>
              </a:p>
              <a:p>
                <a:pPr lvl="1">
                  <a:lnSpc>
                    <a:spcPct val="100000"/>
                  </a:lnSpc>
                </a:pPr>
                <a:r>
                  <a:rPr lang="en-US" sz="2400"/>
                  <a:t>“Since vector spaces are inherently linear structures, the most natural way to do this is with vector differences.”</a:t>
                </a:r>
              </a:p>
              <a:p>
                <a:pPr>
                  <a:lnSpc>
                    <a:spcPct val="100000"/>
                  </a:lnSpc>
                </a:pPr>
                <a:r>
                  <a:rPr lang="en-US" sz="2800"/>
                  <a:t>A simple “network” is </a:t>
                </a:r>
                <a14:m>
                  <m:oMath xmlns:m="http://schemas.openxmlformats.org/officeDocument/2006/math">
                    <m:f>
                      <m:fPr>
                        <m:ctrlPr>
                          <a:rPr lang="en-US" sz="2800" i="1">
                            <a:latin typeface="Cambria Math" panose="02040503050406030204" pitchFamily="18" charset="0"/>
                          </a:rPr>
                        </m:ctrlPr>
                      </m:fPr>
                      <m:num>
                        <m:sSub>
                          <m:sSubPr>
                            <m:ctrlPr>
                              <a:rPr lang="en-US" sz="2800" i="1">
                                <a:latin typeface="Cambria Math" panose="02040503050406030204" pitchFamily="18" charset="0"/>
                              </a:rPr>
                            </m:ctrlPr>
                          </m:sSubPr>
                          <m:e>
                            <m:r>
                              <a:rPr lang="en-US" sz="2800" i="1">
                                <a:latin typeface="Cambria Math" panose="02040503050406030204" pitchFamily="18" charset="0"/>
                              </a:rPr>
                              <m:t>𝑃</m:t>
                            </m:r>
                          </m:e>
                          <m:sub>
                            <m:r>
                              <a:rPr lang="en-US" sz="2800" i="1">
                                <a:latin typeface="Cambria Math" panose="02040503050406030204" pitchFamily="18" charset="0"/>
                              </a:rPr>
                              <m:t>𝑖</m:t>
                            </m:r>
                            <m:r>
                              <a:rPr lang="en-US" sz="2800" i="1">
                                <a:latin typeface="Cambria Math" panose="02040503050406030204" pitchFamily="18" charset="0"/>
                              </a:rPr>
                              <m:t>|</m:t>
                            </m:r>
                            <m:r>
                              <a:rPr lang="en-US" sz="2800" i="1">
                                <a:latin typeface="Cambria Math" panose="02040503050406030204" pitchFamily="18" charset="0"/>
                              </a:rPr>
                              <m:t>𝑘</m:t>
                            </m:r>
                          </m:sub>
                        </m:sSub>
                      </m:num>
                      <m:den>
                        <m:sSub>
                          <m:sSubPr>
                            <m:ctrlPr>
                              <a:rPr lang="en-US" sz="2800" i="1">
                                <a:latin typeface="Cambria Math" panose="02040503050406030204" pitchFamily="18" charset="0"/>
                              </a:rPr>
                            </m:ctrlPr>
                          </m:sSubPr>
                          <m:e>
                            <m:r>
                              <a:rPr lang="en-US" sz="2800" i="1">
                                <a:latin typeface="Cambria Math" panose="02040503050406030204" pitchFamily="18" charset="0"/>
                              </a:rPr>
                              <m:t>𝑃</m:t>
                            </m:r>
                          </m:e>
                          <m:sub>
                            <m:r>
                              <a:rPr lang="en-US" sz="2800" i="1">
                                <a:latin typeface="Cambria Math" panose="02040503050406030204" pitchFamily="18" charset="0"/>
                              </a:rPr>
                              <m:t>𝑗</m:t>
                            </m:r>
                            <m:r>
                              <a:rPr lang="en-US" sz="2800" i="1">
                                <a:latin typeface="Cambria Math" panose="02040503050406030204" pitchFamily="18" charset="0"/>
                              </a:rPr>
                              <m:t>|</m:t>
                            </m:r>
                            <m:r>
                              <a:rPr lang="en-US" sz="2800" i="1">
                                <a:latin typeface="Cambria Math" panose="02040503050406030204" pitchFamily="18" charset="0"/>
                              </a:rPr>
                              <m:t>𝑘</m:t>
                            </m:r>
                          </m:sub>
                        </m:sSub>
                      </m:den>
                    </m:f>
                    <m:r>
                      <a:rPr lang="en-US" sz="2800" i="1">
                        <a:latin typeface="Cambria Math" panose="02040503050406030204" pitchFamily="18" charset="0"/>
                      </a:rPr>
                      <m:t>=</m:t>
                    </m:r>
                    <m:r>
                      <a:rPr lang="en-US" sz="2800" i="1">
                        <a:latin typeface="Cambria Math" panose="02040503050406030204" pitchFamily="18" charset="0"/>
                      </a:rPr>
                      <m:t>𝐹</m:t>
                    </m:r>
                    <m:d>
                      <m:dPr>
                        <m:ctrlPr>
                          <a:rPr lang="en-US" sz="2800" i="1">
                            <a:latin typeface="Cambria Math" panose="02040503050406030204" pitchFamily="18" charset="0"/>
                          </a:rPr>
                        </m:ctrlPr>
                      </m:dPr>
                      <m:e>
                        <m:sSub>
                          <m:sSubPr>
                            <m:ctrlPr>
                              <a:rPr lang="en-US" sz="2800" i="1">
                                <a:effectLst>
                                  <a:glow rad="228600">
                                    <a:schemeClr val="accent4">
                                      <a:satMod val="175000"/>
                                      <a:alpha val="40000"/>
                                    </a:schemeClr>
                                  </a:glow>
                                </a:effectLst>
                                <a:latin typeface="Cambria Math" panose="02040503050406030204" pitchFamily="18" charset="0"/>
                              </a:rPr>
                            </m:ctrlPr>
                          </m:sSubPr>
                          <m:e>
                            <m:r>
                              <a:rPr lang="en-US" sz="2800" b="1" i="1" smtClean="0">
                                <a:effectLst>
                                  <a:glow rad="228600">
                                    <a:schemeClr val="accent4">
                                      <a:satMod val="175000"/>
                                      <a:alpha val="40000"/>
                                    </a:schemeClr>
                                  </a:glow>
                                </a:effectLst>
                                <a:latin typeface="Cambria Math" panose="02040503050406030204" pitchFamily="18" charset="0"/>
                              </a:rPr>
                              <m:t>(</m:t>
                            </m:r>
                            <m:r>
                              <a:rPr lang="en-US" sz="2800" b="1" i="1">
                                <a:effectLst>
                                  <a:glow rad="228600">
                                    <a:schemeClr val="accent4">
                                      <a:satMod val="175000"/>
                                      <a:alpha val="40000"/>
                                    </a:schemeClr>
                                  </a:glow>
                                </a:effectLst>
                                <a:latin typeface="Cambria Math" panose="02040503050406030204" pitchFamily="18" charset="0"/>
                              </a:rPr>
                              <m:t>𝒖</m:t>
                            </m:r>
                          </m:e>
                          <m:sub>
                            <m:r>
                              <a:rPr lang="en-US" sz="2800" i="1">
                                <a:effectLst>
                                  <a:glow rad="228600">
                                    <a:schemeClr val="accent4">
                                      <a:satMod val="175000"/>
                                      <a:alpha val="40000"/>
                                    </a:schemeClr>
                                  </a:glow>
                                </a:effectLst>
                                <a:latin typeface="Cambria Math" panose="02040503050406030204" pitchFamily="18" charset="0"/>
                              </a:rPr>
                              <m:t>𝑖</m:t>
                            </m:r>
                          </m:sub>
                        </m:sSub>
                        <m:r>
                          <a:rPr lang="en-US" sz="2800" i="1">
                            <a:effectLst>
                              <a:glow rad="228600">
                                <a:schemeClr val="accent4">
                                  <a:satMod val="175000"/>
                                  <a:alpha val="40000"/>
                                </a:schemeClr>
                              </a:glow>
                            </a:effectLst>
                            <a:latin typeface="Cambria Math" panose="02040503050406030204" pitchFamily="18" charset="0"/>
                          </a:rPr>
                          <m:t>−</m:t>
                        </m:r>
                        <m:sSub>
                          <m:sSubPr>
                            <m:ctrlPr>
                              <a:rPr lang="en-US" sz="2800" i="1">
                                <a:effectLst>
                                  <a:glow rad="228600">
                                    <a:schemeClr val="accent4">
                                      <a:satMod val="175000"/>
                                      <a:alpha val="40000"/>
                                    </a:schemeClr>
                                  </a:glow>
                                </a:effectLst>
                                <a:latin typeface="Cambria Math" panose="02040503050406030204" pitchFamily="18" charset="0"/>
                              </a:rPr>
                            </m:ctrlPr>
                          </m:sSubPr>
                          <m:e>
                            <m:r>
                              <a:rPr lang="en-US" sz="2800" b="1" i="1">
                                <a:effectLst>
                                  <a:glow rad="228600">
                                    <a:schemeClr val="accent4">
                                      <a:satMod val="175000"/>
                                      <a:alpha val="40000"/>
                                    </a:schemeClr>
                                  </a:glow>
                                </a:effectLst>
                                <a:latin typeface="Cambria Math" panose="02040503050406030204" pitchFamily="18" charset="0"/>
                              </a:rPr>
                              <m:t>𝒖</m:t>
                            </m:r>
                          </m:e>
                          <m:sub>
                            <m:r>
                              <a:rPr lang="en-US" sz="2800" i="1">
                                <a:effectLst>
                                  <a:glow rad="228600">
                                    <a:schemeClr val="accent4">
                                      <a:satMod val="175000"/>
                                      <a:alpha val="40000"/>
                                    </a:schemeClr>
                                  </a:glow>
                                </a:effectLst>
                                <a:latin typeface="Cambria Math" panose="02040503050406030204" pitchFamily="18" charset="0"/>
                              </a:rPr>
                              <m:t>𝑗</m:t>
                            </m:r>
                          </m:sub>
                        </m:sSub>
                        <m:r>
                          <a:rPr lang="en-US" sz="2800" b="0" i="1" smtClean="0">
                            <a:effectLst>
                              <a:glow rad="228600">
                                <a:schemeClr val="accent4">
                                  <a:satMod val="175000"/>
                                  <a:alpha val="40000"/>
                                </a:schemeClr>
                              </a:glow>
                            </a:effectLst>
                            <a:latin typeface="Cambria Math" panose="02040503050406030204" pitchFamily="18" charset="0"/>
                          </a:rPr>
                          <m:t>)⋅</m:t>
                        </m:r>
                        <m:sSub>
                          <m:sSubPr>
                            <m:ctrlPr>
                              <a:rPr lang="en-US" sz="2800" i="1">
                                <a:latin typeface="Cambria Math" panose="02040503050406030204" pitchFamily="18" charset="0"/>
                              </a:rPr>
                            </m:ctrlPr>
                          </m:sSubPr>
                          <m:e>
                            <m:r>
                              <a:rPr lang="en-US" sz="2800" b="1" i="1">
                                <a:latin typeface="Cambria Math" panose="02040503050406030204" pitchFamily="18" charset="0"/>
                              </a:rPr>
                              <m:t>𝒗</m:t>
                            </m:r>
                          </m:e>
                          <m:sub>
                            <m:r>
                              <a:rPr lang="en-US" sz="2800" i="1">
                                <a:latin typeface="Cambria Math" panose="02040503050406030204" pitchFamily="18" charset="0"/>
                              </a:rPr>
                              <m:t>𝑘</m:t>
                            </m:r>
                          </m:sub>
                        </m:sSub>
                      </m:e>
                    </m:d>
                    <m:r>
                      <a:rPr lang="en-US" sz="2800" b="0" i="1" smtClean="0">
                        <a:latin typeface="Cambria Math" panose="02040503050406030204" pitchFamily="18" charset="0"/>
                      </a:rPr>
                      <m:t>=</m:t>
                    </m:r>
                    <m:r>
                      <a:rPr lang="en-US" sz="2800" b="0" i="1" smtClean="0">
                        <a:latin typeface="Cambria Math" panose="02040503050406030204" pitchFamily="18" charset="0"/>
                      </a:rPr>
                      <m:t>𝐹</m:t>
                    </m:r>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1" i="1" smtClean="0">
                            <a:latin typeface="Cambria Math" panose="02040503050406030204" pitchFamily="18" charset="0"/>
                          </a:rPr>
                          <m:t>𝒖</m:t>
                        </m:r>
                      </m:e>
                      <m:sub>
                        <m:r>
                          <a:rPr lang="en-US" sz="2800" b="0" i="1" smtClean="0">
                            <a:latin typeface="Cambria Math" panose="02040503050406030204" pitchFamily="18" charset="0"/>
                          </a:rPr>
                          <m:t>𝑖</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1" i="1" smtClean="0">
                            <a:latin typeface="Cambria Math" panose="02040503050406030204" pitchFamily="18" charset="0"/>
                          </a:rPr>
                          <m:t>𝒗</m:t>
                        </m:r>
                      </m:e>
                      <m:sub>
                        <m:r>
                          <a:rPr lang="en-US" sz="2800" b="0" i="1" smtClean="0">
                            <a:latin typeface="Cambria Math" panose="02040503050406030204" pitchFamily="18" charset="0"/>
                          </a:rPr>
                          <m:t>𝑘</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1" i="1" smtClean="0">
                            <a:latin typeface="Cambria Math" panose="02040503050406030204" pitchFamily="18" charset="0"/>
                          </a:rPr>
                          <m:t>𝒖</m:t>
                        </m:r>
                      </m:e>
                      <m:sub>
                        <m:r>
                          <a:rPr lang="en-US" sz="2800" b="0" i="1" smtClean="0">
                            <a:latin typeface="Cambria Math" panose="02040503050406030204" pitchFamily="18" charset="0"/>
                          </a:rPr>
                          <m:t>𝑗</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1" i="1" smtClean="0">
                            <a:latin typeface="Cambria Math" panose="02040503050406030204" pitchFamily="18" charset="0"/>
                          </a:rPr>
                          <m:t>𝒗</m:t>
                        </m:r>
                      </m:e>
                      <m:sub>
                        <m:r>
                          <a:rPr lang="en-US" sz="2800" b="0" i="1" smtClean="0">
                            <a:latin typeface="Cambria Math" panose="02040503050406030204" pitchFamily="18" charset="0"/>
                          </a:rPr>
                          <m:t>𝑘</m:t>
                        </m:r>
                      </m:sub>
                    </m:sSub>
                    <m:r>
                      <a:rPr lang="en-US" sz="2800" b="0" i="1" smtClean="0">
                        <a:latin typeface="Cambria Math" panose="02040503050406030204" pitchFamily="18" charset="0"/>
                      </a:rPr>
                      <m:t>)</m:t>
                    </m:r>
                  </m:oMath>
                </a14:m>
                <a:endParaRPr lang="en-US" sz="2800"/>
              </a:p>
              <a:p>
                <a:pPr>
                  <a:lnSpc>
                    <a:spcPct val="100000"/>
                  </a:lnSpc>
                </a:pPr>
                <a:r>
                  <a:rPr lang="en-US" sz="2800"/>
                  <a:t>Focus </a:t>
                </a:r>
                <a14:m>
                  <m:oMath xmlns:m="http://schemas.openxmlformats.org/officeDocument/2006/math">
                    <m:r>
                      <a:rPr lang="en-US" sz="2800" i="1" dirty="0" smtClean="0">
                        <a:latin typeface="Cambria Math" panose="02040503050406030204" pitchFamily="18" charset="0"/>
                      </a:rPr>
                      <m:t>𝑖</m:t>
                    </m:r>
                  </m:oMath>
                </a14:m>
                <a:r>
                  <a:rPr lang="en-US" sz="2800"/>
                  <a:t> or </a:t>
                </a:r>
                <a14:m>
                  <m:oMath xmlns:m="http://schemas.openxmlformats.org/officeDocument/2006/math">
                    <m:r>
                      <a:rPr lang="en-US" sz="2800" i="1" dirty="0" smtClean="0">
                        <a:latin typeface="Cambria Math" panose="02040503050406030204" pitchFamily="18" charset="0"/>
                      </a:rPr>
                      <m:t>𝑗</m:t>
                    </m:r>
                  </m:oMath>
                </a14:m>
                <a:r>
                  <a:rPr lang="en-US" sz="2800"/>
                  <a:t> and context </a:t>
                </a:r>
                <a14:m>
                  <m:oMath xmlns:m="http://schemas.openxmlformats.org/officeDocument/2006/math">
                    <m:r>
                      <a:rPr lang="en-US" sz="2800" b="0" i="1" dirty="0" smtClean="0">
                        <a:latin typeface="Cambria Math" panose="02040503050406030204" pitchFamily="18" charset="0"/>
                      </a:rPr>
                      <m:t>𝑘</m:t>
                    </m:r>
                  </m:oMath>
                </a14:m>
                <a:r>
                  <a:rPr lang="en-US" sz="2800"/>
                  <a:t> should be interchangeable, this suggests </a:t>
                </a: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𝑃</m:t>
                        </m:r>
                      </m:e>
                      <m:sub>
                        <m:r>
                          <a:rPr lang="en-US" sz="2800" i="1">
                            <a:latin typeface="Cambria Math" panose="02040503050406030204" pitchFamily="18" charset="0"/>
                          </a:rPr>
                          <m:t>𝑖</m:t>
                        </m:r>
                        <m:r>
                          <a:rPr lang="en-US" sz="2800" i="1">
                            <a:latin typeface="Cambria Math" panose="02040503050406030204" pitchFamily="18" charset="0"/>
                          </a:rPr>
                          <m:t>|</m:t>
                        </m:r>
                        <m:r>
                          <a:rPr lang="en-US" sz="2800" i="1">
                            <a:latin typeface="Cambria Math" panose="02040503050406030204" pitchFamily="18" charset="0"/>
                          </a:rPr>
                          <m:t>𝑘</m:t>
                        </m:r>
                      </m:sub>
                    </m:sSub>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𝑁</m:t>
                            </m:r>
                          </m:e>
                          <m:sub>
                            <m:r>
                              <a:rPr lang="en-US" sz="2800" b="0" i="1" smtClean="0">
                                <a:latin typeface="Cambria Math" panose="02040503050406030204" pitchFamily="18" charset="0"/>
                              </a:rPr>
                              <m:t>𝑖𝑘</m:t>
                            </m:r>
                          </m:sub>
                        </m:sSub>
                      </m:num>
                      <m:den>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𝑁</m:t>
                            </m:r>
                          </m:e>
                          <m:sub>
                            <m:r>
                              <a:rPr lang="en-US" sz="2800" b="0" i="1" smtClean="0">
                                <a:latin typeface="Cambria Math" panose="02040503050406030204" pitchFamily="18" charset="0"/>
                              </a:rPr>
                              <m:t>𝑖</m:t>
                            </m:r>
                          </m:sub>
                        </m:sSub>
                      </m:den>
                    </m:f>
                    <m:r>
                      <a:rPr lang="en-US" sz="2800" b="0" i="1" smtClean="0">
                        <a:latin typeface="Cambria Math" panose="02040503050406030204" pitchFamily="18" charset="0"/>
                      </a:rPr>
                      <m:t>=</m:t>
                    </m:r>
                    <m:r>
                      <a:rPr lang="en-US" sz="2800" b="0" i="1" smtClean="0">
                        <a:latin typeface="Cambria Math" panose="02040503050406030204" pitchFamily="18" charset="0"/>
                      </a:rPr>
                      <m:t>𝐹</m:t>
                    </m:r>
                    <m:d>
                      <m:dPr>
                        <m:ctrlPr>
                          <a:rPr lang="en-US" sz="2800" b="0" i="1" smtClean="0">
                            <a:latin typeface="Cambria Math" panose="02040503050406030204" pitchFamily="18" charset="0"/>
                          </a:rPr>
                        </m:ctrlPr>
                      </m:dPr>
                      <m:e>
                        <m:sSub>
                          <m:sSubPr>
                            <m:ctrlPr>
                              <a:rPr lang="en-US" sz="2800" b="0" i="1" smtClean="0">
                                <a:latin typeface="Cambria Math" panose="02040503050406030204" pitchFamily="18" charset="0"/>
                              </a:rPr>
                            </m:ctrlPr>
                          </m:sSubPr>
                          <m:e>
                            <m:r>
                              <a:rPr lang="en-US" sz="2800" b="1" i="1" smtClean="0">
                                <a:latin typeface="Cambria Math" panose="02040503050406030204" pitchFamily="18" charset="0"/>
                              </a:rPr>
                              <m:t>𝒖</m:t>
                            </m:r>
                          </m:e>
                          <m:sub>
                            <m:r>
                              <a:rPr lang="en-US" sz="2800" b="0" i="1" smtClean="0">
                                <a:latin typeface="Cambria Math" panose="02040503050406030204" pitchFamily="18" charset="0"/>
                              </a:rPr>
                              <m:t>𝑖</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1" i="1" smtClean="0">
                                <a:latin typeface="Cambria Math" panose="02040503050406030204" pitchFamily="18" charset="0"/>
                              </a:rPr>
                              <m:t>𝒗</m:t>
                            </m:r>
                          </m:e>
                          <m:sub>
                            <m:r>
                              <a:rPr lang="en-US" sz="2800" b="0" i="1" smtClean="0">
                                <a:latin typeface="Cambria Math" panose="02040503050406030204" pitchFamily="18" charset="0"/>
                              </a:rPr>
                              <m:t>𝑘</m:t>
                            </m:r>
                          </m:sub>
                        </m:sSub>
                      </m:e>
                    </m:d>
                    <m:r>
                      <a:rPr lang="en-US" sz="2800" b="0" i="1" smtClean="0">
                        <a:latin typeface="Cambria Math" panose="02040503050406030204" pitchFamily="18" charset="0"/>
                      </a:rPr>
                      <m:t>=</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exp</m:t>
                        </m:r>
                      </m:fName>
                      <m:e>
                        <m:d>
                          <m:dPr>
                            <m:ctrlPr>
                              <a:rPr lang="en-US" sz="2800" b="0" i="1" smtClean="0">
                                <a:latin typeface="Cambria Math" panose="02040503050406030204" pitchFamily="18" charset="0"/>
                              </a:rPr>
                            </m:ctrlPr>
                          </m:dPr>
                          <m:e>
                            <m:sSub>
                              <m:sSubPr>
                                <m:ctrlPr>
                                  <a:rPr lang="en-US" sz="2800" i="1">
                                    <a:latin typeface="Cambria Math" panose="02040503050406030204" pitchFamily="18" charset="0"/>
                                  </a:rPr>
                                </m:ctrlPr>
                              </m:sSubPr>
                              <m:e>
                                <m:r>
                                  <a:rPr lang="en-US" sz="2800" b="1" i="1">
                                    <a:latin typeface="Cambria Math" panose="02040503050406030204" pitchFamily="18" charset="0"/>
                                  </a:rPr>
                                  <m:t>𝒖</m:t>
                                </m:r>
                              </m:e>
                              <m:sub>
                                <m:r>
                                  <a:rPr lang="en-US" sz="2800" i="1">
                                    <a:latin typeface="Cambria Math" panose="02040503050406030204" pitchFamily="18" charset="0"/>
                                  </a:rPr>
                                  <m:t>𝑖</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b="1" i="1">
                                    <a:latin typeface="Cambria Math" panose="02040503050406030204" pitchFamily="18" charset="0"/>
                                  </a:rPr>
                                  <m:t>𝒗</m:t>
                                </m:r>
                              </m:e>
                              <m:sub>
                                <m:r>
                                  <a:rPr lang="en-US" sz="2800" i="1">
                                    <a:latin typeface="Cambria Math" panose="02040503050406030204" pitchFamily="18" charset="0"/>
                                  </a:rPr>
                                  <m:t>𝑘</m:t>
                                </m:r>
                              </m:sub>
                            </m:sSub>
                          </m:e>
                        </m:d>
                      </m:e>
                    </m:func>
                  </m:oMath>
                </a14:m>
                <a:endParaRPr lang="en-US" sz="2800"/>
              </a:p>
              <a:p>
                <a:pPr>
                  <a:lnSpc>
                    <a:spcPct val="100000"/>
                  </a:lnSpc>
                </a:pPr>
                <a:r>
                  <a:rPr lang="en-US" sz="2800"/>
                  <a:t>Thus </a:t>
                </a:r>
                <a14:m>
                  <m:oMath xmlns:m="http://schemas.openxmlformats.org/officeDocument/2006/math">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log</m:t>
                        </m:r>
                      </m:fName>
                      <m:e>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𝑁</m:t>
                            </m:r>
                          </m:e>
                          <m:sub>
                            <m:r>
                              <a:rPr lang="en-US" sz="2800" b="0" i="1" smtClean="0">
                                <a:latin typeface="Cambria Math" panose="02040503050406030204" pitchFamily="18" charset="0"/>
                              </a:rPr>
                              <m:t>𝑖𝑘</m:t>
                            </m:r>
                          </m:sub>
                        </m:sSub>
                      </m:e>
                    </m:func>
                    <m:r>
                      <a:rPr lang="en-US" sz="2800" b="0" i="1" smtClean="0">
                        <a:latin typeface="Cambria Math" panose="02040503050406030204" pitchFamily="18" charset="0"/>
                      </a:rPr>
                      <m:t>−</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log</m:t>
                        </m:r>
                      </m:fName>
                      <m:e>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𝑁</m:t>
                            </m:r>
                          </m:e>
                          <m:sub>
                            <m:r>
                              <a:rPr lang="en-US" sz="2800" b="0" i="1" smtClean="0">
                                <a:latin typeface="Cambria Math" panose="02040503050406030204" pitchFamily="18" charset="0"/>
                              </a:rPr>
                              <m:t>𝑖</m:t>
                            </m:r>
                          </m:sub>
                        </m:sSub>
                      </m:e>
                    </m:func>
                    <m:r>
                      <a:rPr lang="en-US" sz="2800" b="0" i="1" smtClean="0">
                        <a:latin typeface="Cambria Math" panose="02040503050406030204" pitchFamily="18" charset="0"/>
                      </a:rPr>
                      <m:t>=</m:t>
                    </m:r>
                  </m:oMath>
                </a14:m>
                <a:r>
                  <a:rPr lang="en-US" sz="2800"/>
                  <a:t> </a:t>
                </a:r>
                <a14:m>
                  <m:oMath xmlns:m="http://schemas.openxmlformats.org/officeDocument/2006/math">
                    <m:sSub>
                      <m:sSubPr>
                        <m:ctrlPr>
                          <a:rPr lang="en-US" sz="2800" i="1">
                            <a:latin typeface="Cambria Math" panose="02040503050406030204" pitchFamily="18" charset="0"/>
                          </a:rPr>
                        </m:ctrlPr>
                      </m:sSubPr>
                      <m:e>
                        <m:r>
                          <a:rPr lang="en-US" sz="2800" b="1" i="1">
                            <a:latin typeface="Cambria Math" panose="02040503050406030204" pitchFamily="18" charset="0"/>
                          </a:rPr>
                          <m:t>𝒖</m:t>
                        </m:r>
                      </m:e>
                      <m:sub>
                        <m:r>
                          <a:rPr lang="en-US" sz="2800" i="1">
                            <a:latin typeface="Cambria Math" panose="02040503050406030204" pitchFamily="18" charset="0"/>
                          </a:rPr>
                          <m:t>𝑖</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b="1" i="1">
                            <a:latin typeface="Cambria Math" panose="02040503050406030204" pitchFamily="18" charset="0"/>
                          </a:rPr>
                          <m:t>𝒗</m:t>
                        </m:r>
                      </m:e>
                      <m:sub>
                        <m:r>
                          <a:rPr lang="en-US" sz="2800" i="1">
                            <a:latin typeface="Cambria Math" panose="02040503050406030204" pitchFamily="18" charset="0"/>
                          </a:rPr>
                          <m:t>𝑘</m:t>
                        </m:r>
                      </m:sub>
                    </m:sSub>
                  </m:oMath>
                </a14:m>
                <a:r>
                  <a:rPr lang="en-US" sz="2800"/>
                  <a:t>, but not quite interchangeable</a:t>
                </a:r>
              </a:p>
              <a:p>
                <a:pPr>
                  <a:lnSpc>
                    <a:spcPct val="100000"/>
                  </a:lnSpc>
                </a:pPr>
                <a:r>
                  <a:rPr lang="en-US" sz="2800"/>
                  <a:t>Next “fix”: </a:t>
                </a:r>
                <a14:m>
                  <m:oMath xmlns:m="http://schemas.openxmlformats.org/officeDocument/2006/math">
                    <m:func>
                      <m:funcPr>
                        <m:ctrlPr>
                          <a:rPr lang="en-US" sz="2800" i="1">
                            <a:latin typeface="Cambria Math" panose="02040503050406030204" pitchFamily="18" charset="0"/>
                          </a:rPr>
                        </m:ctrlPr>
                      </m:funcPr>
                      <m:fName>
                        <m:r>
                          <m:rPr>
                            <m:sty m:val="p"/>
                          </m:rPr>
                          <a:rPr lang="en-US" sz="2800">
                            <a:latin typeface="Cambria Math" panose="02040503050406030204" pitchFamily="18" charset="0"/>
                          </a:rPr>
                          <m:t>log</m:t>
                        </m:r>
                      </m:fName>
                      <m:e>
                        <m:sSub>
                          <m:sSubPr>
                            <m:ctrlPr>
                              <a:rPr lang="en-US" sz="2800" i="1">
                                <a:latin typeface="Cambria Math" panose="02040503050406030204" pitchFamily="18" charset="0"/>
                              </a:rPr>
                            </m:ctrlPr>
                          </m:sSubPr>
                          <m:e>
                            <m:r>
                              <a:rPr lang="en-US" sz="2800" i="1">
                                <a:latin typeface="Cambria Math" panose="02040503050406030204" pitchFamily="18" charset="0"/>
                              </a:rPr>
                              <m:t>𝑁</m:t>
                            </m:r>
                          </m:e>
                          <m:sub>
                            <m:r>
                              <a:rPr lang="en-US" sz="2800" i="1">
                                <a:latin typeface="Cambria Math" panose="02040503050406030204" pitchFamily="18" charset="0"/>
                              </a:rPr>
                              <m:t>𝑖𝑘</m:t>
                            </m:r>
                          </m:sub>
                        </m:sSub>
                      </m:e>
                    </m:func>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b="1" i="1">
                            <a:latin typeface="Cambria Math" panose="02040503050406030204" pitchFamily="18" charset="0"/>
                          </a:rPr>
                          <m:t>𝒖</m:t>
                        </m:r>
                      </m:e>
                      <m:sub>
                        <m:r>
                          <a:rPr lang="en-US" sz="2800" i="1">
                            <a:latin typeface="Cambria Math" panose="02040503050406030204" pitchFamily="18" charset="0"/>
                          </a:rPr>
                          <m:t>𝑖</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b="1" i="1">
                            <a:latin typeface="Cambria Math" panose="02040503050406030204" pitchFamily="18" charset="0"/>
                          </a:rPr>
                          <m:t>𝒗</m:t>
                        </m:r>
                      </m:e>
                      <m:sub>
                        <m:r>
                          <a:rPr lang="en-US" sz="2800" i="1">
                            <a:latin typeface="Cambria Math" panose="02040503050406030204" pitchFamily="18" charset="0"/>
                          </a:rPr>
                          <m:t>𝑘</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𝑏</m:t>
                        </m:r>
                      </m:e>
                      <m:sub>
                        <m:r>
                          <a:rPr lang="en-US" sz="2800" b="0" i="1" smtClean="0">
                            <a:latin typeface="Cambria Math" panose="02040503050406030204" pitchFamily="18" charset="0"/>
                          </a:rPr>
                          <m:t>𝑖</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𝑏</m:t>
                        </m:r>
                      </m:e>
                      <m:sub>
                        <m:r>
                          <a:rPr lang="en-US" sz="2800" b="0" i="1" smtClean="0">
                            <a:latin typeface="Cambria Math" panose="02040503050406030204" pitchFamily="18" charset="0"/>
                          </a:rPr>
                          <m:t>𝑘</m:t>
                        </m:r>
                      </m:sub>
                    </m:sSub>
                  </m:oMath>
                </a14:m>
                <a:r>
                  <a:rPr lang="en-US" sz="2800"/>
                  <a:t>  (</a:t>
                </a: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𝑏</m:t>
                        </m:r>
                      </m:e>
                      <m:sub>
                        <m:r>
                          <a:rPr lang="en-US" sz="2800" i="1">
                            <a:latin typeface="Cambria Math" panose="02040503050406030204" pitchFamily="18" charset="0"/>
                          </a:rPr>
                          <m:t>𝑖</m:t>
                        </m:r>
                      </m:sub>
                    </m:sSub>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𝑏</m:t>
                        </m:r>
                      </m:e>
                      <m:sub>
                        <m:r>
                          <a:rPr lang="en-US" sz="2800" i="1">
                            <a:latin typeface="Cambria Math" panose="02040503050406030204" pitchFamily="18" charset="0"/>
                          </a:rPr>
                          <m:t>𝑘</m:t>
                        </m:r>
                      </m:sub>
                    </m:sSub>
                  </m:oMath>
                </a14:m>
                <a:r>
                  <a:rPr lang="en-US" sz="2800"/>
                  <a:t> become bias terms; symmetric form) </a:t>
                </a:r>
              </a:p>
            </p:txBody>
          </p:sp>
        </mc:Choice>
        <mc:Fallback xmlns="">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2"/>
                <a:stretch>
                  <a:fillRect t="-293"/>
                </a:stretch>
              </a:blipFill>
            </p:spPr>
            <p:txBody>
              <a:bodyPr/>
              <a:lstStyle/>
              <a:p>
                <a:r>
                  <a:rPr lang="en-US" altLang="en-US">
                    <a:noFill/>
                  </a:rPr>
                  <a:t> </a:t>
                </a:r>
              </a:p>
            </p:txBody>
          </p:sp>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GloVe</a:t>
            </a:r>
            <a:r>
              <a:rPr lang="en-US"/>
              <a:t>: finishing up</a:t>
            </a:r>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p:txBody>
              <a:bodyPr>
                <a:normAutofit lnSpcReduction="10000"/>
              </a:bodyPr>
              <a:lstStyle/>
              <a:p>
                <a:pPr>
                  <a:lnSpc>
                    <a:spcPct val="100000"/>
                  </a:lnSpc>
                </a:pPr>
                <a:r>
                  <a:rPr lang="en-US" sz="3600"/>
                  <a:t>Suggests overall loss</a:t>
                </a:r>
                <a:br>
                  <a:rPr lang="en-US" sz="3600"/>
                </a:br>
                <a:r>
                  <a:rPr lang="en-US" sz="3600"/>
                  <a:t>  </a:t>
                </a:r>
                <a14:m>
                  <m:oMath xmlns:m="http://schemas.openxmlformats.org/officeDocument/2006/math">
                    <m:nary>
                      <m:naryPr>
                        <m:chr m:val="∑"/>
                        <m:supHide m:val="on"/>
                        <m:ctrlPr>
                          <a:rPr lang="en-US" sz="3600" i="1" smtClean="0">
                            <a:latin typeface="Cambria Math" panose="02040503050406030204" pitchFamily="18" charset="0"/>
                          </a:rPr>
                        </m:ctrlPr>
                      </m:naryPr>
                      <m:sub>
                        <m:r>
                          <m:rPr>
                            <m:brk m:alnAt="7"/>
                          </m:rPr>
                          <a:rPr lang="en-US" sz="3600" b="0" i="1" smtClean="0">
                            <a:latin typeface="Cambria Math" panose="02040503050406030204" pitchFamily="18" charset="0"/>
                          </a:rPr>
                          <m:t>𝑖</m:t>
                        </m:r>
                        <m:r>
                          <a:rPr lang="en-US" sz="3600" b="0" i="1" smtClean="0">
                            <a:latin typeface="Cambria Math" panose="02040503050406030204" pitchFamily="18" charset="0"/>
                          </a:rPr>
                          <m:t>,</m:t>
                        </m:r>
                        <m:r>
                          <a:rPr lang="en-US" sz="3600" b="0" i="1" smtClean="0">
                            <a:latin typeface="Cambria Math" panose="02040503050406030204" pitchFamily="18" charset="0"/>
                          </a:rPr>
                          <m:t>𝑗</m:t>
                        </m:r>
                        <m:r>
                          <a:rPr lang="en-US" sz="3600" b="0" i="1" smtClean="0">
                            <a:latin typeface="Cambria Math" panose="02040503050406030204" pitchFamily="18" charset="0"/>
                          </a:rPr>
                          <m:t>∈[</m:t>
                        </m:r>
                        <m:r>
                          <a:rPr lang="en-US" sz="3600" b="0" i="1" smtClean="0">
                            <a:latin typeface="Cambria Math" panose="02040503050406030204" pitchFamily="18" charset="0"/>
                          </a:rPr>
                          <m:t>𝑊</m:t>
                        </m:r>
                        <m:r>
                          <a:rPr lang="en-US" sz="3600" b="0" i="1" smtClean="0">
                            <a:latin typeface="Cambria Math" panose="02040503050406030204" pitchFamily="18" charset="0"/>
                          </a:rPr>
                          <m:t>]</m:t>
                        </m:r>
                      </m:sub>
                      <m:sup/>
                      <m:e>
                        <m:sSup>
                          <m:sSupPr>
                            <m:ctrlPr>
                              <a:rPr lang="en-US" sz="3600" b="0" i="1" smtClean="0">
                                <a:latin typeface="Cambria Math" panose="02040503050406030204" pitchFamily="18" charset="0"/>
                              </a:rPr>
                            </m:ctrlPr>
                          </m:sSupPr>
                          <m:e>
                            <m:d>
                              <m:dPr>
                                <m:ctrlPr>
                                  <a:rPr lang="en-US" sz="3600" i="1" smtClean="0">
                                    <a:latin typeface="Cambria Math" panose="02040503050406030204" pitchFamily="18" charset="0"/>
                                  </a:rPr>
                                </m:ctrlPr>
                              </m:dPr>
                              <m:e>
                                <m:func>
                                  <m:funcPr>
                                    <m:ctrlPr>
                                      <a:rPr lang="en-US" sz="3600" i="1">
                                        <a:latin typeface="Cambria Math" panose="02040503050406030204" pitchFamily="18" charset="0"/>
                                      </a:rPr>
                                    </m:ctrlPr>
                                  </m:funcPr>
                                  <m:fName>
                                    <m:r>
                                      <m:rPr>
                                        <m:sty m:val="p"/>
                                      </m:rPr>
                                      <a:rPr lang="en-US" sz="3600">
                                        <a:latin typeface="Cambria Math" panose="02040503050406030204" pitchFamily="18" charset="0"/>
                                      </a:rPr>
                                      <m:t>log</m:t>
                                    </m:r>
                                  </m:fName>
                                  <m:e>
                                    <m:sSub>
                                      <m:sSubPr>
                                        <m:ctrlPr>
                                          <a:rPr lang="en-US" sz="3600" i="1">
                                            <a:latin typeface="Cambria Math" panose="02040503050406030204" pitchFamily="18" charset="0"/>
                                          </a:rPr>
                                        </m:ctrlPr>
                                      </m:sSubPr>
                                      <m:e>
                                        <m:r>
                                          <a:rPr lang="en-US" sz="3600" i="1">
                                            <a:latin typeface="Cambria Math" panose="02040503050406030204" pitchFamily="18" charset="0"/>
                                          </a:rPr>
                                          <m:t>𝑁</m:t>
                                        </m:r>
                                      </m:e>
                                      <m:sub>
                                        <m:r>
                                          <a:rPr lang="en-US" sz="3600" i="1">
                                            <a:latin typeface="Cambria Math" panose="02040503050406030204" pitchFamily="18" charset="0"/>
                                          </a:rPr>
                                          <m:t>𝑖𝑗</m:t>
                                        </m:r>
                                      </m:sub>
                                    </m:sSub>
                                  </m:e>
                                </m:func>
                                <m:r>
                                  <a:rPr lang="en-US" sz="3600" b="0" i="1" smtClean="0">
                                    <a:latin typeface="Cambria Math" panose="02040503050406030204" pitchFamily="18" charset="0"/>
                                  </a:rPr>
                                  <m:t>−</m:t>
                                </m:r>
                                <m:sSub>
                                  <m:sSubPr>
                                    <m:ctrlPr>
                                      <a:rPr lang="en-US" sz="3600" i="1">
                                        <a:latin typeface="Cambria Math" panose="02040503050406030204" pitchFamily="18" charset="0"/>
                                      </a:rPr>
                                    </m:ctrlPr>
                                  </m:sSubPr>
                                  <m:e>
                                    <m:r>
                                      <a:rPr lang="en-US" sz="3600" b="1" i="1">
                                        <a:latin typeface="Cambria Math" panose="02040503050406030204" pitchFamily="18" charset="0"/>
                                      </a:rPr>
                                      <m:t>𝒖</m:t>
                                    </m:r>
                                  </m:e>
                                  <m:sub>
                                    <m:r>
                                      <a:rPr lang="en-US" sz="3600" i="1">
                                        <a:latin typeface="Cambria Math" panose="02040503050406030204" pitchFamily="18" charset="0"/>
                                      </a:rPr>
                                      <m:t>𝑖</m:t>
                                    </m:r>
                                  </m:sub>
                                </m:sSub>
                                <m:r>
                                  <a:rPr lang="en-US" sz="3600" i="1">
                                    <a:latin typeface="Cambria Math" panose="02040503050406030204" pitchFamily="18" charset="0"/>
                                  </a:rPr>
                                  <m:t>⋅</m:t>
                                </m:r>
                                <m:sSub>
                                  <m:sSubPr>
                                    <m:ctrlPr>
                                      <a:rPr lang="en-US" sz="3600" i="1">
                                        <a:latin typeface="Cambria Math" panose="02040503050406030204" pitchFamily="18" charset="0"/>
                                      </a:rPr>
                                    </m:ctrlPr>
                                  </m:sSubPr>
                                  <m:e>
                                    <m:r>
                                      <a:rPr lang="en-US" sz="3600" b="1" i="1">
                                        <a:latin typeface="Cambria Math" panose="02040503050406030204" pitchFamily="18" charset="0"/>
                                      </a:rPr>
                                      <m:t>𝒗</m:t>
                                    </m:r>
                                  </m:e>
                                  <m:sub>
                                    <m:r>
                                      <a:rPr lang="en-US" sz="3600" i="1">
                                        <a:latin typeface="Cambria Math" panose="02040503050406030204" pitchFamily="18" charset="0"/>
                                      </a:rPr>
                                      <m:t>𝑗</m:t>
                                    </m:r>
                                  </m:sub>
                                </m:sSub>
                                <m:r>
                                  <a:rPr lang="en-US" sz="3600" b="0" i="1" smtClean="0">
                                    <a:latin typeface="Cambria Math" panose="02040503050406030204" pitchFamily="18" charset="0"/>
                                  </a:rPr>
                                  <m:t>−</m:t>
                                </m:r>
                                <m:sSub>
                                  <m:sSubPr>
                                    <m:ctrlPr>
                                      <a:rPr lang="en-US" sz="3600" i="1">
                                        <a:latin typeface="Cambria Math" panose="02040503050406030204" pitchFamily="18" charset="0"/>
                                      </a:rPr>
                                    </m:ctrlPr>
                                  </m:sSubPr>
                                  <m:e>
                                    <m:r>
                                      <a:rPr lang="en-US" sz="3600" i="1">
                                        <a:latin typeface="Cambria Math" panose="02040503050406030204" pitchFamily="18" charset="0"/>
                                      </a:rPr>
                                      <m:t>𝑏</m:t>
                                    </m:r>
                                  </m:e>
                                  <m:sub>
                                    <m:r>
                                      <a:rPr lang="en-US" sz="3600" i="1">
                                        <a:latin typeface="Cambria Math" panose="02040503050406030204" pitchFamily="18" charset="0"/>
                                      </a:rPr>
                                      <m:t>𝑖</m:t>
                                    </m:r>
                                  </m:sub>
                                </m:sSub>
                                <m:r>
                                  <a:rPr lang="en-US" sz="3600" b="0" i="1" smtClean="0">
                                    <a:latin typeface="Cambria Math" panose="02040503050406030204" pitchFamily="18" charset="0"/>
                                  </a:rPr>
                                  <m:t>−</m:t>
                                </m:r>
                                <m:sSub>
                                  <m:sSubPr>
                                    <m:ctrlPr>
                                      <a:rPr lang="en-US" sz="3600" i="1">
                                        <a:latin typeface="Cambria Math" panose="02040503050406030204" pitchFamily="18" charset="0"/>
                                      </a:rPr>
                                    </m:ctrlPr>
                                  </m:sSubPr>
                                  <m:e>
                                    <m:r>
                                      <a:rPr lang="en-US" sz="3600" i="1">
                                        <a:latin typeface="Cambria Math" panose="02040503050406030204" pitchFamily="18" charset="0"/>
                                      </a:rPr>
                                      <m:t>𝑏</m:t>
                                    </m:r>
                                  </m:e>
                                  <m:sub>
                                    <m:r>
                                      <a:rPr lang="en-US" sz="3600" i="1">
                                        <a:latin typeface="Cambria Math" panose="02040503050406030204" pitchFamily="18" charset="0"/>
                                      </a:rPr>
                                      <m:t>𝑗</m:t>
                                    </m:r>
                                  </m:sub>
                                </m:sSub>
                              </m:e>
                            </m:d>
                          </m:e>
                          <m:sup>
                            <m:r>
                              <a:rPr lang="en-US" sz="3600" b="0" i="1" smtClean="0">
                                <a:latin typeface="Cambria Math" panose="02040503050406030204" pitchFamily="18" charset="0"/>
                              </a:rPr>
                              <m:t>2</m:t>
                            </m:r>
                          </m:sup>
                        </m:sSup>
                      </m:e>
                    </m:nary>
                  </m:oMath>
                </a14:m>
                <a:endParaRPr lang="en-US" sz="3600"/>
              </a:p>
              <a:p>
                <a:pPr lvl="1">
                  <a:lnSpc>
                    <a:spcPct val="100000"/>
                  </a:lnSpc>
                </a:pPr>
                <a:r>
                  <a:rPr lang="en-US" sz="3200"/>
                  <a:t>Which we minimize </a:t>
                </a:r>
                <a:r>
                  <a:rPr lang="en-US" sz="3200" err="1"/>
                  <a:t>wrt</a:t>
                </a:r>
                <a:r>
                  <a:rPr lang="en-US" sz="3200"/>
                  <a:t> </a:t>
                </a:r>
                <a14:m>
                  <m:oMath xmlns:m="http://schemas.openxmlformats.org/officeDocument/2006/math">
                    <m:r>
                      <a:rPr lang="en-US" sz="3200" b="1" i="1" smtClean="0">
                        <a:latin typeface="Cambria Math" panose="02040503050406030204" pitchFamily="18" charset="0"/>
                      </a:rPr>
                      <m:t>𝑼</m:t>
                    </m:r>
                    <m:r>
                      <a:rPr lang="en-US" sz="3200" b="0" i="1" smtClean="0">
                        <a:latin typeface="Cambria Math" panose="02040503050406030204" pitchFamily="18" charset="0"/>
                      </a:rPr>
                      <m:t>,</m:t>
                    </m:r>
                    <m:r>
                      <a:rPr lang="en-US" sz="3200" b="1" i="1" smtClean="0">
                        <a:latin typeface="Cambria Math" panose="02040503050406030204" pitchFamily="18" charset="0"/>
                      </a:rPr>
                      <m:t>𝑽</m:t>
                    </m:r>
                    <m:r>
                      <a:rPr lang="en-US" sz="3200" b="0" i="1" smtClean="0">
                        <a:latin typeface="Cambria Math" panose="02040503050406030204" pitchFamily="18" charset="0"/>
                      </a:rPr>
                      <m:t>,</m:t>
                    </m:r>
                    <m:r>
                      <a:rPr lang="en-US" sz="3200" b="1" i="1" smtClean="0">
                        <a:latin typeface="Cambria Math" panose="02040503050406030204" pitchFamily="18" charset="0"/>
                      </a:rPr>
                      <m:t>𝒃</m:t>
                    </m:r>
                  </m:oMath>
                </a14:m>
                <a:endParaRPr lang="en-US" sz="3200" b="1"/>
              </a:p>
              <a:p>
                <a:pPr>
                  <a:lnSpc>
                    <a:spcPct val="100000"/>
                  </a:lnSpc>
                </a:pPr>
                <a:r>
                  <a:rPr lang="en-US" sz="3600"/>
                  <a:t>What if </a:t>
                </a:r>
                <a14:m>
                  <m:oMath xmlns:m="http://schemas.openxmlformats.org/officeDocument/2006/math">
                    <m:sSub>
                      <m:sSubPr>
                        <m:ctrlPr>
                          <a:rPr lang="en-US" sz="3600" i="1">
                            <a:latin typeface="Cambria Math" panose="02040503050406030204" pitchFamily="18" charset="0"/>
                          </a:rPr>
                        </m:ctrlPr>
                      </m:sSubPr>
                      <m:e>
                        <m:r>
                          <a:rPr lang="en-US" sz="3600" i="1">
                            <a:latin typeface="Cambria Math" panose="02040503050406030204" pitchFamily="18" charset="0"/>
                          </a:rPr>
                          <m:t>𝑁</m:t>
                        </m:r>
                      </m:e>
                      <m:sub>
                        <m:r>
                          <a:rPr lang="en-US" sz="3600" i="1">
                            <a:latin typeface="Cambria Math" panose="02040503050406030204" pitchFamily="18" charset="0"/>
                          </a:rPr>
                          <m:t>𝑖𝑗</m:t>
                        </m:r>
                      </m:sub>
                    </m:sSub>
                    <m:r>
                      <a:rPr lang="en-US" sz="3600" i="1">
                        <a:latin typeface="Cambria Math" panose="02040503050406030204" pitchFamily="18" charset="0"/>
                      </a:rPr>
                      <m:t>=0</m:t>
                    </m:r>
                  </m:oMath>
                </a14:m>
                <a:r>
                  <a:rPr lang="en-US" sz="3600"/>
                  <a:t>? Majority of cases; log will diverge</a:t>
                </a:r>
              </a:p>
              <a:p>
                <a:pPr lvl="1">
                  <a:lnSpc>
                    <a:spcPct val="100000"/>
                  </a:lnSpc>
                </a:pPr>
                <a:r>
                  <a:rPr lang="en-US" sz="3200"/>
                  <a:t>Train </a:t>
                </a:r>
                <a14:m>
                  <m:oMath xmlns:m="http://schemas.openxmlformats.org/officeDocument/2006/math">
                    <m:sSub>
                      <m:sSubPr>
                        <m:ctrlPr>
                          <a:rPr lang="en-US" sz="3200" i="1">
                            <a:latin typeface="Cambria Math" panose="02040503050406030204" pitchFamily="18" charset="0"/>
                          </a:rPr>
                        </m:ctrlPr>
                      </m:sSubPr>
                      <m:e>
                        <m:r>
                          <a:rPr lang="en-US" sz="3200" b="1" i="1">
                            <a:latin typeface="Cambria Math" panose="02040503050406030204" pitchFamily="18" charset="0"/>
                          </a:rPr>
                          <m:t>𝒖</m:t>
                        </m:r>
                      </m:e>
                      <m:sub>
                        <m:r>
                          <a:rPr lang="en-US" sz="3200" i="1">
                            <a:latin typeface="Cambria Math" panose="02040503050406030204" pitchFamily="18" charset="0"/>
                          </a:rPr>
                          <m:t>𝑖</m:t>
                        </m:r>
                      </m:sub>
                    </m:sSub>
                    <m:r>
                      <a:rPr lang="en-US" sz="3200" i="1">
                        <a:latin typeface="Cambria Math" panose="02040503050406030204" pitchFamily="18" charset="0"/>
                      </a:rPr>
                      <m:t>⋅</m:t>
                    </m:r>
                    <m:sSub>
                      <m:sSubPr>
                        <m:ctrlPr>
                          <a:rPr lang="en-US" sz="3200" i="1">
                            <a:latin typeface="Cambria Math" panose="02040503050406030204" pitchFamily="18" charset="0"/>
                          </a:rPr>
                        </m:ctrlPr>
                      </m:sSubPr>
                      <m:e>
                        <m:r>
                          <a:rPr lang="en-US" sz="3200" b="1" i="1">
                            <a:latin typeface="Cambria Math" panose="02040503050406030204" pitchFamily="18" charset="0"/>
                          </a:rPr>
                          <m:t>𝒗</m:t>
                        </m:r>
                      </m:e>
                      <m:sub>
                        <m:r>
                          <a:rPr lang="en-US" sz="3200" i="1">
                            <a:latin typeface="Cambria Math" panose="02040503050406030204" pitchFamily="18" charset="0"/>
                          </a:rPr>
                          <m:t>𝑗</m:t>
                        </m:r>
                      </m:sub>
                    </m:sSub>
                  </m:oMath>
                </a14:m>
                <a:r>
                  <a:rPr lang="en-US" sz="3200"/>
                  <a:t> to be very negative? Mild padding? CE instead of square loss?</a:t>
                </a:r>
              </a:p>
              <a:p>
                <a:pPr>
                  <a:lnSpc>
                    <a:spcPct val="100000"/>
                  </a:lnSpc>
                </a:pPr>
                <a:r>
                  <a:rPr lang="en-US" sz="3600"/>
                  <a:t>Use a damping function </a:t>
                </a:r>
                <a14:m>
                  <m:oMath xmlns:m="http://schemas.openxmlformats.org/officeDocument/2006/math">
                    <m:r>
                      <a:rPr lang="en-US" sz="3600" i="1" dirty="0" smtClean="0">
                        <a:latin typeface="Cambria Math" panose="02040503050406030204" pitchFamily="18" charset="0"/>
                      </a:rPr>
                      <m:t>𝑓</m:t>
                    </m:r>
                  </m:oMath>
                </a14:m>
                <a:r>
                  <a:rPr lang="en-US" sz="3600"/>
                  <a:t> to give the final proposal</a:t>
                </a:r>
                <a:br>
                  <a:rPr lang="en-US" sz="3600"/>
                </a:br>
                <a14:m>
                  <m:oMath xmlns:m="http://schemas.openxmlformats.org/officeDocument/2006/math">
                    <m:nary>
                      <m:naryPr>
                        <m:chr m:val="∑"/>
                        <m:supHide m:val="on"/>
                        <m:ctrlPr>
                          <a:rPr lang="en-US" sz="3600" i="1">
                            <a:latin typeface="Cambria Math" panose="02040503050406030204" pitchFamily="18" charset="0"/>
                          </a:rPr>
                        </m:ctrlPr>
                      </m:naryPr>
                      <m:sub>
                        <m:r>
                          <m:rPr>
                            <m:brk m:alnAt="7"/>
                          </m:rPr>
                          <a:rPr lang="en-US" sz="3600" i="1">
                            <a:latin typeface="Cambria Math" panose="02040503050406030204" pitchFamily="18" charset="0"/>
                          </a:rPr>
                          <m:t>𝑖</m:t>
                        </m:r>
                        <m:r>
                          <a:rPr lang="en-US" sz="3600" i="1">
                            <a:latin typeface="Cambria Math" panose="02040503050406030204" pitchFamily="18" charset="0"/>
                          </a:rPr>
                          <m:t>,</m:t>
                        </m:r>
                        <m:r>
                          <a:rPr lang="en-US" sz="3600" i="1">
                            <a:latin typeface="Cambria Math" panose="02040503050406030204" pitchFamily="18" charset="0"/>
                          </a:rPr>
                          <m:t>𝑗</m:t>
                        </m:r>
                        <m:r>
                          <a:rPr lang="en-US" sz="3600" i="1">
                            <a:latin typeface="Cambria Math" panose="02040503050406030204" pitchFamily="18" charset="0"/>
                          </a:rPr>
                          <m:t>∈[</m:t>
                        </m:r>
                        <m:r>
                          <a:rPr lang="en-US" sz="3600" i="1">
                            <a:latin typeface="Cambria Math" panose="02040503050406030204" pitchFamily="18" charset="0"/>
                          </a:rPr>
                          <m:t>𝑊</m:t>
                        </m:r>
                        <m:r>
                          <a:rPr lang="en-US" sz="3600" i="1">
                            <a:latin typeface="Cambria Math" panose="02040503050406030204" pitchFamily="18" charset="0"/>
                          </a:rPr>
                          <m:t>]</m:t>
                        </m:r>
                      </m:sub>
                      <m:sup/>
                      <m:e>
                        <m:r>
                          <a:rPr lang="en-US" sz="3600" b="0" i="1" smtClean="0">
                            <a:effectLst>
                              <a:glow rad="228600">
                                <a:schemeClr val="accent5">
                                  <a:satMod val="175000"/>
                                  <a:alpha val="40000"/>
                                </a:schemeClr>
                              </a:glow>
                            </a:effectLst>
                            <a:latin typeface="Cambria Math" panose="02040503050406030204" pitchFamily="18" charset="0"/>
                          </a:rPr>
                          <m:t>𝑓</m:t>
                        </m:r>
                        <m:d>
                          <m:dPr>
                            <m:ctrlPr>
                              <a:rPr lang="en-US" sz="3600" b="0" i="1" smtClean="0">
                                <a:effectLst>
                                  <a:glow rad="228600">
                                    <a:schemeClr val="accent5">
                                      <a:satMod val="175000"/>
                                      <a:alpha val="40000"/>
                                    </a:schemeClr>
                                  </a:glow>
                                </a:effectLst>
                                <a:latin typeface="Cambria Math" panose="02040503050406030204" pitchFamily="18" charset="0"/>
                              </a:rPr>
                            </m:ctrlPr>
                          </m:dPr>
                          <m:e>
                            <m:sSub>
                              <m:sSubPr>
                                <m:ctrlPr>
                                  <a:rPr lang="en-US" sz="3600" b="0" i="1" smtClean="0">
                                    <a:effectLst>
                                      <a:glow rad="228600">
                                        <a:schemeClr val="accent5">
                                          <a:satMod val="175000"/>
                                          <a:alpha val="40000"/>
                                        </a:schemeClr>
                                      </a:glow>
                                    </a:effectLst>
                                    <a:latin typeface="Cambria Math" panose="02040503050406030204" pitchFamily="18" charset="0"/>
                                  </a:rPr>
                                </m:ctrlPr>
                              </m:sSubPr>
                              <m:e>
                                <m:r>
                                  <a:rPr lang="en-US" sz="3600" b="0" i="1" smtClean="0">
                                    <a:effectLst>
                                      <a:glow rad="228600">
                                        <a:schemeClr val="accent5">
                                          <a:satMod val="175000"/>
                                          <a:alpha val="40000"/>
                                        </a:schemeClr>
                                      </a:glow>
                                    </a:effectLst>
                                    <a:latin typeface="Cambria Math" panose="02040503050406030204" pitchFamily="18" charset="0"/>
                                  </a:rPr>
                                  <m:t>𝑁</m:t>
                                </m:r>
                              </m:e>
                              <m:sub>
                                <m:r>
                                  <a:rPr lang="en-US" sz="3600" b="0" i="1" smtClean="0">
                                    <a:effectLst>
                                      <a:glow rad="228600">
                                        <a:schemeClr val="accent5">
                                          <a:satMod val="175000"/>
                                          <a:alpha val="40000"/>
                                        </a:schemeClr>
                                      </a:glow>
                                    </a:effectLst>
                                    <a:latin typeface="Cambria Math" panose="02040503050406030204" pitchFamily="18" charset="0"/>
                                  </a:rPr>
                                  <m:t>𝑖𝑗</m:t>
                                </m:r>
                              </m:sub>
                            </m:sSub>
                          </m:e>
                        </m:d>
                        <m:r>
                          <a:rPr lang="en-US" sz="3600" b="0" i="1" smtClean="0">
                            <a:effectLst>
                              <a:glow rad="228600">
                                <a:schemeClr val="accent5">
                                  <a:satMod val="175000"/>
                                  <a:alpha val="40000"/>
                                </a:schemeClr>
                              </a:glow>
                            </a:effectLst>
                            <a:latin typeface="Cambria Math" panose="02040503050406030204" pitchFamily="18" charset="0"/>
                          </a:rPr>
                          <m:t> </m:t>
                        </m:r>
                        <m:sSup>
                          <m:sSupPr>
                            <m:ctrlPr>
                              <a:rPr lang="en-US" sz="3600" i="1">
                                <a:latin typeface="Cambria Math" panose="02040503050406030204" pitchFamily="18" charset="0"/>
                              </a:rPr>
                            </m:ctrlPr>
                          </m:sSupPr>
                          <m:e>
                            <m:d>
                              <m:dPr>
                                <m:ctrlPr>
                                  <a:rPr lang="en-US" sz="3600" i="1">
                                    <a:latin typeface="Cambria Math" panose="02040503050406030204" pitchFamily="18" charset="0"/>
                                  </a:rPr>
                                </m:ctrlPr>
                              </m:dPr>
                              <m:e>
                                <m:func>
                                  <m:funcPr>
                                    <m:ctrlPr>
                                      <a:rPr lang="en-US" sz="3600" i="1">
                                        <a:latin typeface="Cambria Math" panose="02040503050406030204" pitchFamily="18" charset="0"/>
                                      </a:rPr>
                                    </m:ctrlPr>
                                  </m:funcPr>
                                  <m:fName>
                                    <m:r>
                                      <m:rPr>
                                        <m:sty m:val="p"/>
                                      </m:rPr>
                                      <a:rPr lang="en-US" sz="3600">
                                        <a:latin typeface="Cambria Math" panose="02040503050406030204" pitchFamily="18" charset="0"/>
                                      </a:rPr>
                                      <m:t>log</m:t>
                                    </m:r>
                                  </m:fName>
                                  <m:e>
                                    <m:sSub>
                                      <m:sSubPr>
                                        <m:ctrlPr>
                                          <a:rPr lang="en-US" sz="3600" i="1">
                                            <a:latin typeface="Cambria Math" panose="02040503050406030204" pitchFamily="18" charset="0"/>
                                          </a:rPr>
                                        </m:ctrlPr>
                                      </m:sSubPr>
                                      <m:e>
                                        <m:r>
                                          <a:rPr lang="en-US" sz="3600" i="1">
                                            <a:latin typeface="Cambria Math" panose="02040503050406030204" pitchFamily="18" charset="0"/>
                                          </a:rPr>
                                          <m:t>𝑁</m:t>
                                        </m:r>
                                      </m:e>
                                      <m:sub>
                                        <m:r>
                                          <a:rPr lang="en-US" sz="3600" i="1">
                                            <a:latin typeface="Cambria Math" panose="02040503050406030204" pitchFamily="18" charset="0"/>
                                          </a:rPr>
                                          <m:t>𝑖𝑗</m:t>
                                        </m:r>
                                      </m:sub>
                                    </m:sSub>
                                  </m:e>
                                </m:func>
                                <m:r>
                                  <a:rPr lang="en-US" sz="3600" i="1">
                                    <a:latin typeface="Cambria Math" panose="02040503050406030204" pitchFamily="18" charset="0"/>
                                  </a:rPr>
                                  <m:t>−</m:t>
                                </m:r>
                                <m:sSub>
                                  <m:sSubPr>
                                    <m:ctrlPr>
                                      <a:rPr lang="en-US" sz="3600" i="1">
                                        <a:latin typeface="Cambria Math" panose="02040503050406030204" pitchFamily="18" charset="0"/>
                                      </a:rPr>
                                    </m:ctrlPr>
                                  </m:sSubPr>
                                  <m:e>
                                    <m:r>
                                      <a:rPr lang="en-US" sz="3600" b="1" i="1">
                                        <a:latin typeface="Cambria Math" panose="02040503050406030204" pitchFamily="18" charset="0"/>
                                      </a:rPr>
                                      <m:t>𝒖</m:t>
                                    </m:r>
                                  </m:e>
                                  <m:sub>
                                    <m:r>
                                      <a:rPr lang="en-US" sz="3600" i="1">
                                        <a:latin typeface="Cambria Math" panose="02040503050406030204" pitchFamily="18" charset="0"/>
                                      </a:rPr>
                                      <m:t>𝑖</m:t>
                                    </m:r>
                                  </m:sub>
                                </m:sSub>
                                <m:r>
                                  <a:rPr lang="en-US" sz="3600" i="1">
                                    <a:latin typeface="Cambria Math" panose="02040503050406030204" pitchFamily="18" charset="0"/>
                                  </a:rPr>
                                  <m:t>⋅</m:t>
                                </m:r>
                                <m:sSub>
                                  <m:sSubPr>
                                    <m:ctrlPr>
                                      <a:rPr lang="en-US" sz="3600" i="1">
                                        <a:latin typeface="Cambria Math" panose="02040503050406030204" pitchFamily="18" charset="0"/>
                                      </a:rPr>
                                    </m:ctrlPr>
                                  </m:sSubPr>
                                  <m:e>
                                    <m:r>
                                      <a:rPr lang="en-US" sz="3600" b="1" i="1">
                                        <a:latin typeface="Cambria Math" panose="02040503050406030204" pitchFamily="18" charset="0"/>
                                      </a:rPr>
                                      <m:t>𝒗</m:t>
                                    </m:r>
                                  </m:e>
                                  <m:sub>
                                    <m:r>
                                      <a:rPr lang="en-US" sz="3600" i="1">
                                        <a:latin typeface="Cambria Math" panose="02040503050406030204" pitchFamily="18" charset="0"/>
                                      </a:rPr>
                                      <m:t>𝑗</m:t>
                                    </m:r>
                                  </m:sub>
                                </m:sSub>
                                <m:r>
                                  <a:rPr lang="en-US" sz="3600" i="1">
                                    <a:latin typeface="Cambria Math" panose="02040503050406030204" pitchFamily="18" charset="0"/>
                                  </a:rPr>
                                  <m:t>−</m:t>
                                </m:r>
                                <m:sSub>
                                  <m:sSubPr>
                                    <m:ctrlPr>
                                      <a:rPr lang="en-US" sz="3600" i="1">
                                        <a:latin typeface="Cambria Math" panose="02040503050406030204" pitchFamily="18" charset="0"/>
                                      </a:rPr>
                                    </m:ctrlPr>
                                  </m:sSubPr>
                                  <m:e>
                                    <m:r>
                                      <a:rPr lang="en-US" sz="3600" i="1">
                                        <a:latin typeface="Cambria Math" panose="02040503050406030204" pitchFamily="18" charset="0"/>
                                      </a:rPr>
                                      <m:t>𝑏</m:t>
                                    </m:r>
                                  </m:e>
                                  <m:sub>
                                    <m:r>
                                      <a:rPr lang="en-US" sz="3600" i="1">
                                        <a:latin typeface="Cambria Math" panose="02040503050406030204" pitchFamily="18" charset="0"/>
                                      </a:rPr>
                                      <m:t>𝑖</m:t>
                                    </m:r>
                                  </m:sub>
                                </m:sSub>
                                <m:r>
                                  <a:rPr lang="en-US" sz="3600" i="1">
                                    <a:latin typeface="Cambria Math" panose="02040503050406030204" pitchFamily="18" charset="0"/>
                                  </a:rPr>
                                  <m:t>−</m:t>
                                </m:r>
                                <m:sSub>
                                  <m:sSubPr>
                                    <m:ctrlPr>
                                      <a:rPr lang="en-US" sz="3600" i="1">
                                        <a:latin typeface="Cambria Math" panose="02040503050406030204" pitchFamily="18" charset="0"/>
                                      </a:rPr>
                                    </m:ctrlPr>
                                  </m:sSubPr>
                                  <m:e>
                                    <m:r>
                                      <a:rPr lang="en-US" sz="3600" i="1">
                                        <a:latin typeface="Cambria Math" panose="02040503050406030204" pitchFamily="18" charset="0"/>
                                      </a:rPr>
                                      <m:t>𝑏</m:t>
                                    </m:r>
                                  </m:e>
                                  <m:sub>
                                    <m:r>
                                      <a:rPr lang="en-US" sz="3600" i="1">
                                        <a:latin typeface="Cambria Math" panose="02040503050406030204" pitchFamily="18" charset="0"/>
                                      </a:rPr>
                                      <m:t>𝑗</m:t>
                                    </m:r>
                                  </m:sub>
                                </m:sSub>
                              </m:e>
                            </m:d>
                          </m:e>
                          <m:sup>
                            <m:r>
                              <a:rPr lang="en-US" sz="3600" i="1">
                                <a:latin typeface="Cambria Math" panose="02040503050406030204" pitchFamily="18" charset="0"/>
                              </a:rPr>
                              <m:t>2</m:t>
                            </m:r>
                          </m:sup>
                        </m:sSup>
                      </m:e>
                    </m:nary>
                  </m:oMath>
                </a14:m>
                <a:endParaRPr lang="en-US" sz="3600"/>
              </a:p>
              <a:p>
                <a:pPr>
                  <a:lnSpc>
                    <a:spcPct val="100000"/>
                  </a:lnSpc>
                </a:pPr>
                <a:r>
                  <a:rPr lang="en-US" sz="3600"/>
                  <a:t>All details in </a:t>
                </a:r>
                <a:r>
                  <a:rPr lang="en-US" sz="3600">
                    <a:hlinkClick r:id="rId2"/>
                  </a:rPr>
                  <a:t>the </a:t>
                </a:r>
                <a:r>
                  <a:rPr lang="en-US" sz="3600" err="1">
                    <a:hlinkClick r:id="rId2"/>
                  </a:rPr>
                  <a:t>GloVe</a:t>
                </a:r>
                <a:r>
                  <a:rPr lang="en-US" sz="3600">
                    <a:hlinkClick r:id="rId2"/>
                  </a:rPr>
                  <a:t> paper</a:t>
                </a:r>
              </a:p>
            </p:txBody>
          </p:sp>
        </mc:Choice>
        <mc:Fallback xmlns="">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en-US" altLang="en-US">
                    <a:noFill/>
                  </a:rPr>
                  <a:t> </a:t>
                </a:r>
              </a:p>
            </p:txBody>
          </p:sp>
        </mc:Fallback>
      </mc:AlternateContent>
      <p:sp>
        <p:nvSpPr>
          <p:cNvPr id="4" name="Rounded Rectangle 3"/>
          <p:cNvSpPr/>
          <p:nvPr/>
        </p:nvSpPr>
        <p:spPr>
          <a:xfrm>
            <a:off x="9473565" y="1156970"/>
            <a:ext cx="2647315" cy="125285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t>Also happens in collaborative recommendation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Word vector evaluation (two forms)</a:t>
            </a:r>
            <a:endParaRPr lang="en-IN"/>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p:txBody>
              <a:bodyPr/>
              <a:lstStyle/>
              <a:p>
                <a:r>
                  <a:rPr lang="en-US"/>
                  <a:t>“Unsupervised” evaluation</a:t>
                </a:r>
              </a:p>
              <a:p>
                <a:pPr lvl="1"/>
                <a:r>
                  <a:rPr lang="en-IN"/>
                  <a:t>CBOW, similar to “masked language model”</a:t>
                </a:r>
              </a:p>
              <a:p>
                <a:pPr lvl="1"/>
                <a:r>
                  <a:rPr lang="en-IN"/>
                  <a:t>Hide a word in text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solidFill>
                              <a:schemeClr val="tx1"/>
                            </a:solidFill>
                            <a:effectLst>
                              <a:glow rad="228600">
                                <a:schemeClr val="accent2">
                                  <a:satMod val="175000"/>
                                  <a:alpha val="40000"/>
                                </a:schemeClr>
                              </a:glow>
                            </a:effectLst>
                            <a:latin typeface="Cambria Math" panose="02040503050406030204" pitchFamily="18" charset="0"/>
                          </a:rPr>
                        </m:ctrlPr>
                      </m:sSubPr>
                      <m:e>
                        <m:r>
                          <a:rPr lang="en-US" b="0" i="1" smtClean="0">
                            <a:solidFill>
                              <a:schemeClr val="tx1"/>
                            </a:solidFill>
                            <a:effectLst>
                              <a:glow rad="228600">
                                <a:schemeClr val="accent2">
                                  <a:satMod val="175000"/>
                                  <a:alpha val="40000"/>
                                </a:schemeClr>
                              </a:glow>
                            </a:effectLst>
                            <a:latin typeface="Cambria Math" panose="02040503050406030204" pitchFamily="18" charset="0"/>
                          </a:rPr>
                          <m:t>𝑥</m:t>
                        </m:r>
                      </m:e>
                      <m:sub>
                        <m:r>
                          <a:rPr lang="en-US" b="0" i="1" smtClean="0">
                            <a:solidFill>
                              <a:schemeClr val="tx1"/>
                            </a:solidFill>
                            <a:effectLst>
                              <a:glow rad="228600">
                                <a:schemeClr val="accent2">
                                  <a:satMod val="175000"/>
                                  <a:alpha val="40000"/>
                                </a:schemeClr>
                              </a:glow>
                            </a:effectLst>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𝑇</m:t>
                        </m:r>
                      </m:sub>
                    </m:sSub>
                  </m:oMath>
                </a14:m>
                <a:endParaRPr lang="en-IN"/>
              </a:p>
              <a:p>
                <a:pPr lvl="1"/>
                <a:r>
                  <a:rPr lang="en-IN"/>
                  <a:t>Find the score assigned by model to the gold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oMath>
                </a14:m>
                <a:endParaRPr lang="en-US" b="0" i="1">
                  <a:latin typeface="Cambria Math" panose="02040503050406030204" pitchFamily="18" charset="0"/>
                </a:endParaRPr>
              </a:p>
              <a:p>
                <a:pPr lvl="1"/>
                <a:r>
                  <a:rPr lang="en-US"/>
                  <a:t>Paved the way for later masked LM</a:t>
                </a:r>
                <a:endParaRPr lang="en-IN"/>
              </a:p>
              <a:p>
                <a:r>
                  <a:rPr lang="en-IN"/>
                  <a:t>Supervised evaluation in similarity and analogy tasks</a:t>
                </a:r>
              </a:p>
              <a:p>
                <a:pPr lvl="1"/>
                <a:r>
                  <a:rPr lang="en-IN">
                    <a:hlinkClick r:id="rId2"/>
                  </a:rPr>
                  <a:t>SimLex-999</a:t>
                </a:r>
                <a:r>
                  <a:rPr lang="en-US" altLang="en-IN">
                    <a:hlinkClick r:id="rId2"/>
                  </a:rPr>
                  <a:t> </a:t>
                </a:r>
                <a:r>
                  <a:rPr lang="en-IN">
                    <a:hlinkClick r:id="rId2"/>
                  </a:rPr>
                  <a:t>(</a:t>
                </a:r>
                <a:r>
                  <a:rPr lang="en-US" altLang="en-IN">
                    <a:hlinkClick r:id="rId2"/>
                  </a:rPr>
                  <a:t>s</a:t>
                </a:r>
                <a:r>
                  <a:rPr lang="en-IN">
                    <a:hlinkClick r:id="rId2"/>
                  </a:rPr>
                  <a:t>tate</a:t>
                </a:r>
                <a:r>
                  <a:rPr lang="en-US" altLang="en-IN">
                    <a:hlinkClick r:id="rId2"/>
                  </a:rPr>
                  <a:t> </a:t>
                </a:r>
                <a:r>
                  <a:rPr lang="en-IN">
                    <a:hlinkClick r:id="rId2"/>
                  </a:rPr>
                  <a:t>of</a:t>
                </a:r>
                <a:r>
                  <a:rPr lang="en-US" altLang="en-IN">
                    <a:hlinkClick r:id="rId2"/>
                  </a:rPr>
                  <a:t> </a:t>
                </a:r>
                <a:r>
                  <a:rPr lang="en-IN">
                    <a:hlinkClick r:id="rId2"/>
                  </a:rPr>
                  <a:t>the</a:t>
                </a:r>
                <a:r>
                  <a:rPr lang="en-US" altLang="en-IN">
                    <a:hlinkClick r:id="rId2"/>
                  </a:rPr>
                  <a:t> </a:t>
                </a:r>
                <a:r>
                  <a:rPr lang="en-IN">
                    <a:hlinkClick r:id="rId2"/>
                  </a:rPr>
                  <a:t>art)</a:t>
                </a:r>
                <a:r>
                  <a:rPr lang="en-IN"/>
                  <a:t> </a:t>
                </a:r>
              </a:p>
              <a:p>
                <a:pPr lvl="1"/>
                <a:r>
                  <a:rPr lang="en-IN">
                    <a:hlinkClick r:id="rId3"/>
                  </a:rPr>
                  <a:t>Analogy</a:t>
                </a:r>
                <a:r>
                  <a:rPr lang="en-US" altLang="en-IN">
                    <a:hlinkClick r:id="rId3"/>
                  </a:rPr>
                  <a:t> </a:t>
                </a:r>
                <a:r>
                  <a:rPr lang="en-IN">
                    <a:hlinkClick r:id="rId3"/>
                  </a:rPr>
                  <a:t>(</a:t>
                </a:r>
                <a:r>
                  <a:rPr lang="en-US" altLang="en-IN">
                    <a:hlinkClick r:id="rId3"/>
                  </a:rPr>
                  <a:t>s</a:t>
                </a:r>
                <a:r>
                  <a:rPr lang="en-IN">
                    <a:hlinkClick r:id="rId3"/>
                  </a:rPr>
                  <a:t>tate</a:t>
                </a:r>
                <a:r>
                  <a:rPr lang="en-US" altLang="en-IN">
                    <a:hlinkClick r:id="rId3"/>
                  </a:rPr>
                  <a:t> </a:t>
                </a:r>
                <a:r>
                  <a:rPr lang="en-IN">
                    <a:hlinkClick r:id="rId3"/>
                  </a:rPr>
                  <a:t>of</a:t>
                </a:r>
                <a:r>
                  <a:rPr lang="en-US" altLang="en-IN">
                    <a:hlinkClick r:id="rId3"/>
                  </a:rPr>
                  <a:t> </a:t>
                </a:r>
                <a:r>
                  <a:rPr lang="en-IN">
                    <a:hlinkClick r:id="rId3"/>
                  </a:rPr>
                  <a:t>the</a:t>
                </a:r>
                <a:r>
                  <a:rPr lang="en-US" altLang="en-IN">
                    <a:hlinkClick r:id="rId3"/>
                  </a:rPr>
                  <a:t> </a:t>
                </a:r>
                <a:r>
                  <a:rPr lang="en-IN">
                    <a:hlinkClick r:id="rId3"/>
                  </a:rPr>
                  <a:t>art)</a:t>
                </a:r>
                <a:endParaRPr lang="en-IN"/>
              </a:p>
            </p:txBody>
          </p:sp>
        </mc:Choice>
        <mc:Fallback xmlns="">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4"/>
                <a:stretch>
                  <a:fillRect/>
                </a:stretch>
              </a:blipFill>
            </p:spPr>
            <p:txBody>
              <a:bodyPr/>
              <a:lstStyle/>
              <a:p>
                <a:r>
                  <a:rPr lang="en-US" altLang="en-US">
                    <a:noFill/>
                  </a:rPr>
                  <a:t> </a:t>
                </a:r>
              </a:p>
            </p:txBody>
          </p:sp>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Fixed-size passage vector</a:t>
            </a:r>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p:txBody>
              <a:bodyPr>
                <a:normAutofit fontScale="75000" lnSpcReduction="20000"/>
              </a:bodyPr>
              <a:lstStyle/>
              <a:p>
                <a:pPr>
                  <a:lnSpc>
                    <a:spcPct val="100000"/>
                  </a:lnSpc>
                </a:pPr>
                <a:r>
                  <a:rPr lang="en-US"/>
                  <a:t>Easiest to regard a passage representation as a </a:t>
                </a:r>
                <a:r>
                  <a:rPr lang="en-US">
                    <a:effectLst>
                      <a:glow rad="228600">
                        <a:schemeClr val="accent4">
                          <a:satMod val="175000"/>
                          <a:alpha val="40000"/>
                        </a:schemeClr>
                      </a:glow>
                    </a:effectLst>
                  </a:rPr>
                  <a:t>set</a:t>
                </a:r>
                <a:r>
                  <a:rPr lang="en-US"/>
                  <a:t> (of irregular size) of (word2vec or </a:t>
                </a:r>
                <a:r>
                  <a:rPr lang="en-US" err="1"/>
                  <a:t>GloVe</a:t>
                </a:r>
                <a:r>
                  <a:rPr lang="en-US"/>
                  <a:t>, say) word vectors</a:t>
                </a:r>
              </a:p>
              <a:p>
                <a:pPr lvl="1">
                  <a:lnSpc>
                    <a:spcPct val="100000"/>
                  </a:lnSpc>
                </a:pPr>
                <a:r>
                  <a:rPr lang="en-US"/>
                  <a:t>(Will address word order later)</a:t>
                </a:r>
              </a:p>
              <a:p>
                <a:pPr>
                  <a:lnSpc>
                    <a:spcPct val="100000"/>
                  </a:lnSpc>
                </a:pPr>
                <a:r>
                  <a:rPr lang="en-US"/>
                  <a:t>How to get a fixed-size representation of vector set </a:t>
                </a:r>
                <a14:m>
                  <m:oMath xmlns:m="http://schemas.openxmlformats.org/officeDocument/2006/math">
                    <m:r>
                      <a:rPr lang="en-US" b="0" i="1" smtClean="0">
                        <a:latin typeface="Cambria Math" panose="02040503050406030204" pitchFamily="18" charset="0"/>
                      </a:rPr>
                      <m:t>𝑋</m:t>
                    </m:r>
                    <m:r>
                      <a:rPr lang="en-US" b="0" i="0" smtClean="0">
                        <a:latin typeface="Cambria Math" panose="02040503050406030204" pitchFamily="18" charset="0"/>
                      </a:rPr>
                      <m:t>=</m:t>
                    </m:r>
                    <m:d>
                      <m:dPr>
                        <m:begChr m:val="{"/>
                        <m:endChr m:val="}"/>
                        <m:ctrlPr>
                          <a:rPr lang="en-US"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𝑁</m:t>
                            </m:r>
                          </m:sub>
                        </m:sSub>
                      </m:e>
                    </m:d>
                  </m:oMath>
                </a14:m>
                <a:r>
                  <a:rPr lang="en-US"/>
                  <a:t>?</a:t>
                </a:r>
              </a:p>
              <a:p>
                <a:pPr>
                  <a:lnSpc>
                    <a:spcPct val="100000"/>
                  </a:lnSpc>
                </a:pPr>
                <a:r>
                  <a:rPr lang="en-US">
                    <a:hlinkClick r:id="rId2"/>
                  </a:rPr>
                  <a:t>Deep sets</a:t>
                </a:r>
                <a:r>
                  <a:rPr lang="en-US"/>
                  <a:t> (symmetric aggregation aka pooling)</a:t>
                </a:r>
              </a:p>
              <a:p>
                <a:pPr lvl="1">
                  <a:lnSpc>
                    <a:spcPct val="100000"/>
                  </a:lnSpc>
                </a:pPr>
                <a14:m>
                  <m:oMath xmlns:m="http://schemas.openxmlformats.org/officeDocument/2006/math">
                    <m:r>
                      <m:rPr>
                        <m:nor/>
                      </m:rPr>
                      <a:rPr lang="en-US" b="0" i="0" smtClean="0">
                        <a:latin typeface="Cambria Math" panose="02040503050406030204" pitchFamily="18" charset="0"/>
                      </a:rPr>
                      <m:t>DeepSet</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d>
                    <m:r>
                      <a:rPr lang="en-US" b="0" i="1" smtClean="0">
                        <a:latin typeface="Cambria Math" panose="02040503050406030204" pitchFamily="18" charset="0"/>
                      </a:rPr>
                      <m:t>=</m:t>
                    </m:r>
                    <m:r>
                      <a:rPr lang="en-US" b="0" i="1" smtClean="0">
                        <a:latin typeface="Cambria Math" panose="02040503050406030204" pitchFamily="18" charset="0"/>
                      </a:rPr>
                      <m:t>𝜓</m:t>
                    </m:r>
                    <m:d>
                      <m:dPr>
                        <m:ctrlPr>
                          <a:rPr lang="en-US" b="0" i="1" smtClean="0">
                            <a:latin typeface="Cambria Math" panose="02040503050406030204" pitchFamily="18" charset="0"/>
                          </a:rPr>
                        </m:ctrlPr>
                      </m:dPr>
                      <m:e>
                        <m:nary>
                          <m:naryPr>
                            <m:chr m:val="∑"/>
                            <m:limLoc m:val="subSup"/>
                            <m:supHide m:val="on"/>
                            <m:ctrlPr>
                              <a:rPr lang="en-US" b="0" i="1" smtClean="0">
                                <a:latin typeface="Cambria Math" panose="02040503050406030204" pitchFamily="18" charset="0"/>
                              </a:rPr>
                            </m:ctrlPr>
                          </m:naryPr>
                          <m:sub>
                            <m:r>
                              <m:rPr>
                                <m:brk m:alnAt="9"/>
                              </m:rPr>
                              <a:rPr lang="en-US" b="0" i="1" smtClean="0">
                                <a:latin typeface="Cambria Math" panose="02040503050406030204" pitchFamily="18" charset="0"/>
                              </a:rPr>
                              <m:t>𝑛</m:t>
                            </m:r>
                          </m:sub>
                          <m:sup/>
                          <m:e>
                            <m:r>
                              <a:rPr lang="en-US" b="0" i="1" smtClean="0">
                                <a:latin typeface="Cambria Math" panose="02040503050406030204" pitchFamily="18" charset="0"/>
                              </a:rPr>
                              <m:t>𝜙</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𝑛</m:t>
                                </m:r>
                              </m:sub>
                            </m:sSub>
                            <m:r>
                              <a:rPr lang="en-US" b="0" i="1" smtClean="0">
                                <a:latin typeface="Cambria Math" panose="02040503050406030204" pitchFamily="18" charset="0"/>
                              </a:rPr>
                              <m:t>)</m:t>
                            </m:r>
                          </m:e>
                        </m:nary>
                      </m:e>
                    </m:d>
                  </m:oMath>
                </a14:m>
                <a:r>
                  <a:rPr lang="en-US"/>
                  <a:t>, “universal”</a:t>
                </a:r>
              </a:p>
              <a:p>
                <a:pPr lvl="1">
                  <a:lnSpc>
                    <a:spcPct val="100000"/>
                  </a:lnSpc>
                </a:pPr>
                <a:r>
                  <a:rPr lang="en-US"/>
                  <a:t>Clearly order of inputs </a:t>
                </a:r>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𝑛</m:t>
                        </m:r>
                      </m:sub>
                    </m:sSub>
                  </m:oMath>
                </a14:m>
                <a:r>
                  <a:rPr lang="en-US"/>
                  <a:t> is irrelevant by construction</a:t>
                </a:r>
              </a:p>
              <a:p>
                <a:pPr>
                  <a:lnSpc>
                    <a:spcPct val="100000"/>
                  </a:lnSpc>
                </a:pPr>
                <a:r>
                  <a:rPr lang="en-US">
                    <a:hlinkClick r:id="rId3"/>
                  </a:rPr>
                  <a:t>Set transformer</a:t>
                </a:r>
                <a:r>
                  <a:rPr lang="en-US"/>
                  <a:t> (direct all-pair interaction)</a:t>
                </a:r>
              </a:p>
              <a:p>
                <a:pPr>
                  <a:lnSpc>
                    <a:spcPct val="100000"/>
                  </a:lnSpc>
                </a:pPr>
                <a:r>
                  <a:rPr lang="en-US">
                    <a:hlinkClick r:id="rId4"/>
                  </a:rPr>
                  <a:t>1d convolutional network</a:t>
                </a:r>
                <a:r>
                  <a:rPr lang="en-US"/>
                  <a:t> (convnet)</a:t>
                </a:r>
              </a:p>
              <a:p>
                <a:pPr lvl="1">
                  <a:lnSpc>
                    <a:spcPct val="100000"/>
                  </a:lnSpc>
                </a:pPr>
                <a:r>
                  <a:rPr lang="en-US"/>
                  <a:t>Aggregation over sliding stencils, supports asymmetry to some extent</a:t>
                </a:r>
              </a:p>
              <a:p>
                <a:pPr>
                  <a:lnSpc>
                    <a:spcPct val="100000"/>
                  </a:lnSpc>
                </a:pPr>
                <a:r>
                  <a:rPr lang="en-US"/>
                  <a:t>RNNs and sequence transformers</a:t>
                </a:r>
              </a:p>
              <a:p>
                <a:pPr lvl="1">
                  <a:lnSpc>
                    <a:spcPct val="100000"/>
                  </a:lnSpc>
                </a:pPr>
                <a:r>
                  <a:rPr lang="en-US"/>
                  <a:t>Asymmetric (order-sensitive) aggregation </a:t>
                </a:r>
              </a:p>
            </p:txBody>
          </p:sp>
        </mc:Choice>
        <mc:Fallback xmlns="">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5"/>
                <a:stretch>
                  <a:fillRect t="-899"/>
                </a:stretch>
              </a:blipFill>
            </p:spPr>
            <p:txBody>
              <a:bodyPr/>
              <a:lstStyle/>
              <a:p>
                <a:r>
                  <a:rPr lang="en-US" altLang="en-US">
                    <a:noFill/>
                  </a:rPr>
                  <a:t> </a:t>
                </a:r>
              </a:p>
            </p:txBody>
          </p:sp>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sym typeface="+mn-ea"/>
                <a:hlinkClick r:id="rId2"/>
              </a:rPr>
              <a:t>1d convnet for text</a:t>
            </a:r>
            <a:endParaRPr lang="en-US"/>
          </a:p>
        </p:txBody>
      </p:sp>
      <p:graphicFrame>
        <p:nvGraphicFramePr>
          <p:cNvPr id="5" name="Table 4"/>
          <p:cNvGraphicFramePr/>
          <p:nvPr/>
        </p:nvGraphicFramePr>
        <p:xfrm>
          <a:off x="447040" y="1662430"/>
          <a:ext cx="4167505" cy="3295650"/>
        </p:xfrm>
        <a:graphic>
          <a:graphicData uri="http://schemas.openxmlformats.org/drawingml/2006/table">
            <a:tbl>
              <a:tblPr firstRow="1" bandRow="1">
                <a:tableStyleId>{5C22544A-7EE6-4342-B048-85BDC9FD1C3A}</a:tableStyleId>
              </a:tblPr>
              <a:tblGrid>
                <a:gridCol w="687070">
                  <a:extLst>
                    <a:ext uri="{9D8B030D-6E8A-4147-A177-3AD203B41FA5}">
                      <a16:colId xmlns:a16="http://schemas.microsoft.com/office/drawing/2014/main" val="20000"/>
                    </a:ext>
                  </a:extLst>
                </a:gridCol>
                <a:gridCol w="497205">
                  <a:extLst>
                    <a:ext uri="{9D8B030D-6E8A-4147-A177-3AD203B41FA5}">
                      <a16:colId xmlns:a16="http://schemas.microsoft.com/office/drawing/2014/main" val="20001"/>
                    </a:ext>
                  </a:extLst>
                </a:gridCol>
                <a:gridCol w="497206">
                  <a:extLst>
                    <a:ext uri="{9D8B030D-6E8A-4147-A177-3AD203B41FA5}">
                      <a16:colId xmlns:a16="http://schemas.microsoft.com/office/drawing/2014/main" val="20002"/>
                    </a:ext>
                  </a:extLst>
                </a:gridCol>
                <a:gridCol w="497204">
                  <a:extLst>
                    <a:ext uri="{9D8B030D-6E8A-4147-A177-3AD203B41FA5}">
                      <a16:colId xmlns:a16="http://schemas.microsoft.com/office/drawing/2014/main" val="20003"/>
                    </a:ext>
                  </a:extLst>
                </a:gridCol>
                <a:gridCol w="497205">
                  <a:extLst>
                    <a:ext uri="{9D8B030D-6E8A-4147-A177-3AD203B41FA5}">
                      <a16:colId xmlns:a16="http://schemas.microsoft.com/office/drawing/2014/main" val="20004"/>
                    </a:ext>
                  </a:extLst>
                </a:gridCol>
                <a:gridCol w="497205">
                  <a:extLst>
                    <a:ext uri="{9D8B030D-6E8A-4147-A177-3AD203B41FA5}">
                      <a16:colId xmlns:a16="http://schemas.microsoft.com/office/drawing/2014/main" val="20005"/>
                    </a:ext>
                  </a:extLst>
                </a:gridCol>
                <a:gridCol w="497205">
                  <a:extLst>
                    <a:ext uri="{9D8B030D-6E8A-4147-A177-3AD203B41FA5}">
                      <a16:colId xmlns:a16="http://schemas.microsoft.com/office/drawing/2014/main" val="20006"/>
                    </a:ext>
                  </a:extLst>
                </a:gridCol>
                <a:gridCol w="497205">
                  <a:extLst>
                    <a:ext uri="{9D8B030D-6E8A-4147-A177-3AD203B41FA5}">
                      <a16:colId xmlns:a16="http://schemas.microsoft.com/office/drawing/2014/main" val="20007"/>
                    </a:ext>
                  </a:extLst>
                </a:gridCol>
              </a:tblGrid>
              <a:tr h="549275">
                <a:tc>
                  <a:txBody>
                    <a:bodyPr/>
                    <a:lstStyle/>
                    <a:p>
                      <a:pPr>
                        <a:buNone/>
                      </a:pPr>
                      <a:r>
                        <a:rPr lang="en-US" b="0">
                          <a:ln>
                            <a:noFill/>
                          </a:ln>
                          <a:solidFill>
                            <a:schemeClr val="tx1"/>
                          </a:solidFill>
                        </a:rPr>
                        <a:t>the</a:t>
                      </a:r>
                    </a:p>
                  </a:txBody>
                  <a:tcPr anchor="ctr">
                    <a:lnL>
                      <a:noFill/>
                    </a:lnL>
                    <a:lnR w="12700">
                      <a:solidFill>
                        <a:schemeClr val="tx1"/>
                      </a:solidFill>
                      <a:prstDash val="solid"/>
                    </a:lnR>
                    <a:lnT>
                      <a:noFill/>
                    </a:lnT>
                    <a:lnB>
                      <a:noFill/>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549275">
                <a:tc>
                  <a:txBody>
                    <a:bodyPr/>
                    <a:lstStyle/>
                    <a:p>
                      <a:pPr>
                        <a:buNone/>
                      </a:pPr>
                      <a:r>
                        <a:rPr lang="en-US">
                          <a:ln>
                            <a:noFill/>
                          </a:ln>
                          <a:solidFill>
                            <a:schemeClr val="tx1"/>
                          </a:solidFill>
                        </a:rPr>
                        <a:t>cat</a:t>
                      </a:r>
                    </a:p>
                  </a:txBody>
                  <a:tcPr anchor="ctr">
                    <a:lnL>
                      <a:noFill/>
                    </a:lnL>
                    <a:lnR w="12700">
                      <a:solidFill>
                        <a:schemeClr val="tx1"/>
                      </a:solidFill>
                      <a:prstDash val="solid"/>
                    </a:lnR>
                    <a:lnT>
                      <a:noFill/>
                    </a:lnT>
                    <a:lnB>
                      <a:noFill/>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549275">
                <a:tc>
                  <a:txBody>
                    <a:bodyPr/>
                    <a:lstStyle/>
                    <a:p>
                      <a:pPr>
                        <a:buNone/>
                      </a:pPr>
                      <a:r>
                        <a:rPr lang="en-US">
                          <a:ln>
                            <a:noFill/>
                          </a:ln>
                          <a:solidFill>
                            <a:schemeClr val="tx1"/>
                          </a:solidFill>
                        </a:rPr>
                        <a:t>sat</a:t>
                      </a:r>
                    </a:p>
                  </a:txBody>
                  <a:tcPr anchor="ctr">
                    <a:lnL>
                      <a:noFill/>
                    </a:lnL>
                    <a:lnR w="12700">
                      <a:solidFill>
                        <a:schemeClr val="tx1"/>
                      </a:solidFill>
                      <a:prstDash val="solid"/>
                    </a:lnR>
                    <a:lnT>
                      <a:noFill/>
                    </a:lnT>
                    <a:lnB>
                      <a:noFill/>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549275">
                <a:tc>
                  <a:txBody>
                    <a:bodyPr/>
                    <a:lstStyle/>
                    <a:p>
                      <a:pPr>
                        <a:buNone/>
                      </a:pPr>
                      <a:r>
                        <a:rPr lang="en-US">
                          <a:ln>
                            <a:noFill/>
                          </a:ln>
                          <a:solidFill>
                            <a:schemeClr val="tx1"/>
                          </a:solidFill>
                        </a:rPr>
                        <a:t>on</a:t>
                      </a:r>
                    </a:p>
                  </a:txBody>
                  <a:tcPr anchor="ctr">
                    <a:lnL>
                      <a:noFill/>
                    </a:lnL>
                    <a:lnR w="12700">
                      <a:solidFill>
                        <a:schemeClr val="tx1"/>
                      </a:solidFill>
                      <a:prstDash val="solid"/>
                    </a:lnR>
                    <a:lnT>
                      <a:noFill/>
                    </a:lnT>
                    <a:lnB>
                      <a:noFill/>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r h="549275">
                <a:tc>
                  <a:txBody>
                    <a:bodyPr/>
                    <a:lstStyle/>
                    <a:p>
                      <a:pPr>
                        <a:buNone/>
                      </a:pPr>
                      <a:r>
                        <a:rPr lang="en-US">
                          <a:ln>
                            <a:noFill/>
                          </a:ln>
                          <a:solidFill>
                            <a:schemeClr val="tx1"/>
                          </a:solidFill>
                        </a:rPr>
                        <a:t>the</a:t>
                      </a:r>
                    </a:p>
                  </a:txBody>
                  <a:tcPr anchor="ctr">
                    <a:lnL>
                      <a:noFill/>
                    </a:lnL>
                    <a:lnR w="12700">
                      <a:solidFill>
                        <a:schemeClr val="tx1"/>
                      </a:solidFill>
                      <a:prstDash val="solid"/>
                    </a:lnR>
                    <a:lnT>
                      <a:noFill/>
                    </a:lnT>
                    <a:lnB>
                      <a:noFill/>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4"/>
                  </a:ext>
                </a:extLst>
              </a:tr>
              <a:tr h="549275">
                <a:tc>
                  <a:txBody>
                    <a:bodyPr/>
                    <a:lstStyle/>
                    <a:p>
                      <a:pPr>
                        <a:buNone/>
                      </a:pPr>
                      <a:r>
                        <a:rPr lang="en-US">
                          <a:ln>
                            <a:noFill/>
                          </a:ln>
                          <a:solidFill>
                            <a:schemeClr val="tx1"/>
                          </a:solidFill>
                        </a:rPr>
                        <a:t>mat</a:t>
                      </a:r>
                    </a:p>
                  </a:txBody>
                  <a:tcPr anchor="ctr">
                    <a:lnL>
                      <a:noFill/>
                    </a:lnL>
                    <a:lnR w="12700">
                      <a:solidFill>
                        <a:schemeClr val="tx1"/>
                      </a:solidFill>
                      <a:prstDash val="solid"/>
                    </a:lnR>
                    <a:lnT>
                      <a:noFill/>
                    </a:lnT>
                    <a:lnB>
                      <a:noFill/>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5"/>
                  </a:ext>
                </a:extLst>
              </a:tr>
            </a:tbl>
          </a:graphicData>
        </a:graphic>
      </p:graphicFrame>
      <mc:AlternateContent xmlns:mc="http://schemas.openxmlformats.org/markup-compatibility/2006" xmlns:a14="http://schemas.microsoft.com/office/drawing/2010/main">
        <mc:Choice Requires="a14">
          <p:sp>
            <p:nvSpPr>
              <p:cNvPr id="6" name="Text Box 5"/>
              <p:cNvSpPr txBox="1"/>
              <p:nvPr/>
            </p:nvSpPr>
            <p:spPr>
              <a:xfrm>
                <a:off x="150495" y="6209665"/>
                <a:ext cx="6085840" cy="499110"/>
              </a:xfrm>
              <a:prstGeom prst="rect">
                <a:avLst/>
              </a:prstGeom>
              <a:noFill/>
            </p:spPr>
            <p:txBody>
              <a:bodyPr wrap="square" rtlCol="0">
                <a:spAutoFit/>
              </a:bodyPr>
              <a:lstStyle/>
              <a:p>
                <a:pPr algn="ctr"/>
                <a:r>
                  <a:rPr lang="en-US" sz="2400"/>
                  <a:t>Each row is a word embedding, say in </a:t>
                </a:r>
                <a14:m>
                  <m:oMath xmlns:m="http://schemas.openxmlformats.org/officeDocument/2006/math">
                    <m:sSup>
                      <m:sSupPr>
                        <m:ctrlPr>
                          <a:rPr lang="en-US" sz="2400" i="1">
                            <a:latin typeface="Cambria Math" panose="02040503050406030204" pitchFamily="18" charset="0"/>
                            <a:cs typeface="DejaVu Math TeX Gyre" panose="02000503000000000000" charset="0"/>
                          </a:rPr>
                        </m:ctrlPr>
                      </m:sSupPr>
                      <m:e>
                        <m:r>
                          <a:rPr lang="en-US" sz="2400" i="1">
                            <a:latin typeface="Cambria Math" panose="02040503050406030204" pitchFamily="18" charset="0"/>
                            <a:cs typeface="DejaVu Math TeX Gyre" panose="02000503000000000000" charset="0"/>
                          </a:rPr>
                          <m:t>ℝ</m:t>
                        </m:r>
                      </m:e>
                      <m:sup>
                        <m:r>
                          <a:rPr lang="en-US" sz="2400" i="1">
                            <a:latin typeface="Cambria Math" panose="02040503050406030204" pitchFamily="18" charset="0"/>
                            <a:cs typeface="DejaVu Math TeX Gyre" panose="02000503000000000000" charset="0"/>
                          </a:rPr>
                          <m:t>7</m:t>
                        </m:r>
                      </m:sup>
                    </m:sSup>
                  </m:oMath>
                </a14:m>
                <a:endParaRPr lang="en-US" sz="2400" i="1">
                  <a:latin typeface="Cambria Math" panose="02040503050406030204" pitchFamily="18" charset="0"/>
                  <a:cs typeface="Cambria Math" panose="02040503050406030204" pitchFamily="18" charset="0"/>
                </a:endParaRPr>
              </a:p>
            </p:txBody>
          </p:sp>
        </mc:Choice>
        <mc:Fallback xmlns="">
          <p:sp>
            <p:nvSpPr>
              <p:cNvPr id="6" name="Text Box 5"/>
              <p:cNvSpPr txBox="1">
                <a:spLocks noRot="1" noChangeAspect="1" noMove="1" noResize="1" noEditPoints="1" noAdjustHandles="1" noChangeArrowheads="1" noChangeShapeType="1" noTextEdit="1"/>
              </p:cNvSpPr>
              <p:nvPr/>
            </p:nvSpPr>
            <p:spPr>
              <a:xfrm>
                <a:off x="150495" y="6209665"/>
                <a:ext cx="6085840" cy="499110"/>
              </a:xfrm>
              <a:prstGeom prst="rect">
                <a:avLst/>
              </a:prstGeom>
              <a:blipFill rotWithShape="1">
                <a:blip r:embed="rId3"/>
                <a:stretch>
                  <a:fillRect/>
                </a:stretch>
              </a:blipFill>
            </p:spPr>
            <p:txBody>
              <a:bodyPr/>
              <a:lstStyle/>
              <a:p>
                <a:r>
                  <a:rPr lang="en-US" altLang="en-US">
                    <a:noFill/>
                  </a:rPr>
                  <a:t> </a:t>
                </a:r>
              </a:p>
            </p:txBody>
          </p:sp>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rapezoid 1"/>
          <p:cNvSpPr/>
          <p:nvPr/>
        </p:nvSpPr>
        <p:spPr>
          <a:xfrm rot="5400000">
            <a:off x="4521835" y="1755140"/>
            <a:ext cx="1658620" cy="1473200"/>
          </a:xfrm>
          <a:prstGeom prst="trapezoid">
            <a:avLst>
              <a:gd name="adj" fmla="val 37241"/>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p:cNvSpPr>
            <a:spLocks noGrp="1"/>
          </p:cNvSpPr>
          <p:nvPr>
            <p:ph type="title"/>
          </p:nvPr>
        </p:nvSpPr>
        <p:spPr/>
        <p:txBody>
          <a:bodyPr/>
          <a:lstStyle/>
          <a:p>
            <a:r>
              <a:rPr lang="en-US">
                <a:sym typeface="+mn-ea"/>
                <a:hlinkClick r:id="rId2"/>
              </a:rPr>
              <a:t>1d convnet for text</a:t>
            </a:r>
            <a:endParaRPr lang="en-US"/>
          </a:p>
        </p:txBody>
      </p:sp>
      <p:graphicFrame>
        <p:nvGraphicFramePr>
          <p:cNvPr id="5" name="Table 4"/>
          <p:cNvGraphicFramePr/>
          <p:nvPr/>
        </p:nvGraphicFramePr>
        <p:xfrm>
          <a:off x="447040" y="1662430"/>
          <a:ext cx="4167505" cy="3295650"/>
        </p:xfrm>
        <a:graphic>
          <a:graphicData uri="http://schemas.openxmlformats.org/drawingml/2006/table">
            <a:tbl>
              <a:tblPr firstRow="1" bandRow="1">
                <a:tableStyleId>{5C22544A-7EE6-4342-B048-85BDC9FD1C3A}</a:tableStyleId>
              </a:tblPr>
              <a:tblGrid>
                <a:gridCol w="687070">
                  <a:extLst>
                    <a:ext uri="{9D8B030D-6E8A-4147-A177-3AD203B41FA5}">
                      <a16:colId xmlns:a16="http://schemas.microsoft.com/office/drawing/2014/main" val="20000"/>
                    </a:ext>
                  </a:extLst>
                </a:gridCol>
                <a:gridCol w="497205">
                  <a:extLst>
                    <a:ext uri="{9D8B030D-6E8A-4147-A177-3AD203B41FA5}">
                      <a16:colId xmlns:a16="http://schemas.microsoft.com/office/drawing/2014/main" val="20001"/>
                    </a:ext>
                  </a:extLst>
                </a:gridCol>
                <a:gridCol w="497206">
                  <a:extLst>
                    <a:ext uri="{9D8B030D-6E8A-4147-A177-3AD203B41FA5}">
                      <a16:colId xmlns:a16="http://schemas.microsoft.com/office/drawing/2014/main" val="20002"/>
                    </a:ext>
                  </a:extLst>
                </a:gridCol>
                <a:gridCol w="497204">
                  <a:extLst>
                    <a:ext uri="{9D8B030D-6E8A-4147-A177-3AD203B41FA5}">
                      <a16:colId xmlns:a16="http://schemas.microsoft.com/office/drawing/2014/main" val="20003"/>
                    </a:ext>
                  </a:extLst>
                </a:gridCol>
                <a:gridCol w="497205">
                  <a:extLst>
                    <a:ext uri="{9D8B030D-6E8A-4147-A177-3AD203B41FA5}">
                      <a16:colId xmlns:a16="http://schemas.microsoft.com/office/drawing/2014/main" val="20004"/>
                    </a:ext>
                  </a:extLst>
                </a:gridCol>
                <a:gridCol w="497205">
                  <a:extLst>
                    <a:ext uri="{9D8B030D-6E8A-4147-A177-3AD203B41FA5}">
                      <a16:colId xmlns:a16="http://schemas.microsoft.com/office/drawing/2014/main" val="20005"/>
                    </a:ext>
                  </a:extLst>
                </a:gridCol>
                <a:gridCol w="497205">
                  <a:extLst>
                    <a:ext uri="{9D8B030D-6E8A-4147-A177-3AD203B41FA5}">
                      <a16:colId xmlns:a16="http://schemas.microsoft.com/office/drawing/2014/main" val="20006"/>
                    </a:ext>
                  </a:extLst>
                </a:gridCol>
                <a:gridCol w="497205">
                  <a:extLst>
                    <a:ext uri="{9D8B030D-6E8A-4147-A177-3AD203B41FA5}">
                      <a16:colId xmlns:a16="http://schemas.microsoft.com/office/drawing/2014/main" val="20007"/>
                    </a:ext>
                  </a:extLst>
                </a:gridCol>
              </a:tblGrid>
              <a:tr h="549275">
                <a:tc>
                  <a:txBody>
                    <a:bodyPr/>
                    <a:lstStyle/>
                    <a:p>
                      <a:pPr>
                        <a:buNone/>
                      </a:pPr>
                      <a:r>
                        <a:rPr lang="en-US" b="0">
                          <a:ln>
                            <a:noFill/>
                          </a:ln>
                          <a:solidFill>
                            <a:schemeClr val="tx1"/>
                          </a:solidFill>
                        </a:rPr>
                        <a:t>the</a:t>
                      </a:r>
                    </a:p>
                  </a:txBody>
                  <a:tcPr anchor="ctr">
                    <a:lnL>
                      <a:noFill/>
                    </a:lnL>
                    <a:lnR w="12700">
                      <a:solidFill>
                        <a:schemeClr val="tx1"/>
                      </a:solidFill>
                      <a:prstDash val="solid"/>
                    </a:lnR>
                    <a:lnT>
                      <a:noFill/>
                    </a:lnT>
                    <a:lnB>
                      <a:noFill/>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extLst>
                  <a:ext uri="{0D108BD9-81ED-4DB2-BD59-A6C34878D82A}">
                    <a16:rowId xmlns:a16="http://schemas.microsoft.com/office/drawing/2014/main" val="10000"/>
                  </a:ext>
                </a:extLst>
              </a:tr>
              <a:tr h="549275">
                <a:tc>
                  <a:txBody>
                    <a:bodyPr/>
                    <a:lstStyle/>
                    <a:p>
                      <a:pPr>
                        <a:buNone/>
                      </a:pPr>
                      <a:r>
                        <a:rPr lang="en-US">
                          <a:ln>
                            <a:noFill/>
                          </a:ln>
                          <a:solidFill>
                            <a:schemeClr val="tx1"/>
                          </a:solidFill>
                        </a:rPr>
                        <a:t>cat</a:t>
                      </a:r>
                    </a:p>
                  </a:txBody>
                  <a:tcPr anchor="ctr">
                    <a:lnL>
                      <a:noFill/>
                    </a:lnL>
                    <a:lnR w="12700">
                      <a:solidFill>
                        <a:schemeClr val="tx1"/>
                      </a:solidFill>
                      <a:prstDash val="solid"/>
                    </a:lnR>
                    <a:lnT>
                      <a:noFill/>
                    </a:lnT>
                    <a:lnB>
                      <a:noFill/>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extLst>
                  <a:ext uri="{0D108BD9-81ED-4DB2-BD59-A6C34878D82A}">
                    <a16:rowId xmlns:a16="http://schemas.microsoft.com/office/drawing/2014/main" val="10001"/>
                  </a:ext>
                </a:extLst>
              </a:tr>
              <a:tr h="549275">
                <a:tc>
                  <a:txBody>
                    <a:bodyPr/>
                    <a:lstStyle/>
                    <a:p>
                      <a:pPr>
                        <a:buNone/>
                      </a:pPr>
                      <a:r>
                        <a:rPr lang="en-US">
                          <a:ln>
                            <a:noFill/>
                          </a:ln>
                          <a:solidFill>
                            <a:schemeClr val="tx1"/>
                          </a:solidFill>
                        </a:rPr>
                        <a:t>sat</a:t>
                      </a:r>
                    </a:p>
                  </a:txBody>
                  <a:tcPr anchor="ctr">
                    <a:lnL>
                      <a:noFill/>
                    </a:lnL>
                    <a:lnR w="12700">
                      <a:solidFill>
                        <a:schemeClr val="tx1"/>
                      </a:solidFill>
                      <a:prstDash val="solid"/>
                    </a:lnR>
                    <a:lnT>
                      <a:noFill/>
                    </a:lnT>
                    <a:lnB>
                      <a:noFill/>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extLst>
                  <a:ext uri="{0D108BD9-81ED-4DB2-BD59-A6C34878D82A}">
                    <a16:rowId xmlns:a16="http://schemas.microsoft.com/office/drawing/2014/main" val="10002"/>
                  </a:ext>
                </a:extLst>
              </a:tr>
              <a:tr h="549275">
                <a:tc>
                  <a:txBody>
                    <a:bodyPr/>
                    <a:lstStyle/>
                    <a:p>
                      <a:pPr>
                        <a:buNone/>
                      </a:pPr>
                      <a:r>
                        <a:rPr lang="en-US">
                          <a:ln>
                            <a:noFill/>
                          </a:ln>
                          <a:solidFill>
                            <a:schemeClr val="tx1"/>
                          </a:solidFill>
                        </a:rPr>
                        <a:t>on</a:t>
                      </a:r>
                    </a:p>
                  </a:txBody>
                  <a:tcPr anchor="ctr">
                    <a:lnL>
                      <a:noFill/>
                    </a:lnL>
                    <a:lnR w="12700">
                      <a:solidFill>
                        <a:schemeClr val="tx1"/>
                      </a:solidFill>
                      <a:prstDash val="solid"/>
                    </a:lnR>
                    <a:lnT>
                      <a:noFill/>
                    </a:lnT>
                    <a:lnB>
                      <a:noFill/>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03"/>
                  </a:ext>
                </a:extLst>
              </a:tr>
              <a:tr h="549275">
                <a:tc>
                  <a:txBody>
                    <a:bodyPr/>
                    <a:lstStyle/>
                    <a:p>
                      <a:pPr>
                        <a:buNone/>
                      </a:pPr>
                      <a:r>
                        <a:rPr lang="en-US">
                          <a:ln>
                            <a:noFill/>
                          </a:ln>
                          <a:solidFill>
                            <a:schemeClr val="tx1"/>
                          </a:solidFill>
                        </a:rPr>
                        <a:t>the</a:t>
                      </a:r>
                    </a:p>
                  </a:txBody>
                  <a:tcPr anchor="ctr">
                    <a:lnL>
                      <a:noFill/>
                    </a:lnL>
                    <a:lnR w="12700">
                      <a:solidFill>
                        <a:schemeClr val="tx1"/>
                      </a:solidFill>
                      <a:prstDash val="solid"/>
                    </a:lnR>
                    <a:lnT>
                      <a:noFill/>
                    </a:lnT>
                    <a:lnB>
                      <a:noFill/>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04"/>
                  </a:ext>
                </a:extLst>
              </a:tr>
              <a:tr h="549275">
                <a:tc>
                  <a:txBody>
                    <a:bodyPr/>
                    <a:lstStyle/>
                    <a:p>
                      <a:pPr>
                        <a:buNone/>
                      </a:pPr>
                      <a:r>
                        <a:rPr lang="en-US">
                          <a:ln>
                            <a:noFill/>
                          </a:ln>
                          <a:solidFill>
                            <a:schemeClr val="tx1"/>
                          </a:solidFill>
                        </a:rPr>
                        <a:t>mat</a:t>
                      </a:r>
                    </a:p>
                  </a:txBody>
                  <a:tcPr anchor="ctr">
                    <a:lnL>
                      <a:noFill/>
                    </a:lnL>
                    <a:lnR w="12700">
                      <a:solidFill>
                        <a:schemeClr val="tx1"/>
                      </a:solidFill>
                      <a:prstDash val="solid"/>
                    </a:lnR>
                    <a:lnT>
                      <a:noFill/>
                    </a:lnT>
                    <a:lnB>
                      <a:noFill/>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7" name="Table 6"/>
          <p:cNvGraphicFramePr/>
          <p:nvPr/>
        </p:nvGraphicFramePr>
        <p:xfrm>
          <a:off x="6087745" y="2211705"/>
          <a:ext cx="497205" cy="2197100"/>
        </p:xfrm>
        <a:graphic>
          <a:graphicData uri="http://schemas.openxmlformats.org/drawingml/2006/table">
            <a:tbl>
              <a:tblPr firstRow="1" bandRow="1">
                <a:tableStyleId>{5C22544A-7EE6-4342-B048-85BDC9FD1C3A}</a:tableStyleId>
              </a:tblPr>
              <a:tblGrid>
                <a:gridCol w="497205">
                  <a:extLst>
                    <a:ext uri="{9D8B030D-6E8A-4147-A177-3AD203B41FA5}">
                      <a16:colId xmlns:a16="http://schemas.microsoft.com/office/drawing/2014/main" val="20000"/>
                    </a:ext>
                  </a:extLst>
                </a:gridCol>
              </a:tblGrid>
              <a:tr h="549275">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extLst>
                  <a:ext uri="{0D108BD9-81ED-4DB2-BD59-A6C34878D82A}">
                    <a16:rowId xmlns:a16="http://schemas.microsoft.com/office/drawing/2014/main" val="10000"/>
                  </a:ext>
                </a:extLst>
              </a:tr>
              <a:tr h="549275">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01"/>
                  </a:ext>
                </a:extLst>
              </a:tr>
              <a:tr h="549275">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02"/>
                  </a:ext>
                </a:extLst>
              </a:tr>
              <a:tr h="549275">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3" name="Text Box 2"/>
              <p:cNvSpPr txBox="1"/>
              <p:nvPr/>
            </p:nvSpPr>
            <p:spPr>
              <a:xfrm>
                <a:off x="150495" y="6209665"/>
                <a:ext cx="6085840" cy="499110"/>
              </a:xfrm>
              <a:prstGeom prst="rect">
                <a:avLst/>
              </a:prstGeom>
              <a:noFill/>
            </p:spPr>
            <p:txBody>
              <a:bodyPr wrap="square" rtlCol="0">
                <a:spAutoFit/>
              </a:bodyPr>
              <a:lstStyle/>
              <a:p>
                <a:pPr algn="ctr"/>
                <a:r>
                  <a:rPr lang="en-US" sz="2400"/>
                  <a:t>Each row is a word embedding, say in </a:t>
                </a:r>
                <a14:m>
                  <m:oMath xmlns:m="http://schemas.openxmlformats.org/officeDocument/2006/math">
                    <m:sSup>
                      <m:sSupPr>
                        <m:ctrlPr>
                          <a:rPr lang="en-US" sz="2400" i="1">
                            <a:latin typeface="Cambria Math" panose="02040503050406030204" pitchFamily="18" charset="0"/>
                            <a:cs typeface="DejaVu Math TeX Gyre" panose="02000503000000000000" charset="0"/>
                          </a:rPr>
                        </m:ctrlPr>
                      </m:sSupPr>
                      <m:e>
                        <m:r>
                          <a:rPr lang="en-US" sz="2400" i="1">
                            <a:latin typeface="Cambria Math" panose="02040503050406030204" pitchFamily="18" charset="0"/>
                            <a:cs typeface="DejaVu Math TeX Gyre" panose="02000503000000000000" charset="0"/>
                          </a:rPr>
                          <m:t>ℝ</m:t>
                        </m:r>
                      </m:e>
                      <m:sup>
                        <m:r>
                          <a:rPr lang="en-US" sz="2400" i="1">
                            <a:latin typeface="Cambria Math" panose="02040503050406030204" pitchFamily="18" charset="0"/>
                            <a:cs typeface="DejaVu Math TeX Gyre" panose="02000503000000000000" charset="0"/>
                          </a:rPr>
                          <m:t>7</m:t>
                        </m:r>
                      </m:sup>
                    </m:sSup>
                  </m:oMath>
                </a14:m>
                <a:endParaRPr lang="en-US" sz="2400" i="1">
                  <a:latin typeface="Cambria Math" panose="02040503050406030204" pitchFamily="18" charset="0"/>
                  <a:cs typeface="Cambria Math" panose="02040503050406030204" pitchFamily="18" charset="0"/>
                </a:endParaRPr>
              </a:p>
            </p:txBody>
          </p:sp>
        </mc:Choice>
        <mc:Fallback xmlns="">
          <p:sp>
            <p:nvSpPr>
              <p:cNvPr id="3" name="Text Box 2"/>
              <p:cNvSpPr txBox="1">
                <a:spLocks noRot="1" noChangeAspect="1" noMove="1" noResize="1" noEditPoints="1" noAdjustHandles="1" noChangeArrowheads="1" noChangeShapeType="1" noTextEdit="1"/>
              </p:cNvSpPr>
              <p:nvPr/>
            </p:nvSpPr>
            <p:spPr>
              <a:xfrm>
                <a:off x="150495" y="6209665"/>
                <a:ext cx="6085840" cy="499110"/>
              </a:xfrm>
              <a:prstGeom prst="rect">
                <a:avLst/>
              </a:prstGeom>
              <a:blipFill rotWithShape="1">
                <a:blip r:embed="rId3"/>
                <a:stretch>
                  <a:fillRect/>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8" name="Text Box 7"/>
              <p:cNvSpPr txBox="1"/>
              <p:nvPr/>
            </p:nvSpPr>
            <p:spPr>
              <a:xfrm>
                <a:off x="7367270" y="912495"/>
                <a:ext cx="4443730" cy="3088005"/>
              </a:xfrm>
              <a:prstGeom prst="rect">
                <a:avLst/>
              </a:prstGeom>
              <a:noFill/>
            </p:spPr>
            <p:txBody>
              <a:bodyPr wrap="square" rtlCol="0">
                <a:spAutoFit/>
              </a:bodyPr>
              <a:lstStyle/>
              <a:p>
                <a:pPr algn="l"/>
                <a:r>
                  <a:rPr lang="en-US" sz="2400"/>
                  <a:t>A </a:t>
                </a:r>
                <a:r>
                  <a:rPr lang="en-US" sz="2400">
                    <a:effectLst>
                      <a:glow rad="228600">
                        <a:schemeClr val="accent6">
                          <a:satMod val="175000"/>
                          <a:alpha val="40000"/>
                        </a:schemeClr>
                      </a:glow>
                    </a:effectLst>
                  </a:rPr>
                  <a:t>stencil</a:t>
                </a:r>
                <a:r>
                  <a:rPr lang="en-US" sz="2400"/>
                  <a:t> is a matrix in </a:t>
                </a:r>
                <a14:m>
                  <m:oMath xmlns:m="http://schemas.openxmlformats.org/officeDocument/2006/math">
                    <m:sSup>
                      <m:sSupPr>
                        <m:ctrlPr>
                          <a:rPr lang="en-US" sz="2400" i="1">
                            <a:latin typeface="Cambria Math" panose="02040503050406030204" pitchFamily="18" charset="0"/>
                            <a:cs typeface="DejaVu Math TeX Gyre" panose="02000503000000000000" charset="0"/>
                          </a:rPr>
                        </m:ctrlPr>
                      </m:sSupPr>
                      <m:e>
                        <m:r>
                          <a:rPr lang="en-US" sz="2400" i="1">
                            <a:latin typeface="Cambria Math" panose="02040503050406030204" pitchFamily="18" charset="0"/>
                            <a:cs typeface="DejaVu Math TeX Gyre" panose="02000503000000000000" charset="0"/>
                          </a:rPr>
                          <m:t>ℝ</m:t>
                        </m:r>
                      </m:e>
                      <m:sup>
                        <m:r>
                          <a:rPr lang="en-US" sz="2400" i="1">
                            <a:latin typeface="Cambria Math" panose="02040503050406030204" pitchFamily="18" charset="0"/>
                            <a:cs typeface="DejaVu Math TeX Gyre" panose="02000503000000000000" charset="0"/>
                          </a:rPr>
                          <m:t>3×7</m:t>
                        </m:r>
                      </m:sup>
                    </m:sSup>
                  </m:oMath>
                </a14:m>
                <a:r>
                  <a:rPr lang="en-US"/>
                  <a:t>.</a:t>
                </a:r>
                <a:br>
                  <a:rPr lang="en-US"/>
                </a:br>
                <a:r>
                  <a:rPr lang="en-US" sz="2400"/>
                  <a:t>It has 21 learnable parameters. Multiply elementwise with the embedding matrix and add to get a single real value output. Different word order will generally result in a different output value.</a:t>
                </a:r>
              </a:p>
            </p:txBody>
          </p:sp>
        </mc:Choice>
        <mc:Fallback xmlns="">
          <p:sp>
            <p:nvSpPr>
              <p:cNvPr id="8" name="Text Box 7"/>
              <p:cNvSpPr txBox="1">
                <a:spLocks noRot="1" noChangeAspect="1" noMove="1" noResize="1" noEditPoints="1" noAdjustHandles="1" noChangeArrowheads="1" noChangeShapeType="1" noTextEdit="1"/>
              </p:cNvSpPr>
              <p:nvPr/>
            </p:nvSpPr>
            <p:spPr>
              <a:xfrm>
                <a:off x="7367270" y="912495"/>
                <a:ext cx="4443730" cy="3088005"/>
              </a:xfrm>
              <a:prstGeom prst="rect">
                <a:avLst/>
              </a:prstGeom>
              <a:blipFill rotWithShape="1">
                <a:blip r:embed="rId4"/>
                <a:stretch>
                  <a:fillRect/>
                </a:stretch>
              </a:blipFill>
            </p:spPr>
            <p:txBody>
              <a:bodyPr/>
              <a:lstStyle/>
              <a:p>
                <a:r>
                  <a:rPr lang="en-US" altLang="en-US">
                    <a:noFill/>
                  </a:rPr>
                  <a:t> </a:t>
                </a:r>
              </a:p>
            </p:txBody>
          </p:sp>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rapezoid 1"/>
          <p:cNvSpPr/>
          <p:nvPr/>
        </p:nvSpPr>
        <p:spPr>
          <a:xfrm rot="5400000">
            <a:off x="4521835" y="2304415"/>
            <a:ext cx="1658620" cy="1473200"/>
          </a:xfrm>
          <a:prstGeom prst="trapezoid">
            <a:avLst>
              <a:gd name="adj" fmla="val 37241"/>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p:cNvSpPr>
            <a:spLocks noGrp="1"/>
          </p:cNvSpPr>
          <p:nvPr>
            <p:ph type="title"/>
          </p:nvPr>
        </p:nvSpPr>
        <p:spPr/>
        <p:txBody>
          <a:bodyPr/>
          <a:lstStyle/>
          <a:p>
            <a:r>
              <a:rPr lang="en-US">
                <a:sym typeface="+mn-ea"/>
                <a:hlinkClick r:id="rId2"/>
              </a:rPr>
              <a:t>1d convnet for text</a:t>
            </a:r>
            <a:endParaRPr lang="en-US"/>
          </a:p>
        </p:txBody>
      </p:sp>
      <p:graphicFrame>
        <p:nvGraphicFramePr>
          <p:cNvPr id="5" name="Table 4"/>
          <p:cNvGraphicFramePr/>
          <p:nvPr/>
        </p:nvGraphicFramePr>
        <p:xfrm>
          <a:off x="447040" y="1662430"/>
          <a:ext cx="4167505" cy="3295650"/>
        </p:xfrm>
        <a:graphic>
          <a:graphicData uri="http://schemas.openxmlformats.org/drawingml/2006/table">
            <a:tbl>
              <a:tblPr firstRow="1" bandRow="1">
                <a:tableStyleId>{5C22544A-7EE6-4342-B048-85BDC9FD1C3A}</a:tableStyleId>
              </a:tblPr>
              <a:tblGrid>
                <a:gridCol w="687070">
                  <a:extLst>
                    <a:ext uri="{9D8B030D-6E8A-4147-A177-3AD203B41FA5}">
                      <a16:colId xmlns:a16="http://schemas.microsoft.com/office/drawing/2014/main" val="20000"/>
                    </a:ext>
                  </a:extLst>
                </a:gridCol>
                <a:gridCol w="497205">
                  <a:extLst>
                    <a:ext uri="{9D8B030D-6E8A-4147-A177-3AD203B41FA5}">
                      <a16:colId xmlns:a16="http://schemas.microsoft.com/office/drawing/2014/main" val="20001"/>
                    </a:ext>
                  </a:extLst>
                </a:gridCol>
                <a:gridCol w="497206">
                  <a:extLst>
                    <a:ext uri="{9D8B030D-6E8A-4147-A177-3AD203B41FA5}">
                      <a16:colId xmlns:a16="http://schemas.microsoft.com/office/drawing/2014/main" val="20002"/>
                    </a:ext>
                  </a:extLst>
                </a:gridCol>
                <a:gridCol w="497204">
                  <a:extLst>
                    <a:ext uri="{9D8B030D-6E8A-4147-A177-3AD203B41FA5}">
                      <a16:colId xmlns:a16="http://schemas.microsoft.com/office/drawing/2014/main" val="20003"/>
                    </a:ext>
                  </a:extLst>
                </a:gridCol>
                <a:gridCol w="497205">
                  <a:extLst>
                    <a:ext uri="{9D8B030D-6E8A-4147-A177-3AD203B41FA5}">
                      <a16:colId xmlns:a16="http://schemas.microsoft.com/office/drawing/2014/main" val="20004"/>
                    </a:ext>
                  </a:extLst>
                </a:gridCol>
                <a:gridCol w="497205">
                  <a:extLst>
                    <a:ext uri="{9D8B030D-6E8A-4147-A177-3AD203B41FA5}">
                      <a16:colId xmlns:a16="http://schemas.microsoft.com/office/drawing/2014/main" val="20005"/>
                    </a:ext>
                  </a:extLst>
                </a:gridCol>
                <a:gridCol w="497205">
                  <a:extLst>
                    <a:ext uri="{9D8B030D-6E8A-4147-A177-3AD203B41FA5}">
                      <a16:colId xmlns:a16="http://schemas.microsoft.com/office/drawing/2014/main" val="20006"/>
                    </a:ext>
                  </a:extLst>
                </a:gridCol>
                <a:gridCol w="497205">
                  <a:extLst>
                    <a:ext uri="{9D8B030D-6E8A-4147-A177-3AD203B41FA5}">
                      <a16:colId xmlns:a16="http://schemas.microsoft.com/office/drawing/2014/main" val="20007"/>
                    </a:ext>
                  </a:extLst>
                </a:gridCol>
              </a:tblGrid>
              <a:tr h="549275">
                <a:tc>
                  <a:txBody>
                    <a:bodyPr/>
                    <a:lstStyle/>
                    <a:p>
                      <a:pPr>
                        <a:buNone/>
                      </a:pPr>
                      <a:r>
                        <a:rPr lang="en-US" b="0">
                          <a:ln>
                            <a:noFill/>
                          </a:ln>
                          <a:solidFill>
                            <a:schemeClr val="tx1"/>
                          </a:solidFill>
                        </a:rPr>
                        <a:t>the</a:t>
                      </a:r>
                    </a:p>
                  </a:txBody>
                  <a:tcPr anchor="ctr">
                    <a:lnL>
                      <a:noFill/>
                    </a:lnL>
                    <a:lnR w="12700">
                      <a:solidFill>
                        <a:schemeClr val="tx1"/>
                      </a:solidFill>
                      <a:prstDash val="solid"/>
                    </a:lnR>
                    <a:lnT>
                      <a:noFill/>
                    </a:lnT>
                    <a:lnB>
                      <a:noFill/>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00"/>
                  </a:ext>
                </a:extLst>
              </a:tr>
              <a:tr h="549275">
                <a:tc>
                  <a:txBody>
                    <a:bodyPr/>
                    <a:lstStyle/>
                    <a:p>
                      <a:pPr>
                        <a:buNone/>
                      </a:pPr>
                      <a:r>
                        <a:rPr lang="en-US">
                          <a:ln>
                            <a:noFill/>
                          </a:ln>
                          <a:solidFill>
                            <a:schemeClr val="tx1"/>
                          </a:solidFill>
                        </a:rPr>
                        <a:t>cat</a:t>
                      </a:r>
                    </a:p>
                  </a:txBody>
                  <a:tcPr anchor="ctr">
                    <a:lnL>
                      <a:noFill/>
                    </a:lnL>
                    <a:lnR w="12700">
                      <a:solidFill>
                        <a:schemeClr val="tx1"/>
                      </a:solidFill>
                      <a:prstDash val="solid"/>
                    </a:lnR>
                    <a:lnT>
                      <a:noFill/>
                    </a:lnT>
                    <a:lnB>
                      <a:noFill/>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40000"/>
                        <a:lumOff val="6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40000"/>
                        <a:lumOff val="6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40000"/>
                        <a:lumOff val="6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40000"/>
                        <a:lumOff val="6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40000"/>
                        <a:lumOff val="6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40000"/>
                        <a:lumOff val="6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40000"/>
                        <a:lumOff val="60000"/>
                      </a:schemeClr>
                    </a:solidFill>
                  </a:tcPr>
                </a:tc>
                <a:extLst>
                  <a:ext uri="{0D108BD9-81ED-4DB2-BD59-A6C34878D82A}">
                    <a16:rowId xmlns:a16="http://schemas.microsoft.com/office/drawing/2014/main" val="10001"/>
                  </a:ext>
                </a:extLst>
              </a:tr>
              <a:tr h="549275">
                <a:tc>
                  <a:txBody>
                    <a:bodyPr/>
                    <a:lstStyle/>
                    <a:p>
                      <a:pPr>
                        <a:buNone/>
                      </a:pPr>
                      <a:r>
                        <a:rPr lang="en-US">
                          <a:ln>
                            <a:noFill/>
                          </a:ln>
                          <a:solidFill>
                            <a:schemeClr val="tx1"/>
                          </a:solidFill>
                        </a:rPr>
                        <a:t>sat</a:t>
                      </a:r>
                    </a:p>
                  </a:txBody>
                  <a:tcPr anchor="ctr">
                    <a:lnL>
                      <a:noFill/>
                    </a:lnL>
                    <a:lnR w="12700">
                      <a:solidFill>
                        <a:schemeClr val="tx1"/>
                      </a:solidFill>
                      <a:prstDash val="solid"/>
                    </a:lnR>
                    <a:lnT>
                      <a:noFill/>
                    </a:lnT>
                    <a:lnB>
                      <a:noFill/>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40000"/>
                        <a:lumOff val="6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40000"/>
                        <a:lumOff val="6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40000"/>
                        <a:lumOff val="6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40000"/>
                        <a:lumOff val="6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40000"/>
                        <a:lumOff val="6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40000"/>
                        <a:lumOff val="6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40000"/>
                        <a:lumOff val="60000"/>
                      </a:schemeClr>
                    </a:solidFill>
                  </a:tcPr>
                </a:tc>
                <a:extLst>
                  <a:ext uri="{0D108BD9-81ED-4DB2-BD59-A6C34878D82A}">
                    <a16:rowId xmlns:a16="http://schemas.microsoft.com/office/drawing/2014/main" val="10002"/>
                  </a:ext>
                </a:extLst>
              </a:tr>
              <a:tr h="549275">
                <a:tc>
                  <a:txBody>
                    <a:bodyPr/>
                    <a:lstStyle/>
                    <a:p>
                      <a:pPr>
                        <a:buNone/>
                      </a:pPr>
                      <a:r>
                        <a:rPr lang="en-US">
                          <a:ln>
                            <a:noFill/>
                          </a:ln>
                          <a:solidFill>
                            <a:schemeClr val="tx1"/>
                          </a:solidFill>
                        </a:rPr>
                        <a:t>on</a:t>
                      </a:r>
                    </a:p>
                  </a:txBody>
                  <a:tcPr anchor="ctr">
                    <a:lnL>
                      <a:noFill/>
                    </a:lnL>
                    <a:lnR w="12700">
                      <a:solidFill>
                        <a:schemeClr val="tx1"/>
                      </a:solidFill>
                      <a:prstDash val="solid"/>
                    </a:lnR>
                    <a:lnT>
                      <a:noFill/>
                    </a:lnT>
                    <a:lnB>
                      <a:noFill/>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40000"/>
                        <a:lumOff val="6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40000"/>
                        <a:lumOff val="6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40000"/>
                        <a:lumOff val="6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40000"/>
                        <a:lumOff val="6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40000"/>
                        <a:lumOff val="6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40000"/>
                        <a:lumOff val="6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40000"/>
                        <a:lumOff val="60000"/>
                      </a:schemeClr>
                    </a:solidFill>
                  </a:tcPr>
                </a:tc>
                <a:extLst>
                  <a:ext uri="{0D108BD9-81ED-4DB2-BD59-A6C34878D82A}">
                    <a16:rowId xmlns:a16="http://schemas.microsoft.com/office/drawing/2014/main" val="10003"/>
                  </a:ext>
                </a:extLst>
              </a:tr>
              <a:tr h="549275">
                <a:tc>
                  <a:txBody>
                    <a:bodyPr/>
                    <a:lstStyle/>
                    <a:p>
                      <a:pPr>
                        <a:buNone/>
                      </a:pPr>
                      <a:r>
                        <a:rPr lang="en-US">
                          <a:ln>
                            <a:noFill/>
                          </a:ln>
                          <a:solidFill>
                            <a:schemeClr val="tx1"/>
                          </a:solidFill>
                        </a:rPr>
                        <a:t>the</a:t>
                      </a:r>
                    </a:p>
                  </a:txBody>
                  <a:tcPr anchor="ctr">
                    <a:lnL>
                      <a:noFill/>
                    </a:lnL>
                    <a:lnR w="12700">
                      <a:solidFill>
                        <a:schemeClr val="tx1"/>
                      </a:solidFill>
                      <a:prstDash val="solid"/>
                    </a:lnR>
                    <a:lnT>
                      <a:noFill/>
                    </a:lnT>
                    <a:lnB>
                      <a:noFill/>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04"/>
                  </a:ext>
                </a:extLst>
              </a:tr>
              <a:tr h="549275">
                <a:tc>
                  <a:txBody>
                    <a:bodyPr/>
                    <a:lstStyle/>
                    <a:p>
                      <a:pPr>
                        <a:buNone/>
                      </a:pPr>
                      <a:r>
                        <a:rPr lang="en-US">
                          <a:ln>
                            <a:noFill/>
                          </a:ln>
                          <a:solidFill>
                            <a:schemeClr val="tx1"/>
                          </a:solidFill>
                        </a:rPr>
                        <a:t>mat</a:t>
                      </a:r>
                    </a:p>
                  </a:txBody>
                  <a:tcPr anchor="ctr">
                    <a:lnL>
                      <a:noFill/>
                    </a:lnL>
                    <a:lnR w="12700">
                      <a:solidFill>
                        <a:schemeClr val="tx1"/>
                      </a:solidFill>
                      <a:prstDash val="solid"/>
                    </a:lnR>
                    <a:lnT>
                      <a:noFill/>
                    </a:lnT>
                    <a:lnB>
                      <a:noFill/>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7" name="Table 6"/>
          <p:cNvGraphicFramePr/>
          <p:nvPr/>
        </p:nvGraphicFramePr>
        <p:xfrm>
          <a:off x="6087745" y="2211705"/>
          <a:ext cx="497205" cy="2197100"/>
        </p:xfrm>
        <a:graphic>
          <a:graphicData uri="http://schemas.openxmlformats.org/drawingml/2006/table">
            <a:tbl>
              <a:tblPr firstRow="1" bandRow="1">
                <a:tableStyleId>{5C22544A-7EE6-4342-B048-85BDC9FD1C3A}</a:tableStyleId>
              </a:tblPr>
              <a:tblGrid>
                <a:gridCol w="497205">
                  <a:extLst>
                    <a:ext uri="{9D8B030D-6E8A-4147-A177-3AD203B41FA5}">
                      <a16:colId xmlns:a16="http://schemas.microsoft.com/office/drawing/2014/main" val="20000"/>
                    </a:ext>
                  </a:extLst>
                </a:gridCol>
              </a:tblGrid>
              <a:tr h="549275">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extLst>
                  <a:ext uri="{0D108BD9-81ED-4DB2-BD59-A6C34878D82A}">
                    <a16:rowId xmlns:a16="http://schemas.microsoft.com/office/drawing/2014/main" val="10000"/>
                  </a:ext>
                </a:extLst>
              </a:tr>
              <a:tr h="549275">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40000"/>
                        <a:lumOff val="60000"/>
                      </a:schemeClr>
                    </a:solidFill>
                  </a:tcPr>
                </a:tc>
                <a:extLst>
                  <a:ext uri="{0D108BD9-81ED-4DB2-BD59-A6C34878D82A}">
                    <a16:rowId xmlns:a16="http://schemas.microsoft.com/office/drawing/2014/main" val="10001"/>
                  </a:ext>
                </a:extLst>
              </a:tr>
              <a:tr h="549275">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02"/>
                  </a:ext>
                </a:extLst>
              </a:tr>
              <a:tr h="549275">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3" name="Text Box 2"/>
              <p:cNvSpPr txBox="1"/>
              <p:nvPr/>
            </p:nvSpPr>
            <p:spPr>
              <a:xfrm>
                <a:off x="150495" y="6209665"/>
                <a:ext cx="6085840" cy="499110"/>
              </a:xfrm>
              <a:prstGeom prst="rect">
                <a:avLst/>
              </a:prstGeom>
              <a:noFill/>
            </p:spPr>
            <p:txBody>
              <a:bodyPr wrap="square" rtlCol="0">
                <a:spAutoFit/>
              </a:bodyPr>
              <a:lstStyle/>
              <a:p>
                <a:pPr algn="ctr"/>
                <a:r>
                  <a:rPr lang="en-US" sz="2400"/>
                  <a:t>Each row is a word embedding, say in </a:t>
                </a:r>
                <a14:m>
                  <m:oMath xmlns:m="http://schemas.openxmlformats.org/officeDocument/2006/math">
                    <m:sSup>
                      <m:sSupPr>
                        <m:ctrlPr>
                          <a:rPr lang="en-US" sz="2400" i="1">
                            <a:latin typeface="Cambria Math" panose="02040503050406030204" pitchFamily="18" charset="0"/>
                            <a:cs typeface="DejaVu Math TeX Gyre" panose="02000503000000000000" charset="0"/>
                          </a:rPr>
                        </m:ctrlPr>
                      </m:sSupPr>
                      <m:e>
                        <m:r>
                          <a:rPr lang="en-US" sz="2400" i="1">
                            <a:latin typeface="Cambria Math" panose="02040503050406030204" pitchFamily="18" charset="0"/>
                            <a:cs typeface="DejaVu Math TeX Gyre" panose="02000503000000000000" charset="0"/>
                          </a:rPr>
                          <m:t>ℝ</m:t>
                        </m:r>
                      </m:e>
                      <m:sup>
                        <m:r>
                          <a:rPr lang="en-US" sz="2400" i="1">
                            <a:latin typeface="Cambria Math" panose="02040503050406030204" pitchFamily="18" charset="0"/>
                            <a:cs typeface="DejaVu Math TeX Gyre" panose="02000503000000000000" charset="0"/>
                          </a:rPr>
                          <m:t>7</m:t>
                        </m:r>
                      </m:sup>
                    </m:sSup>
                  </m:oMath>
                </a14:m>
                <a:endParaRPr lang="en-US" sz="2400" i="1">
                  <a:latin typeface="Cambria Math" panose="02040503050406030204" pitchFamily="18" charset="0"/>
                  <a:cs typeface="Cambria Math" panose="02040503050406030204" pitchFamily="18" charset="0"/>
                </a:endParaRPr>
              </a:p>
            </p:txBody>
          </p:sp>
        </mc:Choice>
        <mc:Fallback xmlns="">
          <p:sp>
            <p:nvSpPr>
              <p:cNvPr id="3" name="Text Box 2"/>
              <p:cNvSpPr txBox="1">
                <a:spLocks noRot="1" noChangeAspect="1" noMove="1" noResize="1" noEditPoints="1" noAdjustHandles="1" noChangeArrowheads="1" noChangeShapeType="1" noTextEdit="1"/>
              </p:cNvSpPr>
              <p:nvPr/>
            </p:nvSpPr>
            <p:spPr>
              <a:xfrm>
                <a:off x="150495" y="6209665"/>
                <a:ext cx="6085840" cy="499110"/>
              </a:xfrm>
              <a:prstGeom prst="rect">
                <a:avLst/>
              </a:prstGeom>
              <a:blipFill rotWithShape="1">
                <a:blip r:embed="rId3"/>
                <a:stretch>
                  <a:fillRect/>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8" name="Text Box 7"/>
              <p:cNvSpPr txBox="1"/>
              <p:nvPr/>
            </p:nvSpPr>
            <p:spPr>
              <a:xfrm>
                <a:off x="7007225" y="912495"/>
                <a:ext cx="5123180" cy="4565650"/>
              </a:xfrm>
              <a:prstGeom prst="rect">
                <a:avLst/>
              </a:prstGeom>
              <a:noFill/>
            </p:spPr>
            <p:txBody>
              <a:bodyPr wrap="square" rtlCol="0">
                <a:spAutoFit/>
              </a:bodyPr>
              <a:lstStyle/>
              <a:p>
                <a:pPr algn="l"/>
                <a:r>
                  <a:rPr lang="en-US" sz="2400"/>
                  <a:t>A </a:t>
                </a:r>
                <a:r>
                  <a:rPr lang="en-US" sz="2400">
                    <a:effectLst>
                      <a:glow rad="228600">
                        <a:schemeClr val="accent6">
                          <a:satMod val="175000"/>
                          <a:alpha val="40000"/>
                        </a:schemeClr>
                      </a:glow>
                    </a:effectLst>
                  </a:rPr>
                  <a:t>stencil</a:t>
                </a:r>
                <a:r>
                  <a:rPr lang="en-US" sz="2400"/>
                  <a:t> is a matrix in </a:t>
                </a:r>
                <a14:m>
                  <m:oMath xmlns:m="http://schemas.openxmlformats.org/officeDocument/2006/math">
                    <m:sSup>
                      <m:sSupPr>
                        <m:ctrlPr>
                          <a:rPr lang="en-US" sz="2400" i="1">
                            <a:latin typeface="Cambria Math" panose="02040503050406030204" pitchFamily="18" charset="0"/>
                            <a:cs typeface="DejaVu Math TeX Gyre" panose="02000503000000000000" charset="0"/>
                          </a:rPr>
                        </m:ctrlPr>
                      </m:sSupPr>
                      <m:e>
                        <m:r>
                          <a:rPr lang="en-US" sz="2400" i="1">
                            <a:latin typeface="Cambria Math" panose="02040503050406030204" pitchFamily="18" charset="0"/>
                            <a:cs typeface="DejaVu Math TeX Gyre" panose="02000503000000000000" charset="0"/>
                          </a:rPr>
                          <m:t>ℝ</m:t>
                        </m:r>
                      </m:e>
                      <m:sup>
                        <m:r>
                          <a:rPr lang="en-US" sz="2400" i="1">
                            <a:latin typeface="Cambria Math" panose="02040503050406030204" pitchFamily="18" charset="0"/>
                            <a:cs typeface="DejaVu Math TeX Gyre" panose="02000503000000000000" charset="0"/>
                          </a:rPr>
                          <m:t>3×7</m:t>
                        </m:r>
                      </m:sup>
                    </m:sSup>
                  </m:oMath>
                </a14:m>
                <a:r>
                  <a:rPr lang="en-US"/>
                  <a:t>.</a:t>
                </a:r>
                <a:br>
                  <a:rPr lang="en-US"/>
                </a:br>
                <a:r>
                  <a:rPr lang="en-US" sz="2400"/>
                  <a:t>It has 21 learnable parameters. Multiply elementwise with the embedding matrix and add to get a single real value output. Different word order will generally result in a different output value.</a:t>
                </a:r>
                <a:br>
                  <a:rPr lang="en-US" sz="2400"/>
                </a:br>
                <a:br>
                  <a:rPr lang="en-US" sz="2400"/>
                </a:br>
                <a:r>
                  <a:rPr lang="en-US" sz="2400"/>
                  <a:t>Sliding down the stencil one word position, but sharing the same parameters, we get the second element in the output vector.</a:t>
                </a:r>
              </a:p>
            </p:txBody>
          </p:sp>
        </mc:Choice>
        <mc:Fallback xmlns="">
          <p:sp>
            <p:nvSpPr>
              <p:cNvPr id="8" name="Text Box 7"/>
              <p:cNvSpPr txBox="1">
                <a:spLocks noRot="1" noChangeAspect="1" noMove="1" noResize="1" noEditPoints="1" noAdjustHandles="1" noChangeArrowheads="1" noChangeShapeType="1" noTextEdit="1"/>
              </p:cNvSpPr>
              <p:nvPr/>
            </p:nvSpPr>
            <p:spPr>
              <a:xfrm>
                <a:off x="7007225" y="912495"/>
                <a:ext cx="5123180" cy="4565650"/>
              </a:xfrm>
              <a:prstGeom prst="rect">
                <a:avLst/>
              </a:prstGeom>
              <a:blipFill rotWithShape="1">
                <a:blip r:embed="rId4"/>
                <a:stretch>
                  <a:fillRect/>
                </a:stretch>
              </a:blipFill>
            </p:spPr>
            <p:txBody>
              <a:bodyPr/>
              <a:lstStyle/>
              <a:p>
                <a:r>
                  <a:rPr lang="en-US" altLang="en-US">
                    <a:noFill/>
                  </a:rPr>
                  <a:t> </a:t>
                </a:r>
              </a:p>
            </p:txBody>
          </p:sp>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sym typeface="+mn-ea"/>
                <a:hlinkClick r:id="rId2"/>
              </a:rPr>
              <a:t>1d convnet for text</a:t>
            </a:r>
            <a:endParaRPr lang="en-US"/>
          </a:p>
        </p:txBody>
      </p:sp>
      <p:graphicFrame>
        <p:nvGraphicFramePr>
          <p:cNvPr id="5" name="Table 4"/>
          <p:cNvGraphicFramePr/>
          <p:nvPr/>
        </p:nvGraphicFramePr>
        <p:xfrm>
          <a:off x="447040" y="1662430"/>
          <a:ext cx="4167505" cy="3295650"/>
        </p:xfrm>
        <a:graphic>
          <a:graphicData uri="http://schemas.openxmlformats.org/drawingml/2006/table">
            <a:tbl>
              <a:tblPr firstRow="1" bandRow="1">
                <a:tableStyleId>{5C22544A-7EE6-4342-B048-85BDC9FD1C3A}</a:tableStyleId>
              </a:tblPr>
              <a:tblGrid>
                <a:gridCol w="687070">
                  <a:extLst>
                    <a:ext uri="{9D8B030D-6E8A-4147-A177-3AD203B41FA5}">
                      <a16:colId xmlns:a16="http://schemas.microsoft.com/office/drawing/2014/main" val="20000"/>
                    </a:ext>
                  </a:extLst>
                </a:gridCol>
                <a:gridCol w="497205">
                  <a:extLst>
                    <a:ext uri="{9D8B030D-6E8A-4147-A177-3AD203B41FA5}">
                      <a16:colId xmlns:a16="http://schemas.microsoft.com/office/drawing/2014/main" val="20001"/>
                    </a:ext>
                  </a:extLst>
                </a:gridCol>
                <a:gridCol w="497206">
                  <a:extLst>
                    <a:ext uri="{9D8B030D-6E8A-4147-A177-3AD203B41FA5}">
                      <a16:colId xmlns:a16="http://schemas.microsoft.com/office/drawing/2014/main" val="20002"/>
                    </a:ext>
                  </a:extLst>
                </a:gridCol>
                <a:gridCol w="497204">
                  <a:extLst>
                    <a:ext uri="{9D8B030D-6E8A-4147-A177-3AD203B41FA5}">
                      <a16:colId xmlns:a16="http://schemas.microsoft.com/office/drawing/2014/main" val="20003"/>
                    </a:ext>
                  </a:extLst>
                </a:gridCol>
                <a:gridCol w="497205">
                  <a:extLst>
                    <a:ext uri="{9D8B030D-6E8A-4147-A177-3AD203B41FA5}">
                      <a16:colId xmlns:a16="http://schemas.microsoft.com/office/drawing/2014/main" val="20004"/>
                    </a:ext>
                  </a:extLst>
                </a:gridCol>
                <a:gridCol w="497205">
                  <a:extLst>
                    <a:ext uri="{9D8B030D-6E8A-4147-A177-3AD203B41FA5}">
                      <a16:colId xmlns:a16="http://schemas.microsoft.com/office/drawing/2014/main" val="20005"/>
                    </a:ext>
                  </a:extLst>
                </a:gridCol>
                <a:gridCol w="497205">
                  <a:extLst>
                    <a:ext uri="{9D8B030D-6E8A-4147-A177-3AD203B41FA5}">
                      <a16:colId xmlns:a16="http://schemas.microsoft.com/office/drawing/2014/main" val="20006"/>
                    </a:ext>
                  </a:extLst>
                </a:gridCol>
                <a:gridCol w="497205">
                  <a:extLst>
                    <a:ext uri="{9D8B030D-6E8A-4147-A177-3AD203B41FA5}">
                      <a16:colId xmlns:a16="http://schemas.microsoft.com/office/drawing/2014/main" val="20007"/>
                    </a:ext>
                  </a:extLst>
                </a:gridCol>
              </a:tblGrid>
              <a:tr h="549275">
                <a:tc>
                  <a:txBody>
                    <a:bodyPr/>
                    <a:lstStyle/>
                    <a:p>
                      <a:pPr>
                        <a:buNone/>
                      </a:pPr>
                      <a:r>
                        <a:rPr lang="en-US" b="0">
                          <a:ln>
                            <a:noFill/>
                          </a:ln>
                          <a:solidFill>
                            <a:schemeClr val="tx1"/>
                          </a:solidFill>
                        </a:rPr>
                        <a:t>the</a:t>
                      </a:r>
                    </a:p>
                  </a:txBody>
                  <a:tcPr anchor="ctr">
                    <a:lnL>
                      <a:noFill/>
                    </a:lnL>
                    <a:lnR w="12700">
                      <a:solidFill>
                        <a:schemeClr val="tx1"/>
                      </a:solidFill>
                      <a:prstDash val="solid"/>
                    </a:lnR>
                    <a:lnT>
                      <a:noFill/>
                    </a:lnT>
                    <a:lnB>
                      <a:noFill/>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00"/>
                  </a:ext>
                </a:extLst>
              </a:tr>
              <a:tr h="549275">
                <a:tc>
                  <a:txBody>
                    <a:bodyPr/>
                    <a:lstStyle/>
                    <a:p>
                      <a:pPr>
                        <a:buNone/>
                      </a:pPr>
                      <a:r>
                        <a:rPr lang="en-US">
                          <a:ln>
                            <a:noFill/>
                          </a:ln>
                          <a:solidFill>
                            <a:schemeClr val="tx1"/>
                          </a:solidFill>
                        </a:rPr>
                        <a:t>cat</a:t>
                      </a:r>
                    </a:p>
                  </a:txBody>
                  <a:tcPr anchor="ctr">
                    <a:lnL>
                      <a:noFill/>
                    </a:lnL>
                    <a:lnR w="12700">
                      <a:solidFill>
                        <a:schemeClr val="tx1"/>
                      </a:solidFill>
                      <a:prstDash val="solid"/>
                    </a:lnR>
                    <a:lnT>
                      <a:noFill/>
                    </a:lnT>
                    <a:lnB>
                      <a:noFill/>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01"/>
                  </a:ext>
                </a:extLst>
              </a:tr>
              <a:tr h="549275">
                <a:tc>
                  <a:txBody>
                    <a:bodyPr/>
                    <a:lstStyle/>
                    <a:p>
                      <a:pPr>
                        <a:buNone/>
                      </a:pPr>
                      <a:r>
                        <a:rPr lang="en-US">
                          <a:ln>
                            <a:noFill/>
                          </a:ln>
                          <a:solidFill>
                            <a:schemeClr val="tx1"/>
                          </a:solidFill>
                        </a:rPr>
                        <a:t>sat</a:t>
                      </a:r>
                    </a:p>
                  </a:txBody>
                  <a:tcPr anchor="ctr">
                    <a:lnL>
                      <a:noFill/>
                    </a:lnL>
                    <a:lnR w="12700">
                      <a:solidFill>
                        <a:schemeClr val="tx1"/>
                      </a:solidFill>
                      <a:prstDash val="solid"/>
                    </a:lnR>
                    <a:lnT>
                      <a:noFill/>
                    </a:lnT>
                    <a:lnB>
                      <a:noFill/>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02"/>
                  </a:ext>
                </a:extLst>
              </a:tr>
              <a:tr h="549275">
                <a:tc>
                  <a:txBody>
                    <a:bodyPr/>
                    <a:lstStyle/>
                    <a:p>
                      <a:pPr>
                        <a:buNone/>
                      </a:pPr>
                      <a:r>
                        <a:rPr lang="en-US">
                          <a:ln>
                            <a:noFill/>
                          </a:ln>
                          <a:solidFill>
                            <a:schemeClr val="tx1"/>
                          </a:solidFill>
                        </a:rPr>
                        <a:t>on</a:t>
                      </a:r>
                    </a:p>
                  </a:txBody>
                  <a:tcPr anchor="ctr">
                    <a:lnL>
                      <a:noFill/>
                    </a:lnL>
                    <a:lnR w="12700">
                      <a:solidFill>
                        <a:schemeClr val="tx1"/>
                      </a:solidFill>
                      <a:prstDash val="solid"/>
                    </a:lnR>
                    <a:lnT>
                      <a:noFill/>
                    </a:lnT>
                    <a:lnB>
                      <a:noFill/>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7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7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7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7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7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7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75000"/>
                      </a:schemeClr>
                    </a:solidFill>
                  </a:tcPr>
                </a:tc>
                <a:extLst>
                  <a:ext uri="{0D108BD9-81ED-4DB2-BD59-A6C34878D82A}">
                    <a16:rowId xmlns:a16="http://schemas.microsoft.com/office/drawing/2014/main" val="10003"/>
                  </a:ext>
                </a:extLst>
              </a:tr>
              <a:tr h="549275">
                <a:tc>
                  <a:txBody>
                    <a:bodyPr/>
                    <a:lstStyle/>
                    <a:p>
                      <a:pPr>
                        <a:buNone/>
                      </a:pPr>
                      <a:r>
                        <a:rPr lang="en-US">
                          <a:ln>
                            <a:noFill/>
                          </a:ln>
                          <a:solidFill>
                            <a:schemeClr val="tx1"/>
                          </a:solidFill>
                        </a:rPr>
                        <a:t>the</a:t>
                      </a:r>
                    </a:p>
                  </a:txBody>
                  <a:tcPr anchor="ctr">
                    <a:lnL>
                      <a:noFill/>
                    </a:lnL>
                    <a:lnR w="12700">
                      <a:solidFill>
                        <a:schemeClr val="tx1"/>
                      </a:solidFill>
                      <a:prstDash val="solid"/>
                    </a:lnR>
                    <a:lnT>
                      <a:noFill/>
                    </a:lnT>
                    <a:lnB>
                      <a:noFill/>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7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7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7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7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7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7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75000"/>
                      </a:schemeClr>
                    </a:solidFill>
                  </a:tcPr>
                </a:tc>
                <a:extLst>
                  <a:ext uri="{0D108BD9-81ED-4DB2-BD59-A6C34878D82A}">
                    <a16:rowId xmlns:a16="http://schemas.microsoft.com/office/drawing/2014/main" val="10004"/>
                  </a:ext>
                </a:extLst>
              </a:tr>
              <a:tr h="549275">
                <a:tc>
                  <a:txBody>
                    <a:bodyPr/>
                    <a:lstStyle/>
                    <a:p>
                      <a:pPr>
                        <a:buNone/>
                      </a:pPr>
                      <a:r>
                        <a:rPr lang="en-US">
                          <a:ln>
                            <a:noFill/>
                          </a:ln>
                          <a:solidFill>
                            <a:schemeClr val="tx1"/>
                          </a:solidFill>
                        </a:rPr>
                        <a:t>mat</a:t>
                      </a:r>
                    </a:p>
                  </a:txBody>
                  <a:tcPr anchor="ctr">
                    <a:lnL>
                      <a:noFill/>
                    </a:lnL>
                    <a:lnR w="12700">
                      <a:solidFill>
                        <a:schemeClr val="tx1"/>
                      </a:solidFill>
                      <a:prstDash val="solid"/>
                    </a:lnR>
                    <a:lnT>
                      <a:noFill/>
                    </a:lnT>
                    <a:lnB>
                      <a:noFill/>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7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7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7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7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7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7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75000"/>
                      </a:schemeClr>
                    </a:solidFill>
                  </a:tcPr>
                </a:tc>
                <a:extLst>
                  <a:ext uri="{0D108BD9-81ED-4DB2-BD59-A6C34878D82A}">
                    <a16:rowId xmlns:a16="http://schemas.microsoft.com/office/drawing/2014/main" val="10005"/>
                  </a:ext>
                </a:extLst>
              </a:tr>
            </a:tbl>
          </a:graphicData>
        </a:graphic>
      </p:graphicFrame>
      <p:graphicFrame>
        <p:nvGraphicFramePr>
          <p:cNvPr id="7" name="Table 6"/>
          <p:cNvGraphicFramePr/>
          <p:nvPr/>
        </p:nvGraphicFramePr>
        <p:xfrm>
          <a:off x="6087745" y="2211705"/>
          <a:ext cx="497205" cy="2197100"/>
        </p:xfrm>
        <a:graphic>
          <a:graphicData uri="http://schemas.openxmlformats.org/drawingml/2006/table">
            <a:tbl>
              <a:tblPr firstRow="1" bandRow="1">
                <a:tableStyleId>{5C22544A-7EE6-4342-B048-85BDC9FD1C3A}</a:tableStyleId>
              </a:tblPr>
              <a:tblGrid>
                <a:gridCol w="497205">
                  <a:extLst>
                    <a:ext uri="{9D8B030D-6E8A-4147-A177-3AD203B41FA5}">
                      <a16:colId xmlns:a16="http://schemas.microsoft.com/office/drawing/2014/main" val="20000"/>
                    </a:ext>
                  </a:extLst>
                </a:gridCol>
              </a:tblGrid>
              <a:tr h="549275">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extLst>
                  <a:ext uri="{0D108BD9-81ED-4DB2-BD59-A6C34878D82A}">
                    <a16:rowId xmlns:a16="http://schemas.microsoft.com/office/drawing/2014/main" val="10000"/>
                  </a:ext>
                </a:extLst>
              </a:tr>
              <a:tr h="549275">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40000"/>
                        <a:lumOff val="60000"/>
                      </a:schemeClr>
                    </a:solidFill>
                  </a:tcPr>
                </a:tc>
                <a:extLst>
                  <a:ext uri="{0D108BD9-81ED-4DB2-BD59-A6C34878D82A}">
                    <a16:rowId xmlns:a16="http://schemas.microsoft.com/office/drawing/2014/main" val="10001"/>
                  </a:ext>
                </a:extLst>
              </a:tr>
              <a:tr h="549275">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60000"/>
                        <a:lumOff val="40000"/>
                      </a:schemeClr>
                    </a:solidFill>
                  </a:tcPr>
                </a:tc>
                <a:extLst>
                  <a:ext uri="{0D108BD9-81ED-4DB2-BD59-A6C34878D82A}">
                    <a16:rowId xmlns:a16="http://schemas.microsoft.com/office/drawing/2014/main" val="10002"/>
                  </a:ext>
                </a:extLst>
              </a:tr>
              <a:tr h="549275">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75000"/>
                      </a:schemeClr>
                    </a:solidFill>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3" name="Text Box 2"/>
              <p:cNvSpPr txBox="1"/>
              <p:nvPr/>
            </p:nvSpPr>
            <p:spPr>
              <a:xfrm>
                <a:off x="150495" y="6209665"/>
                <a:ext cx="6085840" cy="499110"/>
              </a:xfrm>
              <a:prstGeom prst="rect">
                <a:avLst/>
              </a:prstGeom>
              <a:noFill/>
            </p:spPr>
            <p:txBody>
              <a:bodyPr wrap="square" rtlCol="0">
                <a:spAutoFit/>
              </a:bodyPr>
              <a:lstStyle/>
              <a:p>
                <a:pPr algn="ctr"/>
                <a:r>
                  <a:rPr lang="en-US" sz="2400"/>
                  <a:t>Each row is a word embedding, say in </a:t>
                </a:r>
                <a14:m>
                  <m:oMath xmlns:m="http://schemas.openxmlformats.org/officeDocument/2006/math">
                    <m:sSup>
                      <m:sSupPr>
                        <m:ctrlPr>
                          <a:rPr lang="en-US" sz="2400" i="1">
                            <a:latin typeface="Cambria Math" panose="02040503050406030204" pitchFamily="18" charset="0"/>
                            <a:cs typeface="DejaVu Math TeX Gyre" panose="02000503000000000000" charset="0"/>
                          </a:rPr>
                        </m:ctrlPr>
                      </m:sSupPr>
                      <m:e>
                        <m:r>
                          <a:rPr lang="en-US" sz="2400" i="1">
                            <a:latin typeface="Cambria Math" panose="02040503050406030204" pitchFamily="18" charset="0"/>
                            <a:cs typeface="DejaVu Math TeX Gyre" panose="02000503000000000000" charset="0"/>
                          </a:rPr>
                          <m:t>ℝ</m:t>
                        </m:r>
                      </m:e>
                      <m:sup>
                        <m:r>
                          <a:rPr lang="en-US" sz="2400" i="1">
                            <a:latin typeface="Cambria Math" panose="02040503050406030204" pitchFamily="18" charset="0"/>
                            <a:cs typeface="DejaVu Math TeX Gyre" panose="02000503000000000000" charset="0"/>
                          </a:rPr>
                          <m:t>7</m:t>
                        </m:r>
                      </m:sup>
                    </m:sSup>
                  </m:oMath>
                </a14:m>
                <a:endParaRPr lang="en-US" sz="2400" i="1">
                  <a:latin typeface="Cambria Math" panose="02040503050406030204" pitchFamily="18" charset="0"/>
                  <a:cs typeface="Cambria Math" panose="02040503050406030204" pitchFamily="18" charset="0"/>
                </a:endParaRPr>
              </a:p>
            </p:txBody>
          </p:sp>
        </mc:Choice>
        <mc:Fallback xmlns="">
          <p:sp>
            <p:nvSpPr>
              <p:cNvPr id="3" name="Text Box 2"/>
              <p:cNvSpPr txBox="1">
                <a:spLocks noRot="1" noChangeAspect="1" noMove="1" noResize="1" noEditPoints="1" noAdjustHandles="1" noChangeArrowheads="1" noChangeShapeType="1" noTextEdit="1"/>
              </p:cNvSpPr>
              <p:nvPr/>
            </p:nvSpPr>
            <p:spPr>
              <a:xfrm>
                <a:off x="150495" y="6209665"/>
                <a:ext cx="6085840" cy="499110"/>
              </a:xfrm>
              <a:prstGeom prst="rect">
                <a:avLst/>
              </a:prstGeom>
              <a:blipFill rotWithShape="1">
                <a:blip r:embed="rId3"/>
                <a:stretch>
                  <a:fillRect/>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8" name="Text Box 7"/>
              <p:cNvSpPr txBox="1"/>
              <p:nvPr/>
            </p:nvSpPr>
            <p:spPr>
              <a:xfrm>
                <a:off x="7007225" y="912495"/>
                <a:ext cx="5123180" cy="5673725"/>
              </a:xfrm>
              <a:prstGeom prst="rect">
                <a:avLst/>
              </a:prstGeom>
              <a:noFill/>
            </p:spPr>
            <p:txBody>
              <a:bodyPr wrap="square" rtlCol="0">
                <a:spAutoFit/>
              </a:bodyPr>
              <a:lstStyle/>
              <a:p>
                <a:pPr algn="l"/>
                <a:r>
                  <a:rPr lang="en-US" sz="2400"/>
                  <a:t>A </a:t>
                </a:r>
                <a:r>
                  <a:rPr lang="en-US" sz="2400">
                    <a:effectLst>
                      <a:glow rad="228600">
                        <a:schemeClr val="accent6">
                          <a:satMod val="175000"/>
                          <a:alpha val="40000"/>
                        </a:schemeClr>
                      </a:glow>
                    </a:effectLst>
                  </a:rPr>
                  <a:t>stencil</a:t>
                </a:r>
                <a:r>
                  <a:rPr lang="en-US" sz="2400"/>
                  <a:t> is a matrix in </a:t>
                </a:r>
                <a14:m>
                  <m:oMath xmlns:m="http://schemas.openxmlformats.org/officeDocument/2006/math">
                    <m:sSup>
                      <m:sSupPr>
                        <m:ctrlPr>
                          <a:rPr lang="en-US" sz="2400" i="1">
                            <a:latin typeface="Cambria Math" panose="02040503050406030204" pitchFamily="18" charset="0"/>
                            <a:cs typeface="DejaVu Math TeX Gyre" panose="02000503000000000000" charset="0"/>
                          </a:rPr>
                        </m:ctrlPr>
                      </m:sSupPr>
                      <m:e>
                        <m:r>
                          <a:rPr lang="en-US" sz="2400" i="1">
                            <a:latin typeface="Cambria Math" panose="02040503050406030204" pitchFamily="18" charset="0"/>
                            <a:cs typeface="DejaVu Math TeX Gyre" panose="02000503000000000000" charset="0"/>
                          </a:rPr>
                          <m:t>ℝ</m:t>
                        </m:r>
                      </m:e>
                      <m:sup>
                        <m:r>
                          <a:rPr lang="en-US" sz="2400" i="1">
                            <a:latin typeface="Cambria Math" panose="02040503050406030204" pitchFamily="18" charset="0"/>
                            <a:cs typeface="DejaVu Math TeX Gyre" panose="02000503000000000000" charset="0"/>
                          </a:rPr>
                          <m:t>3×7</m:t>
                        </m:r>
                      </m:sup>
                    </m:sSup>
                  </m:oMath>
                </a14:m>
                <a:r>
                  <a:rPr lang="en-US"/>
                  <a:t>.</a:t>
                </a:r>
                <a:br>
                  <a:rPr lang="en-US"/>
                </a:br>
                <a:r>
                  <a:rPr lang="en-US" sz="2400"/>
                  <a:t>It has 21 learnable parameters. Multiply elementwise with the embedding matrix and add to get a single real value output. Different word order will generally result in a different output value.</a:t>
                </a:r>
                <a:br>
                  <a:rPr lang="en-US" sz="2400"/>
                </a:br>
                <a:br>
                  <a:rPr lang="en-US" sz="2400"/>
                </a:br>
                <a:r>
                  <a:rPr lang="en-US" sz="2400"/>
                  <a:t>Sliding down the stencil one word position, but sharing the same parameters, we get the second element in the output vector.</a:t>
                </a:r>
              </a:p>
              <a:p>
                <a:pPr algn="l"/>
                <a:endParaRPr lang="en-US" sz="2400"/>
              </a:p>
              <a:p>
                <a:pPr algn="l"/>
                <a:r>
                  <a:rPr lang="en-US" sz="2400"/>
                  <a:t>Four sliding positions lead to four real values in output vector.</a:t>
                </a:r>
              </a:p>
            </p:txBody>
          </p:sp>
        </mc:Choice>
        <mc:Fallback xmlns="">
          <p:sp>
            <p:nvSpPr>
              <p:cNvPr id="8" name="Text Box 7"/>
              <p:cNvSpPr txBox="1">
                <a:spLocks noRot="1" noChangeAspect="1" noMove="1" noResize="1" noEditPoints="1" noAdjustHandles="1" noChangeArrowheads="1" noChangeShapeType="1" noTextEdit="1"/>
              </p:cNvSpPr>
              <p:nvPr/>
            </p:nvSpPr>
            <p:spPr>
              <a:xfrm>
                <a:off x="7007225" y="912495"/>
                <a:ext cx="5123180" cy="5673725"/>
              </a:xfrm>
              <a:prstGeom prst="rect">
                <a:avLst/>
              </a:prstGeom>
              <a:blipFill rotWithShape="1">
                <a:blip r:embed="rId4"/>
                <a:stretch>
                  <a:fillRect/>
                </a:stretch>
              </a:blipFill>
            </p:spPr>
            <p:txBody>
              <a:bodyPr/>
              <a:lstStyle/>
              <a:p>
                <a:r>
                  <a:rPr lang="en-US" altLang="en-US">
                    <a:noFill/>
                  </a:rPr>
                  <a:t> </a:t>
                </a:r>
              </a:p>
            </p:txBody>
          </p:sp>
        </mc:Fallback>
      </mc:AlternateContent>
      <p:sp>
        <p:nvSpPr>
          <p:cNvPr id="6" name="Trapezoid 5"/>
          <p:cNvSpPr/>
          <p:nvPr/>
        </p:nvSpPr>
        <p:spPr>
          <a:xfrm rot="5400000">
            <a:off x="4521835" y="3392170"/>
            <a:ext cx="1658620" cy="1473200"/>
          </a:xfrm>
          <a:prstGeom prst="trapezoid">
            <a:avLst>
              <a:gd name="adj" fmla="val 37241"/>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able 10"/>
          <p:cNvGraphicFramePr/>
          <p:nvPr/>
        </p:nvGraphicFramePr>
        <p:xfrm>
          <a:off x="6236335" y="2111375"/>
          <a:ext cx="497205" cy="2197100"/>
        </p:xfrm>
        <a:graphic>
          <a:graphicData uri="http://schemas.openxmlformats.org/drawingml/2006/table">
            <a:tbl>
              <a:tblPr firstRow="1" bandRow="1">
                <a:tableStyleId>{5C22544A-7EE6-4342-B048-85BDC9FD1C3A}</a:tableStyleId>
              </a:tblPr>
              <a:tblGrid>
                <a:gridCol w="497205">
                  <a:extLst>
                    <a:ext uri="{9D8B030D-6E8A-4147-A177-3AD203B41FA5}">
                      <a16:colId xmlns:a16="http://schemas.microsoft.com/office/drawing/2014/main" val="20000"/>
                    </a:ext>
                  </a:extLst>
                </a:gridCol>
              </a:tblGrid>
              <a:tr h="549275">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extLst>
                  <a:ext uri="{0D108BD9-81ED-4DB2-BD59-A6C34878D82A}">
                    <a16:rowId xmlns:a16="http://schemas.microsoft.com/office/drawing/2014/main" val="10000"/>
                  </a:ext>
                </a:extLst>
              </a:tr>
              <a:tr h="549275">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40000"/>
                        <a:lumOff val="60000"/>
                      </a:schemeClr>
                    </a:solidFill>
                  </a:tcPr>
                </a:tc>
                <a:extLst>
                  <a:ext uri="{0D108BD9-81ED-4DB2-BD59-A6C34878D82A}">
                    <a16:rowId xmlns:a16="http://schemas.microsoft.com/office/drawing/2014/main" val="10001"/>
                  </a:ext>
                </a:extLst>
              </a:tr>
              <a:tr h="549275">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60000"/>
                        <a:lumOff val="40000"/>
                      </a:schemeClr>
                    </a:solidFill>
                  </a:tcPr>
                </a:tc>
                <a:extLst>
                  <a:ext uri="{0D108BD9-81ED-4DB2-BD59-A6C34878D82A}">
                    <a16:rowId xmlns:a16="http://schemas.microsoft.com/office/drawing/2014/main" val="10002"/>
                  </a:ext>
                </a:extLst>
              </a:tr>
              <a:tr h="549275">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75000"/>
                      </a:schemeClr>
                    </a:solidFill>
                  </a:tcPr>
                </a:tc>
                <a:extLst>
                  <a:ext uri="{0D108BD9-81ED-4DB2-BD59-A6C34878D82A}">
                    <a16:rowId xmlns:a16="http://schemas.microsoft.com/office/drawing/2014/main" val="10003"/>
                  </a:ext>
                </a:extLst>
              </a:tr>
            </a:tbl>
          </a:graphicData>
        </a:graphic>
      </p:graphicFrame>
      <p:sp>
        <p:nvSpPr>
          <p:cNvPr id="10" name="Trapezoid 9"/>
          <p:cNvSpPr/>
          <p:nvPr/>
        </p:nvSpPr>
        <p:spPr>
          <a:xfrm rot="5400000">
            <a:off x="4521835" y="1755140"/>
            <a:ext cx="1658620" cy="1473200"/>
          </a:xfrm>
          <a:prstGeom prst="trapezoid">
            <a:avLst>
              <a:gd name="adj" fmla="val 37241"/>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p:cNvSpPr>
            <a:spLocks noGrp="1"/>
          </p:cNvSpPr>
          <p:nvPr>
            <p:ph type="title"/>
          </p:nvPr>
        </p:nvSpPr>
        <p:spPr/>
        <p:txBody>
          <a:bodyPr/>
          <a:lstStyle/>
          <a:p>
            <a:r>
              <a:rPr lang="en-US">
                <a:sym typeface="+mn-ea"/>
                <a:hlinkClick r:id="rId2"/>
              </a:rPr>
              <a:t>1d convnet for text</a:t>
            </a:r>
            <a:endParaRPr lang="en-US"/>
          </a:p>
        </p:txBody>
      </p:sp>
      <p:graphicFrame>
        <p:nvGraphicFramePr>
          <p:cNvPr id="7" name="Table 6"/>
          <p:cNvGraphicFramePr/>
          <p:nvPr/>
        </p:nvGraphicFramePr>
        <p:xfrm>
          <a:off x="6087745" y="2211705"/>
          <a:ext cx="497205" cy="2197100"/>
        </p:xfrm>
        <a:graphic>
          <a:graphicData uri="http://schemas.openxmlformats.org/drawingml/2006/table">
            <a:tbl>
              <a:tblPr firstRow="1" bandRow="1">
                <a:tableStyleId>{5C22544A-7EE6-4342-B048-85BDC9FD1C3A}</a:tableStyleId>
              </a:tblPr>
              <a:tblGrid>
                <a:gridCol w="497205">
                  <a:extLst>
                    <a:ext uri="{9D8B030D-6E8A-4147-A177-3AD203B41FA5}">
                      <a16:colId xmlns:a16="http://schemas.microsoft.com/office/drawing/2014/main" val="20000"/>
                    </a:ext>
                  </a:extLst>
                </a:gridCol>
              </a:tblGrid>
              <a:tr h="549275">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0"/>
                  </a:ext>
                </a:extLst>
              </a:tr>
              <a:tr h="549275">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1"/>
                  </a:ext>
                </a:extLst>
              </a:tr>
              <a:tr h="549275">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60000"/>
                        <a:lumOff val="40000"/>
                      </a:schemeClr>
                    </a:solidFill>
                  </a:tcPr>
                </a:tc>
                <a:extLst>
                  <a:ext uri="{0D108BD9-81ED-4DB2-BD59-A6C34878D82A}">
                    <a16:rowId xmlns:a16="http://schemas.microsoft.com/office/drawing/2014/main" val="10002"/>
                  </a:ext>
                </a:extLst>
              </a:tr>
              <a:tr h="549275">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75000"/>
                      </a:schemeClr>
                    </a:solidFill>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3" name="Text Box 2"/>
              <p:cNvSpPr txBox="1"/>
              <p:nvPr/>
            </p:nvSpPr>
            <p:spPr>
              <a:xfrm>
                <a:off x="150495" y="6209665"/>
                <a:ext cx="6085840" cy="499110"/>
              </a:xfrm>
              <a:prstGeom prst="rect">
                <a:avLst/>
              </a:prstGeom>
              <a:noFill/>
            </p:spPr>
            <p:txBody>
              <a:bodyPr wrap="square" rtlCol="0">
                <a:spAutoFit/>
              </a:bodyPr>
              <a:lstStyle/>
              <a:p>
                <a:pPr algn="ctr"/>
                <a:r>
                  <a:rPr lang="en-US" sz="2400"/>
                  <a:t>Each row is a word embedding, say in </a:t>
                </a:r>
                <a14:m>
                  <m:oMath xmlns:m="http://schemas.openxmlformats.org/officeDocument/2006/math">
                    <m:sSup>
                      <m:sSupPr>
                        <m:ctrlPr>
                          <a:rPr lang="en-US" sz="2400" i="1">
                            <a:latin typeface="Cambria Math" panose="02040503050406030204" pitchFamily="18" charset="0"/>
                            <a:cs typeface="DejaVu Math TeX Gyre" panose="02000503000000000000" charset="0"/>
                          </a:rPr>
                        </m:ctrlPr>
                      </m:sSupPr>
                      <m:e>
                        <m:r>
                          <a:rPr lang="en-US" sz="2400" i="1">
                            <a:latin typeface="Cambria Math" panose="02040503050406030204" pitchFamily="18" charset="0"/>
                            <a:cs typeface="DejaVu Math TeX Gyre" panose="02000503000000000000" charset="0"/>
                          </a:rPr>
                          <m:t>ℝ</m:t>
                        </m:r>
                      </m:e>
                      <m:sup>
                        <m:r>
                          <a:rPr lang="en-US" sz="2400" i="1">
                            <a:latin typeface="Cambria Math" panose="02040503050406030204" pitchFamily="18" charset="0"/>
                            <a:cs typeface="DejaVu Math TeX Gyre" panose="02000503000000000000" charset="0"/>
                          </a:rPr>
                          <m:t>7</m:t>
                        </m:r>
                      </m:sup>
                    </m:sSup>
                  </m:oMath>
                </a14:m>
                <a:endParaRPr lang="en-US" sz="2400" i="1">
                  <a:latin typeface="Cambria Math" panose="02040503050406030204" pitchFamily="18" charset="0"/>
                  <a:cs typeface="Cambria Math" panose="02040503050406030204" pitchFamily="18" charset="0"/>
                </a:endParaRPr>
              </a:p>
            </p:txBody>
          </p:sp>
        </mc:Choice>
        <mc:Fallback xmlns="">
          <p:sp>
            <p:nvSpPr>
              <p:cNvPr id="3" name="Text Box 2"/>
              <p:cNvSpPr txBox="1">
                <a:spLocks noRot="1" noChangeAspect="1" noMove="1" noResize="1" noEditPoints="1" noAdjustHandles="1" noChangeArrowheads="1" noChangeShapeType="1" noTextEdit="1"/>
              </p:cNvSpPr>
              <p:nvPr/>
            </p:nvSpPr>
            <p:spPr>
              <a:xfrm>
                <a:off x="150495" y="6209665"/>
                <a:ext cx="6085840" cy="499110"/>
              </a:xfrm>
              <a:prstGeom prst="rect">
                <a:avLst/>
              </a:prstGeom>
              <a:blipFill rotWithShape="1">
                <a:blip r:embed="rId3"/>
                <a:stretch>
                  <a:fillRect/>
                </a:stretch>
              </a:blipFill>
            </p:spPr>
            <p:txBody>
              <a:bodyPr/>
              <a:lstStyle/>
              <a:p>
                <a:r>
                  <a:rPr lang="en-US" altLang="en-US">
                    <a:noFill/>
                  </a:rPr>
                  <a:t> </a:t>
                </a:r>
              </a:p>
            </p:txBody>
          </p:sp>
        </mc:Fallback>
      </mc:AlternateContent>
      <p:sp>
        <p:nvSpPr>
          <p:cNvPr id="8" name="Text Box 7"/>
          <p:cNvSpPr txBox="1"/>
          <p:nvPr/>
        </p:nvSpPr>
        <p:spPr>
          <a:xfrm>
            <a:off x="7007225" y="912495"/>
            <a:ext cx="5123180" cy="1198880"/>
          </a:xfrm>
          <a:prstGeom prst="rect">
            <a:avLst/>
          </a:prstGeom>
          <a:noFill/>
        </p:spPr>
        <p:txBody>
          <a:bodyPr wrap="square" rtlCol="0">
            <a:spAutoFit/>
          </a:bodyPr>
          <a:lstStyle/>
          <a:p>
            <a:pPr algn="l"/>
            <a:r>
              <a:rPr lang="en-US" sz="2400"/>
              <a:t>Like the green stencil sliding over the text, we can have a blue stencil with 21 more trainable parameters.</a:t>
            </a:r>
          </a:p>
        </p:txBody>
      </p:sp>
      <p:sp>
        <p:nvSpPr>
          <p:cNvPr id="9" name="Trapezoid 8"/>
          <p:cNvSpPr/>
          <p:nvPr/>
        </p:nvSpPr>
        <p:spPr>
          <a:xfrm rot="5400000">
            <a:off x="4521835" y="2304415"/>
            <a:ext cx="1658620" cy="1473200"/>
          </a:xfrm>
          <a:prstGeom prst="trapezoid">
            <a:avLst>
              <a:gd name="adj" fmla="val 37241"/>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rapezoid 1"/>
          <p:cNvSpPr/>
          <p:nvPr/>
        </p:nvSpPr>
        <p:spPr>
          <a:xfrm rot="5400000">
            <a:off x="4521835" y="2838450"/>
            <a:ext cx="1658620" cy="1473200"/>
          </a:xfrm>
          <a:prstGeom prst="trapezoid">
            <a:avLst>
              <a:gd name="adj" fmla="val 37241"/>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rapezoid 5"/>
          <p:cNvSpPr/>
          <p:nvPr/>
        </p:nvSpPr>
        <p:spPr>
          <a:xfrm rot="5400000">
            <a:off x="4521835" y="3392170"/>
            <a:ext cx="1658620" cy="1473200"/>
          </a:xfrm>
          <a:prstGeom prst="trapezoid">
            <a:avLst>
              <a:gd name="adj" fmla="val 37241"/>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Table 4"/>
          <p:cNvGraphicFramePr/>
          <p:nvPr/>
        </p:nvGraphicFramePr>
        <p:xfrm>
          <a:off x="447040" y="1662430"/>
          <a:ext cx="4167505" cy="3295650"/>
        </p:xfrm>
        <a:graphic>
          <a:graphicData uri="http://schemas.openxmlformats.org/drawingml/2006/table">
            <a:tbl>
              <a:tblPr firstRow="1" bandRow="1">
                <a:tableStyleId>{5C22544A-7EE6-4342-B048-85BDC9FD1C3A}</a:tableStyleId>
              </a:tblPr>
              <a:tblGrid>
                <a:gridCol w="687070">
                  <a:extLst>
                    <a:ext uri="{9D8B030D-6E8A-4147-A177-3AD203B41FA5}">
                      <a16:colId xmlns:a16="http://schemas.microsoft.com/office/drawing/2014/main" val="20000"/>
                    </a:ext>
                  </a:extLst>
                </a:gridCol>
                <a:gridCol w="497205">
                  <a:extLst>
                    <a:ext uri="{9D8B030D-6E8A-4147-A177-3AD203B41FA5}">
                      <a16:colId xmlns:a16="http://schemas.microsoft.com/office/drawing/2014/main" val="20001"/>
                    </a:ext>
                  </a:extLst>
                </a:gridCol>
                <a:gridCol w="497206">
                  <a:extLst>
                    <a:ext uri="{9D8B030D-6E8A-4147-A177-3AD203B41FA5}">
                      <a16:colId xmlns:a16="http://schemas.microsoft.com/office/drawing/2014/main" val="20002"/>
                    </a:ext>
                  </a:extLst>
                </a:gridCol>
                <a:gridCol w="497204">
                  <a:extLst>
                    <a:ext uri="{9D8B030D-6E8A-4147-A177-3AD203B41FA5}">
                      <a16:colId xmlns:a16="http://schemas.microsoft.com/office/drawing/2014/main" val="20003"/>
                    </a:ext>
                  </a:extLst>
                </a:gridCol>
                <a:gridCol w="497205">
                  <a:extLst>
                    <a:ext uri="{9D8B030D-6E8A-4147-A177-3AD203B41FA5}">
                      <a16:colId xmlns:a16="http://schemas.microsoft.com/office/drawing/2014/main" val="20004"/>
                    </a:ext>
                  </a:extLst>
                </a:gridCol>
                <a:gridCol w="497205">
                  <a:extLst>
                    <a:ext uri="{9D8B030D-6E8A-4147-A177-3AD203B41FA5}">
                      <a16:colId xmlns:a16="http://schemas.microsoft.com/office/drawing/2014/main" val="20005"/>
                    </a:ext>
                  </a:extLst>
                </a:gridCol>
                <a:gridCol w="497205">
                  <a:extLst>
                    <a:ext uri="{9D8B030D-6E8A-4147-A177-3AD203B41FA5}">
                      <a16:colId xmlns:a16="http://schemas.microsoft.com/office/drawing/2014/main" val="20006"/>
                    </a:ext>
                  </a:extLst>
                </a:gridCol>
                <a:gridCol w="497205">
                  <a:extLst>
                    <a:ext uri="{9D8B030D-6E8A-4147-A177-3AD203B41FA5}">
                      <a16:colId xmlns:a16="http://schemas.microsoft.com/office/drawing/2014/main" val="20007"/>
                    </a:ext>
                  </a:extLst>
                </a:gridCol>
              </a:tblGrid>
              <a:tr h="549275">
                <a:tc>
                  <a:txBody>
                    <a:bodyPr/>
                    <a:lstStyle/>
                    <a:p>
                      <a:pPr>
                        <a:buNone/>
                      </a:pPr>
                      <a:r>
                        <a:rPr lang="en-US" b="0">
                          <a:ln>
                            <a:noFill/>
                          </a:ln>
                          <a:solidFill>
                            <a:schemeClr val="tx1"/>
                          </a:solidFill>
                        </a:rPr>
                        <a:t>the</a:t>
                      </a:r>
                    </a:p>
                  </a:txBody>
                  <a:tcPr anchor="ctr">
                    <a:lnL>
                      <a:noFill/>
                    </a:lnL>
                    <a:lnR w="12700">
                      <a:solidFill>
                        <a:schemeClr val="tx1"/>
                      </a:solidFill>
                      <a:prstDash val="solid"/>
                    </a:lnR>
                    <a:lnT>
                      <a:noFill/>
                    </a:lnT>
                    <a:lnB>
                      <a:noFill/>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20000"/>
                        <a:lumOff val="8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20000"/>
                        <a:lumOff val="8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20000"/>
                        <a:lumOff val="8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20000"/>
                        <a:lumOff val="8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20000"/>
                        <a:lumOff val="8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20000"/>
                        <a:lumOff val="8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0"/>
                  </a:ext>
                </a:extLst>
              </a:tr>
              <a:tr h="549275">
                <a:tc>
                  <a:txBody>
                    <a:bodyPr/>
                    <a:lstStyle/>
                    <a:p>
                      <a:pPr>
                        <a:buNone/>
                      </a:pPr>
                      <a:r>
                        <a:rPr lang="en-US">
                          <a:ln>
                            <a:noFill/>
                          </a:ln>
                          <a:solidFill>
                            <a:schemeClr val="tx1"/>
                          </a:solidFill>
                        </a:rPr>
                        <a:t>cat</a:t>
                      </a:r>
                    </a:p>
                  </a:txBody>
                  <a:tcPr anchor="ctr">
                    <a:lnL>
                      <a:noFill/>
                    </a:lnL>
                    <a:lnR w="12700">
                      <a:solidFill>
                        <a:schemeClr val="tx1"/>
                      </a:solidFill>
                      <a:prstDash val="solid"/>
                    </a:lnR>
                    <a:lnT>
                      <a:noFill/>
                    </a:lnT>
                    <a:lnB>
                      <a:noFill/>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40000"/>
                        <a:lumOff val="6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40000"/>
                        <a:lumOff val="6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40000"/>
                        <a:lumOff val="6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40000"/>
                        <a:lumOff val="6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40000"/>
                        <a:lumOff val="6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40000"/>
                        <a:lumOff val="6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1"/>
                  </a:ext>
                </a:extLst>
              </a:tr>
              <a:tr h="549275">
                <a:tc>
                  <a:txBody>
                    <a:bodyPr/>
                    <a:lstStyle/>
                    <a:p>
                      <a:pPr>
                        <a:buNone/>
                      </a:pPr>
                      <a:r>
                        <a:rPr lang="en-US">
                          <a:ln>
                            <a:noFill/>
                          </a:ln>
                          <a:solidFill>
                            <a:schemeClr val="tx1"/>
                          </a:solidFill>
                        </a:rPr>
                        <a:t>sat</a:t>
                      </a:r>
                    </a:p>
                  </a:txBody>
                  <a:tcPr anchor="ctr">
                    <a:lnL>
                      <a:noFill/>
                    </a:lnL>
                    <a:lnR w="12700">
                      <a:solidFill>
                        <a:schemeClr val="tx1"/>
                      </a:solidFill>
                      <a:prstDash val="solid"/>
                    </a:lnR>
                    <a:lnT>
                      <a:noFill/>
                    </a:lnT>
                    <a:lnB>
                      <a:noFill/>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60000"/>
                        <a:lumOff val="4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60000"/>
                        <a:lumOff val="4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60000"/>
                        <a:lumOff val="4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60000"/>
                        <a:lumOff val="4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60000"/>
                        <a:lumOff val="4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60000"/>
                        <a:lumOff val="40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60000"/>
                        <a:lumOff val="40000"/>
                      </a:schemeClr>
                    </a:solidFill>
                  </a:tcPr>
                </a:tc>
                <a:extLst>
                  <a:ext uri="{0D108BD9-81ED-4DB2-BD59-A6C34878D82A}">
                    <a16:rowId xmlns:a16="http://schemas.microsoft.com/office/drawing/2014/main" val="10002"/>
                  </a:ext>
                </a:extLst>
              </a:tr>
              <a:tr h="549275">
                <a:tc>
                  <a:txBody>
                    <a:bodyPr/>
                    <a:lstStyle/>
                    <a:p>
                      <a:pPr>
                        <a:buNone/>
                      </a:pPr>
                      <a:r>
                        <a:rPr lang="en-US">
                          <a:ln>
                            <a:noFill/>
                          </a:ln>
                          <a:solidFill>
                            <a:schemeClr val="tx1"/>
                          </a:solidFill>
                        </a:rPr>
                        <a:t>on</a:t>
                      </a:r>
                    </a:p>
                  </a:txBody>
                  <a:tcPr anchor="ctr">
                    <a:lnL>
                      <a:noFill/>
                    </a:lnL>
                    <a:lnR w="12700">
                      <a:solidFill>
                        <a:schemeClr val="tx1"/>
                      </a:solidFill>
                      <a:prstDash val="solid"/>
                    </a:lnR>
                    <a:lnT>
                      <a:noFill/>
                    </a:lnT>
                    <a:lnB>
                      <a:noFill/>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7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7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7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7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7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7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75000"/>
                      </a:schemeClr>
                    </a:solidFill>
                  </a:tcPr>
                </a:tc>
                <a:extLst>
                  <a:ext uri="{0D108BD9-81ED-4DB2-BD59-A6C34878D82A}">
                    <a16:rowId xmlns:a16="http://schemas.microsoft.com/office/drawing/2014/main" val="10003"/>
                  </a:ext>
                </a:extLst>
              </a:tr>
              <a:tr h="549275">
                <a:tc>
                  <a:txBody>
                    <a:bodyPr/>
                    <a:lstStyle/>
                    <a:p>
                      <a:pPr>
                        <a:buNone/>
                      </a:pPr>
                      <a:r>
                        <a:rPr lang="en-US">
                          <a:ln>
                            <a:noFill/>
                          </a:ln>
                          <a:solidFill>
                            <a:schemeClr val="tx1"/>
                          </a:solidFill>
                        </a:rPr>
                        <a:t>the</a:t>
                      </a:r>
                    </a:p>
                  </a:txBody>
                  <a:tcPr anchor="ctr">
                    <a:lnL>
                      <a:noFill/>
                    </a:lnL>
                    <a:lnR w="12700">
                      <a:solidFill>
                        <a:schemeClr val="tx1"/>
                      </a:solidFill>
                      <a:prstDash val="solid"/>
                    </a:lnR>
                    <a:lnT>
                      <a:noFill/>
                    </a:lnT>
                    <a:lnB>
                      <a:noFill/>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7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7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7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7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7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7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75000"/>
                      </a:schemeClr>
                    </a:solidFill>
                  </a:tcPr>
                </a:tc>
                <a:extLst>
                  <a:ext uri="{0D108BD9-81ED-4DB2-BD59-A6C34878D82A}">
                    <a16:rowId xmlns:a16="http://schemas.microsoft.com/office/drawing/2014/main" val="10004"/>
                  </a:ext>
                </a:extLst>
              </a:tr>
              <a:tr h="549275">
                <a:tc>
                  <a:txBody>
                    <a:bodyPr/>
                    <a:lstStyle/>
                    <a:p>
                      <a:pPr>
                        <a:buNone/>
                      </a:pPr>
                      <a:r>
                        <a:rPr lang="en-US">
                          <a:ln>
                            <a:noFill/>
                          </a:ln>
                          <a:solidFill>
                            <a:schemeClr val="tx1"/>
                          </a:solidFill>
                        </a:rPr>
                        <a:t>mat</a:t>
                      </a:r>
                    </a:p>
                  </a:txBody>
                  <a:tcPr anchor="ctr">
                    <a:lnL>
                      <a:noFill/>
                    </a:lnL>
                    <a:lnR w="12700">
                      <a:solidFill>
                        <a:schemeClr val="tx1"/>
                      </a:solidFill>
                      <a:prstDash val="solid"/>
                    </a:lnR>
                    <a:lnT>
                      <a:noFill/>
                    </a:lnT>
                    <a:lnB>
                      <a:noFill/>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7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7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7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7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7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7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75000"/>
                      </a:schemeClr>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able 10"/>
          <p:cNvGraphicFramePr/>
          <p:nvPr/>
        </p:nvGraphicFramePr>
        <p:xfrm>
          <a:off x="6239510" y="2111375"/>
          <a:ext cx="497205" cy="2197100"/>
        </p:xfrm>
        <a:graphic>
          <a:graphicData uri="http://schemas.openxmlformats.org/drawingml/2006/table">
            <a:tbl>
              <a:tblPr firstRow="1" bandRow="1">
                <a:tableStyleId>{5C22544A-7EE6-4342-B048-85BDC9FD1C3A}</a:tableStyleId>
              </a:tblPr>
              <a:tblGrid>
                <a:gridCol w="497205">
                  <a:extLst>
                    <a:ext uri="{9D8B030D-6E8A-4147-A177-3AD203B41FA5}">
                      <a16:colId xmlns:a16="http://schemas.microsoft.com/office/drawing/2014/main" val="20000"/>
                    </a:ext>
                  </a:extLst>
                </a:gridCol>
              </a:tblGrid>
              <a:tr h="549275">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extLst>
                  <a:ext uri="{0D108BD9-81ED-4DB2-BD59-A6C34878D82A}">
                    <a16:rowId xmlns:a16="http://schemas.microsoft.com/office/drawing/2014/main" val="10000"/>
                  </a:ext>
                </a:extLst>
              </a:tr>
              <a:tr h="549275">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40000"/>
                        <a:lumOff val="60000"/>
                      </a:schemeClr>
                    </a:solidFill>
                  </a:tcPr>
                </a:tc>
                <a:extLst>
                  <a:ext uri="{0D108BD9-81ED-4DB2-BD59-A6C34878D82A}">
                    <a16:rowId xmlns:a16="http://schemas.microsoft.com/office/drawing/2014/main" val="10001"/>
                  </a:ext>
                </a:extLst>
              </a:tr>
              <a:tr h="549275">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60000"/>
                        <a:lumOff val="40000"/>
                      </a:schemeClr>
                    </a:solidFill>
                  </a:tcPr>
                </a:tc>
                <a:extLst>
                  <a:ext uri="{0D108BD9-81ED-4DB2-BD59-A6C34878D82A}">
                    <a16:rowId xmlns:a16="http://schemas.microsoft.com/office/drawing/2014/main" val="10002"/>
                  </a:ext>
                </a:extLst>
              </a:tr>
              <a:tr h="549275">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75000"/>
                      </a:schemeClr>
                    </a:solidFill>
                  </a:tcPr>
                </a:tc>
                <a:extLst>
                  <a:ext uri="{0D108BD9-81ED-4DB2-BD59-A6C34878D82A}">
                    <a16:rowId xmlns:a16="http://schemas.microsoft.com/office/drawing/2014/main" val="10003"/>
                  </a:ext>
                </a:extLst>
              </a:tr>
            </a:tbl>
          </a:graphicData>
        </a:graphic>
      </p:graphicFrame>
      <p:sp>
        <p:nvSpPr>
          <p:cNvPr id="4" name="Title 3"/>
          <p:cNvSpPr>
            <a:spLocks noGrp="1"/>
          </p:cNvSpPr>
          <p:nvPr>
            <p:ph type="title"/>
          </p:nvPr>
        </p:nvSpPr>
        <p:spPr/>
        <p:txBody>
          <a:bodyPr/>
          <a:lstStyle/>
          <a:p>
            <a:r>
              <a:rPr lang="en-US">
                <a:sym typeface="+mn-ea"/>
                <a:hlinkClick r:id="rId2"/>
              </a:rPr>
              <a:t>1d convnet for text</a:t>
            </a:r>
            <a:endParaRPr lang="en-US"/>
          </a:p>
        </p:txBody>
      </p:sp>
      <p:graphicFrame>
        <p:nvGraphicFramePr>
          <p:cNvPr id="7" name="Table 6"/>
          <p:cNvGraphicFramePr/>
          <p:nvPr/>
        </p:nvGraphicFramePr>
        <p:xfrm>
          <a:off x="6099175" y="2251075"/>
          <a:ext cx="497205" cy="2197100"/>
        </p:xfrm>
        <a:graphic>
          <a:graphicData uri="http://schemas.openxmlformats.org/drawingml/2006/table">
            <a:tbl>
              <a:tblPr firstRow="1" bandRow="1">
                <a:tableStyleId>{5C22544A-7EE6-4342-B048-85BDC9FD1C3A}</a:tableStyleId>
              </a:tblPr>
              <a:tblGrid>
                <a:gridCol w="497205">
                  <a:extLst>
                    <a:ext uri="{9D8B030D-6E8A-4147-A177-3AD203B41FA5}">
                      <a16:colId xmlns:a16="http://schemas.microsoft.com/office/drawing/2014/main" val="20000"/>
                    </a:ext>
                  </a:extLst>
                </a:gridCol>
              </a:tblGrid>
              <a:tr h="549275">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0"/>
                  </a:ext>
                </a:extLst>
              </a:tr>
              <a:tr h="549275">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1"/>
                  </a:ext>
                </a:extLst>
              </a:tr>
              <a:tr h="549275">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60000"/>
                        <a:lumOff val="40000"/>
                      </a:schemeClr>
                    </a:solidFill>
                  </a:tcPr>
                </a:tc>
                <a:extLst>
                  <a:ext uri="{0D108BD9-81ED-4DB2-BD59-A6C34878D82A}">
                    <a16:rowId xmlns:a16="http://schemas.microsoft.com/office/drawing/2014/main" val="10002"/>
                  </a:ext>
                </a:extLst>
              </a:tr>
              <a:tr h="549275">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75000"/>
                      </a:schemeClr>
                    </a:solidFill>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3" name="Text Box 2"/>
              <p:cNvSpPr txBox="1"/>
              <p:nvPr/>
            </p:nvSpPr>
            <p:spPr>
              <a:xfrm>
                <a:off x="150495" y="6209665"/>
                <a:ext cx="6085840" cy="499110"/>
              </a:xfrm>
              <a:prstGeom prst="rect">
                <a:avLst/>
              </a:prstGeom>
              <a:noFill/>
            </p:spPr>
            <p:txBody>
              <a:bodyPr wrap="square" rtlCol="0">
                <a:spAutoFit/>
              </a:bodyPr>
              <a:lstStyle/>
              <a:p>
                <a:pPr algn="ctr"/>
                <a:r>
                  <a:rPr lang="en-US" sz="2400"/>
                  <a:t>Each row is a word embedding, say in </a:t>
                </a:r>
                <a14:m>
                  <m:oMath xmlns:m="http://schemas.openxmlformats.org/officeDocument/2006/math">
                    <m:sSup>
                      <m:sSupPr>
                        <m:ctrlPr>
                          <a:rPr lang="en-US" sz="2400" i="1">
                            <a:latin typeface="Cambria Math" panose="02040503050406030204" pitchFamily="18" charset="0"/>
                            <a:cs typeface="DejaVu Math TeX Gyre" panose="02000503000000000000" charset="0"/>
                          </a:rPr>
                        </m:ctrlPr>
                      </m:sSupPr>
                      <m:e>
                        <m:r>
                          <a:rPr lang="en-US" sz="2400" i="1">
                            <a:latin typeface="Cambria Math" panose="02040503050406030204" pitchFamily="18" charset="0"/>
                            <a:cs typeface="DejaVu Math TeX Gyre" panose="02000503000000000000" charset="0"/>
                          </a:rPr>
                          <m:t>ℝ</m:t>
                        </m:r>
                      </m:e>
                      <m:sup>
                        <m:r>
                          <a:rPr lang="en-US" sz="2400" i="1">
                            <a:latin typeface="Cambria Math" panose="02040503050406030204" pitchFamily="18" charset="0"/>
                            <a:cs typeface="DejaVu Math TeX Gyre" panose="02000503000000000000" charset="0"/>
                          </a:rPr>
                          <m:t>7</m:t>
                        </m:r>
                      </m:sup>
                    </m:sSup>
                  </m:oMath>
                </a14:m>
                <a:endParaRPr lang="en-US" sz="2400" i="1">
                  <a:latin typeface="Cambria Math" panose="02040503050406030204" pitchFamily="18" charset="0"/>
                  <a:cs typeface="Cambria Math" panose="02040503050406030204" pitchFamily="18" charset="0"/>
                </a:endParaRPr>
              </a:p>
            </p:txBody>
          </p:sp>
        </mc:Choice>
        <mc:Fallback xmlns="">
          <p:sp>
            <p:nvSpPr>
              <p:cNvPr id="3" name="Text Box 2"/>
              <p:cNvSpPr txBox="1">
                <a:spLocks noRot="1" noChangeAspect="1" noMove="1" noResize="1" noEditPoints="1" noAdjustHandles="1" noChangeArrowheads="1" noChangeShapeType="1" noTextEdit="1"/>
              </p:cNvSpPr>
              <p:nvPr/>
            </p:nvSpPr>
            <p:spPr>
              <a:xfrm>
                <a:off x="150495" y="6209665"/>
                <a:ext cx="6085840" cy="499110"/>
              </a:xfrm>
              <a:prstGeom prst="rect">
                <a:avLst/>
              </a:prstGeom>
              <a:blipFill rotWithShape="1">
                <a:blip r:embed="rId3"/>
                <a:stretch>
                  <a:fillRect/>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8" name="Text Box 7"/>
              <p:cNvSpPr txBox="1"/>
              <p:nvPr/>
            </p:nvSpPr>
            <p:spPr>
              <a:xfrm>
                <a:off x="7007225" y="912495"/>
                <a:ext cx="5123180" cy="5631180"/>
              </a:xfrm>
              <a:prstGeom prst="rect">
                <a:avLst/>
              </a:prstGeom>
              <a:noFill/>
            </p:spPr>
            <p:txBody>
              <a:bodyPr wrap="square" rtlCol="0">
                <a:spAutoFit/>
              </a:bodyPr>
              <a:lstStyle/>
              <a:p>
                <a:pPr algn="l"/>
                <a:r>
                  <a:rPr lang="en-US" sz="2400"/>
                  <a:t>Like the green stencil sliding over the text, we can have a blue stencil with 21 more trainable parameters.</a:t>
                </a:r>
              </a:p>
              <a:p>
                <a:pPr algn="l"/>
                <a:endParaRPr lang="en-US" sz="2400"/>
              </a:p>
              <a:p>
                <a:pPr algn="l"/>
                <a:r>
                  <a:rPr lang="en-US" sz="2400"/>
                  <a:t>We can thus get green, blue, yellow orange and magenta vectors.</a:t>
                </a:r>
              </a:p>
              <a:p>
                <a:pPr algn="l"/>
                <a:endParaRPr lang="en-US" sz="2400"/>
              </a:p>
              <a:p>
                <a:pPr algn="l"/>
                <a:r>
                  <a:rPr lang="en-US" sz="2400"/>
                  <a:t>These are also called </a:t>
                </a:r>
                <a:r>
                  <a:rPr lang="en-US" sz="2400" b="1"/>
                  <a:t>channels</a:t>
                </a:r>
                <a:r>
                  <a:rPr lang="en-US" sz="2400"/>
                  <a:t> (and later, </a:t>
                </a:r>
                <a:r>
                  <a:rPr lang="en-US" sz="2400" b="1"/>
                  <a:t>heads</a:t>
                </a:r>
                <a:r>
                  <a:rPr lang="en-US" sz="2400"/>
                  <a:t>).</a:t>
                </a:r>
              </a:p>
              <a:p>
                <a:pPr algn="l"/>
                <a:endParaRPr lang="en-US" sz="2400"/>
              </a:p>
              <a:p>
                <a:pPr algn="l"/>
                <a:r>
                  <a:rPr lang="en-US" sz="2400"/>
                  <a:t>Each head may specialize to some different NLP task.</a:t>
                </a:r>
              </a:p>
              <a:p>
                <a:pPr algn="l"/>
                <a:endParaRPr lang="en-US" sz="2400"/>
              </a:p>
              <a:p>
                <a:pPr algn="l"/>
                <a:r>
                  <a:rPr lang="en-US" sz="2400"/>
                  <a:t>We have reduced the </a:t>
                </a:r>
                <a14:m>
                  <m:oMath xmlns:m="http://schemas.openxmlformats.org/officeDocument/2006/math">
                    <m:r>
                      <a:rPr lang="en-US" sz="2400" i="1">
                        <a:latin typeface="Cambria Math" panose="02040503050406030204" pitchFamily="18" charset="0"/>
                        <a:cs typeface="DejaVu Math TeX Gyre" panose="02000503000000000000" charset="0"/>
                      </a:rPr>
                      <m:t>6×7</m:t>
                    </m:r>
                  </m:oMath>
                </a14:m>
                <a:r>
                  <a:rPr lang="en-US" sz="2400"/>
                  <a:t> input matrix to a </a:t>
                </a:r>
                <a14:m>
                  <m:oMath xmlns:m="http://schemas.openxmlformats.org/officeDocument/2006/math">
                    <m:r>
                      <a:rPr lang="en-US" sz="2400" i="1">
                        <a:latin typeface="Cambria Math" panose="02040503050406030204" pitchFamily="18" charset="0"/>
                        <a:cs typeface="DejaVu Math TeX Gyre" panose="02000503000000000000" charset="0"/>
                      </a:rPr>
                      <m:t>5×4</m:t>
                    </m:r>
                  </m:oMath>
                </a14:m>
                <a:r>
                  <a:rPr lang="en-US" sz="2400"/>
                  <a:t> output</a:t>
                </a:r>
              </a:p>
            </p:txBody>
          </p:sp>
        </mc:Choice>
        <mc:Fallback xmlns="">
          <p:sp>
            <p:nvSpPr>
              <p:cNvPr id="8" name="Text Box 7"/>
              <p:cNvSpPr txBox="1">
                <a:spLocks noRot="1" noChangeAspect="1" noMove="1" noResize="1" noEditPoints="1" noAdjustHandles="1" noChangeArrowheads="1" noChangeShapeType="1" noTextEdit="1"/>
              </p:cNvSpPr>
              <p:nvPr/>
            </p:nvSpPr>
            <p:spPr>
              <a:xfrm>
                <a:off x="7007225" y="912495"/>
                <a:ext cx="5123180" cy="5631180"/>
              </a:xfrm>
              <a:prstGeom prst="rect">
                <a:avLst/>
              </a:prstGeom>
              <a:blipFill rotWithShape="1">
                <a:blip r:embed="rId4"/>
                <a:stretch>
                  <a:fillRect/>
                </a:stretch>
              </a:blipFill>
            </p:spPr>
            <p:txBody>
              <a:bodyPr/>
              <a:lstStyle/>
              <a:p>
                <a:r>
                  <a:rPr lang="en-US" altLang="en-US">
                    <a:noFill/>
                  </a:rPr>
                  <a:t> </a:t>
                </a:r>
              </a:p>
            </p:txBody>
          </p:sp>
        </mc:Fallback>
      </mc:AlternateContent>
      <p:graphicFrame>
        <p:nvGraphicFramePr>
          <p:cNvPr id="5" name="Table 4"/>
          <p:cNvGraphicFramePr/>
          <p:nvPr/>
        </p:nvGraphicFramePr>
        <p:xfrm>
          <a:off x="447040" y="1662430"/>
          <a:ext cx="4167505" cy="3295650"/>
        </p:xfrm>
        <a:graphic>
          <a:graphicData uri="http://schemas.openxmlformats.org/drawingml/2006/table">
            <a:tbl>
              <a:tblPr firstRow="1" bandRow="1">
                <a:tableStyleId>{5C22544A-7EE6-4342-B048-85BDC9FD1C3A}</a:tableStyleId>
              </a:tblPr>
              <a:tblGrid>
                <a:gridCol w="687070">
                  <a:extLst>
                    <a:ext uri="{9D8B030D-6E8A-4147-A177-3AD203B41FA5}">
                      <a16:colId xmlns:a16="http://schemas.microsoft.com/office/drawing/2014/main" val="20000"/>
                    </a:ext>
                  </a:extLst>
                </a:gridCol>
                <a:gridCol w="497205">
                  <a:extLst>
                    <a:ext uri="{9D8B030D-6E8A-4147-A177-3AD203B41FA5}">
                      <a16:colId xmlns:a16="http://schemas.microsoft.com/office/drawing/2014/main" val="20001"/>
                    </a:ext>
                  </a:extLst>
                </a:gridCol>
                <a:gridCol w="497206">
                  <a:extLst>
                    <a:ext uri="{9D8B030D-6E8A-4147-A177-3AD203B41FA5}">
                      <a16:colId xmlns:a16="http://schemas.microsoft.com/office/drawing/2014/main" val="20002"/>
                    </a:ext>
                  </a:extLst>
                </a:gridCol>
                <a:gridCol w="497204">
                  <a:extLst>
                    <a:ext uri="{9D8B030D-6E8A-4147-A177-3AD203B41FA5}">
                      <a16:colId xmlns:a16="http://schemas.microsoft.com/office/drawing/2014/main" val="20003"/>
                    </a:ext>
                  </a:extLst>
                </a:gridCol>
                <a:gridCol w="497205">
                  <a:extLst>
                    <a:ext uri="{9D8B030D-6E8A-4147-A177-3AD203B41FA5}">
                      <a16:colId xmlns:a16="http://schemas.microsoft.com/office/drawing/2014/main" val="20004"/>
                    </a:ext>
                  </a:extLst>
                </a:gridCol>
                <a:gridCol w="497205">
                  <a:extLst>
                    <a:ext uri="{9D8B030D-6E8A-4147-A177-3AD203B41FA5}">
                      <a16:colId xmlns:a16="http://schemas.microsoft.com/office/drawing/2014/main" val="20005"/>
                    </a:ext>
                  </a:extLst>
                </a:gridCol>
                <a:gridCol w="497205">
                  <a:extLst>
                    <a:ext uri="{9D8B030D-6E8A-4147-A177-3AD203B41FA5}">
                      <a16:colId xmlns:a16="http://schemas.microsoft.com/office/drawing/2014/main" val="20006"/>
                    </a:ext>
                  </a:extLst>
                </a:gridCol>
                <a:gridCol w="497205">
                  <a:extLst>
                    <a:ext uri="{9D8B030D-6E8A-4147-A177-3AD203B41FA5}">
                      <a16:colId xmlns:a16="http://schemas.microsoft.com/office/drawing/2014/main" val="20007"/>
                    </a:ext>
                  </a:extLst>
                </a:gridCol>
              </a:tblGrid>
              <a:tr h="549275">
                <a:tc>
                  <a:txBody>
                    <a:bodyPr/>
                    <a:lstStyle/>
                    <a:p>
                      <a:pPr>
                        <a:buNone/>
                      </a:pPr>
                      <a:r>
                        <a:rPr lang="en-US" b="0">
                          <a:ln>
                            <a:noFill/>
                          </a:ln>
                          <a:solidFill>
                            <a:schemeClr val="tx1"/>
                          </a:solidFill>
                        </a:rPr>
                        <a:t>the</a:t>
                      </a:r>
                    </a:p>
                  </a:txBody>
                  <a:tcPr anchor="ctr">
                    <a:lnL>
                      <a:noFill/>
                    </a:lnL>
                    <a:lnR w="12700">
                      <a:solidFill>
                        <a:schemeClr val="tx1"/>
                      </a:solidFill>
                      <a:prstDash val="solid"/>
                    </a:lnR>
                    <a:lnT>
                      <a:noFill/>
                    </a:lnT>
                    <a:lnB>
                      <a:noFill/>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549275">
                <a:tc>
                  <a:txBody>
                    <a:bodyPr/>
                    <a:lstStyle/>
                    <a:p>
                      <a:pPr>
                        <a:buNone/>
                      </a:pPr>
                      <a:r>
                        <a:rPr lang="en-US">
                          <a:ln>
                            <a:noFill/>
                          </a:ln>
                          <a:solidFill>
                            <a:schemeClr val="tx1"/>
                          </a:solidFill>
                        </a:rPr>
                        <a:t>cat</a:t>
                      </a:r>
                    </a:p>
                  </a:txBody>
                  <a:tcPr anchor="ctr">
                    <a:lnL>
                      <a:noFill/>
                    </a:lnL>
                    <a:lnR w="12700">
                      <a:solidFill>
                        <a:schemeClr val="tx1"/>
                      </a:solidFill>
                      <a:prstDash val="solid"/>
                    </a:lnR>
                    <a:lnT>
                      <a:noFill/>
                    </a:lnT>
                    <a:lnB>
                      <a:noFill/>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549275">
                <a:tc>
                  <a:txBody>
                    <a:bodyPr/>
                    <a:lstStyle/>
                    <a:p>
                      <a:pPr>
                        <a:buNone/>
                      </a:pPr>
                      <a:r>
                        <a:rPr lang="en-US">
                          <a:ln>
                            <a:noFill/>
                          </a:ln>
                          <a:solidFill>
                            <a:schemeClr val="tx1"/>
                          </a:solidFill>
                        </a:rPr>
                        <a:t>sat</a:t>
                      </a:r>
                    </a:p>
                  </a:txBody>
                  <a:tcPr anchor="ctr">
                    <a:lnL>
                      <a:noFill/>
                    </a:lnL>
                    <a:lnR w="12700">
                      <a:solidFill>
                        <a:schemeClr val="tx1"/>
                      </a:solidFill>
                      <a:prstDash val="solid"/>
                    </a:lnR>
                    <a:lnT>
                      <a:noFill/>
                    </a:lnT>
                    <a:lnB>
                      <a:noFill/>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549275">
                <a:tc>
                  <a:txBody>
                    <a:bodyPr/>
                    <a:lstStyle/>
                    <a:p>
                      <a:pPr>
                        <a:buNone/>
                      </a:pPr>
                      <a:r>
                        <a:rPr lang="en-US">
                          <a:ln>
                            <a:noFill/>
                          </a:ln>
                          <a:solidFill>
                            <a:schemeClr val="tx1"/>
                          </a:solidFill>
                        </a:rPr>
                        <a:t>on</a:t>
                      </a:r>
                    </a:p>
                  </a:txBody>
                  <a:tcPr anchor="ctr">
                    <a:lnL>
                      <a:noFill/>
                    </a:lnL>
                    <a:lnR w="12700">
                      <a:solidFill>
                        <a:schemeClr val="tx1"/>
                      </a:solidFill>
                      <a:prstDash val="solid"/>
                    </a:lnR>
                    <a:lnT>
                      <a:noFill/>
                    </a:lnT>
                    <a:lnB>
                      <a:noFill/>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r h="549275">
                <a:tc>
                  <a:txBody>
                    <a:bodyPr/>
                    <a:lstStyle/>
                    <a:p>
                      <a:pPr>
                        <a:buNone/>
                      </a:pPr>
                      <a:r>
                        <a:rPr lang="en-US">
                          <a:ln>
                            <a:noFill/>
                          </a:ln>
                          <a:solidFill>
                            <a:schemeClr val="tx1"/>
                          </a:solidFill>
                        </a:rPr>
                        <a:t>the</a:t>
                      </a:r>
                    </a:p>
                  </a:txBody>
                  <a:tcPr anchor="ctr">
                    <a:lnL>
                      <a:noFill/>
                    </a:lnL>
                    <a:lnR w="12700">
                      <a:solidFill>
                        <a:schemeClr val="tx1"/>
                      </a:solidFill>
                      <a:prstDash val="solid"/>
                    </a:lnR>
                    <a:lnT>
                      <a:noFill/>
                    </a:lnT>
                    <a:lnB>
                      <a:noFill/>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4"/>
                  </a:ext>
                </a:extLst>
              </a:tr>
              <a:tr h="549275">
                <a:tc>
                  <a:txBody>
                    <a:bodyPr/>
                    <a:lstStyle/>
                    <a:p>
                      <a:pPr>
                        <a:buNone/>
                      </a:pPr>
                      <a:r>
                        <a:rPr lang="en-US">
                          <a:ln>
                            <a:noFill/>
                          </a:ln>
                          <a:solidFill>
                            <a:schemeClr val="tx1"/>
                          </a:solidFill>
                        </a:rPr>
                        <a:t>mat</a:t>
                      </a:r>
                    </a:p>
                  </a:txBody>
                  <a:tcPr anchor="ctr">
                    <a:lnL>
                      <a:noFill/>
                    </a:lnL>
                    <a:lnR w="12700">
                      <a:solidFill>
                        <a:schemeClr val="tx1"/>
                      </a:solidFill>
                      <a:prstDash val="solid"/>
                    </a:lnR>
                    <a:lnT>
                      <a:noFill/>
                    </a:lnT>
                    <a:lnB>
                      <a:noFill/>
                    </a:lnB>
                    <a:lnTlToBr>
                      <a:noFill/>
                    </a:lnTlToBr>
                    <a:lnBlToTr>
                      <a:noFill/>
                    </a:lnBlToTr>
                    <a:no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5"/>
                  </a:ext>
                </a:extLst>
              </a:tr>
            </a:tbl>
          </a:graphicData>
        </a:graphic>
      </p:graphicFrame>
      <p:graphicFrame>
        <p:nvGraphicFramePr>
          <p:cNvPr id="12" name="Table 11"/>
          <p:cNvGraphicFramePr/>
          <p:nvPr/>
        </p:nvGraphicFramePr>
        <p:xfrm>
          <a:off x="5958840" y="2390775"/>
          <a:ext cx="497205" cy="2197100"/>
        </p:xfrm>
        <a:graphic>
          <a:graphicData uri="http://schemas.openxmlformats.org/drawingml/2006/table">
            <a:tbl>
              <a:tblPr firstRow="1" bandRow="1">
                <a:tableStyleId>{5C22544A-7EE6-4342-B048-85BDC9FD1C3A}</a:tableStyleId>
              </a:tblPr>
              <a:tblGrid>
                <a:gridCol w="497205">
                  <a:extLst>
                    <a:ext uri="{9D8B030D-6E8A-4147-A177-3AD203B41FA5}">
                      <a16:colId xmlns:a16="http://schemas.microsoft.com/office/drawing/2014/main" val="20000"/>
                    </a:ext>
                  </a:extLst>
                </a:gridCol>
              </a:tblGrid>
              <a:tr h="549275">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4">
                        <a:lumMod val="20000"/>
                        <a:lumOff val="80000"/>
                      </a:schemeClr>
                    </a:solidFill>
                  </a:tcPr>
                </a:tc>
                <a:extLst>
                  <a:ext uri="{0D108BD9-81ED-4DB2-BD59-A6C34878D82A}">
                    <a16:rowId xmlns:a16="http://schemas.microsoft.com/office/drawing/2014/main" val="10000"/>
                  </a:ext>
                </a:extLst>
              </a:tr>
              <a:tr h="549275">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4">
                        <a:lumMod val="40000"/>
                        <a:lumOff val="60000"/>
                      </a:schemeClr>
                    </a:solidFill>
                  </a:tcPr>
                </a:tc>
                <a:extLst>
                  <a:ext uri="{0D108BD9-81ED-4DB2-BD59-A6C34878D82A}">
                    <a16:rowId xmlns:a16="http://schemas.microsoft.com/office/drawing/2014/main" val="10001"/>
                  </a:ext>
                </a:extLst>
              </a:tr>
              <a:tr h="549275">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4">
                        <a:lumMod val="60000"/>
                        <a:lumOff val="40000"/>
                      </a:schemeClr>
                    </a:solidFill>
                  </a:tcPr>
                </a:tc>
                <a:extLst>
                  <a:ext uri="{0D108BD9-81ED-4DB2-BD59-A6C34878D82A}">
                    <a16:rowId xmlns:a16="http://schemas.microsoft.com/office/drawing/2014/main" val="10002"/>
                  </a:ext>
                </a:extLst>
              </a:tr>
              <a:tr h="549275">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4">
                        <a:lumMod val="75000"/>
                      </a:schemeClr>
                    </a:solidFill>
                  </a:tcPr>
                </a:tc>
                <a:extLst>
                  <a:ext uri="{0D108BD9-81ED-4DB2-BD59-A6C34878D82A}">
                    <a16:rowId xmlns:a16="http://schemas.microsoft.com/office/drawing/2014/main" val="10003"/>
                  </a:ext>
                </a:extLst>
              </a:tr>
            </a:tbl>
          </a:graphicData>
        </a:graphic>
      </p:graphicFrame>
      <p:graphicFrame>
        <p:nvGraphicFramePr>
          <p:cNvPr id="13" name="Table 12"/>
          <p:cNvGraphicFramePr/>
          <p:nvPr/>
        </p:nvGraphicFramePr>
        <p:xfrm>
          <a:off x="5818505" y="2530475"/>
          <a:ext cx="497205" cy="2197100"/>
        </p:xfrm>
        <a:graphic>
          <a:graphicData uri="http://schemas.openxmlformats.org/drawingml/2006/table">
            <a:tbl>
              <a:tblPr firstRow="1" bandRow="1">
                <a:tableStyleId>{5C22544A-7EE6-4342-B048-85BDC9FD1C3A}</a:tableStyleId>
              </a:tblPr>
              <a:tblGrid>
                <a:gridCol w="497205">
                  <a:extLst>
                    <a:ext uri="{9D8B030D-6E8A-4147-A177-3AD203B41FA5}">
                      <a16:colId xmlns:a16="http://schemas.microsoft.com/office/drawing/2014/main" val="20000"/>
                    </a:ext>
                  </a:extLst>
                </a:gridCol>
              </a:tblGrid>
              <a:tr h="549275">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2">
                        <a:lumMod val="20000"/>
                        <a:lumOff val="80000"/>
                      </a:schemeClr>
                    </a:solidFill>
                  </a:tcPr>
                </a:tc>
                <a:extLst>
                  <a:ext uri="{0D108BD9-81ED-4DB2-BD59-A6C34878D82A}">
                    <a16:rowId xmlns:a16="http://schemas.microsoft.com/office/drawing/2014/main" val="10000"/>
                  </a:ext>
                </a:extLst>
              </a:tr>
              <a:tr h="549275">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2">
                        <a:lumMod val="40000"/>
                        <a:lumOff val="60000"/>
                      </a:schemeClr>
                    </a:solidFill>
                  </a:tcPr>
                </a:tc>
                <a:extLst>
                  <a:ext uri="{0D108BD9-81ED-4DB2-BD59-A6C34878D82A}">
                    <a16:rowId xmlns:a16="http://schemas.microsoft.com/office/drawing/2014/main" val="10001"/>
                  </a:ext>
                </a:extLst>
              </a:tr>
              <a:tr h="549275">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2">
                        <a:lumMod val="60000"/>
                        <a:lumOff val="40000"/>
                      </a:schemeClr>
                    </a:solidFill>
                  </a:tcPr>
                </a:tc>
                <a:extLst>
                  <a:ext uri="{0D108BD9-81ED-4DB2-BD59-A6C34878D82A}">
                    <a16:rowId xmlns:a16="http://schemas.microsoft.com/office/drawing/2014/main" val="10002"/>
                  </a:ext>
                </a:extLst>
              </a:tr>
              <a:tr h="549275">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2">
                        <a:lumMod val="75000"/>
                      </a:schemeClr>
                    </a:solidFill>
                  </a:tcPr>
                </a:tc>
                <a:extLst>
                  <a:ext uri="{0D108BD9-81ED-4DB2-BD59-A6C34878D82A}">
                    <a16:rowId xmlns:a16="http://schemas.microsoft.com/office/drawing/2014/main" val="10003"/>
                  </a:ext>
                </a:extLst>
              </a:tr>
            </a:tbl>
          </a:graphicData>
        </a:graphic>
      </p:graphicFrame>
      <p:graphicFrame>
        <p:nvGraphicFramePr>
          <p:cNvPr id="2" name="Table 1"/>
          <p:cNvGraphicFramePr/>
          <p:nvPr/>
        </p:nvGraphicFramePr>
        <p:xfrm>
          <a:off x="5678170" y="2670175"/>
          <a:ext cx="497205" cy="2197100"/>
        </p:xfrm>
        <a:graphic>
          <a:graphicData uri="http://schemas.openxmlformats.org/drawingml/2006/table">
            <a:tbl>
              <a:tblPr firstRow="1" bandRow="1">
                <a:tableStyleId>{5C22544A-7EE6-4342-B048-85BDC9FD1C3A}</a:tableStyleId>
              </a:tblPr>
              <a:tblGrid>
                <a:gridCol w="497205">
                  <a:extLst>
                    <a:ext uri="{9D8B030D-6E8A-4147-A177-3AD203B41FA5}">
                      <a16:colId xmlns:a16="http://schemas.microsoft.com/office/drawing/2014/main" val="20000"/>
                    </a:ext>
                  </a:extLst>
                </a:gridCol>
              </a:tblGrid>
              <a:tr h="549275">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D7BBDF"/>
                    </a:solidFill>
                  </a:tcPr>
                </a:tc>
                <a:extLst>
                  <a:ext uri="{0D108BD9-81ED-4DB2-BD59-A6C34878D82A}">
                    <a16:rowId xmlns:a16="http://schemas.microsoft.com/office/drawing/2014/main" val="10000"/>
                  </a:ext>
                </a:extLst>
              </a:tr>
              <a:tr h="549275">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DA9EFF"/>
                    </a:solidFill>
                  </a:tcPr>
                </a:tc>
                <a:extLst>
                  <a:ext uri="{0D108BD9-81ED-4DB2-BD59-A6C34878D82A}">
                    <a16:rowId xmlns:a16="http://schemas.microsoft.com/office/drawing/2014/main" val="10001"/>
                  </a:ext>
                </a:extLst>
              </a:tr>
              <a:tr h="549275">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E169FF"/>
                    </a:solidFill>
                  </a:tcPr>
                </a:tc>
                <a:extLst>
                  <a:ext uri="{0D108BD9-81ED-4DB2-BD59-A6C34878D82A}">
                    <a16:rowId xmlns:a16="http://schemas.microsoft.com/office/drawing/2014/main" val="10002"/>
                  </a:ext>
                </a:extLst>
              </a:tr>
              <a:tr h="549275">
                <a:tc>
                  <a:txBody>
                    <a:bodyPr/>
                    <a:lstStyle/>
                    <a:p>
                      <a:pPr>
                        <a:buNone/>
                      </a:pPr>
                      <a:endParaRPr lang="en-US"/>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B71A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a:t>1d convnet, multiple channels/‘heads’</a:t>
            </a:r>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p:txBody>
              <a:bodyPr>
                <a:normAutofit fontScale="65000" lnSpcReduction="20000"/>
              </a:bodyPr>
              <a:lstStyle/>
              <a:p>
                <a:pPr>
                  <a:lnSpc>
                    <a:spcPct val="100000"/>
                  </a:lnSpc>
                </a:pPr>
                <a14:m>
                  <m:oMath xmlns:m="http://schemas.openxmlformats.org/officeDocument/2006/math">
                    <m:r>
                      <a:rPr lang="en-US" i="1">
                        <a:latin typeface="Cambria Math" panose="02040503050406030204" pitchFamily="18" charset="0"/>
                        <a:cs typeface="DejaVu Math TeX Gyre" panose="02000503000000000000" charset="0"/>
                      </a:rPr>
                      <m:t>𝑑</m:t>
                    </m:r>
                    <m:r>
                      <a:rPr lang="en-US" i="1">
                        <a:latin typeface="Cambria Math" panose="02040503050406030204" pitchFamily="18" charset="0"/>
                        <a:cs typeface="DejaVu Math TeX Gyre" panose="02000503000000000000" charset="0"/>
                      </a:rPr>
                      <m:t>×</m:t>
                    </m:r>
                    <m:d>
                      <m:dPr>
                        <m:begChr m:val="|"/>
                        <m:endChr m:val="|"/>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𝑠</m:t>
                        </m:r>
                      </m:e>
                    </m:d>
                  </m:oMath>
                </a14:m>
                <a:r>
                  <a:rPr lang="en-US"/>
                  <a:t> word embedding matrix </a:t>
                </a:r>
                <a14:m>
                  <m:oMath xmlns:m="http://schemas.openxmlformats.org/officeDocument/2006/math">
                    <m:r>
                      <a:rPr lang="en-US" i="1">
                        <a:latin typeface="Cambria Math" panose="02040503050406030204" pitchFamily="18" charset="0"/>
                        <a:cs typeface="DejaVu Math TeX Gyre" panose="02000503000000000000" charset="0"/>
                      </a:rPr>
                      <m:t>𝑆</m:t>
                    </m:r>
                  </m:oMath>
                </a14:m>
                <a:r>
                  <a:rPr lang="en-US"/>
                  <a:t> for sentence with </a:t>
                </a:r>
                <a14:m>
                  <m:oMath xmlns:m="http://schemas.openxmlformats.org/officeDocument/2006/math">
                    <m:d>
                      <m:dPr>
                        <m:begChr m:val="|"/>
                        <m:endChr m:val="|"/>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𝑠</m:t>
                        </m:r>
                      </m:e>
                    </m:d>
                  </m:oMath>
                </a14:m>
                <a:r>
                  <a:rPr lang="en-US"/>
                  <a:t> words, here </a:t>
                </a:r>
                <a14:m>
                  <m:oMath xmlns:m="http://schemas.openxmlformats.org/officeDocument/2006/math">
                    <m:r>
                      <a:rPr lang="en-US" i="1">
                        <a:latin typeface="Cambria Math" panose="02040503050406030204" pitchFamily="18" charset="0"/>
                        <a:cs typeface="DejaVu Math TeX Gyre" panose="02000503000000000000" charset="0"/>
                      </a:rPr>
                      <m:t>7×6</m:t>
                    </m:r>
                  </m:oMath>
                </a14:m>
                <a:endParaRPr lang="en-US" i="1">
                  <a:latin typeface="DejaVu Math TeX Gyre" panose="02000503000000000000" charset="0"/>
                  <a:cs typeface="DejaVu Math TeX Gyre" panose="02000503000000000000" charset="0"/>
                </a:endParaRPr>
              </a:p>
              <a:p>
                <a:pPr>
                  <a:lnSpc>
                    <a:spcPct val="100000"/>
                  </a:lnSpc>
                </a:pPr>
                <a14:m>
                  <m:oMath xmlns:m="http://schemas.openxmlformats.org/officeDocument/2006/math">
                    <m:r>
                      <a:rPr lang="en-US" i="1">
                        <a:latin typeface="Cambria Math" panose="02040503050406030204" pitchFamily="18" charset="0"/>
                        <a:cs typeface="DejaVu Math TeX Gyre" panose="02000503000000000000" charset="0"/>
                      </a:rPr>
                      <m:t>7×3</m:t>
                    </m:r>
                  </m:oMath>
                </a14:m>
                <a:r>
                  <a:rPr lang="en-US"/>
                  <a:t> ‘stencil’ slides through four positions</a:t>
                </a:r>
              </a:p>
              <a:p>
                <a:pPr>
                  <a:lnSpc>
                    <a:spcPct val="100000"/>
                  </a:lnSpc>
                </a:pPr>
                <a:r>
                  <a:rPr lang="en-US"/>
                  <a:t>Weight matrix is </a:t>
                </a:r>
                <a14:m>
                  <m:oMath xmlns:m="http://schemas.openxmlformats.org/officeDocument/2006/math">
                    <m:r>
                      <a:rPr lang="en-US" i="1">
                        <a:latin typeface="Cambria Math" panose="02040503050406030204" pitchFamily="18" charset="0"/>
                        <a:cs typeface="DejaVu Math TeX Gyre" panose="02000503000000000000" charset="0"/>
                      </a:rPr>
                      <m:t>𝑊</m:t>
                    </m:r>
                    <m:r>
                      <a:rPr lang="en-US" i="1">
                        <a:latin typeface="Cambria Math" panose="02040503050406030204" pitchFamily="18" charset="0"/>
                        <a:cs typeface="DejaVu Math TeX Gyre" panose="02000503000000000000" charset="0"/>
                      </a:rPr>
                      <m:t>∈</m:t>
                    </m:r>
                    <m:sSup>
                      <m:sSupPr>
                        <m:ctrlPr>
                          <a:rPr lang="en-US" i="1">
                            <a:latin typeface="Cambria Math" panose="02040503050406030204" pitchFamily="18" charset="0"/>
                            <a:cs typeface="DejaVu Math TeX Gyre" panose="02000503000000000000" charset="0"/>
                          </a:rPr>
                        </m:ctrlPr>
                      </m:sSupPr>
                      <m:e>
                        <m:r>
                          <a:rPr lang="en-US" i="1">
                            <a:latin typeface="Cambria Math" panose="02040503050406030204" pitchFamily="18" charset="0"/>
                            <a:cs typeface="DejaVu Math TeX Gyre" panose="02000503000000000000" charset="0"/>
                          </a:rPr>
                          <m:t>ℝ</m:t>
                        </m:r>
                      </m:e>
                      <m:sup>
                        <m:r>
                          <a:rPr lang="en-US" i="1">
                            <a:latin typeface="Cambria Math" panose="02040503050406030204" pitchFamily="18" charset="0"/>
                            <a:cs typeface="DejaVu Math TeX Gyre" panose="02000503000000000000" charset="0"/>
                          </a:rPr>
                          <m:t>7×3</m:t>
                        </m:r>
                      </m:sup>
                    </m:sSup>
                  </m:oMath>
                </a14:m>
                <a:endParaRPr lang="en-US" i="1">
                  <a:latin typeface="DejaVu Math TeX Gyre" panose="02000503000000000000" charset="0"/>
                  <a:cs typeface="DejaVu Math TeX Gyre" panose="02000503000000000000" charset="0"/>
                </a:endParaRPr>
              </a:p>
              <a:p>
                <a:pPr>
                  <a:lnSpc>
                    <a:spcPct val="100000"/>
                  </a:lnSpc>
                </a:pPr>
                <a:r>
                  <a:rPr lang="en-US"/>
                  <a:t>When left edge of </a:t>
                </a:r>
                <a14:m>
                  <m:oMath xmlns:m="http://schemas.openxmlformats.org/officeDocument/2006/math">
                    <m:r>
                      <a:rPr lang="en-US" i="1">
                        <a:latin typeface="Cambria Math" panose="02040503050406030204" pitchFamily="18" charset="0"/>
                        <a:cs typeface="DejaVu Math TeX Gyre" panose="02000503000000000000" charset="0"/>
                      </a:rPr>
                      <m:t>𝑊</m:t>
                    </m:r>
                  </m:oMath>
                </a14:m>
                <a:r>
                  <a:rPr lang="en-US"/>
                  <a:t> is positioned at column </a:t>
                </a:r>
                <a14:m>
                  <m:oMath xmlns:m="http://schemas.openxmlformats.org/officeDocument/2006/math">
                    <m:r>
                      <a:rPr lang="en-US" i="1">
                        <a:latin typeface="Cambria Math" panose="02040503050406030204" pitchFamily="18" charset="0"/>
                        <a:cs typeface="DejaVu Math TeX Gyre" panose="02000503000000000000" charset="0"/>
                      </a:rPr>
                      <m:t>𝑘</m:t>
                    </m:r>
                  </m:oMath>
                </a14:m>
                <a:r>
                  <a:rPr lang="en-US"/>
                  <a:t> of </a:t>
                </a:r>
                <a14:m>
                  <m:oMath xmlns:m="http://schemas.openxmlformats.org/officeDocument/2006/math">
                    <m:r>
                      <a:rPr lang="en-US" i="1">
                        <a:latin typeface="Cambria Math" panose="02040503050406030204" pitchFamily="18" charset="0"/>
                        <a:cs typeface="DejaVu Math TeX Gyre" panose="02000503000000000000" charset="0"/>
                      </a:rPr>
                      <m:t>𝑆</m:t>
                    </m:r>
                  </m:oMath>
                </a14:m>
                <a:r>
                  <a:rPr lang="en-US"/>
                  <a:t>, we compute</a:t>
                </a:r>
                <a:br>
                  <a:rPr lang="en-US"/>
                </a:br>
                <a14:m>
                  <m:oMath xmlns:m="http://schemas.openxmlformats.org/officeDocument/2006/math">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𝑐</m:t>
                        </m:r>
                      </m:e>
                      <m:sub>
                        <m:r>
                          <a:rPr lang="en-US" i="1">
                            <a:effectLst>
                              <a:glow rad="228600">
                                <a:schemeClr val="accent4">
                                  <a:satMod val="175000"/>
                                  <a:alpha val="40000"/>
                                </a:schemeClr>
                              </a:glow>
                            </a:effectLst>
                            <a:latin typeface="Cambria Math" panose="02040503050406030204" pitchFamily="18" charset="0"/>
                            <a:cs typeface="DejaVu Math TeX Gyre" panose="02000503000000000000" charset="0"/>
                          </a:rPr>
                          <m:t>𝑘</m:t>
                        </m:r>
                      </m:sub>
                    </m:sSub>
                    <m:r>
                      <a:rPr lang="en-US" i="1">
                        <a:latin typeface="Cambria Math" panose="02040503050406030204" pitchFamily="18" charset="0"/>
                        <a:cs typeface="DejaVu Math TeX Gyre" panose="02000503000000000000" charset="0"/>
                      </a:rPr>
                      <m:t>=</m:t>
                    </m:r>
                    <m:nary>
                      <m:naryPr>
                        <m:chr m:val="∑"/>
                        <m:limLoc m:val="undOvr"/>
                        <m:ctrlPr>
                          <a:rPr lang="en-US" i="1">
                            <a:latin typeface="Cambria Math" panose="02040503050406030204" pitchFamily="18" charset="0"/>
                            <a:cs typeface="DejaVu Math TeX Gyre" panose="02000503000000000000" charset="0"/>
                          </a:rPr>
                        </m:ctrlPr>
                      </m:naryPr>
                      <m:sub>
                        <m:r>
                          <a:rPr lang="en-US" i="1">
                            <a:latin typeface="Cambria Math" panose="02040503050406030204" pitchFamily="18" charset="0"/>
                            <a:cs typeface="DejaVu Math TeX Gyre" panose="02000503000000000000" charset="0"/>
                          </a:rPr>
                          <m:t>𝑖</m:t>
                        </m:r>
                        <m:r>
                          <a:rPr lang="en-US" i="1">
                            <a:latin typeface="Cambria Math" panose="02040503050406030204" pitchFamily="18" charset="0"/>
                            <a:cs typeface="DejaVu Math TeX Gyre" panose="02000503000000000000" charset="0"/>
                          </a:rPr>
                          <m:t>=0</m:t>
                        </m:r>
                      </m:sub>
                      <m:sup>
                        <m:r>
                          <a:rPr lang="en-US" i="1">
                            <a:latin typeface="Cambria Math" panose="02040503050406030204" pitchFamily="18" charset="0"/>
                            <a:cs typeface="DejaVu Math TeX Gyre" panose="02000503000000000000" charset="0"/>
                          </a:rPr>
                          <m:t>6</m:t>
                        </m:r>
                      </m:sup>
                      <m:e>
                        <m:nary>
                          <m:naryPr>
                            <m:chr m:val="∑"/>
                            <m:limLoc m:val="undOvr"/>
                            <m:ctrlPr>
                              <a:rPr lang="en-US" i="1">
                                <a:latin typeface="Cambria Math" panose="02040503050406030204" pitchFamily="18" charset="0"/>
                                <a:cs typeface="DejaVu Math TeX Gyre" panose="02000503000000000000" charset="0"/>
                              </a:rPr>
                            </m:ctrlPr>
                          </m:naryPr>
                          <m:sub>
                            <m:r>
                              <a:rPr lang="en-US" i="1">
                                <a:latin typeface="Cambria Math" panose="02040503050406030204" pitchFamily="18" charset="0"/>
                                <a:cs typeface="DejaVu Math TeX Gyre" panose="02000503000000000000" charset="0"/>
                              </a:rPr>
                              <m:t>𝑗</m:t>
                            </m:r>
                            <m:r>
                              <a:rPr lang="en-US" i="1">
                                <a:latin typeface="Cambria Math" panose="02040503050406030204" pitchFamily="18" charset="0"/>
                                <a:cs typeface="DejaVu Math TeX Gyre" panose="02000503000000000000" charset="0"/>
                              </a:rPr>
                              <m:t>=0</m:t>
                            </m:r>
                          </m:sub>
                          <m:sup>
                            <m:r>
                              <a:rPr lang="en-US" i="1">
                                <a:latin typeface="Cambria Math" panose="02040503050406030204" pitchFamily="18" charset="0"/>
                                <a:cs typeface="DejaVu Math TeX Gyre" panose="02000503000000000000" charset="0"/>
                              </a:rPr>
                              <m:t>2</m:t>
                            </m:r>
                          </m:sup>
                          <m:e>
                            <m:r>
                              <a:rPr lang="en-US" i="1">
                                <a:latin typeface="Cambria Math" panose="02040503050406030204" pitchFamily="18" charset="0"/>
                                <a:cs typeface="DejaVu Math TeX Gyre" panose="02000503000000000000" charset="0"/>
                              </a:rPr>
                              <m:t>𝑊</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𝑖</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𝑗</m:t>
                            </m:r>
                            <m:r>
                              <a:rPr lang="en-US" i="1">
                                <a:latin typeface="Cambria Math" panose="02040503050406030204" pitchFamily="18" charset="0"/>
                                <a:cs typeface="DejaVu Math TeX Gyre" panose="02000503000000000000" charset="0"/>
                              </a:rPr>
                              <m:t>] </m:t>
                            </m:r>
                            <m:r>
                              <a:rPr lang="en-US" i="1">
                                <a:latin typeface="Cambria Math" panose="02040503050406030204" pitchFamily="18" charset="0"/>
                                <a:cs typeface="DejaVu Math TeX Gyre" panose="02000503000000000000" charset="0"/>
                              </a:rPr>
                              <m:t>𝑆</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𝑖</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𝑗</m:t>
                            </m:r>
                            <m:r>
                              <a:rPr lang="en-US" i="1">
                                <a:effectLst>
                                  <a:glow rad="228600">
                                    <a:schemeClr val="accent4">
                                      <a:satMod val="175000"/>
                                      <a:alpha val="40000"/>
                                    </a:schemeClr>
                                  </a:glow>
                                </a:effectLst>
                                <a:latin typeface="Cambria Math" panose="02040503050406030204" pitchFamily="18" charset="0"/>
                                <a:cs typeface="DejaVu Math TeX Gyre" panose="02000503000000000000" charset="0"/>
                              </a:rPr>
                              <m:t>+</m:t>
                            </m:r>
                            <m:r>
                              <a:rPr lang="en-US" i="1">
                                <a:effectLst>
                                  <a:glow rad="228600">
                                    <a:schemeClr val="accent4">
                                      <a:satMod val="175000"/>
                                      <a:alpha val="40000"/>
                                    </a:schemeClr>
                                  </a:glow>
                                </a:effectLst>
                                <a:latin typeface="Cambria Math" panose="02040503050406030204" pitchFamily="18" charset="0"/>
                                <a:cs typeface="DejaVu Math TeX Gyre" panose="02000503000000000000" charset="0"/>
                              </a:rPr>
                              <m:t>𝑘</m:t>
                            </m:r>
                            <m:r>
                              <a:rPr lang="en-US" i="1">
                                <a:latin typeface="Cambria Math" panose="02040503050406030204" pitchFamily="18" charset="0"/>
                                <a:cs typeface="DejaVu Math TeX Gyre" panose="02000503000000000000" charset="0"/>
                              </a:rPr>
                              <m:t>]</m:t>
                            </m:r>
                          </m:e>
                        </m:nary>
                      </m:e>
                    </m:nary>
                  </m:oMath>
                </a14:m>
                <a:endParaRPr lang="en-US" i="1">
                  <a:latin typeface="DejaVu Math TeX Gyre" panose="02000503000000000000" charset="0"/>
                  <a:cs typeface="DejaVu Math TeX Gyre" panose="02000503000000000000" charset="0"/>
                </a:endParaRPr>
              </a:p>
              <a:p>
                <a:pPr>
                  <a:lnSpc>
                    <a:spcPct val="100000"/>
                  </a:lnSpc>
                </a:pPr>
                <a:r>
                  <a:rPr lang="en-US"/>
                  <a:t>This gives </a:t>
                </a:r>
                <a14:m>
                  <m:oMath xmlns:m="http://schemas.openxmlformats.org/officeDocument/2006/math">
                    <m:r>
                      <a:rPr lang="en-US" i="1">
                        <a:latin typeface="Cambria Math" panose="02040503050406030204" pitchFamily="18" charset="0"/>
                        <a:cs typeface="DejaVu Math TeX Gyre" panose="02000503000000000000" charset="0"/>
                      </a:rPr>
                      <m:t>𝑐</m:t>
                    </m:r>
                  </m:oMath>
                </a14:m>
                <a:r>
                  <a:rPr lang="en-US"/>
                  <a:t>, a vector with 4 numbers</a:t>
                </a:r>
              </a:p>
              <a:p>
                <a:pPr>
                  <a:lnSpc>
                    <a:spcPct val="100000"/>
                  </a:lnSpc>
                </a:pPr>
                <a:r>
                  <a:rPr lang="en-US"/>
                  <a:t>In place of a single </a:t>
                </a:r>
                <a14:m>
                  <m:oMath xmlns:m="http://schemas.openxmlformats.org/officeDocument/2006/math">
                    <m:r>
                      <a:rPr lang="en-US" i="1">
                        <a:latin typeface="Cambria Math" panose="02040503050406030204" pitchFamily="18" charset="0"/>
                        <a:cs typeface="DejaVu Math TeX Gyre" panose="02000503000000000000" charset="0"/>
                      </a:rPr>
                      <m:t>𝑊</m:t>
                    </m:r>
                  </m:oMath>
                </a14:m>
                <a:r>
                  <a:rPr lang="en-US"/>
                  <a:t>, use </a:t>
                </a:r>
                <a:r>
                  <a:rPr lang="en-US" b="1"/>
                  <a:t>five</a:t>
                </a:r>
                <a:r>
                  <a:rPr lang="en-US"/>
                  <a:t> ‘channels’ or ‘heads’ </a:t>
                </a:r>
                <a14:m>
                  <m:oMath xmlns:m="http://schemas.openxmlformats.org/officeDocument/2006/math">
                    <m:r>
                      <a:rPr lang="en-US" i="1">
                        <a:solidFill>
                          <a:srgbClr val="FF0000"/>
                        </a:solidFill>
                        <a:latin typeface="Cambria Math" panose="02040503050406030204" pitchFamily="18" charset="0"/>
                        <a:cs typeface="DejaVu Math TeX Gyre" panose="02000503000000000000" charset="0"/>
                      </a:rPr>
                      <m:t>𝑊</m:t>
                    </m:r>
                    <m:r>
                      <a:rPr lang="en-US" i="1">
                        <a:latin typeface="Cambria Math" panose="02040503050406030204" pitchFamily="18" charset="0"/>
                        <a:cs typeface="DejaVu Math TeX Gyre" panose="02000503000000000000" charset="0"/>
                      </a:rPr>
                      <m:t>,</m:t>
                    </m:r>
                    <m:r>
                      <a:rPr lang="en-US" i="1">
                        <a:solidFill>
                          <a:srgbClr val="0070C0"/>
                        </a:solidFill>
                        <a:latin typeface="Cambria Math" panose="02040503050406030204" pitchFamily="18" charset="0"/>
                        <a:cs typeface="DejaVu Math TeX Gyre" panose="02000503000000000000" charset="0"/>
                      </a:rPr>
                      <m:t>𝑊</m:t>
                    </m:r>
                    <m:r>
                      <a:rPr lang="en-US" i="1">
                        <a:latin typeface="Cambria Math" panose="02040503050406030204" pitchFamily="18" charset="0"/>
                        <a:cs typeface="DejaVu Math TeX Gyre" panose="02000503000000000000" charset="0"/>
                      </a:rPr>
                      <m:t>,</m:t>
                    </m:r>
                    <m:r>
                      <a:rPr lang="en-US" i="1">
                        <a:solidFill>
                          <a:srgbClr val="00B050"/>
                        </a:solidFill>
                        <a:latin typeface="Cambria Math" panose="02040503050406030204" pitchFamily="18" charset="0"/>
                        <a:cs typeface="DejaVu Math TeX Gyre" panose="02000503000000000000" charset="0"/>
                      </a:rPr>
                      <m:t>𝑊</m:t>
                    </m:r>
                    <m:r>
                      <a:rPr lang="en-US" i="1">
                        <a:latin typeface="Cambria Math" panose="02040503050406030204" pitchFamily="18" charset="0"/>
                        <a:cs typeface="DejaVu Math TeX Gyre" panose="02000503000000000000" charset="0"/>
                      </a:rPr>
                      <m:t>,</m:t>
                    </m:r>
                    <m:r>
                      <a:rPr lang="en-US" i="1">
                        <a:solidFill>
                          <a:schemeClr val="accent4">
                            <a:lumMod val="60000"/>
                            <a:lumOff val="40000"/>
                          </a:schemeClr>
                        </a:solidFill>
                        <a:latin typeface="Cambria Math" panose="02040503050406030204" pitchFamily="18" charset="0"/>
                        <a:cs typeface="DejaVu Math TeX Gyre" panose="02000503000000000000" charset="0"/>
                      </a:rPr>
                      <m:t>𝑊</m:t>
                    </m:r>
                    <m:r>
                      <a:rPr lang="en-US" i="1">
                        <a:latin typeface="Cambria Math" panose="02040503050406030204" pitchFamily="18" charset="0"/>
                        <a:cs typeface="DejaVu Math TeX Gyre" panose="02000503000000000000" charset="0"/>
                      </a:rPr>
                      <m:t>,</m:t>
                    </m:r>
                    <m:r>
                      <a:rPr lang="en-US" i="1">
                        <a:solidFill>
                          <a:srgbClr val="7030A0"/>
                        </a:solidFill>
                        <a:latin typeface="Cambria Math" panose="02040503050406030204" pitchFamily="18" charset="0"/>
                        <a:cs typeface="DejaVu Math TeX Gyre" panose="02000503000000000000" charset="0"/>
                      </a:rPr>
                      <m:t>𝑊</m:t>
                    </m:r>
                  </m:oMath>
                </a14:m>
                <a:endParaRPr lang="en-US" i="1">
                  <a:solidFill>
                    <a:srgbClr val="7030A0"/>
                  </a:solidFill>
                  <a:latin typeface="DejaVu Math TeX Gyre" panose="02000503000000000000" charset="0"/>
                  <a:cs typeface="DejaVu Math TeX Gyre" panose="02000503000000000000" charset="0"/>
                </a:endParaRPr>
              </a:p>
              <a:p>
                <a:pPr>
                  <a:lnSpc>
                    <a:spcPct val="100000"/>
                  </a:lnSpc>
                </a:pPr>
                <a:r>
                  <a:rPr lang="en-US">
                    <a:sym typeface="+mn-ea"/>
                  </a:rPr>
                  <a:t>Expectation: different channels can be trained to pick up different kinds of signals in text</a:t>
                </a:r>
                <a:endParaRPr lang="en-US"/>
              </a:p>
              <a:p>
                <a:pPr>
                  <a:lnSpc>
                    <a:spcPct val="100000"/>
                  </a:lnSpc>
                </a:pPr>
                <a:r>
                  <a:rPr lang="en-US"/>
                  <a:t>Leading to </a:t>
                </a:r>
                <a14:m>
                  <m:oMath xmlns:m="http://schemas.openxmlformats.org/officeDocument/2006/math">
                    <m:r>
                      <a:rPr lang="en-US" i="1">
                        <a:solidFill>
                          <a:srgbClr val="FF0000"/>
                        </a:solidFill>
                        <a:latin typeface="Cambria Math" panose="02040503050406030204" pitchFamily="18" charset="0"/>
                        <a:cs typeface="DejaVu Math TeX Gyre" panose="02000503000000000000" charset="0"/>
                      </a:rPr>
                      <m:t>𝑐</m:t>
                    </m:r>
                    <m:r>
                      <a:rPr lang="en-US" i="1">
                        <a:latin typeface="Cambria Math" panose="02040503050406030204" pitchFamily="18" charset="0"/>
                        <a:cs typeface="DejaVu Math TeX Gyre" panose="02000503000000000000" charset="0"/>
                      </a:rPr>
                      <m:t>,</m:t>
                    </m:r>
                    <m:r>
                      <a:rPr lang="en-US" i="1">
                        <a:solidFill>
                          <a:srgbClr val="0070C0"/>
                        </a:solidFill>
                        <a:latin typeface="Cambria Math" panose="02040503050406030204" pitchFamily="18" charset="0"/>
                        <a:cs typeface="DejaVu Math TeX Gyre" panose="02000503000000000000" charset="0"/>
                      </a:rPr>
                      <m:t>𝑐</m:t>
                    </m:r>
                    <m:r>
                      <a:rPr lang="en-US" i="1">
                        <a:latin typeface="Cambria Math" panose="02040503050406030204" pitchFamily="18" charset="0"/>
                        <a:cs typeface="DejaVu Math TeX Gyre" panose="02000503000000000000" charset="0"/>
                      </a:rPr>
                      <m:t>,</m:t>
                    </m:r>
                    <m:r>
                      <a:rPr lang="en-US" i="1">
                        <a:solidFill>
                          <a:srgbClr val="00B050"/>
                        </a:solidFill>
                        <a:latin typeface="Cambria Math" panose="02040503050406030204" pitchFamily="18" charset="0"/>
                        <a:cs typeface="DejaVu Math TeX Gyre" panose="02000503000000000000" charset="0"/>
                      </a:rPr>
                      <m:t>𝑐</m:t>
                    </m:r>
                    <m:r>
                      <a:rPr lang="en-US" i="1">
                        <a:latin typeface="Cambria Math" panose="02040503050406030204" pitchFamily="18" charset="0"/>
                        <a:cs typeface="DejaVu Math TeX Gyre" panose="02000503000000000000" charset="0"/>
                      </a:rPr>
                      <m:t>,</m:t>
                    </m:r>
                    <m:r>
                      <a:rPr lang="en-US" i="1">
                        <a:solidFill>
                          <a:srgbClr val="FFC000"/>
                        </a:solidFill>
                        <a:latin typeface="Cambria Math" panose="02040503050406030204" pitchFamily="18" charset="0"/>
                        <a:cs typeface="DejaVu Math TeX Gyre" panose="02000503000000000000" charset="0"/>
                      </a:rPr>
                      <m:t>𝑐</m:t>
                    </m:r>
                    <m:r>
                      <a:rPr lang="en-US" i="1">
                        <a:latin typeface="Cambria Math" panose="02040503050406030204" pitchFamily="18" charset="0"/>
                        <a:cs typeface="DejaVu Math TeX Gyre" panose="02000503000000000000" charset="0"/>
                      </a:rPr>
                      <m:t>,</m:t>
                    </m:r>
                    <m:r>
                      <a:rPr lang="en-US" i="1">
                        <a:solidFill>
                          <a:srgbClr val="7030A0"/>
                        </a:solidFill>
                        <a:latin typeface="Cambria Math" panose="02040503050406030204" pitchFamily="18" charset="0"/>
                        <a:cs typeface="DejaVu Math TeX Gyre" panose="02000503000000000000" charset="0"/>
                      </a:rPr>
                      <m:t>𝑐</m:t>
                    </m:r>
                  </m:oMath>
                </a14:m>
                <a:r>
                  <a:rPr lang="en-US"/>
                  <a:t> i.e., matrix </a:t>
                </a:r>
                <a14:m>
                  <m:oMath xmlns:m="http://schemas.openxmlformats.org/officeDocument/2006/math">
                    <m:r>
                      <a:rPr lang="en-US" i="1">
                        <a:latin typeface="Cambria Math" panose="02040503050406030204" pitchFamily="18" charset="0"/>
                        <a:cs typeface="DejaVu Math TeX Gyre" panose="02000503000000000000" charset="0"/>
                      </a:rPr>
                      <m:t>𝐶</m:t>
                    </m:r>
                    <m:r>
                      <a:rPr lang="en-US" i="1">
                        <a:latin typeface="Cambria Math" panose="02040503050406030204" pitchFamily="18" charset="0"/>
                        <a:cs typeface="DejaVu Math TeX Gyre" panose="02000503000000000000" charset="0"/>
                      </a:rPr>
                      <m:t>∈</m:t>
                    </m:r>
                    <m:sSup>
                      <m:sSupPr>
                        <m:ctrlPr>
                          <a:rPr lang="en-US" i="1">
                            <a:latin typeface="Cambria Math" panose="02040503050406030204" pitchFamily="18" charset="0"/>
                            <a:cs typeface="DejaVu Math TeX Gyre" panose="02000503000000000000" charset="0"/>
                          </a:rPr>
                        </m:ctrlPr>
                      </m:sSupPr>
                      <m:e>
                        <m:r>
                          <a:rPr lang="en-US" i="1">
                            <a:latin typeface="Cambria Math" panose="02040503050406030204" pitchFamily="18" charset="0"/>
                            <a:cs typeface="DejaVu Math TeX Gyre" panose="02000503000000000000" charset="0"/>
                          </a:rPr>
                          <m:t>ℝ</m:t>
                        </m:r>
                      </m:e>
                      <m:sup>
                        <m:r>
                          <a:rPr lang="en-US" i="1">
                            <a:latin typeface="Cambria Math" panose="02040503050406030204" pitchFamily="18" charset="0"/>
                            <a:cs typeface="DejaVu Math TeX Gyre" panose="02000503000000000000" charset="0"/>
                          </a:rPr>
                          <m:t>4×5</m:t>
                        </m:r>
                      </m:sup>
                    </m:sSup>
                  </m:oMath>
                </a14:m>
                <a:endParaRPr lang="en-US" i="1">
                  <a:latin typeface="Cambria Math" panose="02040503050406030204" pitchFamily="18" charset="0"/>
                  <a:cs typeface="DejaVu Math TeX Gyre" panose="02000503000000000000" charset="0"/>
                </a:endParaRPr>
              </a:p>
              <a:p>
                <a:pPr>
                  <a:lnSpc>
                    <a:spcPct val="100000"/>
                  </a:lnSpc>
                </a:pPr>
                <a:r>
                  <a:rPr lang="en-US"/>
                  <a:t>Can apply the same reduction pattern to reduce to any vector size</a:t>
                </a:r>
              </a:p>
              <a:p>
                <a:pPr lvl="1">
                  <a:lnSpc>
                    <a:spcPct val="100000"/>
                  </a:lnSpc>
                </a:pPr>
                <a:r>
                  <a:rPr lang="en-US"/>
                  <a:t>E.g., logits for each output class label</a:t>
                </a:r>
              </a:p>
            </p:txBody>
          </p:sp>
        </mc:Choice>
        <mc:Fallback xmlns="">
          <p:sp>
            <p:nvSpPr>
              <p:cNvPr id="5" name="Content Placeholder 4"/>
              <p:cNvSpPr>
                <a:spLocks noRot="1" noChangeAspect="1" noMove="1" noResize="1" noEditPoints="1" noAdjustHandles="1" noChangeArrowheads="1" noChangeShapeType="1" noTextEdit="1"/>
              </p:cNvSpPr>
              <p:nvPr>
                <p:ph idx="1"/>
              </p:nvPr>
            </p:nvSpPr>
            <p:spPr>
              <a:blipFill rotWithShape="1">
                <a:blip r:embed="rId2"/>
                <a:stretch>
                  <a:fillRect t="-98"/>
                </a:stretch>
              </a:blipFill>
            </p:spPr>
            <p:txBody>
              <a:bodyPr/>
              <a:lstStyle/>
              <a:p>
                <a:r>
                  <a:rPr lang="en-US" altLang="en-US">
                    <a:noFill/>
                  </a:rPr>
                  <a:t> </a:t>
                </a:r>
              </a:p>
            </p:txBody>
          </p:sp>
        </mc:Fallback>
      </mc:AlternateContent>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1d convnet, multiple stencils</a:t>
            </a:r>
          </a:p>
        </p:txBody>
      </p:sp>
      <p:pic>
        <p:nvPicPr>
          <p:cNvPr id="5" name="Picture 4" descr="seq-ConvNetDetail"/>
          <p:cNvPicPr>
            <a:picLocks noChangeAspect="1"/>
          </p:cNvPicPr>
          <p:nvPr/>
        </p:nvPicPr>
        <p:blipFill>
          <a:blip r:embed="rId2"/>
          <a:stretch>
            <a:fillRect/>
          </a:stretch>
        </p:blipFill>
        <p:spPr>
          <a:xfrm>
            <a:off x="2767965" y="751205"/>
            <a:ext cx="6674485" cy="6106795"/>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2016000" y="1005840"/>
              <a:ext cx="8495640" cy="5303880"/>
            </p14:xfrm>
          </p:contentPart>
        </mc:Choice>
        <mc:Fallback xmlns="">
          <p:pic>
            <p:nvPicPr>
              <p:cNvPr id="2" name="Ink 1"/>
            </p:nvPicPr>
            <p:blipFill>
              <a:blip r:embed="rId4"/>
            </p:blipFill>
            <p:spPr>
              <a:xfrm>
                <a:off x="2016000" y="1005840"/>
                <a:ext cx="8495640" cy="5303880"/>
              </a:xfrm>
              <a:prstGeom prst="rect"/>
            </p:spPr>
          </p:pic>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a:t>Applications of passage representation</a:t>
            </a:r>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p:txBody>
              <a:bodyPr>
                <a:normAutofit fontScale="92500"/>
              </a:bodyPr>
              <a:lstStyle/>
              <a:p>
                <a:r>
                  <a:rPr lang="en-US"/>
                  <a:t>(Not just for convnet)</a:t>
                </a:r>
              </a:p>
              <a:p>
                <a:r>
                  <a:rPr lang="en-US"/>
                  <a:t>Learn a classifier whose input is </a:t>
                </a:r>
                <a14:m>
                  <m:oMath xmlns:m="http://schemas.openxmlformats.org/officeDocument/2006/math">
                    <m:r>
                      <a:rPr lang="en-US" i="1">
                        <a:latin typeface="Cambria Math" panose="02040503050406030204" pitchFamily="18" charset="0"/>
                        <a:cs typeface="DejaVu Math TeX Gyre" panose="02000503000000000000" charset="0"/>
                      </a:rPr>
                      <m:t>𝑓</m:t>
                    </m:r>
                  </m:oMath>
                </a14:m>
                <a:r>
                  <a:rPr lang="en-US"/>
                  <a:t>, to predict labels like topic, sentiment, product rating, spam/not-spam, etc.</a:t>
                </a:r>
              </a:p>
              <a:p>
                <a:r>
                  <a:rPr lang="en-US"/>
                  <a:t>If there are </a:t>
                </a:r>
                <a14:m>
                  <m:oMath xmlns:m="http://schemas.openxmlformats.org/officeDocument/2006/math">
                    <m:r>
                      <a:rPr lang="en-US" i="1">
                        <a:latin typeface="Cambria Math" panose="02040503050406030204" pitchFamily="18" charset="0"/>
                        <a:cs typeface="DejaVu Math TeX Gyre" panose="02000503000000000000" charset="0"/>
                      </a:rPr>
                      <m:t>𝑀</m:t>
                    </m:r>
                  </m:oMath>
                </a14:m>
                <a:r>
                  <a:rPr lang="en-US"/>
                  <a:t> labels, use matrix </a:t>
                </a:r>
                <a14:m>
                  <m:oMath xmlns:m="http://schemas.openxmlformats.org/officeDocument/2006/math">
                    <m:r>
                      <a:rPr lang="en-US" i="1">
                        <a:latin typeface="Cambria Math" panose="02040503050406030204" pitchFamily="18" charset="0"/>
                        <a:cs typeface="DejaVu Math TeX Gyre" panose="02000503000000000000" charset="0"/>
                      </a:rPr>
                      <m:t>𝑉</m:t>
                    </m:r>
                    <m:r>
                      <a:rPr lang="en-US" i="1">
                        <a:latin typeface="Cambria Math" panose="02040503050406030204" pitchFamily="18" charset="0"/>
                        <a:cs typeface="DejaVu Math TeX Gyre" panose="02000503000000000000" charset="0"/>
                      </a:rPr>
                      <m:t>∈</m:t>
                    </m:r>
                    <m:sSup>
                      <m:sSupPr>
                        <m:ctrlPr>
                          <a:rPr lang="en-US" i="1">
                            <a:latin typeface="Cambria Math" panose="02040503050406030204" pitchFamily="18" charset="0"/>
                            <a:cs typeface="DejaVu Math TeX Gyre" panose="02000503000000000000" charset="0"/>
                          </a:rPr>
                        </m:ctrlPr>
                      </m:sSupPr>
                      <m:e>
                        <m:r>
                          <a:rPr lang="en-US" i="1">
                            <a:latin typeface="Cambria Math" panose="02040503050406030204" pitchFamily="18" charset="0"/>
                            <a:cs typeface="DejaVu Math TeX Gyre" panose="02000503000000000000" charset="0"/>
                          </a:rPr>
                          <m:t>ℝ</m:t>
                        </m:r>
                      </m:e>
                      <m:sup>
                        <m:r>
                          <a:rPr lang="en-US" i="1">
                            <a:latin typeface="Cambria Math" panose="02040503050406030204" pitchFamily="18" charset="0"/>
                            <a:cs typeface="DejaVu Math TeX Gyre" panose="02000503000000000000" charset="0"/>
                          </a:rPr>
                          <m:t>4×</m:t>
                        </m:r>
                        <m:r>
                          <a:rPr lang="en-US" i="1">
                            <a:latin typeface="Cambria Math" panose="02040503050406030204" pitchFamily="18" charset="0"/>
                            <a:cs typeface="DejaVu Math TeX Gyre" panose="02000503000000000000" charset="0"/>
                          </a:rPr>
                          <m:t>𝑀</m:t>
                        </m:r>
                      </m:sup>
                    </m:sSup>
                  </m:oMath>
                </a14:m>
                <a:r>
                  <a:rPr lang="en-US"/>
                  <a:t>; output </a:t>
                </a:r>
                <a14:m>
                  <m:oMath xmlns:m="http://schemas.openxmlformats.org/officeDocument/2006/math">
                    <m:r>
                      <m:rPr>
                        <m:sty m:val="p"/>
                      </m:rPr>
                      <a:rPr lang="en-US">
                        <a:latin typeface="Cambria Math" panose="02040503050406030204" pitchFamily="18" charset="0"/>
                        <a:cs typeface="DejaVu Math TeX Gyre" panose="02000503000000000000" charset="0"/>
                      </a:rPr>
                      <m:t>softmax</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𝑓𝑉</m:t>
                    </m:r>
                    <m:r>
                      <a:rPr lang="en-US" i="1">
                        <a:latin typeface="Cambria Math" panose="02040503050406030204" pitchFamily="18" charset="0"/>
                        <a:cs typeface="DejaVu Math TeX Gyre" panose="02000503000000000000" charset="0"/>
                      </a:rPr>
                      <m:t>)</m:t>
                    </m:r>
                  </m:oMath>
                </a14:m>
                <a:endParaRPr lang="en-US" i="1">
                  <a:latin typeface="DejaVu Math TeX Gyre" panose="02000503000000000000" charset="0"/>
                  <a:cs typeface="DejaVu Math TeX Gyre" panose="02000503000000000000" charset="0"/>
                </a:endParaRPr>
              </a:p>
              <a:p>
                <a:r>
                  <a:rPr lang="en-US"/>
                  <a:t>Compare two passages </a:t>
                </a:r>
                <a14:m>
                  <m:oMath xmlns:m="http://schemas.openxmlformats.org/officeDocument/2006/math">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𝑠</m:t>
                        </m:r>
                      </m:e>
                      <m:sub>
                        <m:r>
                          <a:rPr lang="en-US" i="1">
                            <a:latin typeface="Cambria Math" panose="02040503050406030204" pitchFamily="18" charset="0"/>
                            <a:cs typeface="DejaVu Math TeX Gyre" panose="02000503000000000000" charset="0"/>
                          </a:rPr>
                          <m:t>1</m:t>
                        </m:r>
                      </m:sub>
                    </m:sSub>
                    <m:r>
                      <a:rPr lang="en-US" i="1">
                        <a:latin typeface="Cambria Math" panose="02040503050406030204" pitchFamily="18" charset="0"/>
                        <a:cs typeface="DejaVu Math TeX Gyre" panose="02000503000000000000" charset="0"/>
                      </a:rPr>
                      <m:t>,</m:t>
                    </m:r>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𝑠</m:t>
                        </m:r>
                      </m:e>
                      <m:sub>
                        <m:r>
                          <a:rPr lang="en-US" i="1">
                            <a:latin typeface="Cambria Math" panose="02040503050406030204" pitchFamily="18" charset="0"/>
                            <a:cs typeface="DejaVu Math TeX Gyre" panose="02000503000000000000" charset="0"/>
                          </a:rPr>
                          <m:t>2</m:t>
                        </m:r>
                      </m:sub>
                    </m:sSub>
                  </m:oMath>
                </a14:m>
                <a:r>
                  <a:rPr lang="en-US"/>
                  <a:t> for ‘semantic’ similarity </a:t>
                </a:r>
                <a14:m>
                  <m:oMath xmlns:m="http://schemas.openxmlformats.org/officeDocument/2006/math">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𝑠</m:t>
                        </m:r>
                      </m:e>
                      <m:sub>
                        <m:r>
                          <a:rPr lang="en-US" i="1">
                            <a:latin typeface="Cambria Math" panose="02040503050406030204" pitchFamily="18" charset="0"/>
                            <a:cs typeface="DejaVu Math TeX Gyre" panose="02000503000000000000" charset="0"/>
                          </a:rPr>
                          <m:t>1</m:t>
                        </m:r>
                      </m:sub>
                    </m:sSub>
                    <m:r>
                      <a:rPr lang="en-US" i="1">
                        <a:latin typeface="Cambria Math" panose="02040503050406030204" pitchFamily="18" charset="0"/>
                        <a:cs typeface="DejaVu Math TeX Gyre" panose="02000503000000000000" charset="0"/>
                      </a:rPr>
                      <m:t>≅</m:t>
                    </m:r>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𝑠</m:t>
                        </m:r>
                      </m:e>
                      <m:sub>
                        <m:r>
                          <a:rPr lang="en-US" i="1">
                            <a:latin typeface="Cambria Math" panose="02040503050406030204" pitchFamily="18" charset="0"/>
                            <a:cs typeface="DejaVu Math TeX Gyre" panose="02000503000000000000" charset="0"/>
                          </a:rPr>
                          <m:t>2</m:t>
                        </m:r>
                      </m:sub>
                    </m:sSub>
                  </m:oMath>
                </a14:m>
                <a:r>
                  <a:rPr lang="en-US"/>
                  <a:t> or entailment </a:t>
                </a:r>
                <a14:m>
                  <m:oMath xmlns:m="http://schemas.openxmlformats.org/officeDocument/2006/math">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𝑠</m:t>
                        </m:r>
                      </m:e>
                      <m:sub>
                        <m:r>
                          <a:rPr lang="en-US" i="1">
                            <a:latin typeface="Cambria Math" panose="02040503050406030204" pitchFamily="18" charset="0"/>
                            <a:cs typeface="DejaVu Math TeX Gyre" panose="02000503000000000000" charset="0"/>
                          </a:rPr>
                          <m:t>1</m:t>
                        </m:r>
                      </m:sub>
                    </m:sSub>
                    <m:r>
                      <a:rPr lang="en-US" i="1">
                        <a:latin typeface="Cambria Math" panose="02040503050406030204" pitchFamily="18" charset="0"/>
                        <a:cs typeface="DejaVu Math TeX Gyre" panose="02000503000000000000" charset="0"/>
                      </a:rPr>
                      <m:t>⟹</m:t>
                    </m:r>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𝑠</m:t>
                        </m:r>
                      </m:e>
                      <m:sub>
                        <m:r>
                          <a:rPr lang="en-US" i="1">
                            <a:latin typeface="Cambria Math" panose="02040503050406030204" pitchFamily="18" charset="0"/>
                            <a:cs typeface="DejaVu Math TeX Gyre" panose="02000503000000000000" charset="0"/>
                          </a:rPr>
                          <m:t>2</m:t>
                        </m:r>
                      </m:sub>
                    </m:sSub>
                  </m:oMath>
                </a14:m>
                <a:endParaRPr lang="en-US" i="1">
                  <a:latin typeface="DejaVu Math TeX Gyre" panose="02000503000000000000" charset="0"/>
                  <a:cs typeface="DejaVu Math TeX Gyre" panose="02000503000000000000" charset="0"/>
                </a:endParaRPr>
              </a:p>
              <a:p>
                <a:pPr lvl="1"/>
                <a:r>
                  <a:rPr lang="en-US"/>
                  <a:t>Common use in search</a:t>
                </a:r>
              </a:p>
              <a:p>
                <a:pPr lvl="0"/>
                <a:r>
                  <a:rPr lang="en-US"/>
                  <a:t>If unsure of best shape of sliding stencil, use several stencils of various sizes </a:t>
                </a:r>
              </a:p>
            </p:txBody>
          </p:sp>
        </mc:Choice>
        <mc:Fallback xmlns="">
          <p:sp>
            <p:nvSpPr>
              <p:cNvPr id="5" name="Content Placeholder 4"/>
              <p:cNvSpPr>
                <a:spLocks noRot="1" noChangeAspect="1" noMove="1" noResize="1" noEditPoints="1" noAdjustHandles="1" noChangeArrowheads="1" noChangeShapeType="1" noTextEdit="1"/>
              </p:cNvSpPr>
              <p:nvPr>
                <p:ph idx="1"/>
              </p:nvPr>
            </p:nvSpPr>
            <p:spPr>
              <a:blipFill rotWithShape="1">
                <a:blip r:embed="rId2"/>
                <a:stretch>
                  <a:fillRect/>
                </a:stretch>
              </a:blipFill>
            </p:spPr>
            <p:txBody>
              <a:bodyPr/>
              <a:lstStyle/>
              <a:p>
                <a:r>
                  <a:rPr lang="en-US" altLang="en-US">
                    <a:noFill/>
                  </a:rPr>
                  <a:t> </a:t>
                </a:r>
              </a:p>
            </p:txBody>
          </p:sp>
        </mc:Fallback>
      </mc:AlternateContent>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Contextual word embeddings</a:t>
            </a:r>
          </a:p>
        </p:txBody>
      </p:sp>
      <p:sp>
        <p:nvSpPr>
          <p:cNvPr id="3" name="Text Placeholder 2"/>
          <p:cNvSpPr>
            <a:spLocks noGrp="1"/>
          </p:cNvSpPr>
          <p:nvPr>
            <p:ph type="body" idx="1"/>
          </p:nvPr>
        </p:nvSpPr>
        <p:spPr>
          <a:xfrm>
            <a:off x="74930" y="913130"/>
            <a:ext cx="10996295" cy="5859780"/>
          </a:xfrm>
        </p:spPr>
        <p:txBody>
          <a:bodyPr>
            <a:normAutofit fontScale="85000" lnSpcReduction="20000"/>
          </a:bodyPr>
          <a:lstStyle/>
          <a:p>
            <a:pPr>
              <a:lnSpc>
                <a:spcPct val="100000"/>
              </a:lnSpc>
            </a:pPr>
            <a:r>
              <a:rPr lang="en-US"/>
              <a:t>Word2vec and </a:t>
            </a:r>
            <a:r>
              <a:rPr lang="en-US" err="1"/>
              <a:t>GloVe</a:t>
            </a:r>
            <a:r>
              <a:rPr lang="en-US"/>
              <a:t> compute single embedding per string token</a:t>
            </a:r>
          </a:p>
          <a:p>
            <a:pPr lvl="1">
              <a:lnSpc>
                <a:spcPct val="100000"/>
              </a:lnSpc>
            </a:pPr>
            <a:r>
              <a:rPr lang="en-US"/>
              <a:t>I went to the </a:t>
            </a:r>
            <a:r>
              <a:rPr lang="en-US">
                <a:effectLst>
                  <a:glow rad="228600">
                    <a:schemeClr val="accent2">
                      <a:satMod val="175000"/>
                      <a:alpha val="40000"/>
                    </a:schemeClr>
                  </a:glow>
                </a:effectLst>
              </a:rPr>
              <a:t>bank</a:t>
            </a:r>
            <a:r>
              <a:rPr lang="en-US" baseline="-25000">
                <a:effectLst>
                  <a:glow rad="228600">
                    <a:schemeClr val="accent2">
                      <a:satMod val="175000"/>
                      <a:alpha val="40000"/>
                    </a:schemeClr>
                  </a:glow>
                </a:effectLst>
              </a:rPr>
              <a:t>1</a:t>
            </a:r>
            <a:r>
              <a:rPr lang="en-US"/>
              <a:t> to open a fixed </a:t>
            </a:r>
            <a:r>
              <a:rPr lang="en-US">
                <a:effectLst>
                  <a:glow rad="228600">
                    <a:schemeClr val="accent3">
                      <a:satMod val="175000"/>
                      <a:alpha val="40000"/>
                    </a:schemeClr>
                  </a:glow>
                </a:effectLst>
              </a:rPr>
              <a:t>deposit</a:t>
            </a:r>
            <a:r>
              <a:rPr lang="en-US"/>
              <a:t> with high </a:t>
            </a:r>
            <a:r>
              <a:rPr lang="en-US">
                <a:effectLst>
                  <a:glow rad="228600">
                    <a:schemeClr val="accent3">
                      <a:satMod val="175000"/>
                      <a:alpha val="40000"/>
                    </a:schemeClr>
                  </a:glow>
                </a:effectLst>
              </a:rPr>
              <a:t>interest rate</a:t>
            </a:r>
            <a:r>
              <a:rPr lang="en-US"/>
              <a:t>.</a:t>
            </a:r>
          </a:p>
          <a:p>
            <a:pPr lvl="1">
              <a:lnSpc>
                <a:spcPct val="100000"/>
              </a:lnSpc>
            </a:pPr>
            <a:r>
              <a:rPr lang="en-US"/>
              <a:t>They </a:t>
            </a:r>
            <a:r>
              <a:rPr lang="en-US">
                <a:effectLst>
                  <a:glow rad="228600">
                    <a:schemeClr val="accent3">
                      <a:satMod val="175000"/>
                      <a:alpha val="40000"/>
                    </a:schemeClr>
                  </a:glow>
                </a:effectLst>
              </a:rPr>
              <a:t>swam </a:t>
            </a:r>
            <a:r>
              <a:rPr lang="en-US"/>
              <a:t>along the </a:t>
            </a:r>
            <a:r>
              <a:rPr lang="en-US">
                <a:effectLst>
                  <a:glow rad="228600">
                    <a:schemeClr val="accent5">
                      <a:satMod val="175000"/>
                      <a:alpha val="40000"/>
                    </a:schemeClr>
                  </a:glow>
                </a:effectLst>
              </a:rPr>
              <a:t>bank</a:t>
            </a:r>
            <a:r>
              <a:rPr lang="en-US" baseline="-25000">
                <a:effectLst>
                  <a:glow rad="228600">
                    <a:schemeClr val="accent5">
                      <a:satMod val="175000"/>
                      <a:alpha val="40000"/>
                    </a:schemeClr>
                  </a:glow>
                </a:effectLst>
              </a:rPr>
              <a:t>2</a:t>
            </a:r>
            <a:r>
              <a:rPr lang="en-US"/>
              <a:t> where the </a:t>
            </a:r>
            <a:r>
              <a:rPr lang="en-US">
                <a:effectLst>
                  <a:glow rad="228600">
                    <a:schemeClr val="accent3">
                      <a:satMod val="175000"/>
                      <a:alpha val="40000"/>
                    </a:schemeClr>
                  </a:glow>
                </a:effectLst>
              </a:rPr>
              <a:t>water </a:t>
            </a:r>
            <a:r>
              <a:rPr lang="en-US"/>
              <a:t>current was gentle.</a:t>
            </a:r>
          </a:p>
          <a:p>
            <a:pPr lvl="1">
              <a:lnSpc>
                <a:spcPct val="100000"/>
              </a:lnSpc>
            </a:pPr>
            <a:r>
              <a:rPr lang="en-US"/>
              <a:t>Do not </a:t>
            </a:r>
            <a:r>
              <a:rPr lang="en-US">
                <a:effectLst>
                  <a:glow rad="228600">
                    <a:schemeClr val="accent6">
                      <a:satMod val="175000"/>
                      <a:alpha val="40000"/>
                    </a:schemeClr>
                  </a:glow>
                </a:effectLst>
              </a:rPr>
              <a:t>bank</a:t>
            </a:r>
            <a:r>
              <a:rPr lang="en-US" baseline="-25000">
                <a:effectLst>
                  <a:glow rad="228600">
                    <a:schemeClr val="accent6">
                      <a:satMod val="175000"/>
                      <a:alpha val="40000"/>
                    </a:schemeClr>
                  </a:glow>
                </a:effectLst>
              </a:rPr>
              <a:t>3</a:t>
            </a:r>
            <a:r>
              <a:rPr lang="en-US"/>
              <a:t> the </a:t>
            </a:r>
            <a:r>
              <a:rPr lang="en-US">
                <a:effectLst>
                  <a:glow rad="228600">
                    <a:schemeClr val="accent3">
                      <a:satMod val="175000"/>
                      <a:alpha val="40000"/>
                    </a:schemeClr>
                  </a:glow>
                </a:effectLst>
              </a:rPr>
              <a:t>Cessna </a:t>
            </a:r>
            <a:r>
              <a:rPr lang="en-US"/>
              <a:t>during a steep </a:t>
            </a:r>
            <a:r>
              <a:rPr lang="en-US">
                <a:effectLst>
                  <a:glow rad="228600">
                    <a:schemeClr val="accent3">
                      <a:satMod val="175000"/>
                      <a:alpha val="40000"/>
                    </a:schemeClr>
                  </a:glow>
                </a:effectLst>
              </a:rPr>
              <a:t>climb </a:t>
            </a:r>
            <a:r>
              <a:rPr lang="en-US"/>
              <a:t>or it might </a:t>
            </a:r>
            <a:r>
              <a:rPr lang="en-US">
                <a:effectLst>
                  <a:glow rad="228600">
                    <a:schemeClr val="accent3">
                      <a:satMod val="175000"/>
                      <a:alpha val="40000"/>
                    </a:schemeClr>
                  </a:glow>
                </a:effectLst>
              </a:rPr>
              <a:t>stall</a:t>
            </a:r>
            <a:r>
              <a:rPr lang="en-US"/>
              <a:t>.</a:t>
            </a:r>
          </a:p>
          <a:p>
            <a:pPr>
              <a:lnSpc>
                <a:spcPct val="100000"/>
              </a:lnSpc>
            </a:pPr>
            <a:r>
              <a:rPr lang="en-US"/>
              <a:t>If we could disambiguate and know how many distinct senses </a:t>
            </a:r>
            <a:r>
              <a:rPr lang="en-US" i="1"/>
              <a:t>bank</a:t>
            </a:r>
            <a:r>
              <a:rPr lang="en-US"/>
              <a:t> has, we can train embeddings for each of them</a:t>
            </a:r>
          </a:p>
          <a:p>
            <a:pPr lvl="1">
              <a:lnSpc>
                <a:spcPct val="100000"/>
              </a:lnSpc>
            </a:pPr>
            <a:r>
              <a:rPr lang="en-US">
                <a:hlinkClick r:id="rId2"/>
              </a:rPr>
              <a:t>Ontologically Grounded Multi-sense Representation Learning for Semantic Vector Space Models</a:t>
            </a:r>
            <a:endParaRPr lang="en-US"/>
          </a:p>
        </p:txBody>
      </p:sp>
      <p:pic>
        <p:nvPicPr>
          <p:cNvPr id="1026" name="Picture 2" descr="IconExperience » V-Collection » Bank House 2 Dollar Ic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15257" y="1438383"/>
            <a:ext cx="812948" cy="81294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355,952 River Bank Stock Photos, Pictures &amp; Royalty-Free Images - iStock"/>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01291" y="2319944"/>
            <a:ext cx="926914" cy="61037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afe Turnarounds - Plane &amp; Pilot Magazin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75705" y="3297901"/>
            <a:ext cx="952500" cy="10448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Contextualization</a:t>
            </a:r>
          </a:p>
        </p:txBody>
      </p:sp>
      <p:sp>
        <p:nvSpPr>
          <p:cNvPr id="3" name="Text Placeholder 2"/>
          <p:cNvSpPr>
            <a:spLocks noGrp="1"/>
          </p:cNvSpPr>
          <p:nvPr>
            <p:ph type="body" idx="1"/>
          </p:nvPr>
        </p:nvSpPr>
        <p:spPr/>
        <p:txBody>
          <a:bodyPr/>
          <a:lstStyle/>
          <a:p>
            <a:pPr>
              <a:lnSpc>
                <a:spcPct val="100000"/>
              </a:lnSpc>
            </a:pPr>
            <a:r>
              <a:rPr lang="en-US" sz="4000">
                <a:sym typeface="+mn-ea"/>
              </a:rPr>
              <a:t>The other (better?) option is to regard word2vec or </a:t>
            </a:r>
            <a:r>
              <a:rPr lang="en-US" sz="4000" err="1">
                <a:sym typeface="+mn-ea"/>
              </a:rPr>
              <a:t>GloVe</a:t>
            </a:r>
            <a:r>
              <a:rPr lang="en-US" sz="4000">
                <a:sym typeface="+mn-ea"/>
              </a:rPr>
              <a:t> embeddings as a starting point (aka “base embedding”)</a:t>
            </a:r>
            <a:endParaRPr lang="en-US" sz="4000"/>
          </a:p>
          <a:p>
            <a:pPr>
              <a:lnSpc>
                <a:spcPct val="100000"/>
              </a:lnSpc>
            </a:pPr>
            <a:r>
              <a:rPr lang="en-US" sz="4000">
                <a:sym typeface="+mn-ea"/>
              </a:rPr>
              <a:t>Then compute a context dependent embedding of each word (like </a:t>
            </a:r>
            <a:r>
              <a:rPr lang="en-US" sz="4000" i="1">
                <a:sym typeface="+mn-ea"/>
              </a:rPr>
              <a:t>bank</a:t>
            </a:r>
            <a:r>
              <a:rPr lang="en-US" sz="4000">
                <a:sym typeface="+mn-ea"/>
              </a:rPr>
              <a:t>) that also depends on base embeddings of accompanying words</a:t>
            </a:r>
            <a:endParaRPr lang="en-US" sz="4000"/>
          </a:p>
          <a:p>
            <a:pPr lvl="1">
              <a:lnSpc>
                <a:spcPct val="100000"/>
              </a:lnSpc>
            </a:pPr>
            <a:r>
              <a:rPr lang="en-US" sz="4000">
                <a:sym typeface="+mn-ea"/>
              </a:rPr>
              <a:t>“Solving for” a fixpoint?</a:t>
            </a: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a:t>Contextual word embeddings</a:t>
            </a:r>
          </a:p>
        </p:txBody>
      </p:sp>
      <p:sp>
        <p:nvSpPr>
          <p:cNvPr id="2" name="Text Box 1"/>
          <p:cNvSpPr txBox="1"/>
          <p:nvPr/>
        </p:nvSpPr>
        <p:spPr>
          <a:xfrm>
            <a:off x="304800" y="1124585"/>
            <a:ext cx="9507220" cy="521970"/>
          </a:xfrm>
          <a:prstGeom prst="rect">
            <a:avLst/>
          </a:prstGeom>
          <a:noFill/>
        </p:spPr>
        <p:txBody>
          <a:bodyPr wrap="square" rtlCol="0">
            <a:spAutoFit/>
          </a:bodyPr>
          <a:lstStyle/>
          <a:p>
            <a:r>
              <a:rPr lang="en-US" sz="2800"/>
              <a:t>He </a:t>
            </a:r>
            <a:r>
              <a:rPr lang="en-US" sz="2800">
                <a:effectLst>
                  <a:glow rad="228600">
                    <a:schemeClr val="accent5">
                      <a:satMod val="175000"/>
                      <a:alpha val="40000"/>
                    </a:schemeClr>
                  </a:glow>
                </a:effectLst>
              </a:rPr>
              <a:t>swam</a:t>
            </a:r>
            <a:r>
              <a:rPr lang="en-US" sz="2800"/>
              <a:t> near the </a:t>
            </a:r>
            <a:r>
              <a:rPr lang="en-US" sz="2800">
                <a:effectLst>
                  <a:glow rad="228600">
                    <a:schemeClr val="accent4">
                      <a:satMod val="175000"/>
                      <a:alpha val="40000"/>
                    </a:schemeClr>
                  </a:glow>
                </a:effectLst>
              </a:rPr>
              <a:t>bank</a:t>
            </a:r>
            <a:r>
              <a:rPr lang="en-US" sz="2800"/>
              <a:t> because the </a:t>
            </a:r>
            <a:r>
              <a:rPr lang="en-US" sz="2800">
                <a:effectLst>
                  <a:glow rad="228600">
                    <a:schemeClr val="accent6">
                      <a:satMod val="175000"/>
                      <a:alpha val="40000"/>
                    </a:schemeClr>
                  </a:glow>
                </a:effectLst>
              </a:rPr>
              <a:t>current</a:t>
            </a:r>
            <a:r>
              <a:rPr lang="en-US" sz="2800"/>
              <a:t> was </a:t>
            </a:r>
            <a:r>
              <a:rPr lang="en-US" sz="2800">
                <a:effectLst>
                  <a:glow rad="228600">
                    <a:schemeClr val="accent6">
                      <a:satMod val="175000"/>
                      <a:alpha val="40000"/>
                    </a:schemeClr>
                  </a:glow>
                </a:effectLst>
              </a:rPr>
              <a:t>swift</a:t>
            </a:r>
            <a:r>
              <a:rPr lang="en-US" sz="2800"/>
              <a:t>.</a:t>
            </a:r>
          </a:p>
        </p:txBody>
      </p:sp>
      <p:sp>
        <p:nvSpPr>
          <p:cNvPr id="3" name="Text Box 2"/>
          <p:cNvSpPr txBox="1"/>
          <p:nvPr/>
        </p:nvSpPr>
        <p:spPr>
          <a:xfrm>
            <a:off x="304800" y="3842385"/>
            <a:ext cx="9507220" cy="521970"/>
          </a:xfrm>
          <a:prstGeom prst="rect">
            <a:avLst/>
          </a:prstGeom>
          <a:noFill/>
        </p:spPr>
        <p:txBody>
          <a:bodyPr wrap="square" rtlCol="0">
            <a:spAutoFit/>
          </a:bodyPr>
          <a:lstStyle/>
          <a:p>
            <a:r>
              <a:rPr lang="en-US" sz="2800"/>
              <a:t>His </a:t>
            </a:r>
            <a:r>
              <a:rPr lang="en-US" sz="2800">
                <a:effectLst>
                  <a:glow rad="228600">
                    <a:schemeClr val="accent4">
                      <a:satMod val="175000"/>
                      <a:alpha val="40000"/>
                    </a:schemeClr>
                  </a:glow>
                </a:effectLst>
              </a:rPr>
              <a:t>bank</a:t>
            </a:r>
            <a:r>
              <a:rPr lang="en-US" sz="2800"/>
              <a:t> offered a low </a:t>
            </a:r>
            <a:r>
              <a:rPr lang="en-US" sz="2800">
                <a:effectLst>
                  <a:glow rad="228600">
                    <a:schemeClr val="accent5">
                      <a:satMod val="175000"/>
                      <a:alpha val="40000"/>
                    </a:schemeClr>
                  </a:glow>
                </a:effectLst>
              </a:rPr>
              <a:t>interest</a:t>
            </a:r>
            <a:r>
              <a:rPr lang="en-US" sz="2800"/>
              <a:t> on </a:t>
            </a:r>
            <a:r>
              <a:rPr lang="en-US" sz="2800">
                <a:effectLst>
                  <a:glow rad="228600">
                    <a:schemeClr val="accent6">
                      <a:satMod val="175000"/>
                      <a:alpha val="40000"/>
                    </a:schemeClr>
                  </a:glow>
                </a:effectLst>
              </a:rPr>
              <a:t>current</a:t>
            </a:r>
            <a:r>
              <a:rPr lang="en-US" sz="2800"/>
              <a:t> </a:t>
            </a:r>
            <a:r>
              <a:rPr lang="en-US" sz="2800">
                <a:effectLst>
                  <a:glow rad="228600">
                    <a:schemeClr val="accent5">
                      <a:satMod val="175000"/>
                      <a:alpha val="40000"/>
                    </a:schemeClr>
                  </a:glow>
                </a:effectLst>
              </a:rPr>
              <a:t>accounts</a:t>
            </a:r>
            <a:r>
              <a:rPr lang="en-US" sz="2800"/>
              <a:t>.</a:t>
            </a:r>
          </a:p>
        </p:txBody>
      </p:sp>
      <p:sp>
        <p:nvSpPr>
          <p:cNvPr id="4" name="Rectangles 3"/>
          <p:cNvSpPr/>
          <p:nvPr/>
        </p:nvSpPr>
        <p:spPr>
          <a:xfrm>
            <a:off x="304800" y="1774190"/>
            <a:ext cx="9091295" cy="11112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t>‘Encoder’</a:t>
            </a:r>
          </a:p>
        </p:txBody>
      </p:sp>
      <p:sp>
        <p:nvSpPr>
          <p:cNvPr id="7" name="Rectangles 6"/>
          <p:cNvSpPr/>
          <p:nvPr/>
        </p:nvSpPr>
        <p:spPr>
          <a:xfrm>
            <a:off x="304800" y="4497070"/>
            <a:ext cx="9091295" cy="11112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t>‘Encoder’</a:t>
            </a:r>
          </a:p>
        </p:txBody>
      </p:sp>
      <p:sp>
        <p:nvSpPr>
          <p:cNvPr id="8" name="Flowchart: Process 7"/>
          <p:cNvSpPr/>
          <p:nvPr/>
        </p:nvSpPr>
        <p:spPr>
          <a:xfrm>
            <a:off x="9681845" y="1804035"/>
            <a:ext cx="2509520" cy="4657090"/>
          </a:xfrm>
          <a:prstGeom prst="flowChartProcess">
            <a:avLst/>
          </a:prstGeom>
        </p:spPr>
        <p:style>
          <a:lnRef idx="1">
            <a:schemeClr val="accent4"/>
          </a:lnRef>
          <a:fillRef idx="2">
            <a:schemeClr val="accent4"/>
          </a:fillRef>
          <a:effectRef idx="1">
            <a:schemeClr val="accent4"/>
          </a:effectRef>
          <a:fontRef idx="minor">
            <a:schemeClr val="dk1"/>
          </a:fontRef>
        </p:style>
        <p:txBody>
          <a:bodyPr rtlCol="0" anchor="ctr"/>
          <a:lstStyle/>
          <a:p>
            <a:pPr algn="l">
              <a:lnSpc>
                <a:spcPct val="100000"/>
              </a:lnSpc>
              <a:spcBef>
                <a:spcPts val="0"/>
              </a:spcBef>
              <a:spcAft>
                <a:spcPts val="0"/>
              </a:spcAft>
            </a:pPr>
            <a:r>
              <a:rPr lang="en-US" sz="2400"/>
              <a:t>Collective ‘meaning’ disambiguation</a:t>
            </a:r>
          </a:p>
          <a:p>
            <a:pPr algn="l">
              <a:lnSpc>
                <a:spcPct val="100000"/>
              </a:lnSpc>
              <a:spcBef>
                <a:spcPts val="0"/>
              </a:spcBef>
              <a:spcAft>
                <a:spcPts val="0"/>
              </a:spcAft>
            </a:pPr>
            <a:endParaRPr lang="en-US" sz="2400"/>
          </a:p>
          <a:p>
            <a:pPr algn="l">
              <a:lnSpc>
                <a:spcPct val="100000"/>
              </a:lnSpc>
              <a:spcBef>
                <a:spcPts val="0"/>
              </a:spcBef>
              <a:spcAft>
                <a:spcPts val="0"/>
              </a:spcAft>
            </a:pPr>
            <a:r>
              <a:rPr lang="en-US" sz="2400"/>
              <a:t>Two paradigms:</a:t>
            </a:r>
          </a:p>
          <a:p>
            <a:pPr marL="285750" indent="-285750" algn="l">
              <a:lnSpc>
                <a:spcPct val="100000"/>
              </a:lnSpc>
              <a:spcBef>
                <a:spcPts val="0"/>
              </a:spcBef>
              <a:spcAft>
                <a:spcPts val="0"/>
              </a:spcAft>
              <a:buFont typeface="Arial" panose="020B0604020202020204" pitchFamily="34" charset="0"/>
              <a:buChar char="•"/>
            </a:pPr>
            <a:r>
              <a:rPr lang="en-US" sz="2400"/>
              <a:t>Left to right influence (RNN, LSTM)</a:t>
            </a:r>
          </a:p>
          <a:p>
            <a:pPr marL="285750" indent="-285750" algn="l">
              <a:lnSpc>
                <a:spcPct val="100000"/>
              </a:lnSpc>
              <a:spcBef>
                <a:spcPts val="0"/>
              </a:spcBef>
              <a:spcAft>
                <a:spcPts val="0"/>
              </a:spcAft>
              <a:buFont typeface="Arial" panose="020B0604020202020204" pitchFamily="34" charset="0"/>
              <a:buChar char="•"/>
            </a:pPr>
            <a:r>
              <a:rPr lang="en-US" sz="2400"/>
              <a:t>All to all influence (attention)</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Encoding and decoding sequences</a:t>
            </a:r>
            <a:endParaRPr lang="en-IN"/>
          </a:p>
        </p:txBody>
      </p:sp>
      <p:sp>
        <p:nvSpPr>
          <p:cNvPr id="3" name="Text Placeholder 2"/>
          <p:cNvSpPr>
            <a:spLocks noGrp="1"/>
          </p:cNvSpPr>
          <p:nvPr>
            <p:ph type="body" idx="1"/>
          </p:nvPr>
        </p:nvSpPr>
        <p:spPr/>
        <p:txBody>
          <a:bodyPr>
            <a:normAutofit fontScale="92500"/>
          </a:bodyPr>
          <a:lstStyle/>
          <a:p>
            <a:r>
              <a:rPr lang="en-US"/>
              <a:t>Working definition</a:t>
            </a:r>
          </a:p>
          <a:p>
            <a:r>
              <a:rPr lang="en-US">
                <a:effectLst>
                  <a:glow rad="139700">
                    <a:schemeClr val="accent4">
                      <a:satMod val="175000"/>
                      <a:alpha val="40000"/>
                    </a:schemeClr>
                  </a:glow>
                </a:effectLst>
              </a:rPr>
              <a:t>Encoder</a:t>
            </a:r>
            <a:r>
              <a:rPr lang="en-US"/>
              <a:t> turns text sequence into a </a:t>
            </a:r>
            <a:r>
              <a:rPr lang="en-US">
                <a:effectLst>
                  <a:glow rad="139700">
                    <a:schemeClr val="accent4">
                      <a:satMod val="175000"/>
                      <a:alpha val="40000"/>
                    </a:schemeClr>
                  </a:glow>
                </a:effectLst>
              </a:rPr>
              <a:t>representation</a:t>
            </a:r>
            <a:r>
              <a:rPr lang="en-US"/>
              <a:t>…</a:t>
            </a:r>
          </a:p>
          <a:p>
            <a:r>
              <a:rPr lang="en-US"/>
              <a:t>…that contains the “meaning” of the input</a:t>
            </a:r>
          </a:p>
          <a:p>
            <a:r>
              <a:rPr lang="en-US"/>
              <a:t>And can be </a:t>
            </a:r>
            <a:r>
              <a:rPr lang="en-US">
                <a:effectLst>
                  <a:glow rad="139700">
                    <a:schemeClr val="accent4">
                      <a:satMod val="175000"/>
                      <a:alpha val="40000"/>
                    </a:schemeClr>
                  </a:glow>
                </a:effectLst>
              </a:rPr>
              <a:t>decoded</a:t>
            </a:r>
            <a:r>
              <a:rPr lang="en-US"/>
              <a:t> back to the input</a:t>
            </a:r>
          </a:p>
          <a:p>
            <a:pPr lvl="1"/>
            <a:r>
              <a:rPr lang="en-US"/>
              <a:t>May be in a different language, different length, …</a:t>
            </a:r>
          </a:p>
          <a:p>
            <a:r>
              <a:rPr lang="en-US"/>
              <a:t>Two texts with similar meanings encode to similar representations (and vice versa)</a:t>
            </a:r>
          </a:p>
          <a:p>
            <a:pPr lvl="1"/>
            <a:r>
              <a:rPr lang="en-IN"/>
              <a:t>Token order may or may not matter</a:t>
            </a:r>
          </a:p>
          <a:p>
            <a:pPr lvl="1"/>
            <a:r>
              <a:rPr lang="en-IN"/>
              <a:t>Anil bought </a:t>
            </a:r>
            <a:r>
              <a:rPr lang="en-IN">
                <a:effectLst>
                  <a:glow rad="139700">
                    <a:schemeClr val="accent6">
                      <a:satMod val="175000"/>
                      <a:alpha val="40000"/>
                    </a:schemeClr>
                  </a:glow>
                </a:effectLst>
              </a:rPr>
              <a:t>oranges</a:t>
            </a:r>
            <a:r>
              <a:rPr lang="en-IN"/>
              <a:t> and </a:t>
            </a:r>
            <a:r>
              <a:rPr lang="en-IN">
                <a:effectLst>
                  <a:glow rad="139700">
                    <a:schemeClr val="accent6">
                      <a:satMod val="175000"/>
                      <a:alpha val="40000"/>
                    </a:schemeClr>
                  </a:glow>
                </a:effectLst>
              </a:rPr>
              <a:t>apples</a:t>
            </a:r>
          </a:p>
          <a:p>
            <a:pPr lvl="1"/>
            <a:r>
              <a:rPr lang="en-IN"/>
              <a:t>Anil sold his </a:t>
            </a:r>
            <a:r>
              <a:rPr lang="en-IN">
                <a:effectLst>
                  <a:glow rad="139700">
                    <a:schemeClr val="accent2">
                      <a:satMod val="175000"/>
                      <a:alpha val="40000"/>
                    </a:schemeClr>
                  </a:glow>
                </a:effectLst>
              </a:rPr>
              <a:t>house</a:t>
            </a:r>
            <a:r>
              <a:rPr lang="en-IN"/>
              <a:t> to buy a </a:t>
            </a:r>
            <a:r>
              <a:rPr lang="en-IN">
                <a:effectLst>
                  <a:glow rad="139700">
                    <a:schemeClr val="accent5">
                      <a:satMod val="175000"/>
                      <a:alpha val="40000"/>
                    </a:schemeClr>
                  </a:glow>
                </a:effectLst>
              </a:rPr>
              <a:t>car</a:t>
            </a:r>
            <a:r>
              <a:rPr lang="en-US" altLang="en-IN">
                <a:effectLst>
                  <a:glow rad="139700">
                    <a:schemeClr val="accent5">
                      <a:satMod val="175000"/>
                      <a:alpha val="40000"/>
                    </a:schemeClr>
                  </a:glow>
                </a:effectLst>
              </a:rPr>
              <a:t>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Encoding granularity</a:t>
            </a:r>
            <a:endParaRPr lang="en-IN"/>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p:txBody>
              <a:bodyPr>
                <a:normAutofit fontScale="90000"/>
              </a:bodyPr>
              <a:lstStyle/>
              <a:p>
                <a:pPr>
                  <a:lnSpc>
                    <a:spcPct val="100000"/>
                  </a:lnSpc>
                </a:pPr>
                <a:r>
                  <a:rPr lang="en-US"/>
                  <a:t>Text of diverse length encodes to one fixed size representation (e.g., a vector): </a:t>
                </a:r>
                <a14:m>
                  <m:oMath xmlns:m="http://schemas.openxmlformats.org/officeDocument/2006/math">
                    <m:d>
                      <m:dPr>
                        <m:ctrlPr>
                          <a:rPr lang="en-US" b="0" i="1" smtClean="0">
                            <a:effectLst>
                              <a:glow rad="228600">
                                <a:schemeClr val="accent4">
                                  <a:satMod val="175000"/>
                                  <a:alpha val="40000"/>
                                </a:schemeClr>
                              </a:glow>
                            </a:effectLst>
                            <a:latin typeface="Cambria Math" panose="02040503050406030204" pitchFamily="18" charset="0"/>
                          </a:rPr>
                        </m:ctrlPr>
                      </m:dPr>
                      <m:e>
                        <m:sSub>
                          <m:sSubPr>
                            <m:ctrlPr>
                              <a:rPr lang="en-US" b="0" i="1" smtClean="0">
                                <a:effectLst>
                                  <a:glow rad="228600">
                                    <a:schemeClr val="accent4">
                                      <a:satMod val="175000"/>
                                      <a:alpha val="40000"/>
                                    </a:schemeClr>
                                  </a:glow>
                                </a:effectLst>
                                <a:latin typeface="Cambria Math" panose="02040503050406030204" pitchFamily="18" charset="0"/>
                              </a:rPr>
                            </m:ctrlPr>
                          </m:sSubPr>
                          <m:e>
                            <m:r>
                              <a:rPr lang="en-US" b="0" i="1" smtClean="0">
                                <a:effectLst>
                                  <a:glow rad="228600">
                                    <a:schemeClr val="accent4">
                                      <a:satMod val="175000"/>
                                      <a:alpha val="40000"/>
                                    </a:schemeClr>
                                  </a:glow>
                                </a:effectLst>
                                <a:latin typeface="Cambria Math" panose="02040503050406030204" pitchFamily="18" charset="0"/>
                              </a:rPr>
                              <m:t>𝑥</m:t>
                            </m:r>
                          </m:e>
                          <m:sub>
                            <m:r>
                              <a:rPr lang="en-US" b="0" i="1" smtClean="0">
                                <a:effectLst>
                                  <a:glow rad="228600">
                                    <a:schemeClr val="accent4">
                                      <a:satMod val="175000"/>
                                      <a:alpha val="40000"/>
                                    </a:schemeClr>
                                  </a:glow>
                                </a:effectLst>
                                <a:latin typeface="Cambria Math" panose="02040503050406030204" pitchFamily="18" charset="0"/>
                              </a:rPr>
                              <m:t>1</m:t>
                            </m:r>
                          </m:sub>
                        </m:sSub>
                        <m:r>
                          <a:rPr lang="en-US" b="0" i="1" smtClean="0">
                            <a:effectLst>
                              <a:glow rad="228600">
                                <a:schemeClr val="accent4">
                                  <a:satMod val="175000"/>
                                  <a:alpha val="40000"/>
                                </a:schemeClr>
                              </a:glow>
                            </a:effectLst>
                            <a:latin typeface="Cambria Math" panose="02040503050406030204" pitchFamily="18" charset="0"/>
                          </a:rPr>
                          <m:t>,…, </m:t>
                        </m:r>
                        <m:sSub>
                          <m:sSubPr>
                            <m:ctrlPr>
                              <a:rPr lang="en-US" b="0" i="1" smtClean="0">
                                <a:effectLst>
                                  <a:glow rad="228600">
                                    <a:schemeClr val="accent4">
                                      <a:satMod val="175000"/>
                                      <a:alpha val="40000"/>
                                    </a:schemeClr>
                                  </a:glow>
                                </a:effectLst>
                                <a:latin typeface="Cambria Math" panose="02040503050406030204" pitchFamily="18" charset="0"/>
                              </a:rPr>
                            </m:ctrlPr>
                          </m:sSubPr>
                          <m:e>
                            <m:r>
                              <a:rPr lang="en-US" b="0" i="1" smtClean="0">
                                <a:effectLst>
                                  <a:glow rad="228600">
                                    <a:schemeClr val="accent4">
                                      <a:satMod val="175000"/>
                                      <a:alpha val="40000"/>
                                    </a:schemeClr>
                                  </a:glow>
                                </a:effectLst>
                                <a:latin typeface="Cambria Math" panose="02040503050406030204" pitchFamily="18" charset="0"/>
                              </a:rPr>
                              <m:t>𝑥</m:t>
                            </m:r>
                          </m:e>
                          <m:sub>
                            <m:r>
                              <a:rPr lang="en-US" b="0" i="1" smtClean="0">
                                <a:effectLst>
                                  <a:glow rad="228600">
                                    <a:schemeClr val="accent4">
                                      <a:satMod val="175000"/>
                                      <a:alpha val="40000"/>
                                    </a:schemeClr>
                                  </a:glow>
                                </a:effectLst>
                                <a:latin typeface="Cambria Math" panose="02040503050406030204" pitchFamily="18" charset="0"/>
                              </a:rPr>
                              <m:t>𝑇</m:t>
                            </m:r>
                          </m:sub>
                        </m:sSub>
                      </m:e>
                    </m:d>
                    <m:r>
                      <a:rPr lang="en-US" b="0" i="1" smtClean="0">
                        <a:effectLst>
                          <a:glow rad="228600">
                            <a:schemeClr val="accent4">
                              <a:satMod val="175000"/>
                              <a:alpha val="40000"/>
                            </a:schemeClr>
                          </a:glow>
                        </a:effectLst>
                        <a:latin typeface="Cambria Math" panose="02040503050406030204" pitchFamily="18" charset="0"/>
                      </a:rPr>
                      <m:t>→</m:t>
                    </m:r>
                    <m:r>
                      <a:rPr lang="en-US" b="1" i="1" smtClean="0">
                        <a:effectLst>
                          <a:glow rad="228600">
                            <a:schemeClr val="accent4">
                              <a:satMod val="175000"/>
                              <a:alpha val="40000"/>
                            </a:schemeClr>
                          </a:glow>
                        </a:effectLst>
                        <a:latin typeface="Cambria Math" panose="02040503050406030204" pitchFamily="18" charset="0"/>
                      </a:rPr>
                      <m:t>𝒉</m:t>
                    </m:r>
                  </m:oMath>
                </a14:m>
                <a:endParaRPr lang="en-US" b="1">
                  <a:effectLst>
                    <a:glow rad="139700">
                      <a:schemeClr val="accent4">
                        <a:satMod val="175000"/>
                        <a:alpha val="40000"/>
                      </a:schemeClr>
                    </a:glow>
                  </a:effectLst>
                </a:endParaRPr>
              </a:p>
              <a:p>
                <a:pPr lvl="1">
                  <a:lnSpc>
                    <a:spcPct val="100000"/>
                  </a:lnSpc>
                </a:pPr>
                <a:r>
                  <a:rPr lang="en-IN"/>
                  <a:t>Deep set, set transformer, 1d convnet</a:t>
                </a:r>
              </a:p>
              <a:p>
                <a:pPr lvl="1">
                  <a:lnSpc>
                    <a:spcPct val="100000"/>
                  </a:lnSpc>
                </a:pPr>
                <a:r>
                  <a:rPr lang="en-IN"/>
                  <a:t>Applications: topic and sentiment classification, NLI: </a:t>
                </a:r>
                <a14:m>
                  <m:oMath xmlns:m="http://schemas.openxmlformats.org/officeDocument/2006/math">
                    <m:r>
                      <a:rPr lang="en-US" b="1" i="1" smtClean="0">
                        <a:effectLst>
                          <a:glow rad="228600">
                            <a:schemeClr val="accent4">
                              <a:satMod val="175000"/>
                              <a:alpha val="40000"/>
                            </a:schemeClr>
                          </a:glow>
                        </a:effectLst>
                        <a:latin typeface="Cambria Math" panose="02040503050406030204" pitchFamily="18" charset="0"/>
                      </a:rPr>
                      <m:t>𝒉</m:t>
                    </m:r>
                    <m:r>
                      <a:rPr lang="en-US" b="1" i="1" smtClean="0">
                        <a:effectLst>
                          <a:glow rad="228600">
                            <a:schemeClr val="accent4">
                              <a:satMod val="175000"/>
                              <a:alpha val="40000"/>
                            </a:schemeClr>
                          </a:glow>
                        </a:effectLst>
                        <a:latin typeface="Cambria Math" panose="02040503050406030204" pitchFamily="18" charset="0"/>
                      </a:rPr>
                      <m:t>→</m:t>
                    </m:r>
                    <m:r>
                      <a:rPr lang="en-US" b="0" i="1" smtClean="0">
                        <a:effectLst>
                          <a:glow rad="228600">
                            <a:schemeClr val="accent4">
                              <a:satMod val="175000"/>
                              <a:alpha val="40000"/>
                            </a:schemeClr>
                          </a:glow>
                        </a:effectLst>
                        <a:latin typeface="Cambria Math" panose="02040503050406030204" pitchFamily="18" charset="0"/>
                      </a:rPr>
                      <m:t>𝑦</m:t>
                    </m:r>
                  </m:oMath>
                </a14:m>
                <a:endParaRPr lang="en-IN"/>
              </a:p>
              <a:p>
                <a:pPr>
                  <a:lnSpc>
                    <a:spcPct val="100000"/>
                  </a:lnSpc>
                </a:pPr>
                <a:r>
                  <a:rPr lang="en-IN"/>
                  <a:t>One vector per token, scaling up with passage length:</a:t>
                </a:r>
                <a:br>
                  <a:rPr lang="en-US" b="0" i="1">
                    <a:effectLst>
                      <a:glow rad="228600">
                        <a:schemeClr val="accent4">
                          <a:satMod val="175000"/>
                          <a:alpha val="40000"/>
                        </a:schemeClr>
                      </a:glow>
                    </a:effectLst>
                    <a:latin typeface="Cambria Math" panose="02040503050406030204" pitchFamily="18" charset="0"/>
                  </a:rPr>
                </a:br>
                <a14:m>
                  <m:oMath xmlns:m="http://schemas.openxmlformats.org/officeDocument/2006/math">
                    <m:d>
                      <m:dPr>
                        <m:ctrlPr>
                          <a:rPr lang="en-US" b="0" i="1" smtClean="0">
                            <a:effectLst>
                              <a:glow rad="228600">
                                <a:schemeClr val="accent4">
                                  <a:satMod val="175000"/>
                                  <a:alpha val="40000"/>
                                </a:schemeClr>
                              </a:glow>
                            </a:effectLst>
                            <a:latin typeface="Cambria Math" panose="02040503050406030204" pitchFamily="18" charset="0"/>
                          </a:rPr>
                        </m:ctrlPr>
                      </m:dPr>
                      <m:e>
                        <m:sSub>
                          <m:sSubPr>
                            <m:ctrlPr>
                              <a:rPr lang="en-US" b="0" i="1" smtClean="0">
                                <a:effectLst>
                                  <a:glow rad="228600">
                                    <a:schemeClr val="accent4">
                                      <a:satMod val="175000"/>
                                      <a:alpha val="40000"/>
                                    </a:schemeClr>
                                  </a:glow>
                                </a:effectLst>
                                <a:latin typeface="Cambria Math" panose="02040503050406030204" pitchFamily="18" charset="0"/>
                              </a:rPr>
                            </m:ctrlPr>
                          </m:sSubPr>
                          <m:e>
                            <m:r>
                              <a:rPr lang="en-US" b="0" i="1" smtClean="0">
                                <a:effectLst>
                                  <a:glow rad="228600">
                                    <a:schemeClr val="accent4">
                                      <a:satMod val="175000"/>
                                      <a:alpha val="40000"/>
                                    </a:schemeClr>
                                  </a:glow>
                                </a:effectLst>
                                <a:latin typeface="Cambria Math" panose="02040503050406030204" pitchFamily="18" charset="0"/>
                              </a:rPr>
                              <m:t>𝑥</m:t>
                            </m:r>
                          </m:e>
                          <m:sub>
                            <m:r>
                              <a:rPr lang="en-US" b="0" i="1" smtClean="0">
                                <a:effectLst>
                                  <a:glow rad="228600">
                                    <a:schemeClr val="accent4">
                                      <a:satMod val="175000"/>
                                      <a:alpha val="40000"/>
                                    </a:schemeClr>
                                  </a:glow>
                                </a:effectLst>
                                <a:latin typeface="Cambria Math" panose="02040503050406030204" pitchFamily="18" charset="0"/>
                              </a:rPr>
                              <m:t>1</m:t>
                            </m:r>
                          </m:sub>
                        </m:sSub>
                        <m:r>
                          <a:rPr lang="en-US" b="0" i="1" smtClean="0">
                            <a:effectLst>
                              <a:glow rad="228600">
                                <a:schemeClr val="accent4">
                                  <a:satMod val="175000"/>
                                  <a:alpha val="40000"/>
                                </a:schemeClr>
                              </a:glow>
                            </a:effectLst>
                            <a:latin typeface="Cambria Math" panose="02040503050406030204" pitchFamily="18" charset="0"/>
                          </a:rPr>
                          <m:t>,…, </m:t>
                        </m:r>
                        <m:sSub>
                          <m:sSubPr>
                            <m:ctrlPr>
                              <a:rPr lang="en-US" b="0" i="1" smtClean="0">
                                <a:effectLst>
                                  <a:glow rad="228600">
                                    <a:schemeClr val="accent4">
                                      <a:satMod val="175000"/>
                                      <a:alpha val="40000"/>
                                    </a:schemeClr>
                                  </a:glow>
                                </a:effectLst>
                                <a:latin typeface="Cambria Math" panose="02040503050406030204" pitchFamily="18" charset="0"/>
                              </a:rPr>
                            </m:ctrlPr>
                          </m:sSubPr>
                          <m:e>
                            <m:r>
                              <a:rPr lang="en-US" b="0" i="1" smtClean="0">
                                <a:effectLst>
                                  <a:glow rad="228600">
                                    <a:schemeClr val="accent4">
                                      <a:satMod val="175000"/>
                                      <a:alpha val="40000"/>
                                    </a:schemeClr>
                                  </a:glow>
                                </a:effectLst>
                                <a:latin typeface="Cambria Math" panose="02040503050406030204" pitchFamily="18" charset="0"/>
                              </a:rPr>
                              <m:t>𝑥</m:t>
                            </m:r>
                          </m:e>
                          <m:sub>
                            <m:r>
                              <a:rPr lang="en-US" b="0" i="1" smtClean="0">
                                <a:effectLst>
                                  <a:glow rad="228600">
                                    <a:schemeClr val="accent4">
                                      <a:satMod val="175000"/>
                                      <a:alpha val="40000"/>
                                    </a:schemeClr>
                                  </a:glow>
                                </a:effectLst>
                                <a:latin typeface="Cambria Math" panose="02040503050406030204" pitchFamily="18" charset="0"/>
                              </a:rPr>
                              <m:t>𝑇</m:t>
                            </m:r>
                          </m:sub>
                        </m:sSub>
                      </m:e>
                    </m:d>
                    <m:r>
                      <a:rPr lang="en-US" b="0" i="1" smtClean="0">
                        <a:effectLst>
                          <a:glow rad="228600">
                            <a:schemeClr val="accent4">
                              <a:satMod val="175000"/>
                              <a:alpha val="40000"/>
                            </a:schemeClr>
                          </a:glow>
                        </a:effectLst>
                        <a:latin typeface="Cambria Math" panose="02040503050406030204" pitchFamily="18" charset="0"/>
                      </a:rPr>
                      <m:t>→(</m:t>
                    </m:r>
                    <m:sSub>
                      <m:sSubPr>
                        <m:ctrlPr>
                          <a:rPr lang="en-US" b="0" i="1" smtClean="0">
                            <a:effectLst>
                              <a:glow rad="228600">
                                <a:schemeClr val="accent4">
                                  <a:satMod val="175000"/>
                                  <a:alpha val="40000"/>
                                </a:schemeClr>
                              </a:glow>
                            </a:effectLst>
                            <a:latin typeface="Cambria Math" panose="02040503050406030204" pitchFamily="18" charset="0"/>
                          </a:rPr>
                        </m:ctrlPr>
                      </m:sSubPr>
                      <m:e>
                        <m:r>
                          <a:rPr lang="en-US" b="1" i="1" smtClean="0">
                            <a:effectLst>
                              <a:glow rad="228600">
                                <a:schemeClr val="accent4">
                                  <a:satMod val="175000"/>
                                  <a:alpha val="40000"/>
                                </a:schemeClr>
                              </a:glow>
                            </a:effectLst>
                            <a:latin typeface="Cambria Math" panose="02040503050406030204" pitchFamily="18" charset="0"/>
                          </a:rPr>
                          <m:t>𝒉</m:t>
                        </m:r>
                      </m:e>
                      <m:sub>
                        <m:r>
                          <a:rPr lang="en-US" b="0" i="1" smtClean="0">
                            <a:effectLst>
                              <a:glow rad="228600">
                                <a:schemeClr val="accent4">
                                  <a:satMod val="175000"/>
                                  <a:alpha val="40000"/>
                                </a:schemeClr>
                              </a:glow>
                            </a:effectLst>
                            <a:latin typeface="Cambria Math" panose="02040503050406030204" pitchFamily="18" charset="0"/>
                          </a:rPr>
                          <m:t>1</m:t>
                        </m:r>
                      </m:sub>
                    </m:sSub>
                    <m:r>
                      <a:rPr lang="en-US" b="0" i="1" smtClean="0">
                        <a:effectLst>
                          <a:glow rad="228600">
                            <a:schemeClr val="accent4">
                              <a:satMod val="175000"/>
                              <a:alpha val="40000"/>
                            </a:schemeClr>
                          </a:glow>
                        </a:effectLst>
                        <a:latin typeface="Cambria Math" panose="02040503050406030204" pitchFamily="18" charset="0"/>
                      </a:rPr>
                      <m:t>,…, </m:t>
                    </m:r>
                    <m:sSub>
                      <m:sSubPr>
                        <m:ctrlPr>
                          <a:rPr lang="en-US" b="0" i="1" smtClean="0">
                            <a:effectLst>
                              <a:glow rad="228600">
                                <a:schemeClr val="accent4">
                                  <a:satMod val="175000"/>
                                  <a:alpha val="40000"/>
                                </a:schemeClr>
                              </a:glow>
                            </a:effectLst>
                            <a:latin typeface="Cambria Math" panose="02040503050406030204" pitchFamily="18" charset="0"/>
                          </a:rPr>
                        </m:ctrlPr>
                      </m:sSubPr>
                      <m:e>
                        <m:r>
                          <a:rPr lang="en-US" b="1" i="1" smtClean="0">
                            <a:effectLst>
                              <a:glow rad="228600">
                                <a:schemeClr val="accent4">
                                  <a:satMod val="175000"/>
                                  <a:alpha val="40000"/>
                                </a:schemeClr>
                              </a:glow>
                            </a:effectLst>
                            <a:latin typeface="Cambria Math" panose="02040503050406030204" pitchFamily="18" charset="0"/>
                          </a:rPr>
                          <m:t>𝒉</m:t>
                        </m:r>
                      </m:e>
                      <m:sub>
                        <m:r>
                          <a:rPr lang="en-US" b="0" i="1" smtClean="0">
                            <a:effectLst>
                              <a:glow rad="228600">
                                <a:schemeClr val="accent4">
                                  <a:satMod val="175000"/>
                                  <a:alpha val="40000"/>
                                </a:schemeClr>
                              </a:glow>
                            </a:effectLst>
                            <a:latin typeface="Cambria Math" panose="02040503050406030204" pitchFamily="18" charset="0"/>
                          </a:rPr>
                          <m:t>𝑇</m:t>
                        </m:r>
                      </m:sub>
                    </m:sSub>
                    <m:r>
                      <a:rPr lang="en-US" b="0" i="1" smtClean="0">
                        <a:effectLst>
                          <a:glow rad="228600">
                            <a:schemeClr val="accent4">
                              <a:satMod val="175000"/>
                              <a:alpha val="40000"/>
                            </a:schemeClr>
                          </a:glow>
                        </a:effectLst>
                        <a:latin typeface="Cambria Math" panose="02040503050406030204" pitchFamily="18" charset="0"/>
                      </a:rPr>
                      <m:t>)</m:t>
                    </m:r>
                  </m:oMath>
                </a14:m>
                <a:endParaRPr lang="en-IN"/>
              </a:p>
              <a:p>
                <a:pPr lvl="1">
                  <a:lnSpc>
                    <a:spcPct val="100000"/>
                  </a:lnSpc>
                </a:pPr>
                <a:r>
                  <a:rPr lang="en-IN"/>
                  <a:t>Recurrent networks</a:t>
                </a:r>
                <a:r>
                  <a:rPr lang="en-US" altLang="en-IN"/>
                  <a:t> (RNNs)</a:t>
                </a:r>
                <a:r>
                  <a:rPr lang="en-IN"/>
                  <a:t>, transformers</a:t>
                </a:r>
              </a:p>
              <a:p>
                <a:pPr lvl="1">
                  <a:lnSpc>
                    <a:spcPct val="100000"/>
                  </a:lnSpc>
                </a:pPr>
                <a:r>
                  <a:rPr lang="en-IN"/>
                  <a:t>Applications: POS, NER, open IE, better NLI, summarization, translation, question answering</a:t>
                </a:r>
                <a14:m>
                  <m:oMath xmlns:m="http://schemas.openxmlformats.org/officeDocument/2006/math">
                    <m:r>
                      <a:rPr lang="en-US" b="0" i="0" smtClean="0">
                        <a:effectLst>
                          <a:glow rad="228600">
                            <a:schemeClr val="accent4">
                              <a:satMod val="175000"/>
                              <a:alpha val="40000"/>
                            </a:schemeClr>
                          </a:glow>
                        </a:effectLst>
                        <a:latin typeface="Cambria Math" panose="02040503050406030204" pitchFamily="18" charset="0"/>
                      </a:rPr>
                      <m:t> </m:t>
                    </m:r>
                    <m:d>
                      <m:dPr>
                        <m:ctrlPr>
                          <a:rPr lang="en-US" b="0" i="1" smtClean="0">
                            <a:effectLst>
                              <a:glow rad="228600">
                                <a:schemeClr val="accent4">
                                  <a:satMod val="175000"/>
                                  <a:alpha val="40000"/>
                                </a:schemeClr>
                              </a:glow>
                            </a:effectLst>
                            <a:latin typeface="Cambria Math" panose="02040503050406030204" pitchFamily="18" charset="0"/>
                          </a:rPr>
                        </m:ctrlPr>
                      </m:dPr>
                      <m:e>
                        <m:sSub>
                          <m:sSubPr>
                            <m:ctrlPr>
                              <a:rPr lang="en-US" b="0" i="1" smtClean="0">
                                <a:effectLst>
                                  <a:glow rad="228600">
                                    <a:schemeClr val="accent4">
                                      <a:satMod val="175000"/>
                                      <a:alpha val="40000"/>
                                    </a:schemeClr>
                                  </a:glow>
                                </a:effectLst>
                                <a:latin typeface="Cambria Math" panose="02040503050406030204" pitchFamily="18" charset="0"/>
                              </a:rPr>
                            </m:ctrlPr>
                          </m:sSubPr>
                          <m:e>
                            <m:r>
                              <a:rPr lang="en-US" b="1" i="1" smtClean="0">
                                <a:effectLst>
                                  <a:glow rad="228600">
                                    <a:schemeClr val="accent4">
                                      <a:satMod val="175000"/>
                                      <a:alpha val="40000"/>
                                    </a:schemeClr>
                                  </a:glow>
                                </a:effectLst>
                                <a:latin typeface="Cambria Math" panose="02040503050406030204" pitchFamily="18" charset="0"/>
                              </a:rPr>
                              <m:t>𝒉</m:t>
                            </m:r>
                          </m:e>
                          <m:sub>
                            <m:r>
                              <a:rPr lang="en-US" b="0" i="1" smtClean="0">
                                <a:effectLst>
                                  <a:glow rad="228600">
                                    <a:schemeClr val="accent4">
                                      <a:satMod val="175000"/>
                                      <a:alpha val="40000"/>
                                    </a:schemeClr>
                                  </a:glow>
                                </a:effectLst>
                                <a:latin typeface="Cambria Math" panose="02040503050406030204" pitchFamily="18" charset="0"/>
                              </a:rPr>
                              <m:t>1</m:t>
                            </m:r>
                          </m:sub>
                        </m:sSub>
                        <m:r>
                          <a:rPr lang="en-US" b="0" i="1" smtClean="0">
                            <a:effectLst>
                              <a:glow rad="228600">
                                <a:schemeClr val="accent4">
                                  <a:satMod val="175000"/>
                                  <a:alpha val="40000"/>
                                </a:schemeClr>
                              </a:glow>
                            </a:effectLst>
                            <a:latin typeface="Cambria Math" panose="02040503050406030204" pitchFamily="18" charset="0"/>
                          </a:rPr>
                          <m:t>,…, </m:t>
                        </m:r>
                        <m:sSub>
                          <m:sSubPr>
                            <m:ctrlPr>
                              <a:rPr lang="en-US" b="0" i="1" smtClean="0">
                                <a:effectLst>
                                  <a:glow rad="228600">
                                    <a:schemeClr val="accent4">
                                      <a:satMod val="175000"/>
                                      <a:alpha val="40000"/>
                                    </a:schemeClr>
                                  </a:glow>
                                </a:effectLst>
                                <a:latin typeface="Cambria Math" panose="02040503050406030204" pitchFamily="18" charset="0"/>
                              </a:rPr>
                            </m:ctrlPr>
                          </m:sSubPr>
                          <m:e>
                            <m:r>
                              <a:rPr lang="en-US" b="1" i="1" smtClean="0">
                                <a:effectLst>
                                  <a:glow rad="228600">
                                    <a:schemeClr val="accent4">
                                      <a:satMod val="175000"/>
                                      <a:alpha val="40000"/>
                                    </a:schemeClr>
                                  </a:glow>
                                </a:effectLst>
                                <a:latin typeface="Cambria Math" panose="02040503050406030204" pitchFamily="18" charset="0"/>
                              </a:rPr>
                              <m:t>𝒉</m:t>
                            </m:r>
                          </m:e>
                          <m:sub>
                            <m:r>
                              <a:rPr lang="en-US" b="0" i="1" smtClean="0">
                                <a:effectLst>
                                  <a:glow rad="228600">
                                    <a:schemeClr val="accent4">
                                      <a:satMod val="175000"/>
                                      <a:alpha val="40000"/>
                                    </a:schemeClr>
                                  </a:glow>
                                </a:effectLst>
                                <a:latin typeface="Cambria Math" panose="02040503050406030204" pitchFamily="18" charset="0"/>
                              </a:rPr>
                              <m:t>𝐼</m:t>
                            </m:r>
                          </m:sub>
                        </m:sSub>
                      </m:e>
                    </m:d>
                    <m:r>
                      <a:rPr lang="en-US" b="0" i="1" smtClean="0">
                        <a:effectLst>
                          <a:glow rad="228600">
                            <a:schemeClr val="accent4">
                              <a:satMod val="175000"/>
                              <a:alpha val="40000"/>
                            </a:schemeClr>
                          </a:glow>
                        </a:effectLst>
                        <a:latin typeface="Cambria Math" panose="02040503050406030204" pitchFamily="18" charset="0"/>
                      </a:rPr>
                      <m:t>→(</m:t>
                    </m:r>
                    <m:sSub>
                      <m:sSubPr>
                        <m:ctrlPr>
                          <a:rPr lang="en-US" b="0" i="1" smtClean="0">
                            <a:effectLst>
                              <a:glow rad="228600">
                                <a:schemeClr val="accent4">
                                  <a:satMod val="175000"/>
                                  <a:alpha val="40000"/>
                                </a:schemeClr>
                              </a:glow>
                            </a:effectLst>
                            <a:latin typeface="Cambria Math" panose="02040503050406030204" pitchFamily="18" charset="0"/>
                          </a:rPr>
                        </m:ctrlPr>
                      </m:sSubPr>
                      <m:e>
                        <m:r>
                          <a:rPr lang="en-US" b="0" i="1" smtClean="0">
                            <a:effectLst>
                              <a:glow rad="228600">
                                <a:schemeClr val="accent4">
                                  <a:satMod val="175000"/>
                                  <a:alpha val="40000"/>
                                </a:schemeClr>
                              </a:glow>
                            </a:effectLst>
                            <a:latin typeface="Cambria Math" panose="02040503050406030204" pitchFamily="18" charset="0"/>
                          </a:rPr>
                          <m:t>𝑦</m:t>
                        </m:r>
                      </m:e>
                      <m:sub>
                        <m:r>
                          <a:rPr lang="en-US" b="0" i="1" smtClean="0">
                            <a:effectLst>
                              <a:glow rad="228600">
                                <a:schemeClr val="accent4">
                                  <a:satMod val="175000"/>
                                  <a:alpha val="40000"/>
                                </a:schemeClr>
                              </a:glow>
                            </a:effectLst>
                            <a:latin typeface="Cambria Math" panose="02040503050406030204" pitchFamily="18" charset="0"/>
                          </a:rPr>
                          <m:t>1</m:t>
                        </m:r>
                      </m:sub>
                    </m:sSub>
                    <m:r>
                      <a:rPr lang="en-US" b="0" i="1" smtClean="0">
                        <a:effectLst>
                          <a:glow rad="228600">
                            <a:schemeClr val="accent4">
                              <a:satMod val="175000"/>
                              <a:alpha val="40000"/>
                            </a:schemeClr>
                          </a:glow>
                        </a:effectLst>
                        <a:latin typeface="Cambria Math" panose="02040503050406030204" pitchFamily="18" charset="0"/>
                      </a:rPr>
                      <m:t>,…,</m:t>
                    </m:r>
                    <m:sSub>
                      <m:sSubPr>
                        <m:ctrlPr>
                          <a:rPr lang="en-US" b="0" i="1" smtClean="0">
                            <a:effectLst>
                              <a:glow rad="228600">
                                <a:schemeClr val="accent4">
                                  <a:satMod val="175000"/>
                                  <a:alpha val="40000"/>
                                </a:schemeClr>
                              </a:glow>
                            </a:effectLst>
                            <a:latin typeface="Cambria Math" panose="02040503050406030204" pitchFamily="18" charset="0"/>
                          </a:rPr>
                        </m:ctrlPr>
                      </m:sSubPr>
                      <m:e>
                        <m:r>
                          <a:rPr lang="en-US" b="0" i="1" smtClean="0">
                            <a:effectLst>
                              <a:glow rad="228600">
                                <a:schemeClr val="accent4">
                                  <a:satMod val="175000"/>
                                  <a:alpha val="40000"/>
                                </a:schemeClr>
                              </a:glow>
                            </a:effectLst>
                            <a:latin typeface="Cambria Math" panose="02040503050406030204" pitchFamily="18" charset="0"/>
                          </a:rPr>
                          <m:t>𝑦</m:t>
                        </m:r>
                      </m:e>
                      <m:sub>
                        <m:r>
                          <a:rPr lang="en-US" b="0" i="1" smtClean="0">
                            <a:effectLst>
                              <a:glow rad="228600">
                                <a:schemeClr val="accent4">
                                  <a:satMod val="175000"/>
                                  <a:alpha val="40000"/>
                                </a:schemeClr>
                              </a:glow>
                            </a:effectLst>
                            <a:latin typeface="Cambria Math" panose="02040503050406030204" pitchFamily="18" charset="0"/>
                          </a:rPr>
                          <m:t>𝑂</m:t>
                        </m:r>
                      </m:sub>
                    </m:sSub>
                    <m:r>
                      <a:rPr lang="en-US" b="0" i="1" smtClean="0">
                        <a:effectLst>
                          <a:glow rad="228600">
                            <a:schemeClr val="accent4">
                              <a:satMod val="175000"/>
                              <a:alpha val="40000"/>
                            </a:schemeClr>
                          </a:glow>
                        </a:effectLst>
                        <a:latin typeface="Cambria Math" panose="02040503050406030204" pitchFamily="18" charset="0"/>
                      </a:rPr>
                      <m:t>)</m:t>
                    </m:r>
                  </m:oMath>
                </a14:m>
                <a:endParaRPr lang="en-IN"/>
              </a:p>
              <a:p>
                <a:pPr lvl="1">
                  <a:lnSpc>
                    <a:spcPct val="100000"/>
                  </a:lnSpc>
                </a:pPr>
                <a:r>
                  <a:rPr lang="en-IN"/>
                  <a:t>Seems necessary in general</a:t>
                </a:r>
                <a:r>
                  <a:rPr lang="en-US" altLang="en-IN"/>
                  <a:t> </a:t>
                </a:r>
              </a:p>
            </p:txBody>
          </p:sp>
        </mc:Choice>
        <mc:Fallback xmlns="">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2"/>
                <a:stretch>
                  <a:fillRect/>
                </a:stretch>
              </a:blipFill>
            </p:spPr>
            <p:txBody>
              <a:bodyPr/>
              <a:lstStyle/>
              <a:p>
                <a:r>
                  <a:rPr lang="en-US" altLang="en-US">
                    <a:noFill/>
                  </a:rPr>
                  <a:t> </a:t>
                </a:r>
              </a:p>
            </p:txBody>
          </p:sp>
        </mc:Fallback>
      </mc:AlternateContent>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p:cNvSpPr/>
          <p:nvPr/>
        </p:nvSpPr>
        <p:spPr>
          <a:xfrm>
            <a:off x="9905365" y="5048250"/>
            <a:ext cx="1355090" cy="1671320"/>
          </a:xfrm>
          <a:prstGeom prst="rect">
            <a:avLst/>
          </a:prstGeom>
          <a:solidFill>
            <a:schemeClr val="accent6">
              <a:lumMod val="20000"/>
              <a:lumOff val="80000"/>
              <a:alpha val="5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Symbol embedding matrix</a:t>
            </a:r>
            <a:endParaRPr lang="en-IN">
              <a:solidFill>
                <a:schemeClr val="tx1"/>
              </a:solidFill>
            </a:endParaRPr>
          </a:p>
        </p:txBody>
      </p:sp>
      <p:sp>
        <p:nvSpPr>
          <p:cNvPr id="34" name="Rectangle 33"/>
          <p:cNvSpPr/>
          <p:nvPr/>
        </p:nvSpPr>
        <p:spPr>
          <a:xfrm>
            <a:off x="9900285" y="6352540"/>
            <a:ext cx="1359535" cy="181610"/>
          </a:xfrm>
          <a:prstGeom prst="rect">
            <a:avLst/>
          </a:prstGeom>
          <a:solidFill>
            <a:schemeClr val="accent6">
              <a:lumMod val="60000"/>
              <a:lumOff val="4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title"/>
          </p:nvPr>
        </p:nvSpPr>
        <p:spPr/>
        <p:txBody>
          <a:bodyPr/>
          <a:lstStyle/>
          <a:p>
            <a:r>
              <a:rPr lang="en-US"/>
              <a:t>Recurrent network template</a:t>
            </a:r>
            <a:endParaRPr lang="en-IN"/>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p:txBody>
              <a:bodyPr>
                <a:normAutofit/>
              </a:bodyPr>
              <a:lstStyle/>
              <a:p>
                <a:r>
                  <a:rPr lang="en-US"/>
                  <a:t>Cell internals vary</a:t>
                </a:r>
              </a:p>
              <a:p>
                <a:pPr lvl="1"/>
                <a:r>
                  <a:rPr lang="en-US"/>
                  <a:t>RNN, GRU, LSTM</a:t>
                </a:r>
              </a:p>
              <a:p>
                <a:pPr lvl="1"/>
                <a:r>
                  <a:rPr lang="en-US"/>
                  <a:t>Cell parameters </a:t>
                </a:r>
                <a14:m>
                  <m:oMath xmlns:m="http://schemas.openxmlformats.org/officeDocument/2006/math">
                    <m:r>
                      <a:rPr lang="en-US" b="0" i="1" smtClean="0">
                        <a:latin typeface="Cambria Math" panose="02040503050406030204" pitchFamily="18" charset="0"/>
                      </a:rPr>
                      <m:t>𝜃</m:t>
                    </m:r>
                  </m:oMath>
                </a14:m>
                <a:endParaRPr lang="en-IN"/>
              </a:p>
              <a:p>
                <a:pPr lvl="1"/>
                <a:r>
                  <a:rPr lang="en-IN"/>
                  <a:t>All cells share these</a:t>
                </a:r>
              </a:p>
              <a:p>
                <a:r>
                  <a:rPr lang="en-IN"/>
                  <a:t>“Unrolled” over </a:t>
                </a:r>
                <a14:m>
                  <m:oMath xmlns:m="http://schemas.openxmlformats.org/officeDocument/2006/math">
                    <m:r>
                      <a:rPr lang="en-US" b="0" i="1" smtClean="0">
                        <a:latin typeface="Cambria Math" panose="02040503050406030204" pitchFamily="18" charset="0"/>
                      </a:rPr>
                      <m:t>𝑡</m:t>
                    </m:r>
                  </m:oMath>
                </a14:m>
                <a:r>
                  <a:rPr lang="en-IN"/>
                  <a:t> positions</a:t>
                </a:r>
              </a:p>
              <a:p>
                <a:r>
                  <a:rPr lang="en-IN"/>
                  <a:t>Design decisions</a:t>
                </a:r>
              </a:p>
              <a:p>
                <a:pPr lvl="1"/>
                <a:r>
                  <a:rPr lang="en-IN"/>
                  <a:t>Encoder input and output</a:t>
                </a:r>
              </a:p>
              <a:p>
                <a:pPr lvl="1"/>
                <a:r>
                  <a:rPr lang="en-IN"/>
                  <a:t>Decoder input and output</a:t>
                </a:r>
              </a:p>
              <a:p>
                <a:pPr lvl="1"/>
                <a:r>
                  <a:rPr lang="en-IN"/>
                  <a:t>Loss and training protocol</a:t>
                </a:r>
              </a:p>
            </p:txBody>
          </p:sp>
        </mc:Choice>
        <mc:Fallback xmlns="">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2"/>
                <a:stretch>
                  <a:fillRect/>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8336582" y="3643033"/>
                <a:ext cx="1120658" cy="10541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t>Cell</a:t>
                </a:r>
                <a:br>
                  <a:rPr lang="en-US" sz="2800"/>
                </a:br>
                <a:r>
                  <a:rPr lang="en-US" sz="2800"/>
                  <a:t>at </a:t>
                </a:r>
                <a14:m>
                  <m:oMath xmlns:m="http://schemas.openxmlformats.org/officeDocument/2006/math">
                    <m:r>
                      <a:rPr lang="en-US" sz="2800" b="0" i="1" smtClean="0">
                        <a:latin typeface="Cambria Math" panose="02040503050406030204" pitchFamily="18" charset="0"/>
                      </a:rPr>
                      <m:t>𝑡</m:t>
                    </m:r>
                  </m:oMath>
                </a14:m>
                <a:r>
                  <a:rPr lang="en-US" sz="2800"/>
                  <a:t> </a:t>
                </a:r>
                <a:endParaRPr lang="en-IN" sz="2800"/>
              </a:p>
            </p:txBody>
          </p:sp>
        </mc:Choice>
        <mc:Fallback xmlns="">
          <p:sp>
            <p:nvSpPr>
              <p:cNvPr id="4" name="Rectangle 3"/>
              <p:cNvSpPr>
                <a:spLocks noRot="1" noChangeAspect="1" noMove="1" noResize="1" noEditPoints="1" noAdjustHandles="1" noChangeArrowheads="1" noChangeShapeType="1" noTextEdit="1"/>
              </p:cNvSpPr>
              <p:nvPr/>
            </p:nvSpPr>
            <p:spPr>
              <a:xfrm>
                <a:off x="8336582" y="3643033"/>
                <a:ext cx="1120658" cy="1054112"/>
              </a:xfrm>
              <a:prstGeom prst="rect">
                <a:avLst/>
              </a:prstGeom>
              <a:blipFill rotWithShape="1">
                <a:blip r:embed="rId3"/>
                <a:stretch>
                  <a:fillRect l="-594" t="-606" r="-550" b="-598"/>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sp>
        <p:nvSpPr>
          <p:cNvPr id="5" name="Rectangle 4"/>
          <p:cNvSpPr/>
          <p:nvPr/>
        </p:nvSpPr>
        <p:spPr>
          <a:xfrm>
            <a:off x="10519036" y="3791464"/>
            <a:ext cx="838773" cy="757249"/>
          </a:xfrm>
          <a:prstGeom prst="rect">
            <a:avLst/>
          </a:prstGeom>
          <a:gradFill flip="none" rotWithShape="1">
            <a:gsLst>
              <a:gs pos="0">
                <a:schemeClr val="accent1">
                  <a:lumMod val="0"/>
                  <a:lumOff val="100000"/>
                  <a:alpha val="50000"/>
                </a:schemeClr>
              </a:gs>
              <a:gs pos="100000">
                <a:schemeClr val="accent1">
                  <a:lumMod val="45000"/>
                  <a:lumOff val="55000"/>
                </a:schemeClr>
              </a:gs>
              <a:gs pos="99000">
                <a:schemeClr val="accent1">
                  <a:lumMod val="45000"/>
                  <a:lumOff val="55000"/>
                </a:schemeClr>
              </a:gs>
              <a:gs pos="100000">
                <a:schemeClr val="accent1">
                  <a:lumMod val="30000"/>
                  <a:lumOff val="7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p:cNvSpPr/>
          <p:nvPr/>
        </p:nvSpPr>
        <p:spPr>
          <a:xfrm>
            <a:off x="6572680" y="3791463"/>
            <a:ext cx="838773" cy="757249"/>
          </a:xfrm>
          <a:prstGeom prst="rect">
            <a:avLst/>
          </a:prstGeom>
          <a:gradFill flip="none" rotWithShape="1">
            <a:gsLst>
              <a:gs pos="0">
                <a:schemeClr val="accent1">
                  <a:lumMod val="0"/>
                  <a:lumOff val="100000"/>
                  <a:alpha val="50000"/>
                </a:schemeClr>
              </a:gs>
              <a:gs pos="100000">
                <a:schemeClr val="accent1">
                  <a:lumMod val="45000"/>
                  <a:lumOff val="55000"/>
                </a:schemeClr>
              </a:gs>
              <a:gs pos="99000">
                <a:schemeClr val="accent1">
                  <a:lumMod val="45000"/>
                  <a:lumOff val="55000"/>
                </a:schemeClr>
              </a:gs>
              <a:gs pos="100000">
                <a:schemeClr val="accent1">
                  <a:lumMod val="30000"/>
                  <a:lumOff val="7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Arrow Connector 7"/>
          <p:cNvCxnSpPr>
            <a:stCxn id="6" idx="3"/>
            <a:endCxn id="4" idx="1"/>
          </p:cNvCxnSpPr>
          <p:nvPr/>
        </p:nvCxnSpPr>
        <p:spPr>
          <a:xfrm>
            <a:off x="7411453" y="4170088"/>
            <a:ext cx="925129" cy="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p:cNvCxnSpPr>
            <a:stCxn id="4" idx="3"/>
            <a:endCxn id="5" idx="1"/>
          </p:cNvCxnSpPr>
          <p:nvPr/>
        </p:nvCxnSpPr>
        <p:spPr>
          <a:xfrm>
            <a:off x="9457240" y="4170089"/>
            <a:ext cx="1061796"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2" name="TextBox 11"/>
              <p:cNvSpPr txBox="1"/>
              <p:nvPr/>
            </p:nvSpPr>
            <p:spPr>
              <a:xfrm>
                <a:off x="8182934" y="5049560"/>
                <a:ext cx="1427955"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1" i="1" smtClean="0">
                              <a:latin typeface="Cambria Math" panose="02040503050406030204" pitchFamily="18" charset="0"/>
                            </a:rPr>
                            <m:t>𝒙</m:t>
                          </m:r>
                        </m:e>
                        <m:sub>
                          <m:r>
                            <a:rPr lang="en-US" sz="2800" b="0" i="1" smtClean="0">
                              <a:latin typeface="Cambria Math" panose="02040503050406030204" pitchFamily="18" charset="0"/>
                            </a:rPr>
                            <m:t>𝑡</m:t>
                          </m:r>
                        </m:sub>
                      </m:sSub>
                      <m:r>
                        <a:rPr lang="en-US" sz="2800" b="0" i="1" smtClean="0">
                          <a:latin typeface="Cambria Math" panose="02040503050406030204" pitchFamily="18" charset="0"/>
                        </a:rPr>
                        <m:t>∈</m:t>
                      </m:r>
                      <m:sSup>
                        <m:sSupPr>
                          <m:ctrlPr>
                            <a:rPr lang="en-US" sz="2800" b="0" i="1" smtClean="0">
                              <a:latin typeface="Cambria Math" panose="02040503050406030204" pitchFamily="18" charset="0"/>
                              <a:ea typeface="Cambria Math" panose="02040503050406030204" pitchFamily="18" charset="0"/>
                            </a:rPr>
                          </m:ctrlPr>
                        </m:sSupPr>
                        <m:e>
                          <m:r>
                            <a:rPr lang="en-US" sz="2800" b="0" i="1" smtClean="0">
                              <a:latin typeface="Cambria Math" panose="02040503050406030204" pitchFamily="18" charset="0"/>
                              <a:ea typeface="Cambria Math" panose="02040503050406030204" pitchFamily="18" charset="0"/>
                            </a:rPr>
                            <m:t>ℝ</m:t>
                          </m:r>
                        </m:e>
                        <m:sup>
                          <m:r>
                            <a:rPr lang="en-US" sz="2800" b="0" i="1" smtClean="0">
                              <a:latin typeface="Cambria Math" panose="02040503050406030204" pitchFamily="18" charset="0"/>
                              <a:ea typeface="Cambria Math" panose="02040503050406030204" pitchFamily="18" charset="0"/>
                            </a:rPr>
                            <m:t>𝐼</m:t>
                          </m:r>
                        </m:sup>
                      </m:sSup>
                    </m:oMath>
                  </m:oMathPara>
                </a14:m>
                <a:endParaRPr lang="en-IN" sz="2800"/>
              </a:p>
            </p:txBody>
          </p:sp>
        </mc:Choice>
        <mc:Fallback xmlns="">
          <p:sp>
            <p:nvSpPr>
              <p:cNvPr id="12" name="TextBox 11"/>
              <p:cNvSpPr txBox="1">
                <a:spLocks noRot="1" noChangeAspect="1" noMove="1" noResize="1" noEditPoints="1" noAdjustHandles="1" noChangeArrowheads="1" noChangeShapeType="1" noTextEdit="1"/>
              </p:cNvSpPr>
              <p:nvPr/>
            </p:nvSpPr>
            <p:spPr>
              <a:xfrm>
                <a:off x="8182934" y="5049560"/>
                <a:ext cx="1427955" cy="523220"/>
              </a:xfrm>
              <a:prstGeom prst="rect">
                <a:avLst/>
              </a:prstGeom>
              <a:blipFill rotWithShape="1">
                <a:blip r:embed="rId4"/>
                <a:stretch>
                  <a:fillRect l="-23" t="-8" r="-13062" b="4"/>
                </a:stretch>
              </a:blipFill>
            </p:spPr>
            <p:txBody>
              <a:bodyPr/>
              <a:lstStyle/>
              <a:p>
                <a:r>
                  <a:rPr lang="en-US" altLang="en-US">
                    <a:noFill/>
                  </a:rPr>
                  <a:t> </a:t>
                </a:r>
              </a:p>
            </p:txBody>
          </p:sp>
        </mc:Fallback>
      </mc:AlternateContent>
      <p:cxnSp>
        <p:nvCxnSpPr>
          <p:cNvPr id="19" name="Straight Arrow Connector 18"/>
          <p:cNvCxnSpPr>
            <a:stCxn id="12" idx="0"/>
            <a:endCxn id="4" idx="2"/>
          </p:cNvCxnSpPr>
          <p:nvPr/>
        </p:nvCxnSpPr>
        <p:spPr>
          <a:xfrm flipH="1" flipV="1">
            <a:off x="8896911" y="4697145"/>
            <a:ext cx="1" cy="352415"/>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3" name="TextBox 22"/>
              <p:cNvSpPr txBox="1"/>
              <p:nvPr/>
            </p:nvSpPr>
            <p:spPr>
              <a:xfrm>
                <a:off x="8076281" y="2797319"/>
                <a:ext cx="1764030" cy="53403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1" i="1" smtClean="0">
                              <a:latin typeface="Cambria Math" panose="02040503050406030204" pitchFamily="18" charset="0"/>
                            </a:rPr>
                            <m:t>𝒚</m:t>
                          </m:r>
                        </m:e>
                        <m:sub>
                          <m:r>
                            <a:rPr lang="en-US" sz="2800" b="0" i="1" smtClean="0">
                              <a:latin typeface="Cambria Math" panose="02040503050406030204" pitchFamily="18" charset="0"/>
                            </a:rPr>
                            <m:t>𝑡</m:t>
                          </m:r>
                        </m:sub>
                      </m:sSub>
                      <m:r>
                        <a:rPr lang="en-US" sz="2800" b="0" i="1" smtClean="0">
                          <a:latin typeface="Cambria Math" panose="02040503050406030204" pitchFamily="18" charset="0"/>
                        </a:rPr>
                        <m:t>∈</m:t>
                      </m:r>
                      <m:sSup>
                        <m:sSupPr>
                          <m:ctrlPr>
                            <a:rPr lang="en-US" sz="2800" b="0" i="1" smtClean="0">
                              <a:latin typeface="Cambria Math" panose="02040503050406030204" pitchFamily="18" charset="0"/>
                              <a:ea typeface="Cambria Math" panose="02040503050406030204" pitchFamily="18" charset="0"/>
                            </a:rPr>
                          </m:ctrlPr>
                        </m:sSupPr>
                        <m:e>
                          <m:r>
                            <a:rPr lang="en-US" sz="2800" i="1" smtClean="0">
                              <a:latin typeface="Cambria Math" panose="02040503050406030204" pitchFamily="18" charset="0"/>
                              <a:ea typeface="Cambria Math" panose="02040503050406030204" pitchFamily="18" charset="0"/>
                              <a:cs typeface="DejaVu Math TeX Gyre" panose="02000503000000000000" charset="0"/>
                            </a:rPr>
                            <m:t>∆</m:t>
                          </m:r>
                        </m:e>
                        <m:sup>
                          <m:r>
                            <a:rPr lang="en-US" sz="2800" b="0" i="1" smtClean="0">
                              <a:latin typeface="Cambria Math" panose="02040503050406030204" pitchFamily="18" charset="0"/>
                              <a:ea typeface="Cambria Math" panose="02040503050406030204" pitchFamily="18" charset="0"/>
                            </a:rPr>
                            <m:t>𝑀</m:t>
                          </m:r>
                        </m:sup>
                      </m:sSup>
                    </m:oMath>
                  </m:oMathPara>
                </a14:m>
                <a:endParaRPr lang="en-IN" sz="2800"/>
              </a:p>
            </p:txBody>
          </p:sp>
        </mc:Choice>
        <mc:Fallback xmlns="">
          <p:sp>
            <p:nvSpPr>
              <p:cNvPr id="23" name="TextBox 22"/>
              <p:cNvSpPr txBox="1">
                <a:spLocks noRot="1" noChangeAspect="1" noMove="1" noResize="1" noEditPoints="1" noAdjustHandles="1" noChangeArrowheads="1" noChangeShapeType="1" noTextEdit="1"/>
              </p:cNvSpPr>
              <p:nvPr/>
            </p:nvSpPr>
            <p:spPr>
              <a:xfrm>
                <a:off x="8076281" y="2797319"/>
                <a:ext cx="1764030" cy="534035"/>
              </a:xfrm>
              <a:prstGeom prst="rect">
                <a:avLst/>
              </a:prstGeom>
              <a:blipFill rotWithShape="1">
                <a:blip r:embed="rId5"/>
                <a:stretch>
                  <a:fillRect l="-20" t="-27" r="20" b="27"/>
                </a:stretch>
              </a:blipFill>
            </p:spPr>
            <p:txBody>
              <a:bodyPr/>
              <a:lstStyle/>
              <a:p>
                <a:r>
                  <a:rPr lang="en-US" altLang="en-US">
                    <a:noFill/>
                  </a:rPr>
                  <a:t> </a:t>
                </a:r>
              </a:p>
            </p:txBody>
          </p:sp>
        </mc:Fallback>
      </mc:AlternateContent>
      <p:cxnSp>
        <p:nvCxnSpPr>
          <p:cNvPr id="36" name="Connector: Elbow 35"/>
          <p:cNvCxnSpPr>
            <a:stCxn id="34" idx="1"/>
            <a:endCxn id="12" idx="2"/>
          </p:cNvCxnSpPr>
          <p:nvPr/>
        </p:nvCxnSpPr>
        <p:spPr>
          <a:xfrm rot="10800000">
            <a:off x="8897620" y="5572760"/>
            <a:ext cx="1002665" cy="870585"/>
          </a:xfrm>
          <a:prstGeom prst="bentConnector2">
            <a:avLst/>
          </a:prstGeom>
          <a:ln w="12700">
            <a:tailEnd type="triangle"/>
          </a:ln>
        </p:spPr>
        <p:style>
          <a:lnRef idx="1">
            <a:schemeClr val="dk1"/>
          </a:lnRef>
          <a:fillRef idx="0">
            <a:schemeClr val="dk1"/>
          </a:fillRef>
          <a:effectRef idx="0">
            <a:schemeClr val="dk1"/>
          </a:effectRef>
          <a:fontRef idx="minor">
            <a:schemeClr val="tx1"/>
          </a:fontRef>
        </p:style>
      </p:cxnSp>
      <p:sp>
        <p:nvSpPr>
          <p:cNvPr id="41" name="Speech Bubble: Rectangle with Corners Rounded 40"/>
          <p:cNvSpPr/>
          <p:nvPr/>
        </p:nvSpPr>
        <p:spPr>
          <a:xfrm>
            <a:off x="10119956" y="1847088"/>
            <a:ext cx="1907068" cy="571995"/>
          </a:xfrm>
          <a:prstGeom prst="wedgeRoundRectCallout">
            <a:avLst>
              <a:gd name="adj1" fmla="val -91885"/>
              <a:gd name="adj2" fmla="val 130865"/>
              <a:gd name="adj3" fmla="val 16667"/>
            </a:avLst>
          </a:prstGeom>
          <a:solidFill>
            <a:schemeClr val="accent4">
              <a:lumMod val="20000"/>
              <a:lumOff val="8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Output </a:t>
            </a:r>
            <a:r>
              <a:rPr lang="en-US" err="1">
                <a:solidFill>
                  <a:schemeClr val="tx1"/>
                </a:solidFill>
              </a:rPr>
              <a:t>softmax</a:t>
            </a:r>
            <a:endParaRPr lang="en-IN">
              <a:solidFill>
                <a:schemeClr val="tx1"/>
              </a:solidFill>
            </a:endParaRPr>
          </a:p>
        </p:txBody>
      </p:sp>
      <mc:AlternateContent xmlns:mc="http://schemas.openxmlformats.org/markup-compatibility/2006" xmlns:a14="http://schemas.microsoft.com/office/drawing/2010/main">
        <mc:Choice Requires="a14">
          <p:sp>
            <p:nvSpPr>
              <p:cNvPr id="42" name="TextBox 41"/>
              <p:cNvSpPr txBox="1"/>
              <p:nvPr/>
            </p:nvSpPr>
            <p:spPr>
              <a:xfrm>
                <a:off x="6323529" y="4287102"/>
                <a:ext cx="1874936"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1" i="1" smtClean="0">
                              <a:latin typeface="Cambria Math" panose="02040503050406030204" pitchFamily="18" charset="0"/>
                            </a:rPr>
                            <m:t>𝒉</m:t>
                          </m:r>
                        </m:e>
                        <m:sub>
                          <m:r>
                            <a:rPr lang="en-US" sz="2800" b="0" i="1" smtClean="0">
                              <a:latin typeface="Cambria Math" panose="02040503050406030204" pitchFamily="18" charset="0"/>
                            </a:rPr>
                            <m:t>𝑡</m:t>
                          </m:r>
                          <m:r>
                            <a:rPr lang="en-US" sz="2800" b="0" i="1" smtClean="0">
                              <a:latin typeface="Cambria Math" panose="02040503050406030204" pitchFamily="18" charset="0"/>
                            </a:rPr>
                            <m:t>−1</m:t>
                          </m:r>
                        </m:sub>
                      </m:sSub>
                      <m:r>
                        <a:rPr lang="en-US" sz="2800" b="0" i="1" smtClean="0">
                          <a:latin typeface="Cambria Math" panose="02040503050406030204" pitchFamily="18" charset="0"/>
                        </a:rPr>
                        <m:t>∈</m:t>
                      </m:r>
                      <m:sSup>
                        <m:sSupPr>
                          <m:ctrlPr>
                            <a:rPr lang="en-US" sz="2800" b="0" i="1" smtClean="0">
                              <a:latin typeface="Cambria Math" panose="02040503050406030204" pitchFamily="18" charset="0"/>
                              <a:ea typeface="Cambria Math" panose="02040503050406030204" pitchFamily="18" charset="0"/>
                            </a:rPr>
                          </m:ctrlPr>
                        </m:sSupPr>
                        <m:e>
                          <m:r>
                            <a:rPr lang="en-US" sz="2800" b="0" i="1" smtClean="0">
                              <a:latin typeface="Cambria Math" panose="02040503050406030204" pitchFamily="18" charset="0"/>
                              <a:ea typeface="Cambria Math" panose="02040503050406030204" pitchFamily="18" charset="0"/>
                            </a:rPr>
                            <m:t>ℝ</m:t>
                          </m:r>
                        </m:e>
                        <m:sup>
                          <m:r>
                            <a:rPr lang="en-US" sz="2800" b="0" i="1" smtClean="0">
                              <a:latin typeface="Cambria Math" panose="02040503050406030204" pitchFamily="18" charset="0"/>
                              <a:ea typeface="Cambria Math" panose="02040503050406030204" pitchFamily="18" charset="0"/>
                            </a:rPr>
                            <m:t>𝐷</m:t>
                          </m:r>
                        </m:sup>
                      </m:sSup>
                    </m:oMath>
                  </m:oMathPara>
                </a14:m>
                <a:endParaRPr lang="en-IN" sz="2800"/>
              </a:p>
            </p:txBody>
          </p:sp>
        </mc:Choice>
        <mc:Fallback xmlns="">
          <p:sp>
            <p:nvSpPr>
              <p:cNvPr id="42" name="TextBox 41"/>
              <p:cNvSpPr txBox="1">
                <a:spLocks noRot="1" noChangeAspect="1" noMove="1" noResize="1" noEditPoints="1" noAdjustHandles="1" noChangeArrowheads="1" noChangeShapeType="1" noTextEdit="1"/>
              </p:cNvSpPr>
              <p:nvPr/>
            </p:nvSpPr>
            <p:spPr>
              <a:xfrm>
                <a:off x="6323529" y="4287102"/>
                <a:ext cx="1874936" cy="523220"/>
              </a:xfrm>
              <a:prstGeom prst="rect">
                <a:avLst/>
              </a:prstGeom>
              <a:blipFill rotWithShape="1">
                <a:blip r:embed="rId6"/>
                <a:stretch>
                  <a:fillRect l="-11" t="-41" r="-11381" b="38"/>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43" name="TextBox 42"/>
              <p:cNvSpPr txBox="1"/>
              <p:nvPr/>
            </p:nvSpPr>
            <p:spPr>
              <a:xfrm>
                <a:off x="9728714" y="4242991"/>
                <a:ext cx="1531894"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1" i="1" smtClean="0">
                              <a:latin typeface="Cambria Math" panose="02040503050406030204" pitchFamily="18" charset="0"/>
                            </a:rPr>
                            <m:t>𝒉</m:t>
                          </m:r>
                        </m:e>
                        <m:sub>
                          <m:r>
                            <a:rPr lang="en-US" sz="2800" b="0" i="1" smtClean="0">
                              <a:latin typeface="Cambria Math" panose="02040503050406030204" pitchFamily="18" charset="0"/>
                            </a:rPr>
                            <m:t>𝑡</m:t>
                          </m:r>
                        </m:sub>
                      </m:sSub>
                      <m:r>
                        <a:rPr lang="en-US" sz="2800" b="0" i="1" smtClean="0">
                          <a:latin typeface="Cambria Math" panose="02040503050406030204" pitchFamily="18" charset="0"/>
                        </a:rPr>
                        <m:t>∈</m:t>
                      </m:r>
                      <m:sSup>
                        <m:sSupPr>
                          <m:ctrlPr>
                            <a:rPr lang="en-US" sz="2800" b="0" i="1" smtClean="0">
                              <a:latin typeface="Cambria Math" panose="02040503050406030204" pitchFamily="18" charset="0"/>
                              <a:ea typeface="Cambria Math" panose="02040503050406030204" pitchFamily="18" charset="0"/>
                            </a:rPr>
                          </m:ctrlPr>
                        </m:sSupPr>
                        <m:e>
                          <m:r>
                            <a:rPr lang="en-US" sz="2800" b="0" i="1" smtClean="0">
                              <a:latin typeface="Cambria Math" panose="02040503050406030204" pitchFamily="18" charset="0"/>
                              <a:ea typeface="Cambria Math" panose="02040503050406030204" pitchFamily="18" charset="0"/>
                            </a:rPr>
                            <m:t>ℝ</m:t>
                          </m:r>
                        </m:e>
                        <m:sup>
                          <m:r>
                            <a:rPr lang="en-US" sz="2800" b="0" i="1" smtClean="0">
                              <a:latin typeface="Cambria Math" panose="02040503050406030204" pitchFamily="18" charset="0"/>
                              <a:ea typeface="Cambria Math" panose="02040503050406030204" pitchFamily="18" charset="0"/>
                            </a:rPr>
                            <m:t>𝐷</m:t>
                          </m:r>
                        </m:sup>
                      </m:sSup>
                    </m:oMath>
                  </m:oMathPara>
                </a14:m>
                <a:endParaRPr lang="en-IN" sz="2800"/>
              </a:p>
            </p:txBody>
          </p:sp>
        </mc:Choice>
        <mc:Fallback xmlns="">
          <p:sp>
            <p:nvSpPr>
              <p:cNvPr id="43" name="TextBox 42"/>
              <p:cNvSpPr txBox="1">
                <a:spLocks noRot="1" noChangeAspect="1" noMove="1" noResize="1" noEditPoints="1" noAdjustHandles="1" noChangeArrowheads="1" noChangeShapeType="1" noTextEdit="1"/>
              </p:cNvSpPr>
              <p:nvPr/>
            </p:nvSpPr>
            <p:spPr>
              <a:xfrm>
                <a:off x="9728714" y="4242991"/>
                <a:ext cx="1531894" cy="523220"/>
              </a:xfrm>
              <a:prstGeom prst="rect">
                <a:avLst/>
              </a:prstGeom>
              <a:blipFill rotWithShape="1">
                <a:blip r:embed="rId7"/>
                <a:stretch>
                  <a:fillRect l="-34" t="-106" r="-11306" b="102"/>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44" name="TextBox 43"/>
              <p:cNvSpPr txBox="1"/>
              <p:nvPr/>
            </p:nvSpPr>
            <p:spPr>
              <a:xfrm>
                <a:off x="7780020" y="873760"/>
                <a:ext cx="2120265" cy="923925"/>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sSubSup>
                        <m:sSubSupPr>
                          <m:ctrlPr>
                            <a:rPr lang="en-US" sz="2800" b="0" i="1" smtClean="0">
                              <a:latin typeface="Cambria Math" panose="02040503050406030204" pitchFamily="18" charset="0"/>
                            </a:rPr>
                          </m:ctrlPr>
                        </m:sSubSupPr>
                        <m:e>
                          <m:r>
                            <a:rPr lang="en-US" sz="2800" b="1" i="1" smtClean="0">
                              <a:latin typeface="Cambria Math" panose="02040503050406030204" pitchFamily="18" charset="0"/>
                            </a:rPr>
                            <m:t>𝒚</m:t>
                          </m:r>
                        </m:e>
                        <m:sub>
                          <m:r>
                            <a:rPr lang="en-US" sz="2800" b="0" i="1" smtClean="0">
                              <a:latin typeface="Cambria Math" panose="02040503050406030204" pitchFamily="18" charset="0"/>
                            </a:rPr>
                            <m:t>𝑡</m:t>
                          </m:r>
                        </m:sub>
                        <m:sup>
                          <m:r>
                            <a:rPr lang="en-US" sz="2800" b="0" i="1" smtClean="0">
                              <a:latin typeface="Cambria Math" panose="02040503050406030204" pitchFamily="18" charset="0"/>
                            </a:rPr>
                            <m:t>⋆</m:t>
                          </m:r>
                        </m:sup>
                      </m:sSubSup>
                      <m:r>
                        <a:rPr lang="en-US" sz="2800" b="0" i="1" smtClean="0">
                          <a:latin typeface="Cambria Math" panose="02040503050406030204" pitchFamily="18" charset="0"/>
                        </a:rPr>
                        <m:t>∈</m:t>
                      </m:r>
                      <m:sSup>
                        <m:sSupPr>
                          <m:ctrlPr>
                            <a:rPr lang="en-US" sz="2800" b="0" i="1" smtClean="0">
                              <a:latin typeface="Cambria Math" panose="02040503050406030204" pitchFamily="18" charset="0"/>
                              <a:ea typeface="Cambria Math" panose="02040503050406030204" pitchFamily="18" charset="0"/>
                            </a:rPr>
                          </m:ctrlPr>
                        </m:sSupPr>
                        <m:e>
                          <m:r>
                            <a:rPr lang="en-US" sz="2800" b="0" i="1" smtClean="0">
                              <a:latin typeface="Cambria Math" panose="02040503050406030204" pitchFamily="18" charset="0"/>
                              <a:ea typeface="Cambria Math" panose="02040503050406030204" pitchFamily="18" charset="0"/>
                            </a:rPr>
                            <m:t>{0,1}</m:t>
                          </m:r>
                        </m:e>
                        <m:sup>
                          <m:r>
                            <a:rPr lang="en-US" sz="2800" b="0" i="1" smtClean="0">
                              <a:latin typeface="Cambria Math" panose="02040503050406030204" pitchFamily="18" charset="0"/>
                              <a:ea typeface="Cambria Math" panose="02040503050406030204" pitchFamily="18" charset="0"/>
                            </a:rPr>
                            <m:t>𝑀</m:t>
                          </m:r>
                        </m:sup>
                      </m:sSup>
                    </m:oMath>
                  </m:oMathPara>
                </a14:m>
                <a:endParaRPr lang="en-IN" sz="2800"/>
              </a:p>
            </p:txBody>
          </p:sp>
        </mc:Choice>
        <mc:Fallback xmlns="">
          <p:sp>
            <p:nvSpPr>
              <p:cNvPr id="44" name="TextBox 43"/>
              <p:cNvSpPr txBox="1">
                <a:spLocks noRot="1" noChangeAspect="1" noMove="1" noResize="1" noEditPoints="1" noAdjustHandles="1" noChangeArrowheads="1" noChangeShapeType="1" noTextEdit="1"/>
              </p:cNvSpPr>
              <p:nvPr/>
            </p:nvSpPr>
            <p:spPr>
              <a:xfrm>
                <a:off x="7780020" y="873760"/>
                <a:ext cx="2120265" cy="923925"/>
              </a:xfrm>
              <a:prstGeom prst="rect">
                <a:avLst/>
              </a:prstGeom>
              <a:blipFill rotWithShape="1">
                <a:blip r:embed="rId8"/>
                <a:stretch>
                  <a:fillRect/>
                </a:stretch>
              </a:blipFill>
            </p:spPr>
            <p:txBody>
              <a:bodyPr/>
              <a:lstStyle/>
              <a:p>
                <a:r>
                  <a:rPr lang="en-US" altLang="en-US">
                    <a:noFill/>
                  </a:rPr>
                  <a:t> </a:t>
                </a:r>
              </a:p>
            </p:txBody>
          </p:sp>
        </mc:Fallback>
      </mc:AlternateContent>
      <p:sp>
        <p:nvSpPr>
          <p:cNvPr id="45" name="Speech Bubble: Rectangle with Corners Rounded 44"/>
          <p:cNvSpPr/>
          <p:nvPr/>
        </p:nvSpPr>
        <p:spPr>
          <a:xfrm>
            <a:off x="10106609" y="873737"/>
            <a:ext cx="1907068" cy="872479"/>
          </a:xfrm>
          <a:prstGeom prst="wedgeRoundRectCallout">
            <a:avLst>
              <a:gd name="adj1" fmla="val -69970"/>
              <a:gd name="adj2" fmla="val -6201"/>
              <a:gd name="adj3" fmla="val 16667"/>
            </a:avLst>
          </a:prstGeom>
          <a:solidFill>
            <a:schemeClr val="accent4">
              <a:lumMod val="20000"/>
              <a:lumOff val="8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Desired one-</a:t>
            </a:r>
            <a:br>
              <a:rPr lang="en-US">
                <a:solidFill>
                  <a:schemeClr val="tx1"/>
                </a:solidFill>
              </a:rPr>
            </a:br>
            <a:r>
              <a:rPr lang="en-US">
                <a:solidFill>
                  <a:schemeClr val="tx1"/>
                </a:solidFill>
              </a:rPr>
              <a:t>hot output</a:t>
            </a:r>
            <a:endParaRPr lang="en-IN">
              <a:solidFill>
                <a:schemeClr val="tx1"/>
              </a:solidFill>
            </a:endParaRPr>
          </a:p>
        </p:txBody>
      </p:sp>
      <mc:AlternateContent xmlns:mc="http://schemas.openxmlformats.org/markup-compatibility/2006" xmlns:a14="http://schemas.microsoft.com/office/drawing/2010/main">
        <mc:Choice Requires="a14">
          <p:sp>
            <p:nvSpPr>
              <p:cNvPr id="46" name="Rectangle 45"/>
              <p:cNvSpPr/>
              <p:nvPr/>
            </p:nvSpPr>
            <p:spPr>
              <a:xfrm>
                <a:off x="8445729" y="1971113"/>
                <a:ext cx="902365" cy="520218"/>
              </a:xfrm>
              <a:prstGeom prst="rect">
                <a:avLst/>
              </a:prstGeom>
              <a:solidFill>
                <a:schemeClr val="accent2">
                  <a:lumMod val="20000"/>
                  <a:lumOff val="80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b="0" i="1" smtClean="0">
                              <a:solidFill>
                                <a:schemeClr val="tx1"/>
                              </a:solidFill>
                              <a:latin typeface="Cambria Math" panose="02040503050406030204" pitchFamily="18" charset="0"/>
                            </a:rPr>
                          </m:ctrlPr>
                        </m:sSubPr>
                        <m:e>
                          <m:r>
                            <m:rPr>
                              <m:nor/>
                            </m:rPr>
                            <a:rPr lang="en-US" sz="2800" b="0" i="0" smtClean="0">
                              <a:solidFill>
                                <a:schemeClr val="tx1"/>
                              </a:solidFill>
                              <a:latin typeface="Cambria Math" panose="02040503050406030204" pitchFamily="18" charset="0"/>
                            </a:rPr>
                            <m:t>loss</m:t>
                          </m:r>
                        </m:e>
                        <m:sub>
                          <m:r>
                            <a:rPr lang="en-US" sz="2800" b="0" i="1" smtClean="0">
                              <a:solidFill>
                                <a:schemeClr val="tx1"/>
                              </a:solidFill>
                              <a:latin typeface="Cambria Math" panose="02040503050406030204" pitchFamily="18" charset="0"/>
                            </a:rPr>
                            <m:t>𝑡</m:t>
                          </m:r>
                        </m:sub>
                      </m:sSub>
                    </m:oMath>
                  </m:oMathPara>
                </a14:m>
                <a:endParaRPr lang="en-IN" sz="2800">
                  <a:solidFill>
                    <a:schemeClr val="tx1"/>
                  </a:solidFill>
                </a:endParaRPr>
              </a:p>
            </p:txBody>
          </p:sp>
        </mc:Choice>
        <mc:Fallback xmlns="">
          <p:sp>
            <p:nvSpPr>
              <p:cNvPr id="46" name="Rectangle 45"/>
              <p:cNvSpPr>
                <a:spLocks noRot="1" noChangeAspect="1" noMove="1" noResize="1" noEditPoints="1" noAdjustHandles="1" noChangeArrowheads="1" noChangeShapeType="1" noTextEdit="1"/>
              </p:cNvSpPr>
              <p:nvPr/>
            </p:nvSpPr>
            <p:spPr>
              <a:xfrm>
                <a:off x="8445729" y="1971113"/>
                <a:ext cx="902365" cy="520218"/>
              </a:xfrm>
              <a:prstGeom prst="rect">
                <a:avLst/>
              </a:prstGeom>
              <a:blipFill rotWithShape="1">
                <a:blip r:embed="rId9"/>
                <a:stretch>
                  <a:fillRect l="-729" t="-1235" r="-4686" b="-1177"/>
                </a:stretch>
              </a:blip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cxnSp>
        <p:nvCxnSpPr>
          <p:cNvPr id="55" name="Straight Arrow Connector 54"/>
          <p:cNvCxnSpPr>
            <a:stCxn id="23" idx="0"/>
            <a:endCxn id="46" idx="2"/>
          </p:cNvCxnSpPr>
          <p:nvPr/>
        </p:nvCxnSpPr>
        <p:spPr>
          <a:xfrm flipH="1" flipV="1">
            <a:off x="8896912" y="2491249"/>
            <a:ext cx="61595" cy="30607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58" name="Straight Arrow Connector 57"/>
          <p:cNvCxnSpPr>
            <a:stCxn id="44" idx="2"/>
            <a:endCxn id="46" idx="0"/>
          </p:cNvCxnSpPr>
          <p:nvPr/>
        </p:nvCxnSpPr>
        <p:spPr>
          <a:xfrm>
            <a:off x="8840397" y="1797691"/>
            <a:ext cx="56515" cy="173355"/>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1" name="Speech Bubble: Rectangle with Corners Rounded 60"/>
              <p:cNvSpPr/>
              <p:nvPr/>
            </p:nvSpPr>
            <p:spPr>
              <a:xfrm>
                <a:off x="5140325" y="936625"/>
                <a:ext cx="2667000" cy="2266315"/>
              </a:xfrm>
              <a:prstGeom prst="wedgeRoundRectCallout">
                <a:avLst>
                  <a:gd name="adj1" fmla="val 68891"/>
                  <a:gd name="adj2" fmla="val 14961"/>
                  <a:gd name="adj3" fmla="val 16667"/>
                </a:avLst>
              </a:prstGeom>
              <a:solidFill>
                <a:schemeClr val="accent4">
                  <a:lumMod val="20000"/>
                  <a:lumOff val="8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n-US" sz="2400">
                    <a:solidFill>
                      <a:schemeClr val="tx1"/>
                    </a:solidFill>
                  </a:rPr>
                  <a:t>Divergence between two distributions</a:t>
                </a:r>
              </a:p>
              <a:p>
                <a:pPr marL="342900" indent="-342900">
                  <a:buFont typeface="Arial" panose="020B0604020202020204" pitchFamily="34" charset="0"/>
                  <a:buChar char="•"/>
                </a:pPr>
                <a:r>
                  <a:rPr lang="en-US" sz="2400">
                    <a:solidFill>
                      <a:schemeClr val="tx1"/>
                    </a:solidFill>
                  </a:rPr>
                  <a:t>Aggregated over all </a:t>
                </a:r>
                <a14:m>
                  <m:oMath xmlns:m="http://schemas.openxmlformats.org/officeDocument/2006/math">
                    <m:r>
                      <a:rPr lang="en-US" sz="2400" b="0" i="1" smtClean="0">
                        <a:solidFill>
                          <a:schemeClr val="tx1"/>
                        </a:solidFill>
                        <a:latin typeface="Cambria Math" panose="02040503050406030204" pitchFamily="18" charset="0"/>
                      </a:rPr>
                      <m:t>𝑇</m:t>
                    </m:r>
                  </m:oMath>
                </a14:m>
                <a:r>
                  <a:rPr lang="en-IN" sz="2400">
                    <a:solidFill>
                      <a:schemeClr val="tx1"/>
                    </a:solidFill>
                  </a:rPr>
                  <a:t> positions</a:t>
                </a:r>
              </a:p>
            </p:txBody>
          </p:sp>
        </mc:Choice>
        <mc:Fallback xmlns="">
          <p:sp>
            <p:nvSpPr>
              <p:cNvPr id="61" name="Speech Bubble: Rectangle with Corners Rounded 60"/>
              <p:cNvSpPr>
                <a:spLocks noRot="1" noChangeAspect="1" noMove="1" noResize="1" noEditPoints="1" noAdjustHandles="1" noChangeArrowheads="1" noChangeShapeType="1" noTextEdit="1"/>
              </p:cNvSpPr>
              <p:nvPr/>
            </p:nvSpPr>
            <p:spPr>
              <a:xfrm>
                <a:off x="5140325" y="936625"/>
                <a:ext cx="2667000" cy="2266315"/>
              </a:xfrm>
              <a:prstGeom prst="wedgeRoundRectCallout">
                <a:avLst>
                  <a:gd name="adj1" fmla="val 68891"/>
                  <a:gd name="adj2" fmla="val 14961"/>
                  <a:gd name="adj3" fmla="val 16667"/>
                </a:avLst>
              </a:prstGeom>
              <a:blipFill rotWithShape="1">
                <a:blip r:embed="rId10"/>
                <a:stretch>
                  <a:fillRect l="-238" t="-280" r="-19381" b="-280"/>
                </a:stretch>
              </a:blip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sp>
        <p:nvSpPr>
          <p:cNvPr id="10" name="Rectangle 3"/>
          <p:cNvSpPr/>
          <p:nvPr/>
        </p:nvSpPr>
        <p:spPr>
          <a:xfrm>
            <a:off x="9594850" y="3280410"/>
            <a:ext cx="533400" cy="419100"/>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IN" sz="2800"/>
          </a:p>
        </p:txBody>
      </p:sp>
      <p:cxnSp>
        <p:nvCxnSpPr>
          <p:cNvPr id="11" name="Curved Connector 10"/>
          <p:cNvCxnSpPr>
            <a:stCxn id="4" idx="3"/>
            <a:endCxn id="10" idx="2"/>
          </p:cNvCxnSpPr>
          <p:nvPr/>
        </p:nvCxnSpPr>
        <p:spPr>
          <a:xfrm flipV="1">
            <a:off x="9457055" y="3699510"/>
            <a:ext cx="404495" cy="470535"/>
          </a:xfrm>
          <a:prstGeom prst="curvedConnector2">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urved Connector 12"/>
          <p:cNvCxnSpPr>
            <a:stCxn id="10" idx="1"/>
            <a:endCxn id="23" idx="2"/>
          </p:cNvCxnSpPr>
          <p:nvPr/>
        </p:nvCxnSpPr>
        <p:spPr>
          <a:xfrm rot="10800000">
            <a:off x="8958580" y="3331210"/>
            <a:ext cx="636270" cy="158750"/>
          </a:xfrm>
          <a:prstGeom prst="curvedConnector2">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Speech Bubble: Rectangle with Corners Rounded 40"/>
          <p:cNvSpPr/>
          <p:nvPr/>
        </p:nvSpPr>
        <p:spPr>
          <a:xfrm>
            <a:off x="10970895" y="2661285"/>
            <a:ext cx="1159510" cy="715645"/>
          </a:xfrm>
          <a:prstGeom prst="wedgeRoundRectCallout">
            <a:avLst>
              <a:gd name="adj1" fmla="val -122562"/>
              <a:gd name="adj2" fmla="val 54436"/>
              <a:gd name="adj3" fmla="val 16667"/>
            </a:avLst>
          </a:prstGeom>
          <a:solidFill>
            <a:schemeClr val="accent4">
              <a:lumMod val="20000"/>
              <a:lumOff val="8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Output </a:t>
            </a:r>
            <a:r>
              <a:rPr lang="en-US" err="1">
                <a:solidFill>
                  <a:schemeClr val="tx1"/>
                </a:solidFill>
              </a:rPr>
              <a:t>network</a:t>
            </a:r>
            <a:endParaRPr lang="en-IN">
              <a:solidFill>
                <a:schemeClr val="tx1"/>
              </a:solidFill>
            </a:endParaRPr>
          </a:p>
        </p:txBody>
      </p:sp>
      <p:sp>
        <p:nvSpPr>
          <p:cNvPr id="15" name="Speech Bubble: Rectangle with Corners Rounded 40"/>
          <p:cNvSpPr/>
          <p:nvPr/>
        </p:nvSpPr>
        <p:spPr>
          <a:xfrm>
            <a:off x="6647815" y="5137150"/>
            <a:ext cx="1429385" cy="1169035"/>
          </a:xfrm>
          <a:prstGeom prst="wedgeRoundRectCallout">
            <a:avLst>
              <a:gd name="adj1" fmla="val 85628"/>
              <a:gd name="adj2" fmla="val -91173"/>
              <a:gd name="adj3" fmla="val 16667"/>
            </a:avLst>
          </a:prstGeom>
          <a:solidFill>
            <a:schemeClr val="accent4">
              <a:lumMod val="20000"/>
              <a:lumOff val="8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State transition </a:t>
            </a:r>
            <a:r>
              <a:rPr lang="en-US" err="1">
                <a:solidFill>
                  <a:schemeClr val="tx1"/>
                </a:solidFill>
              </a:rPr>
              <a:t>network</a:t>
            </a:r>
            <a:endParaRPr lang="en-IN">
              <a:solidFill>
                <a:schemeClr val="tx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Typical </a:t>
            </a:r>
            <a:r>
              <a:rPr lang="en-US">
                <a:sym typeface="+mn-ea"/>
              </a:rPr>
              <a:t>Elman RNN </a:t>
            </a:r>
            <a:r>
              <a:rPr lang="en-US"/>
              <a:t>cell design</a:t>
            </a:r>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p:txBody>
              <a:bodyPr>
                <a:normAutofit fontScale="70000"/>
              </a:bodyPr>
              <a:lstStyle/>
              <a:p>
                <a:pPr>
                  <a:lnSpc>
                    <a:spcPct val="100000"/>
                  </a:lnSpc>
                </a:pPr>
                <a:r>
                  <a:rPr lang="en-US">
                    <a:sym typeface="+mn-ea"/>
                  </a:rPr>
                  <a:t>State transition network</a:t>
                </a:r>
                <a:br>
                  <a:rPr lang="en-US">
                    <a:sym typeface="+mn-ea"/>
                  </a:rPr>
                </a:br>
                <a14:m>
                  <m:oMath xmlns:m="http://schemas.openxmlformats.org/officeDocument/2006/math">
                    <m:sSub>
                      <m:sSubPr>
                        <m:ctrlPr>
                          <a:rPr lang="en-US" b="0" i="1" smtClean="0">
                            <a:latin typeface="Cambria Math" panose="02040503050406030204" pitchFamily="18" charset="0"/>
                          </a:rPr>
                        </m:ctrlPr>
                      </m:sSubPr>
                      <m:e>
                        <m:r>
                          <a:rPr lang="en-US" b="1" i="1" smtClean="0">
                            <a:latin typeface="Cambria Math" panose="02040503050406030204" pitchFamily="18" charset="0"/>
                          </a:rPr>
                          <m:t>𝒉</m:t>
                        </m:r>
                      </m:e>
                      <m:sub>
                        <m:r>
                          <a:rPr lang="en-US" b="0" i="1" smtClean="0">
                            <a:latin typeface="Cambria Math" panose="02040503050406030204" pitchFamily="18" charset="0"/>
                          </a:rPr>
                          <m:t>𝑡</m:t>
                        </m:r>
                      </m:sub>
                    </m:sSub>
                    <m:r>
                      <a:rPr lang="en-US" b="0" i="1" smtClean="0">
                        <a:latin typeface="Cambria Math" panose="02040503050406030204" pitchFamily="18" charset="0"/>
                      </a:rPr>
                      <m:t>=</m:t>
                    </m:r>
                    <m:func>
                      <m:funcPr>
                        <m:ctrlPr>
                          <a:rPr lang="en-US" b="0" i="1" smtClean="0">
                            <a:latin typeface="Cambria Math" panose="02040503050406030204" pitchFamily="18" charset="0"/>
                            <a:cs typeface="DejaVu Math TeX Gyre" panose="02000503000000000000" charset="0"/>
                          </a:rPr>
                        </m:ctrlPr>
                      </m:funcPr>
                      <m:fName>
                        <m:r>
                          <m:rPr>
                            <m:sty m:val="p"/>
                          </m:rPr>
                          <a:rPr lang="en-US" b="0" smtClean="0">
                            <a:latin typeface="Cambria Math" panose="02040503050406030204" pitchFamily="18" charset="0"/>
                            <a:cs typeface="DejaVu Math TeX Gyre" panose="02000503000000000000" charset="0"/>
                          </a:rPr>
                          <m:t>tanh</m:t>
                        </m:r>
                      </m:fName>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𝑡</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h</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effectLst>
                                      <a:glow rad="139700">
                                        <a:schemeClr val="accent5">
                                          <a:satMod val="175000"/>
                                          <a:alpha val="40000"/>
                                        </a:schemeClr>
                                      </a:glow>
                                    </a:effectLst>
                                    <a:latin typeface="Cambria Math" panose="02040503050406030204" pitchFamily="18" charset="0"/>
                                  </a:rPr>
                                  <m:t>𝒉</m:t>
                                </m:r>
                              </m:e>
                              <m:sub>
                                <m:r>
                                  <a:rPr lang="en-US" b="0" i="1" smtClean="0">
                                    <a:latin typeface="Cambria Math" panose="02040503050406030204" pitchFamily="18" charset="0"/>
                                  </a:rPr>
                                  <m:t>𝑡</m:t>
                                </m:r>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h</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𝒃</m:t>
                                </m:r>
                              </m:e>
                              <m:sub>
                                <m:r>
                                  <a:rPr lang="en-US" b="0" i="1" smtClean="0">
                                    <a:latin typeface="Cambria Math" panose="02040503050406030204" pitchFamily="18" charset="0"/>
                                  </a:rPr>
                                  <m:t>h</m:t>
                                </m:r>
                              </m:sub>
                            </m:sSub>
                          </m:e>
                        </m:d>
                      </m:e>
                    </m:func>
                  </m:oMath>
                </a14:m>
                <a:endParaRPr lang="en-US" b="0" i="1">
                  <a:latin typeface="DejaVu Math TeX Gyre" panose="02000503000000000000" charset="0"/>
                  <a:cs typeface="DejaVu Math TeX Gyre" panose="02000503000000000000" charset="0"/>
                </a:endParaRPr>
              </a:p>
              <a:p>
                <a:pPr>
                  <a:lnSpc>
                    <a:spcPct val="100000"/>
                  </a:lnSpc>
                </a:pPr>
                <a:r>
                  <a:rPr lang="en-US"/>
                  <a:t>Output emission network (if needed)</a:t>
                </a:r>
                <a:br>
                  <a:rPr lang="en-US" b="0" i="1">
                    <a:latin typeface="Cambria Math" panose="02040503050406030204" pitchFamily="18" charset="0"/>
                  </a:rPr>
                </a:br>
                <a14:m>
                  <m:oMath xmlns:m="http://schemas.openxmlformats.org/officeDocument/2006/math">
                    <m:sSub>
                      <m:sSubPr>
                        <m:ctrlPr>
                          <a:rPr lang="en-US" b="0" i="1" smtClean="0">
                            <a:latin typeface="Cambria Math" panose="02040503050406030204" pitchFamily="18" charset="0"/>
                          </a:rPr>
                        </m:ctrlPr>
                      </m:sSubPr>
                      <m:e>
                        <m:r>
                          <a:rPr lang="en-US" b="1" i="1" smtClean="0">
                            <a:latin typeface="Cambria Math" panose="02040503050406030204" pitchFamily="18" charset="0"/>
                          </a:rPr>
                          <m:t>𝒚</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m:rPr>
                        <m:sty m:val="p"/>
                      </m:rPr>
                      <a:rPr lang="en-US" b="0" smtClean="0">
                        <a:latin typeface="Cambria Math" panose="02040503050406030204" pitchFamily="18" charset="0"/>
                      </a:rPr>
                      <m:t>softmax</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𝒉</m:t>
                        </m:r>
                      </m:e>
                      <m:sub>
                        <m:r>
                          <a:rPr lang="en-US" b="0" i="1" smtClean="0">
                            <a:latin typeface="Cambria Math" panose="02040503050406030204" pitchFamily="18" charset="0"/>
                          </a:rPr>
                          <m:t>𝑡</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𝑦</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𝒃</m:t>
                        </m:r>
                      </m:e>
                      <m:sub>
                        <m:r>
                          <a:rPr lang="en-US" b="0" i="1" smtClean="0">
                            <a:latin typeface="Cambria Math" panose="02040503050406030204" pitchFamily="18" charset="0"/>
                          </a:rPr>
                          <m:t>𝑦</m:t>
                        </m:r>
                      </m:sub>
                    </m:sSub>
                    <m:r>
                      <a:rPr lang="en-US" b="0" i="1" smtClean="0">
                        <a:latin typeface="Cambria Math" panose="02040503050406030204" pitchFamily="18" charset="0"/>
                      </a:rPr>
                      <m:t>)</m:t>
                    </m:r>
                  </m:oMath>
                </a14:m>
                <a:endParaRPr lang="en-US" b="0" i="1">
                  <a:latin typeface="Cambria Math" panose="02040503050406030204" pitchFamily="18" charset="0"/>
                </a:endParaRPr>
              </a:p>
              <a:p>
                <a:pPr lvl="1">
                  <a:lnSpc>
                    <a:spcPct val="100000"/>
                  </a:lnSpc>
                </a:pPr>
                <a14:m>
                  <m:oMath xmlns:m="http://schemas.openxmlformats.org/officeDocument/2006/math">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𝑡</m:t>
                        </m:r>
                      </m:sub>
                    </m:sSub>
                    <m:r>
                      <a:rPr lang="en-US" i="1" smtClean="0">
                        <a:latin typeface="Cambria Math" panose="02040503050406030204" pitchFamily="18" charset="0"/>
                        <a:cs typeface="DejaVu Math TeX Gyre" panose="02000503000000000000"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ea typeface="Cambria Math" panose="02040503050406030204" pitchFamily="18" charset="0"/>
                          </a:rPr>
                          <m:t>𝐼</m:t>
                        </m:r>
                      </m:sup>
                    </m:sSup>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h</m:t>
                        </m:r>
                      </m:sub>
                    </m:sSub>
                    <m:r>
                      <a:rPr lang="en-US" i="1" smtClean="0">
                        <a:latin typeface="Cambria Math" panose="02040503050406030204" pitchFamily="18" charset="0"/>
                        <a:cs typeface="DejaVu Math TeX Gyre" panose="02000503000000000000"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ea typeface="Cambria Math" panose="02040503050406030204" pitchFamily="18" charset="0"/>
                          </a:rPr>
                          <m:t>𝐼</m:t>
                        </m:r>
                        <m:r>
                          <a:rPr lang="en-US" i="1" smtClean="0">
                            <a:latin typeface="Cambria Math" panose="02040503050406030204" pitchFamily="18" charset="0"/>
                            <a:ea typeface="Cambria Math" panose="02040503050406030204" pitchFamily="18" charset="0"/>
                            <a:cs typeface="DejaVu Math TeX Gyre" panose="02000503000000000000" charset="0"/>
                          </a:rPr>
                          <m:t>×</m:t>
                        </m:r>
                        <m:r>
                          <a:rPr lang="en-US" i="1" smtClean="0">
                            <a:latin typeface="Cambria Math" panose="02040503050406030204" pitchFamily="18" charset="0"/>
                            <a:ea typeface="Cambria Math" panose="02040503050406030204" pitchFamily="18" charset="0"/>
                            <a:cs typeface="DejaVu Math TeX Gyre" panose="02000503000000000000" charset="0"/>
                          </a:rPr>
                          <m:t>𝐷</m:t>
                        </m:r>
                      </m:sup>
                    </m:sSup>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𝒉</m:t>
                        </m:r>
                      </m:e>
                      <m:sub>
                        <m:r>
                          <a:rPr lang="en-US" b="0" i="1" smtClean="0">
                            <a:latin typeface="Cambria Math" panose="02040503050406030204" pitchFamily="18" charset="0"/>
                          </a:rPr>
                          <m:t>𝑡</m:t>
                        </m:r>
                      </m:sub>
                    </m:sSub>
                    <m:r>
                      <a:rPr lang="en-US" i="1" smtClean="0">
                        <a:latin typeface="Cambria Math" panose="02040503050406030204" pitchFamily="18" charset="0"/>
                        <a:cs typeface="DejaVu Math TeX Gyre" panose="02000503000000000000"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ea typeface="Cambria Math" panose="02040503050406030204" pitchFamily="18" charset="0"/>
                          </a:rPr>
                          <m:t>𝐷</m:t>
                        </m:r>
                      </m:sup>
                    </m:sSup>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h</m:t>
                        </m:r>
                      </m:sub>
                    </m:sSub>
                    <m:r>
                      <a:rPr lang="en-US" i="1" smtClean="0">
                        <a:latin typeface="Cambria Math" panose="02040503050406030204" pitchFamily="18" charset="0"/>
                        <a:cs typeface="DejaVu Math TeX Gyre" panose="02000503000000000000"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ea typeface="Cambria Math" panose="02040503050406030204" pitchFamily="18" charset="0"/>
                          </a:rPr>
                          <m:t>𝐷</m:t>
                        </m:r>
                        <m:r>
                          <a:rPr lang="en-US" i="1" smtClean="0">
                            <a:latin typeface="Cambria Math" panose="02040503050406030204" pitchFamily="18" charset="0"/>
                            <a:ea typeface="Cambria Math" panose="02040503050406030204" pitchFamily="18" charset="0"/>
                            <a:cs typeface="DejaVu Math TeX Gyre" panose="02000503000000000000" charset="0"/>
                          </a:rPr>
                          <m:t>×</m:t>
                        </m:r>
                        <m:r>
                          <a:rPr lang="en-US" i="1" smtClean="0">
                            <a:latin typeface="Cambria Math" panose="02040503050406030204" pitchFamily="18" charset="0"/>
                            <a:ea typeface="Cambria Math" panose="02040503050406030204" pitchFamily="18" charset="0"/>
                            <a:cs typeface="DejaVu Math TeX Gyre" panose="02000503000000000000" charset="0"/>
                          </a:rPr>
                          <m:t>𝐷</m:t>
                        </m:r>
                      </m:sup>
                    </m:sSup>
                    <m:r>
                      <a:rPr lang="en-US" i="1" smtClean="0">
                        <a:latin typeface="Cambria Math" panose="02040503050406030204" pitchFamily="18" charset="0"/>
                        <a:ea typeface="Cambria Math" panose="02040503050406030204" pitchFamily="18" charset="0"/>
                        <a:cs typeface="DejaVu Math TeX Gyre" panose="02000503000000000000"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𝒃</m:t>
                        </m:r>
                      </m:e>
                      <m:sub>
                        <m:r>
                          <a:rPr lang="en-US" b="0" i="1" smtClean="0">
                            <a:latin typeface="Cambria Math" panose="02040503050406030204" pitchFamily="18" charset="0"/>
                          </a:rPr>
                          <m:t>h</m:t>
                        </m:r>
                      </m:sub>
                    </m:sSub>
                    <m:r>
                      <a:rPr lang="en-US" i="1" smtClean="0">
                        <a:latin typeface="Cambria Math" panose="02040503050406030204" pitchFamily="18" charset="0"/>
                        <a:cs typeface="DejaVu Math TeX Gyre" panose="02000503000000000000"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ea typeface="Cambria Math" panose="02040503050406030204" pitchFamily="18" charset="0"/>
                          </a:rPr>
                          <m:t>𝐷</m:t>
                        </m:r>
                      </m:sup>
                    </m:sSup>
                  </m:oMath>
                </a14:m>
                <a:endParaRPr lang="en-US" b="0" i="1">
                  <a:latin typeface="Cambria Math" panose="02040503050406030204" pitchFamily="18" charset="0"/>
                  <a:ea typeface="Cambria Math" panose="02040503050406030204" pitchFamily="18" charset="0"/>
                </a:endParaRPr>
              </a:p>
              <a:p>
                <a:pPr lvl="1">
                  <a:lnSpc>
                    <a:spcPct val="100000"/>
                  </a:lnSpc>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𝑦</m:t>
                        </m:r>
                      </m:sub>
                    </m:sSub>
                    <m:r>
                      <a:rPr lang="en-US" i="1" smtClean="0">
                        <a:latin typeface="Cambria Math" panose="02040503050406030204" pitchFamily="18" charset="0"/>
                        <a:cs typeface="DejaVu Math TeX Gyre" panose="02000503000000000000"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ea typeface="Cambria Math" panose="02040503050406030204" pitchFamily="18" charset="0"/>
                          </a:rPr>
                          <m:t>𝐷</m:t>
                        </m:r>
                        <m:r>
                          <a:rPr lang="en-US" i="1" smtClean="0">
                            <a:latin typeface="Cambria Math" panose="02040503050406030204" pitchFamily="18" charset="0"/>
                            <a:ea typeface="Cambria Math" panose="02040503050406030204" pitchFamily="18" charset="0"/>
                            <a:cs typeface="DejaVu Math TeX Gyre" panose="02000503000000000000" charset="0"/>
                          </a:rPr>
                          <m:t>×</m:t>
                        </m:r>
                        <m:r>
                          <a:rPr lang="en-US" i="1" smtClean="0">
                            <a:latin typeface="Cambria Math" panose="02040503050406030204" pitchFamily="18" charset="0"/>
                            <a:ea typeface="Cambria Math" panose="02040503050406030204" pitchFamily="18" charset="0"/>
                            <a:cs typeface="DejaVu Math TeX Gyre" panose="02000503000000000000" charset="0"/>
                          </a:rPr>
                          <m:t>𝑀</m:t>
                        </m:r>
                      </m:sup>
                    </m:sSup>
                    <m:r>
                      <a:rPr lang="en-US" i="1" smtClean="0">
                        <a:latin typeface="Cambria Math" panose="02040503050406030204" pitchFamily="18" charset="0"/>
                        <a:ea typeface="Cambria Math" panose="02040503050406030204" pitchFamily="18" charset="0"/>
                        <a:cs typeface="DejaVu Math TeX Gyre" panose="02000503000000000000"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𝒃</m:t>
                        </m:r>
                      </m:e>
                      <m:sub>
                        <m:r>
                          <a:rPr lang="en-US" b="0" i="1" smtClean="0">
                            <a:latin typeface="Cambria Math" panose="02040503050406030204" pitchFamily="18" charset="0"/>
                          </a:rPr>
                          <m:t>𝑦</m:t>
                        </m:r>
                      </m:sub>
                    </m:sSub>
                    <m:r>
                      <a:rPr lang="en-US" i="1" smtClean="0">
                        <a:latin typeface="Cambria Math" panose="02040503050406030204" pitchFamily="18" charset="0"/>
                        <a:cs typeface="DejaVu Math TeX Gyre" panose="02000503000000000000"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ea typeface="Cambria Math" panose="02040503050406030204" pitchFamily="18" charset="0"/>
                          </a:rPr>
                          <m:t>𝑀</m:t>
                        </m:r>
                      </m:sup>
                    </m:sSup>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𝒚</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cs typeface="DejaVu Math TeX Gyre" panose="02000503000000000000" charset="0"/>
                          </a:rPr>
                          <m:t>∆</m:t>
                        </m:r>
                      </m:e>
                      <m:sup>
                        <m:r>
                          <a:rPr lang="en-US" b="0" i="1" smtClean="0">
                            <a:latin typeface="Cambria Math" panose="02040503050406030204" pitchFamily="18" charset="0"/>
                            <a:ea typeface="Cambria Math" panose="02040503050406030204" pitchFamily="18" charset="0"/>
                          </a:rPr>
                          <m:t>𝑀</m:t>
                        </m:r>
                      </m:sup>
                    </m:sSup>
                  </m:oMath>
                </a14:m>
                <a:endParaRPr lang="en-US" b="0" i="1">
                  <a:latin typeface="Cambria Math" panose="02040503050406030204" pitchFamily="18" charset="0"/>
                  <a:ea typeface="Cambria Math" panose="02040503050406030204" pitchFamily="18" charset="0"/>
                </a:endParaRPr>
              </a:p>
              <a:p>
                <a:pPr lvl="0">
                  <a:lnSpc>
                    <a:spcPct val="100000"/>
                  </a:lnSpc>
                </a:pPr>
                <a:r>
                  <a:rPr lang="en-US"/>
                  <a:t>During training, </a:t>
                </a:r>
                <a14:m>
                  <m:oMath xmlns:m="http://schemas.openxmlformats.org/officeDocument/2006/math">
                    <m:sSub>
                      <m:sSubPr>
                        <m:ctrlPr>
                          <a:rPr lang="en-US" b="0" i="1" smtClean="0">
                            <a:latin typeface="Cambria Math" panose="02040503050406030204" pitchFamily="18" charset="0"/>
                          </a:rPr>
                        </m:ctrlPr>
                      </m:sSubPr>
                      <m:e>
                        <m:r>
                          <a:rPr lang="en-US" b="1" i="1" smtClean="0">
                            <a:latin typeface="Cambria Math" panose="02040503050406030204" pitchFamily="18" charset="0"/>
                          </a:rPr>
                          <m:t>𝒚</m:t>
                        </m:r>
                      </m:e>
                      <m:sub>
                        <m:r>
                          <a:rPr lang="en-US" b="0" i="1" smtClean="0">
                            <a:latin typeface="Cambria Math" panose="02040503050406030204" pitchFamily="18" charset="0"/>
                          </a:rPr>
                          <m:t>𝑡</m:t>
                        </m:r>
                      </m:sub>
                    </m:sSub>
                  </m:oMath>
                </a14:m>
                <a:r>
                  <a:rPr lang="en-US"/>
                  <a:t> remains continuous</a:t>
                </a:r>
              </a:p>
              <a:p>
                <a:pPr lvl="0">
                  <a:lnSpc>
                    <a:spcPct val="100000"/>
                  </a:lnSpc>
                </a:pPr>
                <a:r>
                  <a:rPr lang="en-US"/>
                  <a:t>Loss between </a:t>
                </a:r>
                <a14:m>
                  <m:oMath xmlns:m="http://schemas.openxmlformats.org/officeDocument/2006/math">
                    <m:sSub>
                      <m:sSubPr>
                        <m:ctrlPr>
                          <a:rPr lang="en-US" b="0" i="1" smtClean="0">
                            <a:latin typeface="Cambria Math" panose="02040503050406030204" pitchFamily="18" charset="0"/>
                          </a:rPr>
                        </m:ctrlPr>
                      </m:sSubPr>
                      <m:e>
                        <m:r>
                          <a:rPr lang="en-US" b="1" i="1" smtClean="0">
                            <a:latin typeface="Cambria Math" panose="02040503050406030204" pitchFamily="18" charset="0"/>
                          </a:rPr>
                          <m:t>𝒚</m:t>
                        </m:r>
                      </m:e>
                      <m:sub>
                        <m:r>
                          <a:rPr lang="en-US" b="0" i="1" smtClean="0">
                            <a:latin typeface="Cambria Math" panose="02040503050406030204" pitchFamily="18" charset="0"/>
                          </a:rPr>
                          <m:t>𝑡</m:t>
                        </m:r>
                      </m:sub>
                    </m:sSub>
                  </m:oMath>
                </a14:m>
                <a:r>
                  <a:rPr lang="en-US" b="0" i="1">
                    <a:latin typeface="DejaVu Math TeX Gyre" panose="02000503000000000000" charset="0"/>
                    <a:cs typeface="DejaVu Math TeX Gyre" panose="02000503000000000000" charset="0"/>
                  </a:rPr>
                  <a:t> </a:t>
                </a:r>
                <a:r>
                  <a:rPr lang="en-US"/>
                  <a:t>and discrete gold </a:t>
                </a:r>
                <a14:m>
                  <m:oMath xmlns:m="http://schemas.openxmlformats.org/officeDocument/2006/math">
                    <m:sSubSup>
                      <m:sSubSupPr>
                        <m:ctrlPr>
                          <a:rPr lang="en-US" b="0" i="1" smtClean="0">
                            <a:latin typeface="Cambria Math" panose="02040503050406030204" pitchFamily="18" charset="0"/>
                          </a:rPr>
                        </m:ctrlPr>
                      </m:sSubSupPr>
                      <m:e>
                        <m:r>
                          <a:rPr lang="en-US" b="1" i="1" smtClean="0">
                            <a:latin typeface="Cambria Math" panose="02040503050406030204" pitchFamily="18" charset="0"/>
                          </a:rPr>
                          <m:t>𝒚</m:t>
                        </m:r>
                      </m:e>
                      <m:sub>
                        <m:r>
                          <a:rPr lang="en-US" b="0" i="1" smtClean="0">
                            <a:latin typeface="Cambria Math" panose="02040503050406030204" pitchFamily="18" charset="0"/>
                          </a:rPr>
                          <m:t>𝑡</m:t>
                        </m:r>
                      </m:sub>
                      <m:sup>
                        <m:r>
                          <a:rPr lang="en-US" b="0" i="1" smtClean="0">
                            <a:latin typeface="Cambria Math" panose="02040503050406030204" pitchFamily="18" charset="0"/>
                          </a:rPr>
                          <m:t>⋆</m:t>
                        </m:r>
                      </m:sup>
                    </m:sSubSup>
                    <m:r>
                      <a:rPr lang="en-US" b="0" i="1" smtClean="0">
                        <a:latin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{0,1}</m:t>
                        </m:r>
                      </m:e>
                      <m:sup>
                        <m:r>
                          <a:rPr lang="en-US" b="0" i="1" smtClean="0">
                            <a:latin typeface="Cambria Math" panose="02040503050406030204" pitchFamily="18" charset="0"/>
                            <a:ea typeface="Cambria Math" panose="02040503050406030204" pitchFamily="18" charset="0"/>
                          </a:rPr>
                          <m:t>𝑀</m:t>
                        </m:r>
                      </m:sup>
                    </m:sSup>
                  </m:oMath>
                </a14:m>
                <a:endParaRPr lang="en-US" b="0" i="1">
                  <a:latin typeface="Cambria Math" panose="02040503050406030204" pitchFamily="18" charset="0"/>
                  <a:ea typeface="Cambria Math" panose="02040503050406030204" pitchFamily="18" charset="0"/>
                </a:endParaRPr>
              </a:p>
              <a:p>
                <a:pPr lvl="0">
                  <a:lnSpc>
                    <a:spcPct val="100000"/>
                  </a:lnSpc>
                </a:pPr>
                <a:r>
                  <a:rPr lang="en-US"/>
                  <a:t>For single label of whole text, only </a:t>
                </a:r>
                <a14:m>
                  <m:oMath xmlns:m="http://schemas.openxmlformats.org/officeDocument/2006/math">
                    <m:sSub>
                      <m:sSubPr>
                        <m:ctrlPr>
                          <a:rPr lang="en-US" b="0" i="1" smtClean="0">
                            <a:latin typeface="Cambria Math" panose="02040503050406030204" pitchFamily="18" charset="0"/>
                          </a:rPr>
                        </m:ctrlPr>
                      </m:sSubPr>
                      <m:e>
                        <m:r>
                          <a:rPr lang="en-US" b="1" i="1" smtClean="0">
                            <a:latin typeface="Cambria Math" panose="02040503050406030204" pitchFamily="18" charset="0"/>
                          </a:rPr>
                          <m:t>𝒚</m:t>
                        </m:r>
                      </m:e>
                      <m:sub>
                        <m:r>
                          <a:rPr lang="en-US" b="0" i="1" smtClean="0">
                            <a:latin typeface="Cambria Math" panose="02040503050406030204" pitchFamily="18" charset="0"/>
                          </a:rPr>
                          <m:t>𝑇</m:t>
                        </m:r>
                      </m:sub>
                    </m:sSub>
                  </m:oMath>
                </a14:m>
                <a:r>
                  <a:rPr lang="en-US"/>
                  <a:t> and </a:t>
                </a:r>
                <a14:m>
                  <m:oMath xmlns:m="http://schemas.openxmlformats.org/officeDocument/2006/math">
                    <m:sSubSup>
                      <m:sSubSupPr>
                        <m:ctrlPr>
                          <a:rPr lang="en-US" b="0" i="1" smtClean="0">
                            <a:latin typeface="Cambria Math" panose="02040503050406030204" pitchFamily="18" charset="0"/>
                          </a:rPr>
                        </m:ctrlPr>
                      </m:sSubSupPr>
                      <m:e>
                        <m:r>
                          <a:rPr lang="en-US" b="1" i="1" smtClean="0">
                            <a:latin typeface="Cambria Math" panose="02040503050406030204" pitchFamily="18" charset="0"/>
                          </a:rPr>
                          <m:t>𝒚</m:t>
                        </m:r>
                      </m:e>
                      <m:sub>
                        <m:r>
                          <a:rPr lang="en-US" b="0" i="1" smtClean="0">
                            <a:latin typeface="Cambria Math" panose="02040503050406030204" pitchFamily="18" charset="0"/>
                          </a:rPr>
                          <m:t>𝑇</m:t>
                        </m:r>
                      </m:sub>
                      <m:sup>
                        <m:r>
                          <a:rPr lang="en-US" b="0" i="1" smtClean="0">
                            <a:latin typeface="Cambria Math" panose="02040503050406030204" pitchFamily="18" charset="0"/>
                          </a:rPr>
                          <m:t>⋆</m:t>
                        </m:r>
                      </m:sup>
                    </m:sSubSup>
                  </m:oMath>
                </a14:m>
                <a:r>
                  <a:rPr lang="en-US"/>
                  <a:t> are used to define loss</a:t>
                </a:r>
              </a:p>
              <a:p>
                <a:pPr lvl="0">
                  <a:lnSpc>
                    <a:spcPct val="100000"/>
                  </a:lnSpc>
                </a:pPr>
                <a:r>
                  <a:rPr lang="en-US"/>
                  <a:t>In both cases, gradient-descent on loss wrt model weights</a:t>
                </a:r>
                <a:br>
                  <a:rPr lang="en-US"/>
                </a:br>
                <a14:m>
                  <m:oMath xmlns:m="http://schemas.openxmlformats.org/officeDocument/2006/math">
                    <m:d>
                      <m:dPr>
                        <m:begChr m:val="{"/>
                        <m:endChr m:val="}"/>
                        <m:ctrlPr>
                          <a:rPr lang="en-US" i="1">
                            <a:latin typeface="Cambria Math" panose="02040503050406030204" pitchFamily="18" charset="0"/>
                            <a:cs typeface="DejaVu Math TeX Gyre" panose="02000503000000000000"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h</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h</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𝒃</m:t>
                            </m:r>
                          </m:e>
                          <m:sub>
                            <m:r>
                              <a:rPr lang="en-US" b="0" i="1" smtClean="0">
                                <a:latin typeface="Cambria Math" panose="02040503050406030204" pitchFamily="18" charset="0"/>
                              </a:rPr>
                              <m:t>h</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𝑦</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𝒃</m:t>
                            </m:r>
                          </m:e>
                          <m:sub>
                            <m:r>
                              <a:rPr lang="en-US" b="0" i="1" smtClean="0">
                                <a:latin typeface="Cambria Math" panose="02040503050406030204" pitchFamily="18" charset="0"/>
                              </a:rPr>
                              <m:t>𝑦</m:t>
                            </m:r>
                          </m:sub>
                        </m:sSub>
                      </m:e>
                    </m:d>
                  </m:oMath>
                </a14:m>
                <a:endParaRPr lang="en-US"/>
              </a:p>
            </p:txBody>
          </p:sp>
        </mc:Choice>
        <mc:Fallback xmlns="">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2"/>
                <a:stretch>
                  <a:fillRect/>
                </a:stretch>
              </a:blipFill>
            </p:spPr>
            <p:txBody>
              <a:bodyPr/>
              <a:lstStyle/>
              <a:p>
                <a:r>
                  <a:rPr lang="en-US" altLang="en-US">
                    <a:noFill/>
                  </a:rPr>
                  <a:t> </a:t>
                </a:r>
              </a:p>
            </p:txBody>
          </p:sp>
        </mc:Fallback>
      </mc:AlternateContent>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Typical Jordan RNN cell</a:t>
            </a:r>
            <a:endParaRPr lang="en-US"/>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p:txBody>
              <a:bodyPr>
                <a:normAutofit fontScale="90000"/>
              </a:bodyPr>
              <a:lstStyle/>
              <a:p>
                <a:pPr>
                  <a:lnSpc>
                    <a:spcPct val="100000"/>
                  </a:lnSpc>
                </a:pPr>
                <a:r>
                  <a:rPr lang="en-US">
                    <a:sym typeface="+mn-ea"/>
                  </a:rPr>
                  <a:t>Output emission network as before</a:t>
                </a:r>
                <a:br>
                  <a:rPr lang="en-US" i="1">
                    <a:latin typeface="Cambria Math" panose="02040503050406030204" pitchFamily="18" charset="0"/>
                    <a:sym typeface="+mn-ea"/>
                  </a:rPr>
                </a:br>
                <a14:m>
                  <m:oMath xmlns:m="http://schemas.openxmlformats.org/officeDocument/2006/math">
                    <m:sSub>
                      <m:sSubPr>
                        <m:ctrlPr>
                          <a:rPr lang="en-US" b="0" i="1" smtClean="0">
                            <a:latin typeface="Cambria Math" panose="02040503050406030204" pitchFamily="18" charset="0"/>
                          </a:rPr>
                        </m:ctrlPr>
                      </m:sSubPr>
                      <m:e>
                        <m:r>
                          <a:rPr lang="en-US" b="1" i="1" smtClean="0">
                            <a:latin typeface="Cambria Math" panose="02040503050406030204" pitchFamily="18" charset="0"/>
                          </a:rPr>
                          <m:t>𝒚</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m:rPr>
                        <m:sty m:val="p"/>
                      </m:rPr>
                      <a:rPr lang="en-US" b="0" smtClean="0">
                        <a:latin typeface="Cambria Math" panose="02040503050406030204" pitchFamily="18" charset="0"/>
                      </a:rPr>
                      <m:t>softmax</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𝒉</m:t>
                        </m:r>
                      </m:e>
                      <m:sub>
                        <m:r>
                          <a:rPr lang="en-US" b="0" i="1" smtClean="0">
                            <a:latin typeface="Cambria Math" panose="02040503050406030204" pitchFamily="18" charset="0"/>
                          </a:rPr>
                          <m:t>𝑡</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𝑦</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𝒃</m:t>
                        </m:r>
                      </m:e>
                      <m:sub>
                        <m:r>
                          <a:rPr lang="en-US" b="0" i="1" smtClean="0">
                            <a:latin typeface="Cambria Math" panose="02040503050406030204" pitchFamily="18" charset="0"/>
                          </a:rPr>
                          <m:t>𝑦</m:t>
                        </m:r>
                      </m:sub>
                    </m:sSub>
                    <m:r>
                      <a:rPr lang="en-US" b="0" i="1" smtClean="0">
                        <a:latin typeface="Cambria Math" panose="02040503050406030204" pitchFamily="18" charset="0"/>
                      </a:rPr>
                      <m:t>)</m:t>
                    </m:r>
                    <m:r>
                      <a:rPr lang="en-US" i="1" smtClean="0">
                        <a:latin typeface="Cambria Math" panose="02040503050406030204" pitchFamily="18" charset="0"/>
                        <a:cs typeface="DejaVu Math TeX Gyre" panose="02000503000000000000" charset="0"/>
                      </a:rPr>
                      <m:t>∈</m:t>
                    </m:r>
                    <m:sSup>
                      <m:sSupPr>
                        <m:ctrlPr>
                          <a:rPr lang="en-US" i="1" smtClean="0">
                            <a:latin typeface="Cambria Math" panose="02040503050406030204" pitchFamily="18" charset="0"/>
                            <a:cs typeface="DejaVu Math TeX Gyre" panose="02000503000000000000" charset="0"/>
                          </a:rPr>
                        </m:ctrlPr>
                      </m:sSupPr>
                      <m:e>
                        <m:r>
                          <a:rPr lang="en-US" i="1" smtClean="0">
                            <a:latin typeface="Cambria Math" panose="02040503050406030204" pitchFamily="18" charset="0"/>
                            <a:cs typeface="DejaVu Math TeX Gyre" panose="02000503000000000000" charset="0"/>
                          </a:rPr>
                          <m:t>∆</m:t>
                        </m:r>
                      </m:e>
                      <m:sup>
                        <m:r>
                          <a:rPr lang="en-US" i="1" smtClean="0">
                            <a:latin typeface="Cambria Math" panose="02040503050406030204" pitchFamily="18" charset="0"/>
                            <a:cs typeface="DejaVu Math TeX Gyre" panose="02000503000000000000" charset="0"/>
                          </a:rPr>
                          <m:t>𝑀</m:t>
                        </m:r>
                      </m:sup>
                    </m:sSup>
                  </m:oMath>
                </a14:m>
                <a:r>
                  <a:rPr lang="en-US"/>
                  <a:t> (not discrete)</a:t>
                </a:r>
                <a:endParaRPr lang="en-US" b="0" i="1">
                  <a:latin typeface="Cambria Math" panose="02040503050406030204" pitchFamily="18" charset="0"/>
                </a:endParaRPr>
              </a:p>
              <a:p>
                <a:pPr lvl="1">
                  <a:lnSpc>
                    <a:spcPct val="100000"/>
                  </a:lnSpc>
                </a:pPr>
                <a:r>
                  <a:rPr lang="en-US"/>
                  <a:t>Here </a:t>
                </a:r>
                <a14:m>
                  <m:oMath xmlns:m="http://schemas.openxmlformats.org/officeDocument/2006/math">
                    <m:sSub>
                      <m:sSubPr>
                        <m:ctrlPr>
                          <a:rPr lang="en-US" b="0" i="1" smtClean="0">
                            <a:latin typeface="Cambria Math" panose="02040503050406030204" pitchFamily="18" charset="0"/>
                          </a:rPr>
                        </m:ctrlPr>
                      </m:sSubPr>
                      <m:e>
                        <m:r>
                          <a:rPr lang="en-US" b="1" i="1" smtClean="0">
                            <a:latin typeface="Cambria Math" panose="02040503050406030204" pitchFamily="18" charset="0"/>
                          </a:rPr>
                          <m:t>𝒉</m:t>
                        </m:r>
                      </m:e>
                      <m:sub>
                        <m:r>
                          <a:rPr lang="en-US" b="0" i="1" smtClean="0">
                            <a:latin typeface="Cambria Math" panose="02040503050406030204" pitchFamily="18" charset="0"/>
                          </a:rPr>
                          <m:t>𝑡</m:t>
                        </m:r>
                      </m:sub>
                    </m:sSub>
                    <m:r>
                      <a:rPr lang="en-US" i="1" smtClean="0">
                        <a:latin typeface="Cambria Math" panose="02040503050406030204" pitchFamily="18" charset="0"/>
                        <a:cs typeface="DejaVu Math TeX Gyre" panose="02000503000000000000"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ea typeface="Cambria Math" panose="02040503050406030204" pitchFamily="18" charset="0"/>
                          </a:rPr>
                          <m:t>𝐷</m:t>
                        </m:r>
                      </m:sup>
                    </m:sSup>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𝑦</m:t>
                        </m:r>
                      </m:sub>
                    </m:sSub>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ea typeface="Cambria Math" panose="02040503050406030204" pitchFamily="18" charset="0"/>
                          </a:rPr>
                          <m:t>𝐷</m:t>
                        </m:r>
                        <m:r>
                          <a:rPr lang="en-US" i="1" smtClean="0">
                            <a:latin typeface="Cambria Math" panose="02040503050406030204" pitchFamily="18" charset="0"/>
                            <a:ea typeface="Cambria Math" panose="02040503050406030204" pitchFamily="18" charset="0"/>
                            <a:cs typeface="DejaVu Math TeX Gyre" panose="02000503000000000000" charset="0"/>
                          </a:rPr>
                          <m:t>×</m:t>
                        </m:r>
                        <m:r>
                          <a:rPr lang="en-US" i="1" smtClean="0">
                            <a:latin typeface="Cambria Math" panose="02040503050406030204" pitchFamily="18" charset="0"/>
                            <a:ea typeface="Cambria Math" panose="02040503050406030204" pitchFamily="18" charset="0"/>
                            <a:cs typeface="DejaVu Math TeX Gyre" panose="02000503000000000000" charset="0"/>
                          </a:rPr>
                          <m:t>𝑀</m:t>
                        </m:r>
                      </m:sup>
                    </m:sSup>
                    <m:r>
                      <a:rPr lang="en-US" i="1" smtClean="0">
                        <a:latin typeface="Cambria Math" panose="02040503050406030204" pitchFamily="18" charset="0"/>
                        <a:ea typeface="Cambria Math" panose="02040503050406030204" pitchFamily="18" charset="0"/>
                        <a:cs typeface="DejaVu Math TeX Gyre" panose="02000503000000000000"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𝒃</m:t>
                        </m:r>
                      </m:e>
                      <m:sub>
                        <m:r>
                          <a:rPr lang="en-US" b="0" i="1" smtClean="0">
                            <a:latin typeface="Cambria Math" panose="02040503050406030204" pitchFamily="18" charset="0"/>
                          </a:rPr>
                          <m:t>𝑦</m:t>
                        </m:r>
                      </m:sub>
                    </m:sSub>
                    <m:r>
                      <a:rPr lang="en-US" i="1" smtClean="0">
                        <a:latin typeface="Cambria Math" panose="02040503050406030204" pitchFamily="18" charset="0"/>
                        <a:cs typeface="DejaVu Math TeX Gyre" panose="02000503000000000000"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ea typeface="Cambria Math" panose="02040503050406030204" pitchFamily="18" charset="0"/>
                          </a:rPr>
                          <m:t>𝑀</m:t>
                        </m:r>
                      </m:sup>
                    </m:sSup>
                  </m:oMath>
                </a14:m>
                <a:endParaRPr lang="en-US">
                  <a:sym typeface="+mn-ea"/>
                </a:endParaRPr>
              </a:p>
              <a:p>
                <a:pPr>
                  <a:lnSpc>
                    <a:spcPct val="100000"/>
                  </a:lnSpc>
                </a:pPr>
                <a:r>
                  <a:rPr lang="en-US">
                    <a:sym typeface="+mn-ea"/>
                  </a:rPr>
                  <a:t>State transition network changes from</a:t>
                </a:r>
                <a:br>
                  <a:rPr lang="en-US">
                    <a:sym typeface="+mn-ea"/>
                  </a:rPr>
                </a:br>
                <a14:m>
                  <m:oMath xmlns:m="http://schemas.openxmlformats.org/officeDocument/2006/math">
                    <m:sSub>
                      <m:sSubPr>
                        <m:ctrlPr>
                          <a:rPr lang="en-US" b="0" i="1" smtClean="0">
                            <a:latin typeface="Cambria Math" panose="02040503050406030204" pitchFamily="18" charset="0"/>
                          </a:rPr>
                        </m:ctrlPr>
                      </m:sSubPr>
                      <m:e>
                        <m:r>
                          <a:rPr lang="en-US" b="1" i="1" smtClean="0">
                            <a:latin typeface="Cambria Math" panose="02040503050406030204" pitchFamily="18" charset="0"/>
                          </a:rPr>
                          <m:t>𝒉</m:t>
                        </m:r>
                      </m:e>
                      <m:sub>
                        <m:r>
                          <a:rPr lang="en-US" b="0" i="1" smtClean="0">
                            <a:latin typeface="Cambria Math" panose="02040503050406030204" pitchFamily="18" charset="0"/>
                          </a:rPr>
                          <m:t>𝑡</m:t>
                        </m:r>
                      </m:sub>
                    </m:sSub>
                    <m:r>
                      <a:rPr lang="en-US" b="0" i="1" smtClean="0">
                        <a:latin typeface="Cambria Math" panose="02040503050406030204" pitchFamily="18" charset="0"/>
                      </a:rPr>
                      <m:t>=</m:t>
                    </m:r>
                    <m:func>
                      <m:funcPr>
                        <m:ctrlPr>
                          <a:rPr lang="en-US" b="0" i="1" smtClean="0">
                            <a:latin typeface="Cambria Math" panose="02040503050406030204" pitchFamily="18" charset="0"/>
                            <a:cs typeface="DejaVu Math TeX Gyre" panose="02000503000000000000" charset="0"/>
                          </a:rPr>
                        </m:ctrlPr>
                      </m:funcPr>
                      <m:fName>
                        <m:r>
                          <m:rPr>
                            <m:sty m:val="p"/>
                          </m:rPr>
                          <a:rPr lang="en-US" b="0" smtClean="0">
                            <a:latin typeface="Cambria Math" panose="02040503050406030204" pitchFamily="18" charset="0"/>
                            <a:cs typeface="DejaVu Math TeX Gyre" panose="02000503000000000000" charset="0"/>
                          </a:rPr>
                          <m:t>tanh</m:t>
                        </m:r>
                      </m:fName>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𝑡</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h</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effectLst>
                                      <a:glow rad="139700">
                                        <a:schemeClr val="accent5">
                                          <a:satMod val="175000"/>
                                          <a:alpha val="40000"/>
                                        </a:schemeClr>
                                      </a:glow>
                                    </a:effectLst>
                                    <a:latin typeface="Cambria Math" panose="02040503050406030204" pitchFamily="18" charset="0"/>
                                  </a:rPr>
                                  <m:t>𝒉</m:t>
                                </m:r>
                              </m:e>
                              <m:sub>
                                <m:r>
                                  <a:rPr lang="en-US" b="0" i="1" smtClean="0">
                                    <a:latin typeface="Cambria Math" panose="02040503050406030204" pitchFamily="18" charset="0"/>
                                  </a:rPr>
                                  <m:t>𝑡</m:t>
                                </m:r>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h</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𝒃</m:t>
                                </m:r>
                              </m:e>
                              <m:sub>
                                <m:r>
                                  <a:rPr lang="en-US" b="0" i="1" smtClean="0">
                                    <a:latin typeface="Cambria Math" panose="02040503050406030204" pitchFamily="18" charset="0"/>
                                  </a:rPr>
                                  <m:t>h</m:t>
                                </m:r>
                              </m:sub>
                            </m:sSub>
                          </m:e>
                        </m:d>
                      </m:e>
                    </m:func>
                  </m:oMath>
                </a14:m>
                <a:r>
                  <a:rPr lang="en-US">
                    <a:sym typeface="+mn-ea"/>
                  </a:rPr>
                  <a:t> where</a:t>
                </a:r>
                <a:br>
                  <a:rPr lang="en-US">
                    <a:sym typeface="+mn-ea"/>
                  </a:rPr>
                </a:br>
                <a:r>
                  <a:rPr lang="en-US">
                    <a:sym typeface="+mn-ea"/>
                  </a:rPr>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h</m:t>
                        </m:r>
                      </m:sub>
                    </m:sSub>
                    <m:r>
                      <a:rPr lang="en-US" i="1" smtClean="0">
                        <a:latin typeface="Cambria Math" panose="02040503050406030204" pitchFamily="18" charset="0"/>
                        <a:cs typeface="DejaVu Math TeX Gyre" panose="02000503000000000000"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ℝ</m:t>
                        </m:r>
                      </m:e>
                      <m:sup>
                        <m:r>
                          <a:rPr lang="en-US" b="0" i="1" smtClean="0">
                            <a:effectLst>
                              <a:glow rad="228600">
                                <a:schemeClr val="accent4">
                                  <a:satMod val="175000"/>
                                  <a:alpha val="40000"/>
                                </a:schemeClr>
                              </a:glow>
                            </a:effectLst>
                            <a:latin typeface="Cambria Math" panose="02040503050406030204" pitchFamily="18" charset="0"/>
                            <a:ea typeface="Cambria Math" panose="02040503050406030204" pitchFamily="18" charset="0"/>
                          </a:rPr>
                          <m:t>𝐷</m:t>
                        </m:r>
                        <m:r>
                          <a:rPr lang="en-US" i="1" smtClean="0">
                            <a:latin typeface="Cambria Math" panose="02040503050406030204" pitchFamily="18" charset="0"/>
                            <a:ea typeface="Cambria Math" panose="02040503050406030204" pitchFamily="18" charset="0"/>
                            <a:cs typeface="DejaVu Math TeX Gyre" panose="02000503000000000000" charset="0"/>
                          </a:rPr>
                          <m:t>×</m:t>
                        </m:r>
                        <m:r>
                          <a:rPr lang="en-US" i="1" smtClean="0">
                            <a:latin typeface="Cambria Math" panose="02040503050406030204" pitchFamily="18" charset="0"/>
                            <a:ea typeface="Cambria Math" panose="02040503050406030204" pitchFamily="18" charset="0"/>
                            <a:cs typeface="DejaVu Math TeX Gyre" panose="02000503000000000000" charset="0"/>
                          </a:rPr>
                          <m:t>𝐷</m:t>
                        </m:r>
                      </m:sup>
                    </m:sSup>
                  </m:oMath>
                </a14:m>
                <a:r>
                  <a:rPr lang="en-US">
                    <a:sym typeface="+mn-ea"/>
                  </a:rPr>
                  <a:t>, to </a:t>
                </a:r>
                <a14:m>
                  <m:oMath xmlns:m="http://schemas.openxmlformats.org/officeDocument/2006/math">
                    <m:sSub>
                      <m:sSubPr>
                        <m:ctrlPr>
                          <a:rPr lang="en-US" b="0" i="1" smtClean="0">
                            <a:latin typeface="Cambria Math" panose="02040503050406030204" pitchFamily="18" charset="0"/>
                          </a:rPr>
                        </m:ctrlPr>
                      </m:sSubPr>
                      <m:e>
                        <m:r>
                          <a:rPr lang="en-US" b="1" i="1" smtClean="0">
                            <a:latin typeface="Cambria Math" panose="02040503050406030204" pitchFamily="18" charset="0"/>
                          </a:rPr>
                          <m:t>𝒉</m:t>
                        </m:r>
                      </m:e>
                      <m:sub>
                        <m:r>
                          <a:rPr lang="en-US" b="0" i="1" smtClean="0">
                            <a:latin typeface="Cambria Math" panose="02040503050406030204" pitchFamily="18" charset="0"/>
                          </a:rPr>
                          <m:t>𝑡</m:t>
                        </m:r>
                      </m:sub>
                    </m:sSub>
                    <m:r>
                      <a:rPr lang="en-US" b="0" i="1" smtClean="0">
                        <a:latin typeface="Cambria Math" panose="02040503050406030204" pitchFamily="18" charset="0"/>
                      </a:rPr>
                      <m:t>=</m:t>
                    </m:r>
                    <m:func>
                      <m:funcPr>
                        <m:ctrlPr>
                          <a:rPr lang="en-US" b="0" i="1" smtClean="0">
                            <a:latin typeface="Cambria Math" panose="02040503050406030204" pitchFamily="18" charset="0"/>
                            <a:cs typeface="DejaVu Math TeX Gyre" panose="02000503000000000000" charset="0"/>
                          </a:rPr>
                        </m:ctrlPr>
                      </m:funcPr>
                      <m:fName>
                        <m:r>
                          <m:rPr>
                            <m:sty m:val="p"/>
                          </m:rPr>
                          <a:rPr lang="en-US" b="0" smtClean="0">
                            <a:latin typeface="Cambria Math" panose="02040503050406030204" pitchFamily="18" charset="0"/>
                            <a:cs typeface="DejaVu Math TeX Gyre" panose="02000503000000000000" charset="0"/>
                          </a:rPr>
                          <m:t>tanh</m:t>
                        </m:r>
                      </m:fName>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𝑡</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h</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effectLst>
                                      <a:glow rad="139700">
                                        <a:schemeClr val="accent6">
                                          <a:satMod val="175000"/>
                                          <a:alpha val="40000"/>
                                        </a:schemeClr>
                                      </a:glow>
                                    </a:effectLst>
                                    <a:latin typeface="Cambria Math" panose="02040503050406030204" pitchFamily="18" charset="0"/>
                                  </a:rPr>
                                  <m:t>𝒚</m:t>
                                </m:r>
                              </m:e>
                              <m:sub>
                                <m:r>
                                  <a:rPr lang="en-US" b="0" i="1" smtClean="0">
                                    <a:latin typeface="Cambria Math" panose="02040503050406030204" pitchFamily="18" charset="0"/>
                                  </a:rPr>
                                  <m:t>𝑡</m:t>
                                </m:r>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h</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𝒃</m:t>
                                </m:r>
                              </m:e>
                              <m:sub>
                                <m:r>
                                  <a:rPr lang="en-US" b="0" i="1" smtClean="0">
                                    <a:latin typeface="Cambria Math" panose="02040503050406030204" pitchFamily="18" charset="0"/>
                                  </a:rPr>
                                  <m:t>h</m:t>
                                </m:r>
                              </m:sub>
                            </m:sSub>
                          </m:e>
                        </m:d>
                      </m:e>
                    </m:func>
                  </m:oMath>
                </a14:m>
                <a:endParaRPr lang="en-US" b="0" i="1">
                  <a:latin typeface="Cambria Math" panose="02040503050406030204" pitchFamily="18" charset="0"/>
                </a:endParaRPr>
              </a:p>
              <a:p>
                <a:pPr lvl="1">
                  <a:lnSpc>
                    <a:spcPct val="100000"/>
                  </a:lnSpc>
                </a:pPr>
                <a:r>
                  <a:rPr lang="en-US"/>
                  <a:t>Here </a:t>
                </a:r>
                <a14:m>
                  <m:oMath xmlns:m="http://schemas.openxmlformats.org/officeDocument/2006/math">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𝑡</m:t>
                        </m:r>
                      </m:sub>
                    </m:sSub>
                    <m:r>
                      <a:rPr lang="en-US" i="1" smtClean="0">
                        <a:latin typeface="Cambria Math" panose="02040503050406030204" pitchFamily="18" charset="0"/>
                        <a:cs typeface="DejaVu Math TeX Gyre" panose="02000503000000000000"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ea typeface="Cambria Math" panose="02040503050406030204" pitchFamily="18" charset="0"/>
                          </a:rPr>
                          <m:t>𝐼</m:t>
                        </m:r>
                      </m:sup>
                    </m:sSup>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h</m:t>
                        </m:r>
                      </m:sub>
                    </m:sSub>
                    <m:r>
                      <a:rPr lang="en-US" i="1" smtClean="0">
                        <a:latin typeface="Cambria Math" panose="02040503050406030204" pitchFamily="18" charset="0"/>
                        <a:cs typeface="DejaVu Math TeX Gyre" panose="02000503000000000000"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ea typeface="Cambria Math" panose="02040503050406030204" pitchFamily="18" charset="0"/>
                          </a:rPr>
                          <m:t>𝐼</m:t>
                        </m:r>
                        <m:r>
                          <a:rPr lang="en-US" i="1" smtClean="0">
                            <a:latin typeface="Cambria Math" panose="02040503050406030204" pitchFamily="18" charset="0"/>
                            <a:ea typeface="Cambria Math" panose="02040503050406030204" pitchFamily="18" charset="0"/>
                            <a:cs typeface="DejaVu Math TeX Gyre" panose="02000503000000000000" charset="0"/>
                          </a:rPr>
                          <m:t>×</m:t>
                        </m:r>
                        <m:r>
                          <a:rPr lang="en-US" i="1" smtClean="0">
                            <a:latin typeface="Cambria Math" panose="02040503050406030204" pitchFamily="18" charset="0"/>
                            <a:ea typeface="Cambria Math" panose="02040503050406030204" pitchFamily="18" charset="0"/>
                            <a:cs typeface="DejaVu Math TeX Gyre" panose="02000503000000000000" charset="0"/>
                          </a:rPr>
                          <m:t>𝐷</m:t>
                        </m:r>
                      </m:sup>
                    </m:sSup>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h</m:t>
                        </m:r>
                      </m:sub>
                    </m:sSub>
                    <m:r>
                      <a:rPr lang="en-US" i="1" smtClean="0">
                        <a:latin typeface="Cambria Math" panose="02040503050406030204" pitchFamily="18" charset="0"/>
                        <a:cs typeface="DejaVu Math TeX Gyre" panose="02000503000000000000"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ℝ</m:t>
                        </m:r>
                      </m:e>
                      <m:sup>
                        <m:r>
                          <a:rPr lang="en-US" b="0" i="1" smtClean="0">
                            <a:effectLst>
                              <a:glow rad="228600">
                                <a:schemeClr val="accent4">
                                  <a:satMod val="175000"/>
                                  <a:alpha val="40000"/>
                                </a:schemeClr>
                              </a:glow>
                            </a:effectLst>
                            <a:latin typeface="Cambria Math" panose="02040503050406030204" pitchFamily="18" charset="0"/>
                            <a:ea typeface="Cambria Math" panose="02040503050406030204" pitchFamily="18" charset="0"/>
                          </a:rPr>
                          <m:t>𝑀</m:t>
                        </m:r>
                        <m:r>
                          <a:rPr lang="en-US" i="1" smtClean="0">
                            <a:latin typeface="Cambria Math" panose="02040503050406030204" pitchFamily="18" charset="0"/>
                            <a:ea typeface="Cambria Math" panose="02040503050406030204" pitchFamily="18" charset="0"/>
                            <a:cs typeface="DejaVu Math TeX Gyre" panose="02000503000000000000" charset="0"/>
                          </a:rPr>
                          <m:t>×</m:t>
                        </m:r>
                        <m:r>
                          <a:rPr lang="en-US" i="1" smtClean="0">
                            <a:latin typeface="Cambria Math" panose="02040503050406030204" pitchFamily="18" charset="0"/>
                            <a:ea typeface="Cambria Math" panose="02040503050406030204" pitchFamily="18" charset="0"/>
                            <a:cs typeface="DejaVu Math TeX Gyre" panose="02000503000000000000" charset="0"/>
                          </a:rPr>
                          <m:t>𝐷</m:t>
                        </m:r>
                      </m:sup>
                    </m:sSup>
                    <m:r>
                      <a:rPr lang="en-US" i="1" smtClean="0">
                        <a:latin typeface="Cambria Math" panose="02040503050406030204" pitchFamily="18" charset="0"/>
                        <a:ea typeface="Cambria Math" panose="02040503050406030204" pitchFamily="18" charset="0"/>
                        <a:cs typeface="DejaVu Math TeX Gyre" panose="02000503000000000000"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𝒃</m:t>
                        </m:r>
                      </m:e>
                      <m:sub>
                        <m:r>
                          <a:rPr lang="en-US" b="0" i="1" smtClean="0">
                            <a:latin typeface="Cambria Math" panose="02040503050406030204" pitchFamily="18" charset="0"/>
                          </a:rPr>
                          <m:t>h</m:t>
                        </m:r>
                      </m:sub>
                    </m:sSub>
                    <m:r>
                      <a:rPr lang="en-US" i="1" smtClean="0">
                        <a:latin typeface="Cambria Math" panose="02040503050406030204" pitchFamily="18" charset="0"/>
                        <a:cs typeface="DejaVu Math TeX Gyre" panose="02000503000000000000"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ea typeface="Cambria Math" panose="02040503050406030204" pitchFamily="18" charset="0"/>
                          </a:rPr>
                          <m:t>𝐷</m:t>
                        </m:r>
                      </m:sup>
                    </m:sSup>
                  </m:oMath>
                </a14:m>
                <a:endParaRPr lang="en-US" b="0" i="1">
                  <a:latin typeface="Cambria Math" panose="02040503050406030204" pitchFamily="18" charset="0"/>
                </a:endParaRPr>
              </a:p>
              <a:p>
                <a:pPr lvl="0">
                  <a:lnSpc>
                    <a:spcPct val="100000"/>
                  </a:lnSpc>
                </a:pPr>
                <a:r>
                  <a:rPr lang="en-US"/>
                  <a:t>In LLM applications, </a:t>
                </a:r>
                <a14:m>
                  <m:oMath xmlns:m="http://schemas.openxmlformats.org/officeDocument/2006/math">
                    <m:r>
                      <a:rPr lang="en-US" b="0" i="1" smtClean="0">
                        <a:latin typeface="Cambria Math" panose="02040503050406030204" pitchFamily="18" charset="0"/>
                        <a:ea typeface="Cambria Math" panose="02040503050406030204" pitchFamily="18" charset="0"/>
                      </a:rPr>
                      <m:t>𝑀</m:t>
                    </m:r>
                  </m:oMath>
                </a14:m>
                <a:r>
                  <a:rPr lang="en-US"/>
                  <a:t> is not small</a:t>
                </a:r>
              </a:p>
              <a:p>
                <a:pPr lvl="1">
                  <a:lnSpc>
                    <a:spcPct val="100000"/>
                  </a:lnSpc>
                </a:pPr>
                <a:r>
                  <a:rPr lang="en-US" sz="3600"/>
                  <a:t>O</a:t>
                </a:r>
                <a:r>
                  <a:rPr lang="en-US"/>
                  <a:t>ften, </a:t>
                </a:r>
                <a14:m>
                  <m:oMath xmlns:m="http://schemas.openxmlformats.org/officeDocument/2006/math">
                    <m:r>
                      <a:rPr lang="en-US" b="0" i="1" smtClean="0">
                        <a:latin typeface="Cambria Math" panose="02040503050406030204" pitchFamily="18" charset="0"/>
                        <a:ea typeface="Cambria Math" panose="02040503050406030204" pitchFamily="18" charset="0"/>
                      </a:rPr>
                      <m:t>𝑀</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𝐼</m:t>
                    </m:r>
                  </m:oMath>
                </a14:m>
                <a:r>
                  <a:rPr lang="en-US" b="0" i="1">
                    <a:latin typeface="Cambria Math" panose="02040503050406030204" pitchFamily="18" charset="0"/>
                    <a:ea typeface="Cambria Math" panose="02040503050406030204" pitchFamily="18" charset="0"/>
                  </a:rPr>
                  <a:t>, </a:t>
                </a:r>
                <a:r>
                  <a:rPr lang="en-US"/>
                  <a:t>or they are vocabs in two languages</a:t>
                </a:r>
              </a:p>
            </p:txBody>
          </p:sp>
        </mc:Choice>
        <mc:Fallback xmlns="">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2"/>
                <a:stretch>
                  <a:fillRect/>
                </a:stretch>
              </a:blipFill>
            </p:spPr>
            <p:txBody>
              <a:bodyPr/>
              <a:lstStyle/>
              <a:p>
                <a:r>
                  <a:rPr lang="en-US" altLang="en-US">
                    <a:noFill/>
                  </a:rPr>
                  <a:t> </a:t>
                </a:r>
              </a:p>
            </p:txBody>
          </p:sp>
        </mc:Fallback>
      </mc:AlternateContent>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Vanishing </a:t>
            </a:r>
            <a:r>
              <a:rPr lang="en-US" altLang="en-IN" dirty="0"/>
              <a:t>g</a:t>
            </a:r>
            <a:r>
              <a:rPr lang="en-IN" dirty="0"/>
              <a:t>radient </a:t>
            </a:r>
            <a:r>
              <a:rPr lang="en-US" altLang="en-IN" dirty="0"/>
              <a:t>i</a:t>
            </a:r>
            <a:r>
              <a:rPr lang="en-IN" dirty="0"/>
              <a:t>ntuition</a:t>
            </a:r>
          </a:p>
        </p:txBody>
      </p:sp>
      <p:pic>
        <p:nvPicPr>
          <p:cNvPr id="5" name="Picture 4"/>
          <p:cNvPicPr>
            <a:picLocks noChangeAspect="1"/>
          </p:cNvPicPr>
          <p:nvPr/>
        </p:nvPicPr>
        <p:blipFill rotWithShape="1">
          <a:blip r:embed="rId2"/>
          <a:srcRect l="18866" t="19986" r="25696" b="23309"/>
          <a:stretch>
            <a:fillRect/>
          </a:stretch>
        </p:blipFill>
        <p:spPr>
          <a:xfrm>
            <a:off x="2653838" y="1884555"/>
            <a:ext cx="6882736" cy="3960000"/>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p14:cNvContentPartPr/>
              <p14:nvPr/>
            </p14:nvContentPartPr>
            <p14:xfrm>
              <a:off x="8721720" y="718200"/>
              <a:ext cx="2835000" cy="4877640"/>
            </p14:xfrm>
          </p:contentPart>
        </mc:Choice>
        <mc:Fallback xmlns="">
          <p:pic>
            <p:nvPicPr>
              <p:cNvPr id="3" name="Ink 2"/>
            </p:nvPicPr>
            <p:blipFill>
              <a:blip r:embed="rId4"/>
            </p:blipFill>
            <p:spPr>
              <a:xfrm>
                <a:off x="8721720" y="718200"/>
                <a:ext cx="2835000" cy="4877640"/>
              </a:xfrm>
              <a:prstGeom prst="rect"/>
            </p:spPr>
          </p:pic>
        </mc:Fallback>
      </mc:AlternateContent>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ym typeface="+mn-ea"/>
              </a:rPr>
              <a:t>Vanishing </a:t>
            </a:r>
            <a:r>
              <a:rPr lang="en-US" altLang="en-IN" dirty="0">
                <a:sym typeface="+mn-ea"/>
              </a:rPr>
              <a:t>g</a:t>
            </a:r>
            <a:r>
              <a:rPr lang="en-IN" dirty="0">
                <a:sym typeface="+mn-ea"/>
              </a:rPr>
              <a:t>radient </a:t>
            </a:r>
            <a:r>
              <a:rPr lang="en-US" altLang="en-IN" dirty="0">
                <a:sym typeface="+mn-ea"/>
              </a:rPr>
              <a:t>i</a:t>
            </a:r>
            <a:r>
              <a:rPr lang="en-IN" dirty="0">
                <a:sym typeface="+mn-ea"/>
              </a:rPr>
              <a:t>ntuition</a:t>
            </a:r>
            <a:endParaRPr lang="en-IN" dirty="0"/>
          </a:p>
        </p:txBody>
      </p:sp>
      <p:pic>
        <p:nvPicPr>
          <p:cNvPr id="4" name="Picture 3"/>
          <p:cNvPicPr>
            <a:picLocks noChangeAspect="1"/>
          </p:cNvPicPr>
          <p:nvPr/>
        </p:nvPicPr>
        <p:blipFill rotWithShape="1">
          <a:blip r:embed="rId2"/>
          <a:srcRect l="22268" t="18969" r="28634" b="30447"/>
          <a:stretch>
            <a:fillRect/>
          </a:stretch>
        </p:blipFill>
        <p:spPr>
          <a:xfrm>
            <a:off x="2653606" y="1881922"/>
            <a:ext cx="6883200" cy="3989002"/>
          </a:xfrm>
          <a:prstGeom prst="rect">
            <a:avLst/>
          </a:prstGeom>
        </p:spPr>
      </p:pic>
      <p:sp>
        <p:nvSpPr>
          <p:cNvPr id="6" name="TextBox 5"/>
          <p:cNvSpPr txBox="1"/>
          <p:nvPr/>
        </p:nvSpPr>
        <p:spPr>
          <a:xfrm>
            <a:off x="3781425" y="5870924"/>
            <a:ext cx="1562100" cy="369332"/>
          </a:xfrm>
          <a:prstGeom prst="rect">
            <a:avLst/>
          </a:prstGeom>
          <a:noFill/>
        </p:spPr>
        <p:txBody>
          <a:bodyPr wrap="square" rtlCol="0">
            <a:spAutoFit/>
          </a:bodyPr>
          <a:lstStyle/>
          <a:p>
            <a:pPr algn="ctr"/>
            <a:r>
              <a:rPr lang="en-US" dirty="0"/>
              <a:t>Chain Rule!</a:t>
            </a:r>
            <a:endParaRPr lang="en-IN"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ym typeface="+mn-ea"/>
              </a:rPr>
              <a:t>Vanishing </a:t>
            </a:r>
            <a:r>
              <a:rPr lang="en-US" altLang="en-IN" dirty="0">
                <a:sym typeface="+mn-ea"/>
              </a:rPr>
              <a:t>g</a:t>
            </a:r>
            <a:r>
              <a:rPr lang="en-IN" dirty="0">
                <a:sym typeface="+mn-ea"/>
              </a:rPr>
              <a:t>radient </a:t>
            </a:r>
            <a:r>
              <a:rPr lang="en-US" altLang="en-IN" dirty="0">
                <a:sym typeface="+mn-ea"/>
              </a:rPr>
              <a:t>i</a:t>
            </a:r>
            <a:r>
              <a:rPr lang="en-IN" dirty="0">
                <a:sym typeface="+mn-ea"/>
              </a:rPr>
              <a:t>ntuition</a:t>
            </a:r>
            <a:endParaRPr lang="en-IN" dirty="0"/>
          </a:p>
        </p:txBody>
      </p:sp>
      <p:sp>
        <p:nvSpPr>
          <p:cNvPr id="6" name="TextBox 5"/>
          <p:cNvSpPr txBox="1"/>
          <p:nvPr/>
        </p:nvSpPr>
        <p:spPr>
          <a:xfrm>
            <a:off x="6096000" y="5796518"/>
            <a:ext cx="1562100" cy="369332"/>
          </a:xfrm>
          <a:prstGeom prst="rect">
            <a:avLst/>
          </a:prstGeom>
          <a:noFill/>
        </p:spPr>
        <p:txBody>
          <a:bodyPr wrap="square" rtlCol="0">
            <a:spAutoFit/>
          </a:bodyPr>
          <a:lstStyle/>
          <a:p>
            <a:pPr algn="ctr"/>
            <a:r>
              <a:rPr lang="en-US" dirty="0"/>
              <a:t>Chain Rule!</a:t>
            </a:r>
            <a:endParaRPr lang="en-IN" dirty="0"/>
          </a:p>
        </p:txBody>
      </p:sp>
      <p:pic>
        <p:nvPicPr>
          <p:cNvPr id="5" name="Picture 4"/>
          <p:cNvPicPr>
            <a:picLocks noChangeAspect="1"/>
          </p:cNvPicPr>
          <p:nvPr/>
        </p:nvPicPr>
        <p:blipFill rotWithShape="1">
          <a:blip r:embed="rId2"/>
          <a:srcRect l="21936" t="19068" r="28790" b="30753"/>
          <a:stretch>
            <a:fillRect/>
          </a:stretch>
        </p:blipFill>
        <p:spPr>
          <a:xfrm>
            <a:off x="2653606" y="1882800"/>
            <a:ext cx="6883200" cy="3942914"/>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ym typeface="+mn-ea"/>
              </a:rPr>
              <a:t>Vanishing </a:t>
            </a:r>
            <a:r>
              <a:rPr lang="en-US" altLang="en-IN" dirty="0">
                <a:sym typeface="+mn-ea"/>
              </a:rPr>
              <a:t>g</a:t>
            </a:r>
            <a:r>
              <a:rPr lang="en-IN" dirty="0">
                <a:sym typeface="+mn-ea"/>
              </a:rPr>
              <a:t>radient </a:t>
            </a:r>
            <a:r>
              <a:rPr lang="en-US" altLang="en-IN" dirty="0">
                <a:sym typeface="+mn-ea"/>
              </a:rPr>
              <a:t>i</a:t>
            </a:r>
            <a:r>
              <a:rPr lang="en-IN" dirty="0">
                <a:sym typeface="+mn-ea"/>
              </a:rPr>
              <a:t>ntuition</a:t>
            </a:r>
            <a:endParaRPr lang="en-IN" dirty="0"/>
          </a:p>
        </p:txBody>
      </p:sp>
      <p:sp>
        <p:nvSpPr>
          <p:cNvPr id="6" name="TextBox 5"/>
          <p:cNvSpPr txBox="1"/>
          <p:nvPr/>
        </p:nvSpPr>
        <p:spPr>
          <a:xfrm>
            <a:off x="7836309" y="5861746"/>
            <a:ext cx="1562100" cy="369332"/>
          </a:xfrm>
          <a:prstGeom prst="rect">
            <a:avLst/>
          </a:prstGeom>
          <a:noFill/>
        </p:spPr>
        <p:txBody>
          <a:bodyPr wrap="square" rtlCol="0">
            <a:spAutoFit/>
          </a:bodyPr>
          <a:lstStyle/>
          <a:p>
            <a:pPr algn="ctr"/>
            <a:r>
              <a:rPr lang="en-US" dirty="0"/>
              <a:t>Chain Rule!</a:t>
            </a:r>
            <a:endParaRPr lang="en-IN" dirty="0"/>
          </a:p>
        </p:txBody>
      </p:sp>
      <p:pic>
        <p:nvPicPr>
          <p:cNvPr id="4" name="Picture 3"/>
          <p:cNvPicPr>
            <a:picLocks noChangeAspect="1"/>
          </p:cNvPicPr>
          <p:nvPr/>
        </p:nvPicPr>
        <p:blipFill rotWithShape="1">
          <a:blip r:embed="rId2"/>
          <a:srcRect l="22097" t="19212" r="28790" b="30322"/>
          <a:stretch>
            <a:fillRect/>
          </a:stretch>
        </p:blipFill>
        <p:spPr>
          <a:xfrm>
            <a:off x="2653606" y="1887792"/>
            <a:ext cx="6883200" cy="3978468"/>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821114" y="2382128"/>
            <a:ext cx="377192" cy="223178"/>
          </a:xfrm>
          <a:prstGeom prst="rect">
            <a:avLst/>
          </a:prstGeom>
        </p:spPr>
      </p:pic>
      <p:pic>
        <p:nvPicPr>
          <p:cNvPr id="3" name="object 3"/>
          <p:cNvPicPr/>
          <p:nvPr/>
        </p:nvPicPr>
        <p:blipFill>
          <a:blip r:embed="rId3" cstate="print"/>
          <a:stretch>
            <a:fillRect/>
          </a:stretch>
        </p:blipFill>
        <p:spPr>
          <a:xfrm>
            <a:off x="3846966" y="2368179"/>
            <a:ext cx="392120" cy="256655"/>
          </a:xfrm>
          <a:prstGeom prst="rect">
            <a:avLst/>
          </a:prstGeom>
        </p:spPr>
      </p:pic>
      <p:pic>
        <p:nvPicPr>
          <p:cNvPr id="4" name="object 4"/>
          <p:cNvPicPr/>
          <p:nvPr/>
        </p:nvPicPr>
        <p:blipFill>
          <a:blip r:embed="rId4" cstate="print"/>
          <a:stretch>
            <a:fillRect/>
          </a:stretch>
        </p:blipFill>
        <p:spPr>
          <a:xfrm>
            <a:off x="5811096" y="2368179"/>
            <a:ext cx="430988" cy="256655"/>
          </a:xfrm>
          <a:prstGeom prst="rect">
            <a:avLst/>
          </a:prstGeom>
        </p:spPr>
      </p:pic>
      <p:grpSp>
        <p:nvGrpSpPr>
          <p:cNvPr id="5" name="object 5"/>
          <p:cNvGrpSpPr/>
          <p:nvPr/>
        </p:nvGrpSpPr>
        <p:grpSpPr>
          <a:xfrm>
            <a:off x="978708" y="839022"/>
            <a:ext cx="7745730" cy="2883535"/>
            <a:chOff x="1647911" y="821691"/>
            <a:chExt cx="7745730" cy="2883535"/>
          </a:xfrm>
        </p:grpSpPr>
        <p:pic>
          <p:nvPicPr>
            <p:cNvPr id="6" name="object 6"/>
            <p:cNvPicPr/>
            <p:nvPr/>
          </p:nvPicPr>
          <p:blipFill>
            <a:blip r:embed="rId5" cstate="print"/>
            <a:stretch>
              <a:fillRect/>
            </a:stretch>
          </p:blipFill>
          <p:spPr>
            <a:xfrm>
              <a:off x="8476973" y="2367959"/>
              <a:ext cx="392031" cy="239545"/>
            </a:xfrm>
            <a:prstGeom prst="rect">
              <a:avLst/>
            </a:prstGeom>
          </p:spPr>
        </p:pic>
        <p:sp>
          <p:nvSpPr>
            <p:cNvPr id="7" name="object 7"/>
            <p:cNvSpPr/>
            <p:nvPr/>
          </p:nvSpPr>
          <p:spPr>
            <a:xfrm>
              <a:off x="7097865" y="1213243"/>
              <a:ext cx="1879600" cy="2000885"/>
            </a:xfrm>
            <a:custGeom>
              <a:avLst/>
              <a:gdLst/>
              <a:ahLst/>
              <a:cxnLst/>
              <a:rect l="l" t="t" r="r" b="b"/>
              <a:pathLst>
                <a:path w="1879600" h="2000885">
                  <a:moveTo>
                    <a:pt x="1641221" y="1945474"/>
                  </a:moveTo>
                  <a:lnTo>
                    <a:pt x="1546364" y="1890153"/>
                  </a:lnTo>
                  <a:lnTo>
                    <a:pt x="1540535" y="1891690"/>
                  </a:lnTo>
                  <a:lnTo>
                    <a:pt x="1535239" y="1900770"/>
                  </a:lnTo>
                  <a:lnTo>
                    <a:pt x="1536763" y="1906600"/>
                  </a:lnTo>
                  <a:lnTo>
                    <a:pt x="1587080" y="1935949"/>
                  </a:lnTo>
                  <a:lnTo>
                    <a:pt x="0" y="1935949"/>
                  </a:lnTo>
                  <a:lnTo>
                    <a:pt x="0" y="1954999"/>
                  </a:lnTo>
                  <a:lnTo>
                    <a:pt x="1587080" y="1954999"/>
                  </a:lnTo>
                  <a:lnTo>
                    <a:pt x="1536763" y="1984349"/>
                  </a:lnTo>
                  <a:lnTo>
                    <a:pt x="1535239" y="1990178"/>
                  </a:lnTo>
                  <a:lnTo>
                    <a:pt x="1540535" y="1999272"/>
                  </a:lnTo>
                  <a:lnTo>
                    <a:pt x="1546364" y="2000808"/>
                  </a:lnTo>
                  <a:lnTo>
                    <a:pt x="1624888" y="1954999"/>
                  </a:lnTo>
                  <a:lnTo>
                    <a:pt x="1641221" y="1945474"/>
                  </a:lnTo>
                  <a:close/>
                </a:path>
                <a:path w="1879600" h="2000885">
                  <a:moveTo>
                    <a:pt x="1879384" y="94856"/>
                  </a:moveTo>
                  <a:lnTo>
                    <a:pt x="1835073" y="18910"/>
                  </a:lnTo>
                  <a:lnTo>
                    <a:pt x="1824050" y="0"/>
                  </a:lnTo>
                  <a:lnTo>
                    <a:pt x="1768729" y="94856"/>
                  </a:lnTo>
                  <a:lnTo>
                    <a:pt x="1770253" y="100685"/>
                  </a:lnTo>
                  <a:lnTo>
                    <a:pt x="1779346" y="105981"/>
                  </a:lnTo>
                  <a:lnTo>
                    <a:pt x="1785175" y="104444"/>
                  </a:lnTo>
                  <a:lnTo>
                    <a:pt x="1814525" y="54140"/>
                  </a:lnTo>
                  <a:lnTo>
                    <a:pt x="1814525" y="1409001"/>
                  </a:lnTo>
                  <a:lnTo>
                    <a:pt x="1833575" y="1409001"/>
                  </a:lnTo>
                  <a:lnTo>
                    <a:pt x="1833575" y="54140"/>
                  </a:lnTo>
                  <a:lnTo>
                    <a:pt x="1862924" y="104444"/>
                  </a:lnTo>
                  <a:lnTo>
                    <a:pt x="1868754" y="105981"/>
                  </a:lnTo>
                  <a:lnTo>
                    <a:pt x="1877847" y="100685"/>
                  </a:lnTo>
                  <a:lnTo>
                    <a:pt x="1879384" y="94856"/>
                  </a:lnTo>
                  <a:close/>
                </a:path>
              </a:pathLst>
            </a:custGeom>
            <a:solidFill>
              <a:srgbClr val="7F7F7F"/>
            </a:solidFill>
          </p:spPr>
          <p:txBody>
            <a:bodyPr wrap="square" lIns="0" tIns="0" rIns="0" bIns="0" rtlCol="0"/>
            <a:lstStyle/>
            <a:p>
              <a:endParaRPr/>
            </a:p>
          </p:txBody>
        </p:sp>
        <p:pic>
          <p:nvPicPr>
            <p:cNvPr id="8" name="object 8"/>
            <p:cNvPicPr/>
            <p:nvPr/>
          </p:nvPicPr>
          <p:blipFill>
            <a:blip r:embed="rId6" cstate="print"/>
            <a:stretch>
              <a:fillRect/>
            </a:stretch>
          </p:blipFill>
          <p:spPr>
            <a:xfrm>
              <a:off x="8844731" y="2715752"/>
              <a:ext cx="165353" cy="173996"/>
            </a:xfrm>
            <a:prstGeom prst="rect">
              <a:avLst/>
            </a:prstGeom>
          </p:spPr>
        </p:pic>
        <p:pic>
          <p:nvPicPr>
            <p:cNvPr id="9" name="object 9"/>
            <p:cNvPicPr/>
            <p:nvPr/>
          </p:nvPicPr>
          <p:blipFill>
            <a:blip r:embed="rId6" cstate="print"/>
            <a:stretch>
              <a:fillRect/>
            </a:stretch>
          </p:blipFill>
          <p:spPr>
            <a:xfrm>
              <a:off x="8844731" y="2948171"/>
              <a:ext cx="165353" cy="173996"/>
            </a:xfrm>
            <a:prstGeom prst="rect">
              <a:avLst/>
            </a:prstGeom>
          </p:spPr>
        </p:pic>
        <p:pic>
          <p:nvPicPr>
            <p:cNvPr id="10" name="object 10"/>
            <p:cNvPicPr/>
            <p:nvPr/>
          </p:nvPicPr>
          <p:blipFill>
            <a:blip r:embed="rId7" cstate="print"/>
            <a:stretch>
              <a:fillRect/>
            </a:stretch>
          </p:blipFill>
          <p:spPr>
            <a:xfrm>
              <a:off x="8844731" y="3180591"/>
              <a:ext cx="165353" cy="173996"/>
            </a:xfrm>
            <a:prstGeom prst="rect">
              <a:avLst/>
            </a:prstGeom>
          </p:spPr>
        </p:pic>
        <p:pic>
          <p:nvPicPr>
            <p:cNvPr id="11" name="object 11"/>
            <p:cNvPicPr/>
            <p:nvPr/>
          </p:nvPicPr>
          <p:blipFill>
            <a:blip r:embed="rId7" cstate="print"/>
            <a:stretch>
              <a:fillRect/>
            </a:stretch>
          </p:blipFill>
          <p:spPr>
            <a:xfrm>
              <a:off x="8844731" y="3413010"/>
              <a:ext cx="165353" cy="173996"/>
            </a:xfrm>
            <a:prstGeom prst="rect">
              <a:avLst/>
            </a:prstGeom>
          </p:spPr>
        </p:pic>
        <p:sp>
          <p:nvSpPr>
            <p:cNvPr id="12" name="object 12"/>
            <p:cNvSpPr/>
            <p:nvPr/>
          </p:nvSpPr>
          <p:spPr>
            <a:xfrm>
              <a:off x="8739041" y="2622237"/>
              <a:ext cx="365760" cy="1073150"/>
            </a:xfrm>
            <a:custGeom>
              <a:avLst/>
              <a:gdLst/>
              <a:ahLst/>
              <a:cxnLst/>
              <a:rect l="l" t="t" r="r" b="b"/>
              <a:pathLst>
                <a:path w="365759" h="1073150">
                  <a:moveTo>
                    <a:pt x="304798" y="0"/>
                  </a:moveTo>
                  <a:lnTo>
                    <a:pt x="328527" y="4790"/>
                  </a:lnTo>
                  <a:lnTo>
                    <a:pt x="347904" y="17855"/>
                  </a:lnTo>
                  <a:lnTo>
                    <a:pt x="360969" y="37232"/>
                  </a:lnTo>
                  <a:lnTo>
                    <a:pt x="365760" y="60961"/>
                  </a:lnTo>
                  <a:lnTo>
                    <a:pt x="365760" y="1011994"/>
                  </a:lnTo>
                  <a:lnTo>
                    <a:pt x="360969" y="1035723"/>
                  </a:lnTo>
                  <a:lnTo>
                    <a:pt x="347904" y="1055100"/>
                  </a:lnTo>
                  <a:lnTo>
                    <a:pt x="328527" y="1068165"/>
                  </a:lnTo>
                  <a:lnTo>
                    <a:pt x="304798" y="1072956"/>
                  </a:lnTo>
                  <a:lnTo>
                    <a:pt x="60961" y="1072956"/>
                  </a:lnTo>
                  <a:lnTo>
                    <a:pt x="37232" y="1068165"/>
                  </a:lnTo>
                  <a:lnTo>
                    <a:pt x="17855" y="1055100"/>
                  </a:lnTo>
                  <a:lnTo>
                    <a:pt x="4790" y="1035723"/>
                  </a:lnTo>
                  <a:lnTo>
                    <a:pt x="0" y="1011994"/>
                  </a:lnTo>
                  <a:lnTo>
                    <a:pt x="0" y="60961"/>
                  </a:lnTo>
                  <a:lnTo>
                    <a:pt x="4790" y="37232"/>
                  </a:lnTo>
                  <a:lnTo>
                    <a:pt x="17855" y="17855"/>
                  </a:lnTo>
                  <a:lnTo>
                    <a:pt x="37232" y="4790"/>
                  </a:lnTo>
                  <a:lnTo>
                    <a:pt x="60961" y="0"/>
                  </a:lnTo>
                  <a:lnTo>
                    <a:pt x="304798" y="0"/>
                  </a:lnTo>
                  <a:close/>
                </a:path>
              </a:pathLst>
            </a:custGeom>
            <a:ln w="19050">
              <a:solidFill>
                <a:srgbClr val="8C1515"/>
              </a:solidFill>
            </a:ln>
          </p:spPr>
          <p:txBody>
            <a:bodyPr wrap="square" lIns="0" tIns="0" rIns="0" bIns="0" rtlCol="0"/>
            <a:lstStyle/>
            <a:p>
              <a:endParaRPr/>
            </a:p>
          </p:txBody>
        </p:sp>
        <p:sp>
          <p:nvSpPr>
            <p:cNvPr id="13" name="object 13"/>
            <p:cNvSpPr/>
            <p:nvPr/>
          </p:nvSpPr>
          <p:spPr>
            <a:xfrm>
              <a:off x="5090950" y="3103388"/>
              <a:ext cx="1641475" cy="111125"/>
            </a:xfrm>
            <a:custGeom>
              <a:avLst/>
              <a:gdLst/>
              <a:ahLst/>
              <a:cxnLst/>
              <a:rect l="l" t="t" r="r" b="b"/>
              <a:pathLst>
                <a:path w="1641475" h="111125">
                  <a:moveTo>
                    <a:pt x="1546363" y="0"/>
                  </a:moveTo>
                  <a:lnTo>
                    <a:pt x="1540530" y="1535"/>
                  </a:lnTo>
                  <a:lnTo>
                    <a:pt x="1535229" y="10622"/>
                  </a:lnTo>
                  <a:lnTo>
                    <a:pt x="1536763" y="16455"/>
                  </a:lnTo>
                  <a:lnTo>
                    <a:pt x="1587075" y="45803"/>
                  </a:lnTo>
                  <a:lnTo>
                    <a:pt x="1622308" y="45803"/>
                  </a:lnTo>
                  <a:lnTo>
                    <a:pt x="1622308" y="64853"/>
                  </a:lnTo>
                  <a:lnTo>
                    <a:pt x="1587073" y="64853"/>
                  </a:lnTo>
                  <a:lnTo>
                    <a:pt x="1536763" y="94200"/>
                  </a:lnTo>
                  <a:lnTo>
                    <a:pt x="1535229" y="100034"/>
                  </a:lnTo>
                  <a:lnTo>
                    <a:pt x="1540530" y="109120"/>
                  </a:lnTo>
                  <a:lnTo>
                    <a:pt x="1546363" y="110656"/>
                  </a:lnTo>
                  <a:lnTo>
                    <a:pt x="1624882" y="64853"/>
                  </a:lnTo>
                  <a:lnTo>
                    <a:pt x="1622308" y="64853"/>
                  </a:lnTo>
                  <a:lnTo>
                    <a:pt x="1624884" y="64852"/>
                  </a:lnTo>
                  <a:lnTo>
                    <a:pt x="1641210" y="55328"/>
                  </a:lnTo>
                  <a:lnTo>
                    <a:pt x="1546363" y="0"/>
                  </a:lnTo>
                  <a:close/>
                </a:path>
                <a:path w="1641475" h="111125">
                  <a:moveTo>
                    <a:pt x="1603402" y="55328"/>
                  </a:moveTo>
                  <a:lnTo>
                    <a:pt x="1587073" y="64853"/>
                  </a:lnTo>
                  <a:lnTo>
                    <a:pt x="1622308" y="64853"/>
                  </a:lnTo>
                  <a:lnTo>
                    <a:pt x="1622308" y="63555"/>
                  </a:lnTo>
                  <a:lnTo>
                    <a:pt x="1617507" y="63555"/>
                  </a:lnTo>
                  <a:lnTo>
                    <a:pt x="1603402" y="55328"/>
                  </a:lnTo>
                  <a:close/>
                </a:path>
                <a:path w="1641475" h="111125">
                  <a:moveTo>
                    <a:pt x="0" y="45802"/>
                  </a:moveTo>
                  <a:lnTo>
                    <a:pt x="0" y="64852"/>
                  </a:lnTo>
                  <a:lnTo>
                    <a:pt x="1587075" y="64852"/>
                  </a:lnTo>
                  <a:lnTo>
                    <a:pt x="1603402" y="55328"/>
                  </a:lnTo>
                  <a:lnTo>
                    <a:pt x="1587075" y="45803"/>
                  </a:lnTo>
                  <a:lnTo>
                    <a:pt x="0" y="45802"/>
                  </a:lnTo>
                  <a:close/>
                </a:path>
                <a:path w="1641475" h="111125">
                  <a:moveTo>
                    <a:pt x="1617507" y="47100"/>
                  </a:moveTo>
                  <a:lnTo>
                    <a:pt x="1603402" y="55328"/>
                  </a:lnTo>
                  <a:lnTo>
                    <a:pt x="1617507" y="63555"/>
                  </a:lnTo>
                  <a:lnTo>
                    <a:pt x="1617507" y="47100"/>
                  </a:lnTo>
                  <a:close/>
                </a:path>
                <a:path w="1641475" h="111125">
                  <a:moveTo>
                    <a:pt x="1622308" y="47100"/>
                  </a:moveTo>
                  <a:lnTo>
                    <a:pt x="1617507" y="47100"/>
                  </a:lnTo>
                  <a:lnTo>
                    <a:pt x="1617507" y="63555"/>
                  </a:lnTo>
                  <a:lnTo>
                    <a:pt x="1622308" y="63555"/>
                  </a:lnTo>
                  <a:lnTo>
                    <a:pt x="1622308" y="47100"/>
                  </a:lnTo>
                  <a:close/>
                </a:path>
                <a:path w="1641475" h="111125">
                  <a:moveTo>
                    <a:pt x="1587075" y="45803"/>
                  </a:moveTo>
                  <a:lnTo>
                    <a:pt x="1603402" y="55328"/>
                  </a:lnTo>
                  <a:lnTo>
                    <a:pt x="1617507" y="47100"/>
                  </a:lnTo>
                  <a:lnTo>
                    <a:pt x="1622308" y="47100"/>
                  </a:lnTo>
                  <a:lnTo>
                    <a:pt x="1622308" y="45803"/>
                  </a:lnTo>
                  <a:lnTo>
                    <a:pt x="1587075" y="45803"/>
                  </a:lnTo>
                  <a:close/>
                </a:path>
              </a:pathLst>
            </a:custGeom>
            <a:solidFill>
              <a:srgbClr val="7F7F7F"/>
            </a:solidFill>
          </p:spPr>
          <p:txBody>
            <a:bodyPr wrap="square" lIns="0" tIns="0" rIns="0" bIns="0" rtlCol="0"/>
            <a:lstStyle/>
            <a:p>
              <a:endParaRPr/>
            </a:p>
          </p:txBody>
        </p:sp>
        <p:pic>
          <p:nvPicPr>
            <p:cNvPr id="14" name="object 14"/>
            <p:cNvPicPr/>
            <p:nvPr/>
          </p:nvPicPr>
          <p:blipFill>
            <a:blip r:embed="rId8" cstate="print"/>
            <a:stretch>
              <a:fillRect/>
            </a:stretch>
          </p:blipFill>
          <p:spPr>
            <a:xfrm>
              <a:off x="6837807" y="2715752"/>
              <a:ext cx="165353" cy="173996"/>
            </a:xfrm>
            <a:prstGeom prst="rect">
              <a:avLst/>
            </a:prstGeom>
          </p:spPr>
        </p:pic>
        <p:pic>
          <p:nvPicPr>
            <p:cNvPr id="15" name="object 15"/>
            <p:cNvPicPr/>
            <p:nvPr/>
          </p:nvPicPr>
          <p:blipFill>
            <a:blip r:embed="rId8" cstate="print"/>
            <a:stretch>
              <a:fillRect/>
            </a:stretch>
          </p:blipFill>
          <p:spPr>
            <a:xfrm>
              <a:off x="6837807" y="2948171"/>
              <a:ext cx="165353" cy="173996"/>
            </a:xfrm>
            <a:prstGeom prst="rect">
              <a:avLst/>
            </a:prstGeom>
          </p:spPr>
        </p:pic>
        <p:pic>
          <p:nvPicPr>
            <p:cNvPr id="16" name="object 16"/>
            <p:cNvPicPr/>
            <p:nvPr/>
          </p:nvPicPr>
          <p:blipFill>
            <a:blip r:embed="rId9" cstate="print"/>
            <a:stretch>
              <a:fillRect/>
            </a:stretch>
          </p:blipFill>
          <p:spPr>
            <a:xfrm>
              <a:off x="6837807" y="3180591"/>
              <a:ext cx="165353" cy="173996"/>
            </a:xfrm>
            <a:prstGeom prst="rect">
              <a:avLst/>
            </a:prstGeom>
          </p:spPr>
        </p:pic>
        <p:pic>
          <p:nvPicPr>
            <p:cNvPr id="17" name="object 17"/>
            <p:cNvPicPr/>
            <p:nvPr/>
          </p:nvPicPr>
          <p:blipFill>
            <a:blip r:embed="rId9" cstate="print"/>
            <a:stretch>
              <a:fillRect/>
            </a:stretch>
          </p:blipFill>
          <p:spPr>
            <a:xfrm>
              <a:off x="6837807" y="3413010"/>
              <a:ext cx="165353" cy="173996"/>
            </a:xfrm>
            <a:prstGeom prst="rect">
              <a:avLst/>
            </a:prstGeom>
          </p:spPr>
        </p:pic>
        <p:sp>
          <p:nvSpPr>
            <p:cNvPr id="18" name="object 18"/>
            <p:cNvSpPr/>
            <p:nvPr/>
          </p:nvSpPr>
          <p:spPr>
            <a:xfrm>
              <a:off x="6732116" y="2622237"/>
              <a:ext cx="365760" cy="1073150"/>
            </a:xfrm>
            <a:custGeom>
              <a:avLst/>
              <a:gdLst/>
              <a:ahLst/>
              <a:cxnLst/>
              <a:rect l="l" t="t" r="r" b="b"/>
              <a:pathLst>
                <a:path w="365759" h="1073150">
                  <a:moveTo>
                    <a:pt x="304798" y="0"/>
                  </a:moveTo>
                  <a:lnTo>
                    <a:pt x="328527" y="4790"/>
                  </a:lnTo>
                  <a:lnTo>
                    <a:pt x="347904" y="17855"/>
                  </a:lnTo>
                  <a:lnTo>
                    <a:pt x="360969" y="37232"/>
                  </a:lnTo>
                  <a:lnTo>
                    <a:pt x="365760" y="60961"/>
                  </a:lnTo>
                  <a:lnTo>
                    <a:pt x="365760" y="1011994"/>
                  </a:lnTo>
                  <a:lnTo>
                    <a:pt x="360969" y="1035723"/>
                  </a:lnTo>
                  <a:lnTo>
                    <a:pt x="347904" y="1055100"/>
                  </a:lnTo>
                  <a:lnTo>
                    <a:pt x="328527" y="1068165"/>
                  </a:lnTo>
                  <a:lnTo>
                    <a:pt x="304798" y="1072956"/>
                  </a:lnTo>
                  <a:lnTo>
                    <a:pt x="60961" y="1072956"/>
                  </a:lnTo>
                  <a:lnTo>
                    <a:pt x="37232" y="1068165"/>
                  </a:lnTo>
                  <a:lnTo>
                    <a:pt x="17855" y="1055100"/>
                  </a:lnTo>
                  <a:lnTo>
                    <a:pt x="4790" y="1035723"/>
                  </a:lnTo>
                  <a:lnTo>
                    <a:pt x="0" y="1011994"/>
                  </a:lnTo>
                  <a:lnTo>
                    <a:pt x="0" y="60961"/>
                  </a:lnTo>
                  <a:lnTo>
                    <a:pt x="4790" y="37232"/>
                  </a:lnTo>
                  <a:lnTo>
                    <a:pt x="17855" y="17855"/>
                  </a:lnTo>
                  <a:lnTo>
                    <a:pt x="37232" y="4790"/>
                  </a:lnTo>
                  <a:lnTo>
                    <a:pt x="60961" y="0"/>
                  </a:lnTo>
                  <a:lnTo>
                    <a:pt x="304798" y="0"/>
                  </a:lnTo>
                  <a:close/>
                </a:path>
              </a:pathLst>
            </a:custGeom>
            <a:ln w="19050">
              <a:solidFill>
                <a:srgbClr val="8C1515"/>
              </a:solidFill>
            </a:ln>
          </p:spPr>
          <p:txBody>
            <a:bodyPr wrap="square" lIns="0" tIns="0" rIns="0" bIns="0" rtlCol="0"/>
            <a:lstStyle/>
            <a:p>
              <a:endParaRPr/>
            </a:p>
          </p:txBody>
        </p:sp>
        <p:pic>
          <p:nvPicPr>
            <p:cNvPr id="19" name="object 19"/>
            <p:cNvPicPr/>
            <p:nvPr/>
          </p:nvPicPr>
          <p:blipFill>
            <a:blip r:embed="rId6" cstate="print"/>
            <a:stretch>
              <a:fillRect/>
            </a:stretch>
          </p:blipFill>
          <p:spPr>
            <a:xfrm>
              <a:off x="2823953" y="2715752"/>
              <a:ext cx="165353" cy="173996"/>
            </a:xfrm>
            <a:prstGeom prst="rect">
              <a:avLst/>
            </a:prstGeom>
          </p:spPr>
        </p:pic>
        <p:pic>
          <p:nvPicPr>
            <p:cNvPr id="20" name="object 20"/>
            <p:cNvPicPr/>
            <p:nvPr/>
          </p:nvPicPr>
          <p:blipFill>
            <a:blip r:embed="rId6" cstate="print"/>
            <a:stretch>
              <a:fillRect/>
            </a:stretch>
          </p:blipFill>
          <p:spPr>
            <a:xfrm>
              <a:off x="2823953" y="2948171"/>
              <a:ext cx="165353" cy="173996"/>
            </a:xfrm>
            <a:prstGeom prst="rect">
              <a:avLst/>
            </a:prstGeom>
          </p:spPr>
        </p:pic>
        <p:pic>
          <p:nvPicPr>
            <p:cNvPr id="21" name="object 21"/>
            <p:cNvPicPr/>
            <p:nvPr/>
          </p:nvPicPr>
          <p:blipFill>
            <a:blip r:embed="rId7" cstate="print"/>
            <a:stretch>
              <a:fillRect/>
            </a:stretch>
          </p:blipFill>
          <p:spPr>
            <a:xfrm>
              <a:off x="2823953" y="3180591"/>
              <a:ext cx="165353" cy="173996"/>
            </a:xfrm>
            <a:prstGeom prst="rect">
              <a:avLst/>
            </a:prstGeom>
          </p:spPr>
        </p:pic>
        <p:pic>
          <p:nvPicPr>
            <p:cNvPr id="22" name="object 22"/>
            <p:cNvPicPr/>
            <p:nvPr/>
          </p:nvPicPr>
          <p:blipFill>
            <a:blip r:embed="rId7" cstate="print"/>
            <a:stretch>
              <a:fillRect/>
            </a:stretch>
          </p:blipFill>
          <p:spPr>
            <a:xfrm>
              <a:off x="2823953" y="3413010"/>
              <a:ext cx="165353" cy="173996"/>
            </a:xfrm>
            <a:prstGeom prst="rect">
              <a:avLst/>
            </a:prstGeom>
          </p:spPr>
        </p:pic>
        <p:sp>
          <p:nvSpPr>
            <p:cNvPr id="23" name="object 23"/>
            <p:cNvSpPr/>
            <p:nvPr/>
          </p:nvSpPr>
          <p:spPr>
            <a:xfrm>
              <a:off x="2718262" y="2622237"/>
              <a:ext cx="365760" cy="1073150"/>
            </a:xfrm>
            <a:custGeom>
              <a:avLst/>
              <a:gdLst/>
              <a:ahLst/>
              <a:cxnLst/>
              <a:rect l="l" t="t" r="r" b="b"/>
              <a:pathLst>
                <a:path w="365760" h="1073150">
                  <a:moveTo>
                    <a:pt x="304798" y="0"/>
                  </a:moveTo>
                  <a:lnTo>
                    <a:pt x="328527" y="4790"/>
                  </a:lnTo>
                  <a:lnTo>
                    <a:pt x="347904" y="17855"/>
                  </a:lnTo>
                  <a:lnTo>
                    <a:pt x="360969" y="37232"/>
                  </a:lnTo>
                  <a:lnTo>
                    <a:pt x="365760" y="60961"/>
                  </a:lnTo>
                  <a:lnTo>
                    <a:pt x="365760" y="1011994"/>
                  </a:lnTo>
                  <a:lnTo>
                    <a:pt x="360969" y="1035723"/>
                  </a:lnTo>
                  <a:lnTo>
                    <a:pt x="347904" y="1055100"/>
                  </a:lnTo>
                  <a:lnTo>
                    <a:pt x="328527" y="1068165"/>
                  </a:lnTo>
                  <a:lnTo>
                    <a:pt x="304798" y="1072956"/>
                  </a:lnTo>
                  <a:lnTo>
                    <a:pt x="60961" y="1072956"/>
                  </a:lnTo>
                  <a:lnTo>
                    <a:pt x="37232" y="1068165"/>
                  </a:lnTo>
                  <a:lnTo>
                    <a:pt x="17855" y="1055100"/>
                  </a:lnTo>
                  <a:lnTo>
                    <a:pt x="4790" y="1035723"/>
                  </a:lnTo>
                  <a:lnTo>
                    <a:pt x="0" y="1011994"/>
                  </a:lnTo>
                  <a:lnTo>
                    <a:pt x="0" y="60961"/>
                  </a:lnTo>
                  <a:lnTo>
                    <a:pt x="4790" y="37232"/>
                  </a:lnTo>
                  <a:lnTo>
                    <a:pt x="17855" y="17855"/>
                  </a:lnTo>
                  <a:lnTo>
                    <a:pt x="37232" y="4790"/>
                  </a:lnTo>
                  <a:lnTo>
                    <a:pt x="60961" y="0"/>
                  </a:lnTo>
                  <a:lnTo>
                    <a:pt x="304798" y="0"/>
                  </a:lnTo>
                  <a:close/>
                </a:path>
              </a:pathLst>
            </a:custGeom>
            <a:ln w="19050">
              <a:solidFill>
                <a:srgbClr val="8C1515"/>
              </a:solidFill>
            </a:ln>
          </p:spPr>
          <p:txBody>
            <a:bodyPr wrap="square" lIns="0" tIns="0" rIns="0" bIns="0" rtlCol="0"/>
            <a:lstStyle/>
            <a:p>
              <a:endParaRPr/>
            </a:p>
          </p:txBody>
        </p:sp>
        <p:sp>
          <p:nvSpPr>
            <p:cNvPr id="24" name="object 24"/>
            <p:cNvSpPr/>
            <p:nvPr/>
          </p:nvSpPr>
          <p:spPr>
            <a:xfrm>
              <a:off x="3084022" y="3103388"/>
              <a:ext cx="1641475" cy="111125"/>
            </a:xfrm>
            <a:custGeom>
              <a:avLst/>
              <a:gdLst/>
              <a:ahLst/>
              <a:cxnLst/>
              <a:rect l="l" t="t" r="r" b="b"/>
              <a:pathLst>
                <a:path w="1641475" h="111125">
                  <a:moveTo>
                    <a:pt x="1546363" y="0"/>
                  </a:moveTo>
                  <a:lnTo>
                    <a:pt x="1540531" y="1535"/>
                  </a:lnTo>
                  <a:lnTo>
                    <a:pt x="1535229" y="10622"/>
                  </a:lnTo>
                  <a:lnTo>
                    <a:pt x="1536764" y="16455"/>
                  </a:lnTo>
                  <a:lnTo>
                    <a:pt x="1587076" y="45803"/>
                  </a:lnTo>
                  <a:lnTo>
                    <a:pt x="1622308" y="45803"/>
                  </a:lnTo>
                  <a:lnTo>
                    <a:pt x="1622308" y="64853"/>
                  </a:lnTo>
                  <a:lnTo>
                    <a:pt x="1587074" y="64853"/>
                  </a:lnTo>
                  <a:lnTo>
                    <a:pt x="1536764" y="94200"/>
                  </a:lnTo>
                  <a:lnTo>
                    <a:pt x="1535229" y="100034"/>
                  </a:lnTo>
                  <a:lnTo>
                    <a:pt x="1540531" y="109120"/>
                  </a:lnTo>
                  <a:lnTo>
                    <a:pt x="1546363" y="110656"/>
                  </a:lnTo>
                  <a:lnTo>
                    <a:pt x="1624883" y="64853"/>
                  </a:lnTo>
                  <a:lnTo>
                    <a:pt x="1622308" y="64853"/>
                  </a:lnTo>
                  <a:lnTo>
                    <a:pt x="1624885" y="64852"/>
                  </a:lnTo>
                  <a:lnTo>
                    <a:pt x="1641212" y="55328"/>
                  </a:lnTo>
                  <a:lnTo>
                    <a:pt x="1546363" y="0"/>
                  </a:lnTo>
                  <a:close/>
                </a:path>
                <a:path w="1641475" h="111125">
                  <a:moveTo>
                    <a:pt x="1603404" y="55328"/>
                  </a:moveTo>
                  <a:lnTo>
                    <a:pt x="1587074" y="64853"/>
                  </a:lnTo>
                  <a:lnTo>
                    <a:pt x="1622308" y="64853"/>
                  </a:lnTo>
                  <a:lnTo>
                    <a:pt x="1622308" y="63555"/>
                  </a:lnTo>
                  <a:lnTo>
                    <a:pt x="1617508" y="63555"/>
                  </a:lnTo>
                  <a:lnTo>
                    <a:pt x="1603404" y="55328"/>
                  </a:lnTo>
                  <a:close/>
                </a:path>
                <a:path w="1641475" h="111125">
                  <a:moveTo>
                    <a:pt x="0" y="45802"/>
                  </a:moveTo>
                  <a:lnTo>
                    <a:pt x="0" y="64852"/>
                  </a:lnTo>
                  <a:lnTo>
                    <a:pt x="1587076" y="64852"/>
                  </a:lnTo>
                  <a:lnTo>
                    <a:pt x="1603404" y="55328"/>
                  </a:lnTo>
                  <a:lnTo>
                    <a:pt x="1587076" y="45803"/>
                  </a:lnTo>
                  <a:lnTo>
                    <a:pt x="0" y="45802"/>
                  </a:lnTo>
                  <a:close/>
                </a:path>
                <a:path w="1641475" h="111125">
                  <a:moveTo>
                    <a:pt x="1617508" y="47100"/>
                  </a:moveTo>
                  <a:lnTo>
                    <a:pt x="1603404" y="55328"/>
                  </a:lnTo>
                  <a:lnTo>
                    <a:pt x="1617508" y="63555"/>
                  </a:lnTo>
                  <a:lnTo>
                    <a:pt x="1617508" y="47100"/>
                  </a:lnTo>
                  <a:close/>
                </a:path>
                <a:path w="1641475" h="111125">
                  <a:moveTo>
                    <a:pt x="1622308" y="47100"/>
                  </a:moveTo>
                  <a:lnTo>
                    <a:pt x="1617508" y="47100"/>
                  </a:lnTo>
                  <a:lnTo>
                    <a:pt x="1617508" y="63555"/>
                  </a:lnTo>
                  <a:lnTo>
                    <a:pt x="1622308" y="63555"/>
                  </a:lnTo>
                  <a:lnTo>
                    <a:pt x="1622308" y="47100"/>
                  </a:lnTo>
                  <a:close/>
                </a:path>
                <a:path w="1641475" h="111125">
                  <a:moveTo>
                    <a:pt x="1587076" y="45803"/>
                  </a:moveTo>
                  <a:lnTo>
                    <a:pt x="1603404" y="55328"/>
                  </a:lnTo>
                  <a:lnTo>
                    <a:pt x="1617508" y="47100"/>
                  </a:lnTo>
                  <a:lnTo>
                    <a:pt x="1622308" y="47100"/>
                  </a:lnTo>
                  <a:lnTo>
                    <a:pt x="1622308" y="45803"/>
                  </a:lnTo>
                  <a:lnTo>
                    <a:pt x="1587076" y="45803"/>
                  </a:lnTo>
                  <a:close/>
                </a:path>
              </a:pathLst>
            </a:custGeom>
            <a:solidFill>
              <a:srgbClr val="7F7F7F"/>
            </a:solidFill>
          </p:spPr>
          <p:txBody>
            <a:bodyPr wrap="square" lIns="0" tIns="0" rIns="0" bIns="0" rtlCol="0"/>
            <a:lstStyle/>
            <a:p>
              <a:endParaRPr/>
            </a:p>
          </p:txBody>
        </p:sp>
        <p:pic>
          <p:nvPicPr>
            <p:cNvPr id="25" name="object 25"/>
            <p:cNvPicPr/>
            <p:nvPr/>
          </p:nvPicPr>
          <p:blipFill>
            <a:blip r:embed="rId6" cstate="print"/>
            <a:stretch>
              <a:fillRect/>
            </a:stretch>
          </p:blipFill>
          <p:spPr>
            <a:xfrm>
              <a:off x="4830879" y="2715752"/>
              <a:ext cx="165353" cy="173996"/>
            </a:xfrm>
            <a:prstGeom prst="rect">
              <a:avLst/>
            </a:prstGeom>
          </p:spPr>
        </p:pic>
        <p:pic>
          <p:nvPicPr>
            <p:cNvPr id="26" name="object 26"/>
            <p:cNvPicPr/>
            <p:nvPr/>
          </p:nvPicPr>
          <p:blipFill>
            <a:blip r:embed="rId6" cstate="print"/>
            <a:stretch>
              <a:fillRect/>
            </a:stretch>
          </p:blipFill>
          <p:spPr>
            <a:xfrm>
              <a:off x="4830879" y="2948171"/>
              <a:ext cx="165353" cy="173996"/>
            </a:xfrm>
            <a:prstGeom prst="rect">
              <a:avLst/>
            </a:prstGeom>
          </p:spPr>
        </p:pic>
        <p:pic>
          <p:nvPicPr>
            <p:cNvPr id="27" name="object 27"/>
            <p:cNvPicPr/>
            <p:nvPr/>
          </p:nvPicPr>
          <p:blipFill>
            <a:blip r:embed="rId7" cstate="print"/>
            <a:stretch>
              <a:fillRect/>
            </a:stretch>
          </p:blipFill>
          <p:spPr>
            <a:xfrm>
              <a:off x="4830879" y="3180591"/>
              <a:ext cx="165353" cy="173996"/>
            </a:xfrm>
            <a:prstGeom prst="rect">
              <a:avLst/>
            </a:prstGeom>
          </p:spPr>
        </p:pic>
        <p:pic>
          <p:nvPicPr>
            <p:cNvPr id="28" name="object 28"/>
            <p:cNvPicPr/>
            <p:nvPr/>
          </p:nvPicPr>
          <p:blipFill>
            <a:blip r:embed="rId7" cstate="print"/>
            <a:stretch>
              <a:fillRect/>
            </a:stretch>
          </p:blipFill>
          <p:spPr>
            <a:xfrm>
              <a:off x="4830879" y="3413010"/>
              <a:ext cx="165353" cy="173996"/>
            </a:xfrm>
            <a:prstGeom prst="rect">
              <a:avLst/>
            </a:prstGeom>
          </p:spPr>
        </p:pic>
        <p:sp>
          <p:nvSpPr>
            <p:cNvPr id="29" name="object 29"/>
            <p:cNvSpPr/>
            <p:nvPr/>
          </p:nvSpPr>
          <p:spPr>
            <a:xfrm>
              <a:off x="4725188" y="2622237"/>
              <a:ext cx="365760" cy="1073150"/>
            </a:xfrm>
            <a:custGeom>
              <a:avLst/>
              <a:gdLst/>
              <a:ahLst/>
              <a:cxnLst/>
              <a:rect l="l" t="t" r="r" b="b"/>
              <a:pathLst>
                <a:path w="365760" h="1073150">
                  <a:moveTo>
                    <a:pt x="304798" y="0"/>
                  </a:moveTo>
                  <a:lnTo>
                    <a:pt x="328527" y="4790"/>
                  </a:lnTo>
                  <a:lnTo>
                    <a:pt x="347904" y="17855"/>
                  </a:lnTo>
                  <a:lnTo>
                    <a:pt x="360969" y="37232"/>
                  </a:lnTo>
                  <a:lnTo>
                    <a:pt x="365760" y="60961"/>
                  </a:lnTo>
                  <a:lnTo>
                    <a:pt x="365760" y="1011994"/>
                  </a:lnTo>
                  <a:lnTo>
                    <a:pt x="360969" y="1035723"/>
                  </a:lnTo>
                  <a:lnTo>
                    <a:pt x="347904" y="1055100"/>
                  </a:lnTo>
                  <a:lnTo>
                    <a:pt x="328527" y="1068165"/>
                  </a:lnTo>
                  <a:lnTo>
                    <a:pt x="304798" y="1072956"/>
                  </a:lnTo>
                  <a:lnTo>
                    <a:pt x="60961" y="1072956"/>
                  </a:lnTo>
                  <a:lnTo>
                    <a:pt x="37232" y="1068165"/>
                  </a:lnTo>
                  <a:lnTo>
                    <a:pt x="17855" y="1055100"/>
                  </a:lnTo>
                  <a:lnTo>
                    <a:pt x="4790" y="1035723"/>
                  </a:lnTo>
                  <a:lnTo>
                    <a:pt x="0" y="1011994"/>
                  </a:lnTo>
                  <a:lnTo>
                    <a:pt x="0" y="60961"/>
                  </a:lnTo>
                  <a:lnTo>
                    <a:pt x="4790" y="37232"/>
                  </a:lnTo>
                  <a:lnTo>
                    <a:pt x="17855" y="17855"/>
                  </a:lnTo>
                  <a:lnTo>
                    <a:pt x="37232" y="4790"/>
                  </a:lnTo>
                  <a:lnTo>
                    <a:pt x="60961" y="0"/>
                  </a:lnTo>
                  <a:lnTo>
                    <a:pt x="304798" y="0"/>
                  </a:lnTo>
                  <a:close/>
                </a:path>
              </a:pathLst>
            </a:custGeom>
            <a:ln w="19050">
              <a:solidFill>
                <a:srgbClr val="8C1515"/>
              </a:solidFill>
            </a:ln>
          </p:spPr>
          <p:txBody>
            <a:bodyPr wrap="square" lIns="0" tIns="0" rIns="0" bIns="0" rtlCol="0"/>
            <a:lstStyle/>
            <a:p>
              <a:endParaRPr/>
            </a:p>
          </p:txBody>
        </p:sp>
        <p:pic>
          <p:nvPicPr>
            <p:cNvPr id="30" name="object 30"/>
            <p:cNvPicPr/>
            <p:nvPr/>
          </p:nvPicPr>
          <p:blipFill>
            <a:blip r:embed="rId10" cstate="print"/>
            <a:stretch>
              <a:fillRect/>
            </a:stretch>
          </p:blipFill>
          <p:spPr>
            <a:xfrm>
              <a:off x="3744756" y="2873278"/>
              <a:ext cx="302182" cy="188746"/>
            </a:xfrm>
            <a:prstGeom prst="rect">
              <a:avLst/>
            </a:prstGeom>
          </p:spPr>
        </p:pic>
        <p:pic>
          <p:nvPicPr>
            <p:cNvPr id="31" name="object 31"/>
            <p:cNvPicPr/>
            <p:nvPr/>
          </p:nvPicPr>
          <p:blipFill>
            <a:blip r:embed="rId10" cstate="print"/>
            <a:stretch>
              <a:fillRect/>
            </a:stretch>
          </p:blipFill>
          <p:spPr>
            <a:xfrm>
              <a:off x="5768704" y="2873278"/>
              <a:ext cx="302182" cy="188746"/>
            </a:xfrm>
            <a:prstGeom prst="rect">
              <a:avLst/>
            </a:prstGeom>
          </p:spPr>
        </p:pic>
        <p:pic>
          <p:nvPicPr>
            <p:cNvPr id="32" name="object 32"/>
            <p:cNvPicPr/>
            <p:nvPr/>
          </p:nvPicPr>
          <p:blipFill>
            <a:blip r:embed="rId10" cstate="print"/>
            <a:stretch>
              <a:fillRect/>
            </a:stretch>
          </p:blipFill>
          <p:spPr>
            <a:xfrm>
              <a:off x="7775630" y="2873278"/>
              <a:ext cx="302182" cy="188746"/>
            </a:xfrm>
            <a:prstGeom prst="rect">
              <a:avLst/>
            </a:prstGeom>
          </p:spPr>
        </p:pic>
        <p:pic>
          <p:nvPicPr>
            <p:cNvPr id="33" name="object 33"/>
            <p:cNvPicPr/>
            <p:nvPr/>
          </p:nvPicPr>
          <p:blipFill>
            <a:blip r:embed="rId11" cstate="print"/>
            <a:stretch>
              <a:fillRect/>
            </a:stretch>
          </p:blipFill>
          <p:spPr>
            <a:xfrm>
              <a:off x="8576168" y="912208"/>
              <a:ext cx="669359" cy="276398"/>
            </a:xfrm>
            <a:prstGeom prst="rect">
              <a:avLst/>
            </a:prstGeom>
          </p:spPr>
        </p:pic>
        <p:sp>
          <p:nvSpPr>
            <p:cNvPr id="34" name="object 34"/>
            <p:cNvSpPr/>
            <p:nvPr/>
          </p:nvSpPr>
          <p:spPr>
            <a:xfrm>
              <a:off x="8445015" y="821691"/>
              <a:ext cx="948690" cy="445770"/>
            </a:xfrm>
            <a:custGeom>
              <a:avLst/>
              <a:gdLst/>
              <a:ahLst/>
              <a:cxnLst/>
              <a:rect l="l" t="t" r="r" b="b"/>
              <a:pathLst>
                <a:path w="948690" h="445769">
                  <a:moveTo>
                    <a:pt x="948173" y="0"/>
                  </a:moveTo>
                  <a:lnTo>
                    <a:pt x="0" y="0"/>
                  </a:lnTo>
                  <a:lnTo>
                    <a:pt x="0" y="445201"/>
                  </a:lnTo>
                  <a:lnTo>
                    <a:pt x="948173" y="445201"/>
                  </a:lnTo>
                  <a:lnTo>
                    <a:pt x="948173" y="0"/>
                  </a:lnTo>
                  <a:close/>
                </a:path>
              </a:pathLst>
            </a:custGeom>
            <a:solidFill>
              <a:srgbClr val="4285F4">
                <a:alpha val="34899"/>
              </a:srgbClr>
            </a:solidFill>
          </p:spPr>
          <p:txBody>
            <a:bodyPr wrap="square" lIns="0" tIns="0" rIns="0" bIns="0" rtlCol="0"/>
            <a:lstStyle/>
            <a:p>
              <a:endParaRPr/>
            </a:p>
          </p:txBody>
        </p:sp>
        <p:sp>
          <p:nvSpPr>
            <p:cNvPr id="35" name="object 35"/>
            <p:cNvSpPr/>
            <p:nvPr/>
          </p:nvSpPr>
          <p:spPr>
            <a:xfrm>
              <a:off x="1647901" y="1263751"/>
              <a:ext cx="7562850" cy="2181225"/>
            </a:xfrm>
            <a:custGeom>
              <a:avLst/>
              <a:gdLst/>
              <a:ahLst/>
              <a:cxnLst/>
              <a:rect l="l" t="t" r="r" b="b"/>
              <a:pathLst>
                <a:path w="7562850" h="2181225">
                  <a:moveTo>
                    <a:pt x="1070356" y="1869567"/>
                  </a:moveTo>
                  <a:lnTo>
                    <a:pt x="152400" y="1869567"/>
                  </a:lnTo>
                  <a:lnTo>
                    <a:pt x="152400" y="1818767"/>
                  </a:lnTo>
                  <a:lnTo>
                    <a:pt x="0" y="1894967"/>
                  </a:lnTo>
                  <a:lnTo>
                    <a:pt x="152400" y="1971167"/>
                  </a:lnTo>
                  <a:lnTo>
                    <a:pt x="152400" y="1920367"/>
                  </a:lnTo>
                  <a:lnTo>
                    <a:pt x="1070356" y="1920367"/>
                  </a:lnTo>
                  <a:lnTo>
                    <a:pt x="1070356" y="1869567"/>
                  </a:lnTo>
                  <a:close/>
                </a:path>
                <a:path w="7562850" h="2181225">
                  <a:moveTo>
                    <a:pt x="3077286" y="1844167"/>
                  </a:moveTo>
                  <a:lnTo>
                    <a:pt x="1740916" y="1844167"/>
                  </a:lnTo>
                  <a:lnTo>
                    <a:pt x="1740916" y="1742567"/>
                  </a:lnTo>
                  <a:lnTo>
                    <a:pt x="1436116" y="1894967"/>
                  </a:lnTo>
                  <a:lnTo>
                    <a:pt x="1740916" y="2047367"/>
                  </a:lnTo>
                  <a:lnTo>
                    <a:pt x="1740916" y="1945767"/>
                  </a:lnTo>
                  <a:lnTo>
                    <a:pt x="3077286" y="1945767"/>
                  </a:lnTo>
                  <a:lnTo>
                    <a:pt x="3077286" y="1844167"/>
                  </a:lnTo>
                  <a:close/>
                </a:path>
                <a:path w="7562850" h="2181225">
                  <a:moveTo>
                    <a:pt x="5084203" y="1818767"/>
                  </a:moveTo>
                  <a:lnTo>
                    <a:pt x="3900246" y="1818767"/>
                  </a:lnTo>
                  <a:lnTo>
                    <a:pt x="3900246" y="1666367"/>
                  </a:lnTo>
                  <a:lnTo>
                    <a:pt x="3443046" y="1894967"/>
                  </a:lnTo>
                  <a:lnTo>
                    <a:pt x="3900246" y="2123567"/>
                  </a:lnTo>
                  <a:lnTo>
                    <a:pt x="3900246" y="1971167"/>
                  </a:lnTo>
                  <a:lnTo>
                    <a:pt x="5084203" y="1971167"/>
                  </a:lnTo>
                  <a:lnTo>
                    <a:pt x="5084203" y="1818767"/>
                  </a:lnTo>
                  <a:close/>
                </a:path>
                <a:path w="7562850" h="2181225">
                  <a:moveTo>
                    <a:pt x="7091134" y="1799717"/>
                  </a:moveTo>
                  <a:lnTo>
                    <a:pt x="6021463" y="1799717"/>
                  </a:lnTo>
                  <a:lnTo>
                    <a:pt x="6021463" y="1609217"/>
                  </a:lnTo>
                  <a:lnTo>
                    <a:pt x="5449976" y="1894967"/>
                  </a:lnTo>
                  <a:lnTo>
                    <a:pt x="6021476" y="2180717"/>
                  </a:lnTo>
                  <a:lnTo>
                    <a:pt x="6021463" y="1990217"/>
                  </a:lnTo>
                  <a:lnTo>
                    <a:pt x="7091134" y="1990217"/>
                  </a:lnTo>
                  <a:lnTo>
                    <a:pt x="7091134" y="1799717"/>
                  </a:lnTo>
                  <a:close/>
                </a:path>
                <a:path w="7562850" h="2181225">
                  <a:moveTo>
                    <a:pt x="7562786" y="1353642"/>
                  </a:moveTo>
                  <a:lnTo>
                    <a:pt x="7372286" y="1354467"/>
                  </a:lnTo>
                  <a:lnTo>
                    <a:pt x="7366444" y="0"/>
                  </a:lnTo>
                  <a:lnTo>
                    <a:pt x="7175944" y="825"/>
                  </a:lnTo>
                  <a:lnTo>
                    <a:pt x="7181786" y="1355293"/>
                  </a:lnTo>
                  <a:lnTo>
                    <a:pt x="6991286" y="1356106"/>
                  </a:lnTo>
                  <a:lnTo>
                    <a:pt x="7279500" y="1926374"/>
                  </a:lnTo>
                  <a:lnTo>
                    <a:pt x="7514857" y="1450530"/>
                  </a:lnTo>
                  <a:lnTo>
                    <a:pt x="7562786" y="1353642"/>
                  </a:lnTo>
                  <a:close/>
                </a:path>
              </a:pathLst>
            </a:custGeom>
            <a:solidFill>
              <a:srgbClr val="4285F4">
                <a:alpha val="50199"/>
              </a:srgbClr>
            </a:solidFill>
          </p:spPr>
          <p:txBody>
            <a:bodyPr wrap="square" lIns="0" tIns="0" rIns="0" bIns="0" rtlCol="0"/>
            <a:lstStyle/>
            <a:p>
              <a:endParaRPr/>
            </a:p>
          </p:txBody>
        </p:sp>
      </p:grpSp>
      <p:pic>
        <p:nvPicPr>
          <p:cNvPr id="37" name="object 37"/>
          <p:cNvPicPr/>
          <p:nvPr/>
        </p:nvPicPr>
        <p:blipFill>
          <a:blip r:embed="rId12" cstate="print"/>
          <a:stretch>
            <a:fillRect/>
          </a:stretch>
        </p:blipFill>
        <p:spPr>
          <a:xfrm>
            <a:off x="1959146" y="4194562"/>
            <a:ext cx="829887" cy="549452"/>
          </a:xfrm>
          <a:prstGeom prst="rect">
            <a:avLst/>
          </a:prstGeom>
        </p:spPr>
      </p:pic>
      <p:grpSp>
        <p:nvGrpSpPr>
          <p:cNvPr id="38" name="object 38"/>
          <p:cNvGrpSpPr/>
          <p:nvPr/>
        </p:nvGrpSpPr>
        <p:grpSpPr>
          <a:xfrm>
            <a:off x="2988407" y="4086844"/>
            <a:ext cx="4735830" cy="826769"/>
            <a:chOff x="3657610" y="4069513"/>
            <a:chExt cx="4735830" cy="826769"/>
          </a:xfrm>
        </p:grpSpPr>
        <p:pic>
          <p:nvPicPr>
            <p:cNvPr id="39" name="object 39"/>
            <p:cNvPicPr/>
            <p:nvPr/>
          </p:nvPicPr>
          <p:blipFill>
            <a:blip r:embed="rId13" cstate="print"/>
            <a:stretch>
              <a:fillRect/>
            </a:stretch>
          </p:blipFill>
          <p:spPr>
            <a:xfrm>
              <a:off x="3737146" y="4187064"/>
              <a:ext cx="732006" cy="643712"/>
            </a:xfrm>
            <a:prstGeom prst="rect">
              <a:avLst/>
            </a:prstGeom>
          </p:spPr>
        </p:pic>
        <p:sp>
          <p:nvSpPr>
            <p:cNvPr id="40" name="object 40"/>
            <p:cNvSpPr/>
            <p:nvPr/>
          </p:nvSpPr>
          <p:spPr>
            <a:xfrm>
              <a:off x="3667135" y="4079038"/>
              <a:ext cx="652780" cy="807720"/>
            </a:xfrm>
            <a:custGeom>
              <a:avLst/>
              <a:gdLst/>
              <a:ahLst/>
              <a:cxnLst/>
              <a:rect l="l" t="t" r="r" b="b"/>
              <a:pathLst>
                <a:path w="652779" h="807720">
                  <a:moveTo>
                    <a:pt x="0" y="0"/>
                  </a:moveTo>
                  <a:lnTo>
                    <a:pt x="652316" y="0"/>
                  </a:lnTo>
                  <a:lnTo>
                    <a:pt x="652316" y="807707"/>
                  </a:lnTo>
                  <a:lnTo>
                    <a:pt x="0" y="807707"/>
                  </a:lnTo>
                  <a:lnTo>
                    <a:pt x="0" y="0"/>
                  </a:lnTo>
                  <a:close/>
                </a:path>
              </a:pathLst>
            </a:custGeom>
            <a:ln w="19050">
              <a:solidFill>
                <a:srgbClr val="5D4B3C"/>
              </a:solidFill>
            </a:ln>
          </p:spPr>
          <p:txBody>
            <a:bodyPr wrap="square" lIns="0" tIns="0" rIns="0" bIns="0" rtlCol="0"/>
            <a:lstStyle/>
            <a:p>
              <a:endParaRPr/>
            </a:p>
          </p:txBody>
        </p:sp>
        <p:pic>
          <p:nvPicPr>
            <p:cNvPr id="41" name="object 41"/>
            <p:cNvPicPr/>
            <p:nvPr/>
          </p:nvPicPr>
          <p:blipFill>
            <a:blip r:embed="rId14" cstate="print"/>
            <a:stretch>
              <a:fillRect/>
            </a:stretch>
          </p:blipFill>
          <p:spPr>
            <a:xfrm>
              <a:off x="5730595" y="4210400"/>
              <a:ext cx="726582" cy="542451"/>
            </a:xfrm>
            <a:prstGeom prst="rect">
              <a:avLst/>
            </a:prstGeom>
          </p:spPr>
        </p:pic>
        <p:sp>
          <p:nvSpPr>
            <p:cNvPr id="42" name="object 42"/>
            <p:cNvSpPr/>
            <p:nvPr/>
          </p:nvSpPr>
          <p:spPr>
            <a:xfrm>
              <a:off x="5650934" y="4079038"/>
              <a:ext cx="652780" cy="807720"/>
            </a:xfrm>
            <a:custGeom>
              <a:avLst/>
              <a:gdLst/>
              <a:ahLst/>
              <a:cxnLst/>
              <a:rect l="l" t="t" r="r" b="b"/>
              <a:pathLst>
                <a:path w="652779" h="807720">
                  <a:moveTo>
                    <a:pt x="0" y="0"/>
                  </a:moveTo>
                  <a:lnTo>
                    <a:pt x="652316" y="0"/>
                  </a:lnTo>
                  <a:lnTo>
                    <a:pt x="652316" y="807707"/>
                  </a:lnTo>
                  <a:lnTo>
                    <a:pt x="0" y="807707"/>
                  </a:lnTo>
                  <a:lnTo>
                    <a:pt x="0" y="0"/>
                  </a:lnTo>
                  <a:close/>
                </a:path>
              </a:pathLst>
            </a:custGeom>
            <a:ln w="19050">
              <a:solidFill>
                <a:srgbClr val="5D4B3C"/>
              </a:solidFill>
            </a:ln>
          </p:spPr>
          <p:txBody>
            <a:bodyPr wrap="square" lIns="0" tIns="0" rIns="0" bIns="0" rtlCol="0"/>
            <a:lstStyle/>
            <a:p>
              <a:endParaRPr/>
            </a:p>
          </p:txBody>
        </p:sp>
        <p:pic>
          <p:nvPicPr>
            <p:cNvPr id="43" name="object 43"/>
            <p:cNvPicPr/>
            <p:nvPr/>
          </p:nvPicPr>
          <p:blipFill>
            <a:blip r:embed="rId15" cstate="print"/>
            <a:stretch>
              <a:fillRect/>
            </a:stretch>
          </p:blipFill>
          <p:spPr>
            <a:xfrm>
              <a:off x="7667420" y="4205284"/>
              <a:ext cx="725620" cy="542452"/>
            </a:xfrm>
            <a:prstGeom prst="rect">
              <a:avLst/>
            </a:prstGeom>
          </p:spPr>
        </p:pic>
        <p:sp>
          <p:nvSpPr>
            <p:cNvPr id="44" name="object 44"/>
            <p:cNvSpPr/>
            <p:nvPr/>
          </p:nvSpPr>
          <p:spPr>
            <a:xfrm>
              <a:off x="7591972" y="4079038"/>
              <a:ext cx="652780" cy="807720"/>
            </a:xfrm>
            <a:custGeom>
              <a:avLst/>
              <a:gdLst/>
              <a:ahLst/>
              <a:cxnLst/>
              <a:rect l="l" t="t" r="r" b="b"/>
              <a:pathLst>
                <a:path w="652779" h="807720">
                  <a:moveTo>
                    <a:pt x="0" y="0"/>
                  </a:moveTo>
                  <a:lnTo>
                    <a:pt x="652316" y="0"/>
                  </a:lnTo>
                  <a:lnTo>
                    <a:pt x="652316" y="807707"/>
                  </a:lnTo>
                  <a:lnTo>
                    <a:pt x="0" y="807707"/>
                  </a:lnTo>
                  <a:lnTo>
                    <a:pt x="0" y="0"/>
                  </a:lnTo>
                  <a:close/>
                </a:path>
              </a:pathLst>
            </a:custGeom>
            <a:ln w="19050">
              <a:solidFill>
                <a:srgbClr val="5D4B3C"/>
              </a:solidFill>
            </a:ln>
          </p:spPr>
          <p:txBody>
            <a:bodyPr wrap="square" lIns="0" tIns="0" rIns="0" bIns="0" rtlCol="0"/>
            <a:lstStyle/>
            <a:p>
              <a:endParaRPr/>
            </a:p>
          </p:txBody>
        </p:sp>
      </p:grpSp>
      <p:pic>
        <p:nvPicPr>
          <p:cNvPr id="45" name="object 45"/>
          <p:cNvPicPr/>
          <p:nvPr/>
        </p:nvPicPr>
        <p:blipFill>
          <a:blip r:embed="rId16" cstate="print"/>
          <a:stretch>
            <a:fillRect/>
          </a:stretch>
        </p:blipFill>
        <p:spPr>
          <a:xfrm>
            <a:off x="7944513" y="4210028"/>
            <a:ext cx="548443" cy="638130"/>
          </a:xfrm>
          <a:prstGeom prst="rect">
            <a:avLst/>
          </a:prstGeom>
        </p:spPr>
      </p:pic>
      <p:sp>
        <p:nvSpPr>
          <p:cNvPr id="46" name="object 46"/>
          <p:cNvSpPr txBox="1"/>
          <p:nvPr/>
        </p:nvSpPr>
        <p:spPr>
          <a:xfrm>
            <a:off x="1377911" y="5872031"/>
            <a:ext cx="4141470" cy="289560"/>
          </a:xfrm>
          <a:prstGeom prst="rect">
            <a:avLst/>
          </a:prstGeom>
        </p:spPr>
        <p:txBody>
          <a:bodyPr vert="horz" wrap="square" lIns="0" tIns="12700" rIns="0" bIns="0" rtlCol="0">
            <a:spAutoFit/>
          </a:bodyPr>
          <a:lstStyle/>
          <a:p>
            <a:pPr marL="12700">
              <a:lnSpc>
                <a:spcPct val="100000"/>
              </a:lnSpc>
              <a:spcBef>
                <a:spcPts val="100"/>
              </a:spcBef>
            </a:pPr>
            <a:r>
              <a:rPr spc="-10" dirty="0">
                <a:solidFill>
                  <a:schemeClr val="accent1"/>
                </a:solidFill>
                <a:cs typeface="Calibri" panose="020F0502020204030204"/>
              </a:rPr>
              <a:t>What</a:t>
            </a:r>
            <a:r>
              <a:rPr spc="-20" dirty="0">
                <a:solidFill>
                  <a:schemeClr val="accent1"/>
                </a:solidFill>
                <a:cs typeface="Calibri" panose="020F0502020204030204"/>
              </a:rPr>
              <a:t> </a:t>
            </a:r>
            <a:r>
              <a:rPr dirty="0">
                <a:solidFill>
                  <a:schemeClr val="accent1"/>
                </a:solidFill>
                <a:cs typeface="Calibri" panose="020F0502020204030204"/>
              </a:rPr>
              <a:t>happens</a:t>
            </a:r>
            <a:r>
              <a:rPr spc="-15" dirty="0">
                <a:solidFill>
                  <a:schemeClr val="accent1"/>
                </a:solidFill>
                <a:cs typeface="Calibri" panose="020F0502020204030204"/>
              </a:rPr>
              <a:t> </a:t>
            </a:r>
            <a:r>
              <a:rPr dirty="0">
                <a:solidFill>
                  <a:schemeClr val="accent1"/>
                </a:solidFill>
                <a:cs typeface="Calibri" panose="020F0502020204030204"/>
              </a:rPr>
              <a:t>if</a:t>
            </a:r>
            <a:r>
              <a:rPr spc="-5" dirty="0">
                <a:solidFill>
                  <a:schemeClr val="accent1"/>
                </a:solidFill>
                <a:cs typeface="Calibri" panose="020F0502020204030204"/>
              </a:rPr>
              <a:t> these</a:t>
            </a:r>
            <a:r>
              <a:rPr spc="-10" dirty="0">
                <a:solidFill>
                  <a:schemeClr val="accent1"/>
                </a:solidFill>
                <a:cs typeface="Calibri" panose="020F0502020204030204"/>
              </a:rPr>
              <a:t> </a:t>
            </a:r>
            <a:r>
              <a:rPr spc="-15" dirty="0">
                <a:solidFill>
                  <a:schemeClr val="accent1"/>
                </a:solidFill>
                <a:cs typeface="Calibri" panose="020F0502020204030204"/>
              </a:rPr>
              <a:t>are</a:t>
            </a:r>
            <a:r>
              <a:rPr spc="-10" dirty="0">
                <a:solidFill>
                  <a:schemeClr val="accent1"/>
                </a:solidFill>
                <a:cs typeface="Calibri" panose="020F0502020204030204"/>
              </a:rPr>
              <a:t> </a:t>
            </a:r>
            <a:r>
              <a:rPr spc="-5" dirty="0">
                <a:solidFill>
                  <a:schemeClr val="accent1"/>
                </a:solidFill>
                <a:cs typeface="Calibri" panose="020F0502020204030204"/>
              </a:rPr>
              <a:t>small?</a:t>
            </a:r>
            <a:endParaRPr dirty="0">
              <a:solidFill>
                <a:schemeClr val="accent1"/>
              </a:solidFill>
              <a:cs typeface="Calibri" panose="020F0502020204030204"/>
            </a:endParaRPr>
          </a:p>
        </p:txBody>
      </p:sp>
      <p:sp>
        <p:nvSpPr>
          <p:cNvPr id="47" name="object 47"/>
          <p:cNvSpPr/>
          <p:nvPr/>
        </p:nvSpPr>
        <p:spPr>
          <a:xfrm>
            <a:off x="3277423" y="4873645"/>
            <a:ext cx="3971925" cy="1000760"/>
          </a:xfrm>
          <a:custGeom>
            <a:avLst/>
            <a:gdLst/>
            <a:ahLst/>
            <a:cxnLst/>
            <a:rect l="l" t="t" r="r" b="b"/>
            <a:pathLst>
              <a:path w="3971925" h="1000760">
                <a:moveTo>
                  <a:pt x="3971493" y="30441"/>
                </a:moveTo>
                <a:lnTo>
                  <a:pt x="3832809" y="0"/>
                </a:lnTo>
                <a:lnTo>
                  <a:pt x="3846042" y="52336"/>
                </a:lnTo>
                <a:lnTo>
                  <a:pt x="248958" y="961745"/>
                </a:lnTo>
                <a:lnTo>
                  <a:pt x="1922005" y="97205"/>
                </a:lnTo>
                <a:lnTo>
                  <a:pt x="1946783" y="145148"/>
                </a:lnTo>
                <a:lnTo>
                  <a:pt x="1998357" y="74447"/>
                </a:lnTo>
                <a:lnTo>
                  <a:pt x="2030463" y="30441"/>
                </a:lnTo>
                <a:lnTo>
                  <a:pt x="1888477" y="32321"/>
                </a:lnTo>
                <a:lnTo>
                  <a:pt x="1913255" y="80276"/>
                </a:lnTo>
                <a:lnTo>
                  <a:pt x="178816" y="976541"/>
                </a:lnTo>
                <a:lnTo>
                  <a:pt x="72415" y="155155"/>
                </a:lnTo>
                <a:lnTo>
                  <a:pt x="125945" y="148221"/>
                </a:lnTo>
                <a:lnTo>
                  <a:pt x="122135" y="142570"/>
                </a:lnTo>
                <a:lnTo>
                  <a:pt x="46659" y="30441"/>
                </a:lnTo>
                <a:lnTo>
                  <a:pt x="0" y="164541"/>
                </a:lnTo>
                <a:lnTo>
                  <a:pt x="53530" y="157607"/>
                </a:lnTo>
                <a:lnTo>
                  <a:pt x="161671" y="992466"/>
                </a:lnTo>
                <a:lnTo>
                  <a:pt x="171119" y="991247"/>
                </a:lnTo>
                <a:lnTo>
                  <a:pt x="173456" y="1000480"/>
                </a:lnTo>
                <a:lnTo>
                  <a:pt x="3850703" y="70802"/>
                </a:lnTo>
                <a:lnTo>
                  <a:pt x="3863937" y="123126"/>
                </a:lnTo>
                <a:lnTo>
                  <a:pt x="3949700" y="49212"/>
                </a:lnTo>
                <a:lnTo>
                  <a:pt x="3971493" y="30441"/>
                </a:lnTo>
                <a:close/>
              </a:path>
            </a:pathLst>
          </a:custGeom>
          <a:solidFill>
            <a:srgbClr val="5D4B3C"/>
          </a:solidFill>
        </p:spPr>
        <p:txBody>
          <a:bodyPr wrap="square" lIns="0" tIns="0" rIns="0" bIns="0" rtlCol="0"/>
          <a:lstStyle/>
          <a:p>
            <a:endParaRPr/>
          </a:p>
        </p:txBody>
      </p:sp>
      <p:sp>
        <p:nvSpPr>
          <p:cNvPr id="48" name="object 48"/>
          <p:cNvSpPr txBox="1"/>
          <p:nvPr/>
        </p:nvSpPr>
        <p:spPr>
          <a:xfrm>
            <a:off x="8985250" y="1388745"/>
            <a:ext cx="3061970" cy="3911600"/>
          </a:xfrm>
          <a:prstGeom prst="rect">
            <a:avLst/>
          </a:prstGeom>
        </p:spPr>
        <p:style>
          <a:lnRef idx="1">
            <a:schemeClr val="accent4"/>
          </a:lnRef>
          <a:fillRef idx="2">
            <a:schemeClr val="accent4"/>
          </a:fillRef>
          <a:effectRef idx="1">
            <a:schemeClr val="accent4"/>
          </a:effectRef>
          <a:fontRef idx="minor">
            <a:schemeClr val="dk1"/>
          </a:fontRef>
        </p:style>
        <p:txBody>
          <a:bodyPr vert="horz" wrap="square" lIns="0" tIns="33655" rIns="0" bIns="0" rtlCol="0">
            <a:spAutoFit/>
          </a:bodyPr>
          <a:lstStyle/>
          <a:p>
            <a:pPr marL="182880" marR="176530" indent="1270" algn="ctr">
              <a:lnSpc>
                <a:spcPct val="100000"/>
              </a:lnSpc>
              <a:spcBef>
                <a:spcPts val="265"/>
              </a:spcBef>
            </a:pPr>
            <a:r>
              <a:rPr sz="2800" b="1" spc="-15" dirty="0">
                <a:solidFill>
                  <a:schemeClr val="tx1"/>
                </a:solidFill>
                <a:cs typeface="Calibri" panose="020F0502020204030204"/>
              </a:rPr>
              <a:t>Vanishing</a:t>
            </a:r>
            <a:r>
              <a:rPr sz="2800" b="1" spc="-10" dirty="0">
                <a:solidFill>
                  <a:schemeClr val="tx1"/>
                </a:solidFill>
                <a:cs typeface="Calibri" panose="020F0502020204030204"/>
              </a:rPr>
              <a:t> gradient</a:t>
            </a:r>
            <a:r>
              <a:rPr sz="2800" b="1" spc="430" dirty="0">
                <a:solidFill>
                  <a:schemeClr val="tx1"/>
                </a:solidFill>
                <a:cs typeface="Calibri" panose="020F0502020204030204"/>
              </a:rPr>
              <a:t> </a:t>
            </a:r>
            <a:r>
              <a:rPr sz="2800" b="1" spc="-5" dirty="0">
                <a:solidFill>
                  <a:schemeClr val="tx1"/>
                </a:solidFill>
                <a:cs typeface="Calibri" panose="020F0502020204030204"/>
              </a:rPr>
              <a:t>problem: </a:t>
            </a:r>
            <a:r>
              <a:rPr sz="2800" b="1" dirty="0">
                <a:solidFill>
                  <a:schemeClr val="tx1"/>
                </a:solidFill>
                <a:cs typeface="Calibri" panose="020F0502020204030204"/>
              </a:rPr>
              <a:t> </a:t>
            </a:r>
            <a:r>
              <a:rPr sz="2800" spc="-5" dirty="0">
                <a:solidFill>
                  <a:schemeClr val="tx1"/>
                </a:solidFill>
                <a:cs typeface="Calibri" panose="020F0502020204030204"/>
              </a:rPr>
              <a:t>When </a:t>
            </a:r>
            <a:r>
              <a:rPr sz="2800" dirty="0">
                <a:solidFill>
                  <a:schemeClr val="tx1"/>
                </a:solidFill>
                <a:cs typeface="Calibri" panose="020F0502020204030204"/>
              </a:rPr>
              <a:t>small, the </a:t>
            </a:r>
            <a:r>
              <a:rPr sz="2800" spc="-10" dirty="0">
                <a:solidFill>
                  <a:schemeClr val="tx1"/>
                </a:solidFill>
                <a:cs typeface="Calibri" panose="020F0502020204030204"/>
              </a:rPr>
              <a:t>gradient </a:t>
            </a:r>
            <a:r>
              <a:rPr sz="2800" spc="-440" dirty="0">
                <a:solidFill>
                  <a:schemeClr val="tx1"/>
                </a:solidFill>
                <a:cs typeface="Calibri" panose="020F0502020204030204"/>
              </a:rPr>
              <a:t> </a:t>
            </a:r>
            <a:r>
              <a:rPr sz="2800" spc="-5" dirty="0">
                <a:solidFill>
                  <a:schemeClr val="tx1"/>
                </a:solidFill>
                <a:cs typeface="Calibri" panose="020F0502020204030204"/>
              </a:rPr>
              <a:t>signal </a:t>
            </a:r>
            <a:r>
              <a:rPr sz="2800" spc="-10" dirty="0">
                <a:solidFill>
                  <a:schemeClr val="tx1"/>
                </a:solidFill>
                <a:cs typeface="Calibri" panose="020F0502020204030204"/>
              </a:rPr>
              <a:t>gets </a:t>
            </a:r>
            <a:r>
              <a:rPr sz="2800" dirty="0">
                <a:solidFill>
                  <a:schemeClr val="tx1"/>
                </a:solidFill>
                <a:cs typeface="Calibri" panose="020F0502020204030204"/>
              </a:rPr>
              <a:t>smaller </a:t>
            </a:r>
            <a:r>
              <a:rPr sz="2800" spc="-5" dirty="0">
                <a:solidFill>
                  <a:schemeClr val="tx1"/>
                </a:solidFill>
                <a:cs typeface="Calibri" panose="020F0502020204030204"/>
              </a:rPr>
              <a:t>and </a:t>
            </a:r>
            <a:r>
              <a:rPr sz="2800" dirty="0">
                <a:solidFill>
                  <a:schemeClr val="tx1"/>
                </a:solidFill>
                <a:cs typeface="Calibri" panose="020F0502020204030204"/>
              </a:rPr>
              <a:t>smaller as it</a:t>
            </a:r>
            <a:r>
              <a:rPr lang="en-US" sz="2800" dirty="0">
                <a:solidFill>
                  <a:schemeClr val="tx1"/>
                </a:solidFill>
                <a:cs typeface="Calibri" panose="020F0502020204030204"/>
              </a:rPr>
              <a:t> </a:t>
            </a:r>
            <a:r>
              <a:rPr sz="2800" spc="-10" dirty="0">
                <a:solidFill>
                  <a:schemeClr val="tx1"/>
                </a:solidFill>
                <a:cs typeface="Calibri" panose="020F0502020204030204"/>
              </a:rPr>
              <a:t>backpropagates</a:t>
            </a:r>
            <a:r>
              <a:rPr sz="2800" spc="-5" dirty="0">
                <a:solidFill>
                  <a:schemeClr val="tx1"/>
                </a:solidFill>
                <a:cs typeface="Calibri" panose="020F0502020204030204"/>
              </a:rPr>
              <a:t> further</a:t>
            </a:r>
          </a:p>
        </p:txBody>
      </p:sp>
      <p:sp>
        <p:nvSpPr>
          <p:cNvPr id="54" name="Title 1"/>
          <p:cNvSpPr>
            <a:spLocks noGrp="1"/>
          </p:cNvSpPr>
          <p:nvPr>
            <p:ph type="title"/>
          </p:nvPr>
        </p:nvSpPr>
        <p:spPr/>
        <p:txBody>
          <a:bodyPr/>
          <a:lstStyle/>
          <a:p>
            <a:r>
              <a:rPr lang="en-IN" dirty="0">
                <a:sym typeface="+mn-ea"/>
              </a:rPr>
              <a:t>Vanishing </a:t>
            </a:r>
            <a:r>
              <a:rPr lang="en-US" altLang="en-IN" dirty="0">
                <a:sym typeface="+mn-ea"/>
              </a:rPr>
              <a:t>g</a:t>
            </a:r>
            <a:r>
              <a:rPr lang="en-IN" dirty="0">
                <a:sym typeface="+mn-ea"/>
              </a:rPr>
              <a:t>radient </a:t>
            </a:r>
            <a:r>
              <a:rPr lang="en-US" altLang="en-IN" dirty="0">
                <a:sym typeface="+mn-ea"/>
              </a:rPr>
              <a:t>i</a:t>
            </a:r>
            <a:r>
              <a:rPr lang="en-IN" dirty="0">
                <a:sym typeface="+mn-ea"/>
              </a:rPr>
              <a:t>ntuition</a:t>
            </a:r>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bldLvl="0" animBg="1"/>
    </p:bldLst>
  </p:timing>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Vanishing gradient proof sketch (linear case)</a:t>
            </a:r>
            <a:endParaRPr lang="en-IN"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a:lnSpc>
                    <a:spcPct val="100000"/>
                  </a:lnSpc>
                </a:pPr>
                <a:r>
                  <a:rPr lang="en-US" sz="2000" b="1" dirty="0"/>
                  <a:t>Recall:</a:t>
                </a:r>
              </a:p>
              <a:p>
                <a:pPr>
                  <a:lnSpc>
                    <a:spcPct val="100000"/>
                  </a:lnSpc>
                </a:pPr>
                <a:r>
                  <a:rPr lang="en-US" sz="2000" dirty="0"/>
                  <a:t>What if </a:t>
                </a:r>
                <a:r>
                  <a:rPr lang="el-GR" sz="2000" dirty="0"/>
                  <a:t>σ</a:t>
                </a:r>
                <a:r>
                  <a:rPr lang="en-US" sz="2000" dirty="0"/>
                  <a:t> were the identity function, </a:t>
                </a:r>
                <a:r>
                  <a:rPr lang="el-GR" sz="2000" dirty="0"/>
                  <a:t> σ</a:t>
                </a:r>
                <a:r>
                  <a:rPr lang="en-US" sz="2000" dirty="0"/>
                  <a:t>(x) = x ?</a:t>
                </a:r>
              </a:p>
              <a:p>
                <a:pPr>
                  <a:lnSpc>
                    <a:spcPct val="100000"/>
                  </a:lnSpc>
                </a:pPr>
                <a:endParaRPr lang="en-US" dirty="0"/>
              </a:p>
              <a:p>
                <a:pPr marL="0" indent="0">
                  <a:lnSpc>
                    <a:spcPct val="100000"/>
                  </a:lnSpc>
                  <a:buNone/>
                </a:pPr>
                <a:endParaRPr lang="en-US" dirty="0"/>
              </a:p>
              <a:p>
                <a:pPr>
                  <a:lnSpc>
                    <a:spcPct val="100000"/>
                  </a:lnSpc>
                </a:pPr>
                <a:r>
                  <a:rPr lang="en-US" sz="2000" dirty="0"/>
                  <a:t>Consider the gradient of the loss </a:t>
                </a:r>
                <a14:m>
                  <m:oMath xmlns:m="http://schemas.openxmlformats.org/officeDocument/2006/math">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𝐽</m:t>
                        </m:r>
                      </m:e>
                      <m:sup>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𝑖</m:t>
                            </m:r>
                          </m:e>
                        </m:d>
                      </m:sup>
                    </m:sSup>
                    <m:r>
                      <a:rPr lang="en-US" sz="2000" b="0" i="1" smtClean="0">
                        <a:latin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𝜃</m:t>
                    </m:r>
                    <m:r>
                      <a:rPr lang="en-US" sz="2000" b="0" i="1" smtClean="0">
                        <a:latin typeface="Cambria Math" panose="02040503050406030204" pitchFamily="18" charset="0"/>
                        <a:ea typeface="Cambria Math" panose="02040503050406030204" pitchFamily="18" charset="0"/>
                      </a:rPr>
                      <m:t>)</m:t>
                    </m:r>
                  </m:oMath>
                </a14:m>
                <a:r>
                  <a:rPr lang="en-US" sz="2000" dirty="0"/>
                  <a:t> on step </a:t>
                </a:r>
                <a14:m>
                  <m:oMath xmlns:m="http://schemas.openxmlformats.org/officeDocument/2006/math">
                    <m:r>
                      <a:rPr lang="en-US" sz="2000" b="0" i="1" smtClean="0">
                        <a:latin typeface="Cambria Math" panose="02040503050406030204" pitchFamily="18" charset="0"/>
                      </a:rPr>
                      <m:t>𝑖</m:t>
                    </m:r>
                  </m:oMath>
                </a14:m>
                <a:r>
                  <a:rPr lang="en-US" sz="2000" dirty="0"/>
                  <a:t>, with respect to the hidden state </a:t>
                </a:r>
                <a14:m>
                  <m:oMath xmlns:m="http://schemas.openxmlformats.org/officeDocument/2006/math">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h</m:t>
                        </m:r>
                      </m:e>
                      <m:sup>
                        <m:r>
                          <a:rPr lang="en-US" sz="2000" b="0" i="1" smtClean="0">
                            <a:latin typeface="Cambria Math" panose="02040503050406030204" pitchFamily="18" charset="0"/>
                          </a:rPr>
                          <m:t>(</m:t>
                        </m:r>
                        <m:r>
                          <a:rPr lang="en-US" sz="2000" b="0" i="1" smtClean="0">
                            <a:latin typeface="Cambria Math" panose="02040503050406030204" pitchFamily="18" charset="0"/>
                          </a:rPr>
                          <m:t>𝑗</m:t>
                        </m:r>
                        <m:r>
                          <a:rPr lang="en-US" sz="2000" b="0" i="1" smtClean="0">
                            <a:latin typeface="Cambria Math" panose="02040503050406030204" pitchFamily="18" charset="0"/>
                          </a:rPr>
                          <m:t>)</m:t>
                        </m:r>
                      </m:sup>
                    </m:sSup>
                  </m:oMath>
                </a14:m>
                <a:r>
                  <a:rPr lang="en-US" sz="2000" dirty="0"/>
                  <a:t> on some previous step </a:t>
                </a:r>
                <a14:m>
                  <m:oMath xmlns:m="http://schemas.openxmlformats.org/officeDocument/2006/math">
                    <m:r>
                      <a:rPr lang="en-US" sz="2000" b="0" i="1" smtClean="0">
                        <a:latin typeface="Cambria Math" panose="02040503050406030204" pitchFamily="18" charset="0"/>
                      </a:rPr>
                      <m:t>𝑗</m:t>
                    </m:r>
                  </m:oMath>
                </a14:m>
                <a:r>
                  <a:rPr lang="en-US" sz="2000" dirty="0"/>
                  <a:t>. Let </a:t>
                </a:r>
                <a14:m>
                  <m:oMath xmlns:m="http://schemas.openxmlformats.org/officeDocument/2006/math">
                    <m:r>
                      <a:rPr lang="en-US" sz="2000" b="0" i="1" smtClean="0">
                        <a:latin typeface="Cambria Math" panose="02040503050406030204" pitchFamily="18" charset="0"/>
                      </a:rPr>
                      <m:t>𝑙</m:t>
                    </m:r>
                    <m:r>
                      <a:rPr lang="en-US" sz="2000" b="0" i="1" smtClean="0">
                        <a:latin typeface="Cambria Math" panose="02040503050406030204" pitchFamily="18" charset="0"/>
                      </a:rPr>
                      <m:t>=</m:t>
                    </m:r>
                    <m:r>
                      <a:rPr lang="en-US" sz="2000" b="0" i="1" smtClean="0">
                        <a:latin typeface="Cambria Math" panose="02040503050406030204" pitchFamily="18" charset="0"/>
                      </a:rPr>
                      <m:t>𝑖</m:t>
                    </m:r>
                    <m:r>
                      <a:rPr lang="en-US" sz="2000" b="0" i="1" smtClean="0">
                        <a:latin typeface="Cambria Math" panose="02040503050406030204" pitchFamily="18" charset="0"/>
                      </a:rPr>
                      <m:t>−</m:t>
                    </m:r>
                    <m:r>
                      <a:rPr lang="en-US" sz="2000" b="0" i="1" smtClean="0">
                        <a:latin typeface="Cambria Math" panose="02040503050406030204" pitchFamily="18" charset="0"/>
                      </a:rPr>
                      <m:t>𝑗</m:t>
                    </m:r>
                  </m:oMath>
                </a14:m>
                <a:endParaRPr lang="en-US" sz="2000" dirty="0"/>
              </a:p>
              <a:p>
                <a:pPr marL="0" indent="0">
                  <a:buNone/>
                </a:pPr>
                <a:endParaRPr lang="en-US" dirty="0"/>
              </a:p>
              <a:p>
                <a:endParaRPr lang="en-IN"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blipFill rotWithShape="1">
                <a:blip r:embed="rId2"/>
                <a:stretch>
                  <a:fillRect/>
                </a:stretch>
              </a:blipFill>
            </p:spPr>
            <p:txBody>
              <a:bodyPr/>
              <a:lstStyle/>
              <a:p>
                <a:r>
                  <a:rPr lang="en-US" altLang="en-US">
                    <a:noFill/>
                  </a:rPr>
                  <a:t> </a:t>
                </a:r>
              </a:p>
            </p:txBody>
          </p:sp>
        </mc:Fallback>
      </mc:AlternateContent>
      <p:pic>
        <p:nvPicPr>
          <p:cNvPr id="4" name="object 5"/>
          <p:cNvPicPr/>
          <p:nvPr/>
        </p:nvPicPr>
        <p:blipFill>
          <a:blip r:embed="rId3" cstate="print"/>
          <a:stretch>
            <a:fillRect/>
          </a:stretch>
        </p:blipFill>
        <p:spPr>
          <a:xfrm>
            <a:off x="1645600" y="1808163"/>
            <a:ext cx="3162374" cy="413927"/>
          </a:xfrm>
          <a:prstGeom prst="rect">
            <a:avLst/>
          </a:prstGeom>
        </p:spPr>
      </p:pic>
      <p:pic>
        <p:nvPicPr>
          <p:cNvPr id="13" name="Picture 12"/>
          <p:cNvPicPr>
            <a:picLocks noChangeAspect="1"/>
          </p:cNvPicPr>
          <p:nvPr/>
        </p:nvPicPr>
        <p:blipFill rotWithShape="1">
          <a:blip r:embed="rId4"/>
          <a:srcRect l="18710" t="23102" r="17419" b="60430"/>
          <a:stretch>
            <a:fillRect/>
          </a:stretch>
        </p:blipFill>
        <p:spPr>
          <a:xfrm>
            <a:off x="2673977" y="2632661"/>
            <a:ext cx="6844045" cy="992600"/>
          </a:xfrm>
          <a:prstGeom prst="rect">
            <a:avLst/>
          </a:prstGeom>
        </p:spPr>
      </p:pic>
      <p:pic>
        <p:nvPicPr>
          <p:cNvPr id="15" name="Picture 14"/>
          <p:cNvPicPr>
            <a:picLocks noChangeAspect="1"/>
          </p:cNvPicPr>
          <p:nvPr/>
        </p:nvPicPr>
        <p:blipFill rotWithShape="1">
          <a:blip r:embed="rId5"/>
          <a:srcRect l="14920" t="47598" r="20806" b="23011"/>
          <a:stretch>
            <a:fillRect/>
          </a:stretch>
        </p:blipFill>
        <p:spPr>
          <a:xfrm>
            <a:off x="2949280" y="4113496"/>
            <a:ext cx="6981300" cy="1795692"/>
          </a:xfrm>
          <a:prstGeom prst="rect">
            <a:avLst/>
          </a:prstGeom>
        </p:spPr>
      </p:pic>
      <mc:AlternateContent xmlns:mc="http://schemas.openxmlformats.org/markup-compatibility/2006" xmlns:a14="http://schemas.microsoft.com/office/drawing/2010/main">
        <mc:Choice Requires="a14">
          <p:sp>
            <p:nvSpPr>
              <p:cNvPr id="18" name="TextBox 17"/>
              <p:cNvSpPr txBox="1"/>
              <p:nvPr/>
            </p:nvSpPr>
            <p:spPr>
              <a:xfrm>
                <a:off x="6518588" y="5668984"/>
                <a:ext cx="3588973" cy="523220"/>
              </a:xfrm>
              <a:prstGeom prst="rect">
                <a:avLst/>
              </a:prstGeom>
              <a:solidFill>
                <a:schemeClr val="bg1"/>
              </a:solidFill>
            </p:spPr>
            <p:txBody>
              <a:bodyPr wrap="square" rtlCol="0">
                <a:spAutoFit/>
              </a:bodyPr>
              <a:lstStyle/>
              <a:p>
                <a:r>
                  <a:rPr lang="en-US" sz="1400" spc="-5" dirty="0">
                    <a:solidFill>
                      <a:srgbClr val="00B0F0"/>
                    </a:solidFill>
                    <a:cs typeface="Calibri" panose="020F0502020204030204"/>
                  </a:rPr>
                  <a:t>If </a:t>
                </a:r>
                <a:r>
                  <a:rPr lang="en-US" sz="1400" i="1" spc="-5" dirty="0" err="1">
                    <a:solidFill>
                      <a:srgbClr val="00B0F0"/>
                    </a:solidFill>
                    <a:cs typeface="Calibri" panose="020F0502020204030204"/>
                  </a:rPr>
                  <a:t>W</a:t>
                </a:r>
                <a:r>
                  <a:rPr lang="en-US" sz="1400" i="1" spc="-5" baseline="-25000" dirty="0" err="1">
                    <a:solidFill>
                      <a:srgbClr val="00B0F0"/>
                    </a:solidFill>
                    <a:cs typeface="Calibri" panose="020F0502020204030204"/>
                  </a:rPr>
                  <a:t>h</a:t>
                </a:r>
                <a:r>
                  <a:rPr lang="en-US" sz="1400" i="1" spc="-5" dirty="0">
                    <a:solidFill>
                      <a:srgbClr val="00B0F0"/>
                    </a:solidFill>
                    <a:cs typeface="Calibri" panose="020F0502020204030204"/>
                  </a:rPr>
                  <a:t> </a:t>
                </a:r>
                <a:r>
                  <a:rPr lang="en-US" sz="1400" spc="-5" dirty="0">
                    <a:solidFill>
                      <a:srgbClr val="00B0F0"/>
                    </a:solidFill>
                    <a:cs typeface="Calibri" panose="020F0502020204030204"/>
                  </a:rPr>
                  <a:t>is </a:t>
                </a:r>
                <a:r>
                  <a:rPr lang="en-US" sz="1400" spc="-35" dirty="0">
                    <a:solidFill>
                      <a:srgbClr val="00B0F0"/>
                    </a:solidFill>
                    <a:cs typeface="Calibri" panose="020F0502020204030204"/>
                  </a:rPr>
                  <a:t>“small”, </a:t>
                </a:r>
                <a:r>
                  <a:rPr lang="en-US" sz="1400" spc="-5" dirty="0">
                    <a:solidFill>
                      <a:srgbClr val="00B0F0"/>
                    </a:solidFill>
                    <a:cs typeface="Calibri" panose="020F0502020204030204"/>
                  </a:rPr>
                  <a:t>then this </a:t>
                </a:r>
                <a:r>
                  <a:rPr lang="en-US" sz="1400" spc="-10" dirty="0">
                    <a:solidFill>
                      <a:srgbClr val="00B0F0"/>
                    </a:solidFill>
                    <a:cs typeface="Calibri" panose="020F0502020204030204"/>
                  </a:rPr>
                  <a:t>term gets </a:t>
                </a:r>
                <a:r>
                  <a:rPr lang="en-US" sz="1400" spc="-5" dirty="0">
                    <a:solidFill>
                      <a:srgbClr val="00B0F0"/>
                    </a:solidFill>
                    <a:cs typeface="Calibri" panose="020F0502020204030204"/>
                  </a:rPr>
                  <a:t> exponentially</a:t>
                </a:r>
                <a:r>
                  <a:rPr lang="en-US" sz="1400" spc="5" dirty="0">
                    <a:solidFill>
                      <a:srgbClr val="00B0F0"/>
                    </a:solidFill>
                    <a:cs typeface="Calibri" panose="020F0502020204030204"/>
                  </a:rPr>
                  <a:t> </a:t>
                </a:r>
                <a:r>
                  <a:rPr lang="en-US" sz="1400" spc="-10" dirty="0">
                    <a:solidFill>
                      <a:srgbClr val="00B0F0"/>
                    </a:solidFill>
                    <a:cs typeface="Calibri" panose="020F0502020204030204"/>
                  </a:rPr>
                  <a:t>problematic</a:t>
                </a:r>
                <a:r>
                  <a:rPr lang="en-US" sz="1400" spc="15" dirty="0">
                    <a:solidFill>
                      <a:srgbClr val="00B0F0"/>
                    </a:solidFill>
                    <a:cs typeface="Calibri" panose="020F0502020204030204"/>
                  </a:rPr>
                  <a:t> </a:t>
                </a:r>
                <a:r>
                  <a:rPr lang="en-US" sz="1400" dirty="0">
                    <a:solidFill>
                      <a:srgbClr val="00B0F0"/>
                    </a:solidFill>
                    <a:cs typeface="Calibri" panose="020F0502020204030204"/>
                  </a:rPr>
                  <a:t>as </a:t>
                </a:r>
                <a14:m>
                  <m:oMath xmlns:m="http://schemas.openxmlformats.org/officeDocument/2006/math">
                    <m:r>
                      <a:rPr lang="en-US" sz="1400" b="0" i="1" smtClean="0">
                        <a:solidFill>
                          <a:srgbClr val="00B0F0"/>
                        </a:solidFill>
                        <a:latin typeface="Cambria Math" panose="02040503050406030204" pitchFamily="18" charset="0"/>
                        <a:cs typeface="Calibri" panose="020F0502020204030204"/>
                      </a:rPr>
                      <m:t>𝑙</m:t>
                    </m:r>
                  </m:oMath>
                </a14:m>
                <a:r>
                  <a:rPr lang="en-US" sz="1400" spc="-5" dirty="0">
                    <a:solidFill>
                      <a:srgbClr val="00B0F0"/>
                    </a:solidFill>
                    <a:cs typeface="Calibri" panose="020F0502020204030204"/>
                  </a:rPr>
                  <a:t> becomes</a:t>
                </a:r>
                <a:r>
                  <a:rPr lang="en-US" sz="1400" spc="-75" dirty="0">
                    <a:solidFill>
                      <a:srgbClr val="00B0F0"/>
                    </a:solidFill>
                    <a:cs typeface="Calibri" panose="020F0502020204030204"/>
                  </a:rPr>
                  <a:t> </a:t>
                </a:r>
                <a:r>
                  <a:rPr lang="en-US" sz="1400" spc="-10" dirty="0">
                    <a:solidFill>
                      <a:srgbClr val="00B0F0"/>
                    </a:solidFill>
                    <a:cs typeface="Calibri" panose="020F0502020204030204"/>
                  </a:rPr>
                  <a:t>large</a:t>
                </a:r>
                <a:endParaRPr lang="en-US" sz="1400" dirty="0">
                  <a:solidFill>
                    <a:srgbClr val="00B0F0"/>
                  </a:solidFill>
                  <a:cs typeface="Calibri" panose="020F0502020204030204"/>
                </a:endParaRPr>
              </a:p>
            </p:txBody>
          </p:sp>
        </mc:Choice>
        <mc:Fallback xmlns="">
          <p:sp>
            <p:nvSpPr>
              <p:cNvPr id="18" name="TextBox 17"/>
              <p:cNvSpPr txBox="1">
                <a:spLocks noRot="1" noChangeAspect="1" noMove="1" noResize="1" noEditPoints="1" noAdjustHandles="1" noChangeArrowheads="1" noChangeShapeType="1" noTextEdit="1"/>
              </p:cNvSpPr>
              <p:nvPr/>
            </p:nvSpPr>
            <p:spPr>
              <a:xfrm>
                <a:off x="6518588" y="5668984"/>
                <a:ext cx="3588973" cy="523220"/>
              </a:xfrm>
              <a:prstGeom prst="rect">
                <a:avLst/>
              </a:prstGeom>
              <a:blipFill rotWithShape="1">
                <a:blip r:embed="rId6"/>
                <a:stretch>
                  <a:fillRect l="-9" t="-65" r="7" b="-31008"/>
                </a:stretch>
              </a:blipFill>
            </p:spPr>
            <p:txBody>
              <a:bodyPr/>
              <a:lstStyle/>
              <a:p>
                <a:r>
                  <a:rPr lang="en-US" altLang="en-US">
                    <a:noFill/>
                  </a:rPr>
                  <a:t> </a:t>
                </a:r>
              </a:p>
            </p:txBody>
          </p:sp>
        </mc:Fallback>
      </mc:AlternateContent>
      <p:sp>
        <p:nvSpPr>
          <p:cNvPr id="19" name="object 12"/>
          <p:cNvSpPr txBox="1"/>
          <p:nvPr/>
        </p:nvSpPr>
        <p:spPr>
          <a:xfrm>
            <a:off x="488263" y="5668984"/>
            <a:ext cx="4371428" cy="474489"/>
          </a:xfrm>
          <a:prstGeom prst="rect">
            <a:avLst/>
          </a:prstGeom>
        </p:spPr>
        <p:txBody>
          <a:bodyPr vert="horz" wrap="square" lIns="0" tIns="12700" rIns="0" bIns="0" rtlCol="0">
            <a:spAutoFit/>
          </a:bodyPr>
          <a:lstStyle/>
          <a:p>
            <a:pPr marR="6350">
              <a:lnSpc>
                <a:spcPct val="100000"/>
              </a:lnSpc>
              <a:spcBef>
                <a:spcPts val="100"/>
              </a:spcBef>
            </a:pPr>
            <a:r>
              <a:rPr sz="1000" spc="-5" dirty="0">
                <a:solidFill>
                  <a:schemeClr val="bg2">
                    <a:lumMod val="25000"/>
                  </a:schemeClr>
                </a:solidFill>
                <a:uFill>
                  <a:solidFill>
                    <a:srgbClr val="000000"/>
                  </a:solidFill>
                </a:uFill>
                <a:cs typeface="Calibri" panose="020F0502020204030204"/>
              </a:rPr>
              <a:t>Source</a:t>
            </a:r>
            <a:r>
              <a:rPr sz="1000" spc="-5" dirty="0">
                <a:solidFill>
                  <a:schemeClr val="bg2">
                    <a:lumMod val="25000"/>
                  </a:schemeClr>
                </a:solidFill>
                <a:cs typeface="Calibri" panose="020F0502020204030204"/>
              </a:rPr>
              <a:t>:</a:t>
            </a:r>
            <a:r>
              <a:rPr sz="1000" spc="10" dirty="0">
                <a:solidFill>
                  <a:schemeClr val="bg2">
                    <a:lumMod val="25000"/>
                  </a:schemeClr>
                </a:solidFill>
                <a:cs typeface="Calibri" panose="020F0502020204030204"/>
              </a:rPr>
              <a:t> </a:t>
            </a:r>
            <a:r>
              <a:rPr sz="1000" spc="-10" dirty="0">
                <a:solidFill>
                  <a:schemeClr val="bg2">
                    <a:lumMod val="25000"/>
                  </a:schemeClr>
                </a:solidFill>
                <a:cs typeface="Calibri" panose="020F0502020204030204"/>
              </a:rPr>
              <a:t>“On</a:t>
            </a:r>
            <a:r>
              <a:rPr sz="1000" spc="10" dirty="0">
                <a:solidFill>
                  <a:schemeClr val="bg2">
                    <a:lumMod val="25000"/>
                  </a:schemeClr>
                </a:solidFill>
                <a:cs typeface="Calibri" panose="020F0502020204030204"/>
              </a:rPr>
              <a:t> </a:t>
            </a:r>
            <a:r>
              <a:rPr sz="1000" dirty="0">
                <a:solidFill>
                  <a:schemeClr val="bg2">
                    <a:lumMod val="25000"/>
                  </a:schemeClr>
                </a:solidFill>
                <a:cs typeface="Calibri" panose="020F0502020204030204"/>
              </a:rPr>
              <a:t>the</a:t>
            </a:r>
            <a:r>
              <a:rPr sz="1000" spc="10" dirty="0">
                <a:solidFill>
                  <a:schemeClr val="bg2">
                    <a:lumMod val="25000"/>
                  </a:schemeClr>
                </a:solidFill>
                <a:cs typeface="Calibri" panose="020F0502020204030204"/>
              </a:rPr>
              <a:t> </a:t>
            </a:r>
            <a:r>
              <a:rPr sz="1000" spc="-5" dirty="0">
                <a:solidFill>
                  <a:schemeClr val="bg2">
                    <a:lumMod val="25000"/>
                  </a:schemeClr>
                </a:solidFill>
                <a:cs typeface="Calibri" panose="020F0502020204030204"/>
              </a:rPr>
              <a:t>difficulty</a:t>
            </a:r>
            <a:r>
              <a:rPr sz="1000" spc="10" dirty="0">
                <a:solidFill>
                  <a:schemeClr val="bg2">
                    <a:lumMod val="25000"/>
                  </a:schemeClr>
                </a:solidFill>
                <a:cs typeface="Calibri" panose="020F0502020204030204"/>
              </a:rPr>
              <a:t> </a:t>
            </a:r>
            <a:r>
              <a:rPr sz="1000" spc="-5" dirty="0">
                <a:solidFill>
                  <a:schemeClr val="bg2">
                    <a:lumMod val="25000"/>
                  </a:schemeClr>
                </a:solidFill>
                <a:cs typeface="Calibri" panose="020F0502020204030204"/>
              </a:rPr>
              <a:t>of</a:t>
            </a:r>
            <a:r>
              <a:rPr sz="1000" spc="5" dirty="0">
                <a:solidFill>
                  <a:schemeClr val="bg2">
                    <a:lumMod val="25000"/>
                  </a:schemeClr>
                </a:solidFill>
                <a:cs typeface="Calibri" panose="020F0502020204030204"/>
              </a:rPr>
              <a:t> </a:t>
            </a:r>
            <a:r>
              <a:rPr sz="1000" spc="-5" dirty="0">
                <a:solidFill>
                  <a:schemeClr val="bg2">
                    <a:lumMod val="25000"/>
                  </a:schemeClr>
                </a:solidFill>
                <a:cs typeface="Calibri" panose="020F0502020204030204"/>
              </a:rPr>
              <a:t>training</a:t>
            </a:r>
            <a:r>
              <a:rPr sz="1000" spc="10" dirty="0">
                <a:solidFill>
                  <a:schemeClr val="bg2">
                    <a:lumMod val="25000"/>
                  </a:schemeClr>
                </a:solidFill>
                <a:cs typeface="Calibri" panose="020F0502020204030204"/>
              </a:rPr>
              <a:t> </a:t>
            </a:r>
            <a:r>
              <a:rPr sz="1000" spc="-10" dirty="0">
                <a:solidFill>
                  <a:schemeClr val="bg2">
                    <a:lumMod val="25000"/>
                  </a:schemeClr>
                </a:solidFill>
                <a:cs typeface="Calibri" panose="020F0502020204030204"/>
              </a:rPr>
              <a:t>recurrent</a:t>
            </a:r>
            <a:r>
              <a:rPr sz="1000" spc="20" dirty="0">
                <a:solidFill>
                  <a:schemeClr val="bg2">
                    <a:lumMod val="25000"/>
                  </a:schemeClr>
                </a:solidFill>
                <a:cs typeface="Calibri" panose="020F0502020204030204"/>
              </a:rPr>
              <a:t> </a:t>
            </a:r>
            <a:r>
              <a:rPr sz="1000" spc="-5" dirty="0">
                <a:solidFill>
                  <a:schemeClr val="bg2">
                    <a:lumMod val="25000"/>
                  </a:schemeClr>
                </a:solidFill>
                <a:cs typeface="Calibri" panose="020F0502020204030204"/>
              </a:rPr>
              <a:t>neural</a:t>
            </a:r>
            <a:r>
              <a:rPr sz="1000" spc="10" dirty="0">
                <a:solidFill>
                  <a:schemeClr val="bg2">
                    <a:lumMod val="25000"/>
                  </a:schemeClr>
                </a:solidFill>
                <a:cs typeface="Calibri" panose="020F0502020204030204"/>
              </a:rPr>
              <a:t> </a:t>
            </a:r>
            <a:r>
              <a:rPr sz="1000" spc="-20" dirty="0">
                <a:solidFill>
                  <a:schemeClr val="bg2">
                    <a:lumMod val="25000"/>
                  </a:schemeClr>
                </a:solidFill>
                <a:cs typeface="Calibri" panose="020F0502020204030204"/>
              </a:rPr>
              <a:t>networks”,</a:t>
            </a:r>
            <a:r>
              <a:rPr sz="1000" spc="10" dirty="0">
                <a:solidFill>
                  <a:schemeClr val="bg2">
                    <a:lumMod val="25000"/>
                  </a:schemeClr>
                </a:solidFill>
                <a:cs typeface="Calibri" panose="020F0502020204030204"/>
              </a:rPr>
              <a:t> </a:t>
            </a:r>
            <a:r>
              <a:rPr sz="1000" spc="-10" dirty="0">
                <a:solidFill>
                  <a:schemeClr val="bg2">
                    <a:lumMod val="25000"/>
                  </a:schemeClr>
                </a:solidFill>
                <a:cs typeface="Calibri" panose="020F0502020204030204"/>
              </a:rPr>
              <a:t>Pascanu</a:t>
            </a:r>
            <a:r>
              <a:rPr sz="1000" spc="10" dirty="0">
                <a:solidFill>
                  <a:schemeClr val="bg2">
                    <a:lumMod val="25000"/>
                  </a:schemeClr>
                </a:solidFill>
                <a:cs typeface="Calibri" panose="020F0502020204030204"/>
              </a:rPr>
              <a:t> </a:t>
            </a:r>
            <a:r>
              <a:rPr sz="1000" spc="-5" dirty="0">
                <a:solidFill>
                  <a:schemeClr val="bg2">
                    <a:lumMod val="25000"/>
                  </a:schemeClr>
                </a:solidFill>
                <a:cs typeface="Calibri" panose="020F0502020204030204"/>
              </a:rPr>
              <a:t>et</a:t>
            </a:r>
            <a:r>
              <a:rPr sz="1000" spc="15" dirty="0">
                <a:solidFill>
                  <a:schemeClr val="bg2">
                    <a:lumMod val="25000"/>
                  </a:schemeClr>
                </a:solidFill>
                <a:cs typeface="Calibri" panose="020F0502020204030204"/>
              </a:rPr>
              <a:t> </a:t>
            </a:r>
            <a:r>
              <a:rPr sz="1000" dirty="0">
                <a:solidFill>
                  <a:schemeClr val="bg2">
                    <a:lumMod val="25000"/>
                  </a:schemeClr>
                </a:solidFill>
                <a:cs typeface="Calibri" panose="020F0502020204030204"/>
              </a:rPr>
              <a:t>al,</a:t>
            </a:r>
            <a:r>
              <a:rPr sz="1000" spc="15" dirty="0">
                <a:solidFill>
                  <a:schemeClr val="bg2">
                    <a:lumMod val="25000"/>
                  </a:schemeClr>
                </a:solidFill>
                <a:cs typeface="Calibri" panose="020F0502020204030204"/>
              </a:rPr>
              <a:t> </a:t>
            </a:r>
            <a:r>
              <a:rPr sz="1000" dirty="0">
                <a:solidFill>
                  <a:schemeClr val="bg2">
                    <a:lumMod val="25000"/>
                  </a:schemeClr>
                </a:solidFill>
                <a:cs typeface="Calibri" panose="020F0502020204030204"/>
              </a:rPr>
              <a:t>2013.</a:t>
            </a:r>
            <a:r>
              <a:rPr sz="1000" spc="5" dirty="0">
                <a:solidFill>
                  <a:schemeClr val="bg2">
                    <a:lumMod val="25000"/>
                  </a:schemeClr>
                </a:solidFill>
                <a:cs typeface="Calibri" panose="020F0502020204030204"/>
              </a:rPr>
              <a:t> </a:t>
            </a:r>
            <a:r>
              <a:rPr sz="1000" u="sng" spc="-10" dirty="0">
                <a:solidFill>
                  <a:srgbClr val="4198B5"/>
                </a:solidFill>
                <a:uFill>
                  <a:solidFill>
                    <a:srgbClr val="4198B5"/>
                  </a:solidFill>
                </a:uFill>
                <a:cs typeface="Calibri" panose="020F0502020204030204"/>
                <a:hlinkClick r:id="rId7"/>
              </a:rPr>
              <a:t>http://proceedings.mlr.press/v28/pascanu13.pdf</a:t>
            </a:r>
            <a:r>
              <a:rPr lang="en-US" sz="1000" u="sng" spc="-10" dirty="0">
                <a:uFill>
                  <a:solidFill>
                    <a:srgbClr val="4198B5"/>
                  </a:solidFill>
                </a:uFill>
                <a:cs typeface="Calibri" panose="020F0502020204030204"/>
              </a:rPr>
              <a:t> </a:t>
            </a:r>
            <a:r>
              <a:rPr sz="1000" dirty="0">
                <a:solidFill>
                  <a:schemeClr val="bg2">
                    <a:lumMod val="25000"/>
                  </a:schemeClr>
                </a:solidFill>
                <a:cs typeface="Calibri" panose="020F0502020204030204"/>
              </a:rPr>
              <a:t>(and</a:t>
            </a:r>
            <a:r>
              <a:rPr sz="1000" spc="30" dirty="0">
                <a:solidFill>
                  <a:schemeClr val="bg2">
                    <a:lumMod val="25000"/>
                  </a:schemeClr>
                </a:solidFill>
                <a:cs typeface="Calibri" panose="020F0502020204030204"/>
              </a:rPr>
              <a:t> </a:t>
            </a:r>
            <a:r>
              <a:rPr sz="1000" spc="-5" dirty="0">
                <a:solidFill>
                  <a:schemeClr val="bg2">
                    <a:lumMod val="25000"/>
                  </a:schemeClr>
                </a:solidFill>
                <a:cs typeface="Calibri" panose="020F0502020204030204"/>
              </a:rPr>
              <a:t>supplemental</a:t>
            </a:r>
            <a:r>
              <a:rPr sz="1000" spc="35" dirty="0">
                <a:solidFill>
                  <a:schemeClr val="bg2">
                    <a:lumMod val="25000"/>
                  </a:schemeClr>
                </a:solidFill>
                <a:cs typeface="Calibri" panose="020F0502020204030204"/>
              </a:rPr>
              <a:t> </a:t>
            </a:r>
            <a:r>
              <a:rPr sz="1000" spc="-5" dirty="0">
                <a:solidFill>
                  <a:schemeClr val="bg2">
                    <a:lumMod val="25000"/>
                  </a:schemeClr>
                </a:solidFill>
                <a:cs typeface="Calibri" panose="020F0502020204030204"/>
              </a:rPr>
              <a:t>materials),</a:t>
            </a:r>
            <a:r>
              <a:rPr sz="1000" spc="30" dirty="0">
                <a:solidFill>
                  <a:schemeClr val="bg2">
                    <a:lumMod val="25000"/>
                  </a:schemeClr>
                </a:solidFill>
                <a:cs typeface="Calibri" panose="020F0502020204030204"/>
              </a:rPr>
              <a:t> </a:t>
            </a:r>
            <a:r>
              <a:rPr sz="1000" spc="-5" dirty="0">
                <a:solidFill>
                  <a:schemeClr val="bg2">
                    <a:lumMod val="25000"/>
                  </a:schemeClr>
                </a:solidFill>
                <a:cs typeface="Calibri" panose="020F0502020204030204"/>
              </a:rPr>
              <a:t>at</a:t>
            </a:r>
            <a:r>
              <a:rPr lang="en-US" sz="1000" spc="40" dirty="0">
                <a:solidFill>
                  <a:schemeClr val="bg2">
                    <a:lumMod val="25000"/>
                  </a:schemeClr>
                </a:solidFill>
                <a:cs typeface="Calibri" panose="020F0502020204030204"/>
              </a:rPr>
              <a:t> </a:t>
            </a:r>
            <a:r>
              <a:rPr sz="1000" u="sng" spc="-10" dirty="0">
                <a:solidFill>
                  <a:srgbClr val="4198B5"/>
                </a:solidFill>
                <a:uFill>
                  <a:solidFill>
                    <a:srgbClr val="4198B5"/>
                  </a:solidFill>
                </a:uFill>
                <a:cs typeface="Calibri" panose="020F0502020204030204"/>
                <a:hlinkClick r:id="rId8"/>
              </a:rPr>
              <a:t>http://proceedings.mlr.press/v28/pascanu13-supp.pdf</a:t>
            </a:r>
            <a:endParaRPr sz="1000" dirty="0">
              <a:cs typeface="Calibri" panose="020F0502020204030204"/>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Vanishing gradient proof sketch (linear case)</a:t>
            </a:r>
            <a:endParaRPr lang="en-IN"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a:lnSpc>
                    <a:spcPct val="100000"/>
                  </a:lnSpc>
                </a:pPr>
                <a:r>
                  <a:rPr lang="en-US" sz="2000" b="1" dirty="0"/>
                  <a:t>What’s wrong with </a:t>
                </a:r>
                <a14:m>
                  <m:oMath xmlns:m="http://schemas.openxmlformats.org/officeDocument/2006/math">
                    <m:sSubSup>
                      <m:sSubSupPr>
                        <m:ctrlPr>
                          <a:rPr lang="en-US" sz="2000" b="1" i="1" smtClean="0">
                            <a:latin typeface="Cambria Math" panose="02040503050406030204" pitchFamily="18" charset="0"/>
                          </a:rPr>
                        </m:ctrlPr>
                      </m:sSubSupPr>
                      <m:e>
                        <m:r>
                          <a:rPr lang="en-US" sz="2000" b="1" i="1" smtClean="0">
                            <a:latin typeface="Cambria Math" panose="02040503050406030204" pitchFamily="18" charset="0"/>
                          </a:rPr>
                          <m:t>𝑾</m:t>
                        </m:r>
                      </m:e>
                      <m:sub>
                        <m:r>
                          <a:rPr lang="en-US" sz="2000" b="1" i="1" smtClean="0">
                            <a:latin typeface="Cambria Math" panose="02040503050406030204" pitchFamily="18" charset="0"/>
                          </a:rPr>
                          <m:t>𝒉</m:t>
                        </m:r>
                      </m:sub>
                      <m:sup>
                        <m:r>
                          <a:rPr lang="en-US" sz="2000" b="1" i="1" smtClean="0">
                            <a:latin typeface="Cambria Math" panose="02040503050406030204" pitchFamily="18" charset="0"/>
                          </a:rPr>
                          <m:t>𝒍</m:t>
                        </m:r>
                      </m:sup>
                    </m:sSubSup>
                  </m:oMath>
                </a14:m>
                <a:r>
                  <a:rPr lang="en-US" sz="2000" b="1" dirty="0"/>
                  <a:t>?</a:t>
                </a:r>
              </a:p>
              <a:p>
                <a:pPr>
                  <a:lnSpc>
                    <a:spcPct val="100000"/>
                  </a:lnSpc>
                </a:pPr>
                <a:r>
                  <a:rPr lang="en-US" sz="2000" dirty="0"/>
                  <a:t>Consider if the eigenvalues of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𝑊</m:t>
                        </m:r>
                      </m:e>
                      <m:sub>
                        <m:r>
                          <a:rPr lang="en-US" sz="2000" b="0" i="1" smtClean="0">
                            <a:latin typeface="Cambria Math" panose="02040503050406030204" pitchFamily="18" charset="0"/>
                          </a:rPr>
                          <m:t>h</m:t>
                        </m:r>
                      </m:sub>
                    </m:sSub>
                  </m:oMath>
                </a14:m>
                <a:r>
                  <a:rPr lang="en-US" sz="2000" dirty="0"/>
                  <a:t> are all less than 1 :</a:t>
                </a:r>
              </a:p>
              <a:p>
                <a:pPr lvl="1">
                  <a:lnSpc>
                    <a:spcPct val="100000"/>
                  </a:lnSpc>
                </a:pP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𝜆</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𝜆</m:t>
                        </m:r>
                      </m:e>
                      <m:sub>
                        <m:r>
                          <a:rPr lang="en-US" b="0" i="1" smtClean="0">
                            <a:latin typeface="Cambria Math" panose="02040503050406030204" pitchFamily="18" charset="0"/>
                            <a:ea typeface="Cambria Math" panose="02040503050406030204" pitchFamily="18" charset="0"/>
                          </a:rPr>
                          <m:t>2</m:t>
                        </m:r>
                      </m:sub>
                    </m:sSub>
                    <m:r>
                      <a:rPr lang="en-US" b="0" i="0" smtClean="0">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𝜆</m:t>
                        </m:r>
                      </m:e>
                      <m:sub>
                        <m:r>
                          <a:rPr lang="en-US" b="0" i="1" smtClean="0">
                            <a:latin typeface="Cambria Math" panose="02040503050406030204" pitchFamily="18" charset="0"/>
                            <a:ea typeface="Cambria Math" panose="02040503050406030204" pitchFamily="18" charset="0"/>
                          </a:rPr>
                          <m:t>𝑛</m:t>
                        </m:r>
                      </m:sub>
                    </m:sSub>
                    <m:r>
                      <a:rPr lang="en-US" b="0" i="1" smtClean="0">
                        <a:latin typeface="Cambria Math" panose="02040503050406030204" pitchFamily="18" charset="0"/>
                      </a:rPr>
                      <m:t>&lt;1</m:t>
                    </m:r>
                  </m:oMath>
                </a14:m>
                <a:endParaRPr lang="en-US" dirty="0"/>
              </a:p>
              <a:p>
                <a:pPr lvl="1">
                  <a:lnSpc>
                    <a:spcPct val="100000"/>
                  </a:lnSpc>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𝑛</m:t>
                        </m:r>
                      </m:sub>
                    </m:sSub>
                  </m:oMath>
                </a14:m>
                <a:r>
                  <a:rPr lang="en-US" dirty="0"/>
                  <a:t> (eigenvectors)</a:t>
                </a:r>
              </a:p>
              <a:p>
                <a:pPr>
                  <a:lnSpc>
                    <a:spcPct val="100000"/>
                  </a:lnSpc>
                </a:pPr>
                <a:r>
                  <a:rPr lang="en-US" sz="2000" dirty="0"/>
                  <a:t>We can write                           using eigenvectors of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𝑊</m:t>
                        </m:r>
                      </m:e>
                      <m:sub>
                        <m:r>
                          <a:rPr lang="en-US" sz="2000" b="0" i="1" smtClean="0">
                            <a:latin typeface="Cambria Math" panose="02040503050406030204" pitchFamily="18" charset="0"/>
                          </a:rPr>
                          <m:t>h</m:t>
                        </m:r>
                      </m:sub>
                    </m:sSub>
                  </m:oMath>
                </a14:m>
                <a:r>
                  <a:rPr lang="en-US" sz="2000" dirty="0"/>
                  <a:t> as a basis:</a:t>
                </a:r>
              </a:p>
              <a:p>
                <a:pPr marL="0" indent="0">
                  <a:lnSpc>
                    <a:spcPct val="100000"/>
                  </a:lnSpc>
                  <a:buNone/>
                </a:pPr>
                <a:endParaRPr lang="en-US" sz="2000" dirty="0"/>
              </a:p>
              <a:p>
                <a:pPr marL="0" indent="0">
                  <a:buNone/>
                </a:pPr>
                <a:endParaRPr lang="en-US" sz="2000"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blipFill rotWithShape="1">
                <a:blip r:embed="rId2"/>
                <a:stretch>
                  <a:fillRect/>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4806338" y="4784455"/>
                <a:ext cx="3588973" cy="307777"/>
              </a:xfrm>
              <a:prstGeom prst="rect">
                <a:avLst/>
              </a:prstGeom>
              <a:solidFill>
                <a:schemeClr val="bg1"/>
              </a:solidFill>
            </p:spPr>
            <p:txBody>
              <a:bodyPr wrap="square" rtlCol="0">
                <a:spAutoFit/>
              </a:bodyPr>
              <a:lstStyle/>
              <a:p>
                <a:pPr algn="ctr"/>
                <a:r>
                  <a:rPr lang="en-US" sz="1400" spc="-5" dirty="0">
                    <a:solidFill>
                      <a:srgbClr val="00B0F0"/>
                    </a:solidFill>
                    <a:cs typeface="Calibri" panose="020F0502020204030204"/>
                  </a:rPr>
                  <a:t>Approaches 0 </a:t>
                </a:r>
                <a:r>
                  <a:rPr lang="en-US" sz="1400" dirty="0">
                    <a:solidFill>
                      <a:srgbClr val="00B0F0"/>
                    </a:solidFill>
                    <a:cs typeface="Calibri" panose="020F0502020204030204"/>
                  </a:rPr>
                  <a:t>as </a:t>
                </a:r>
                <a14:m>
                  <m:oMath xmlns:m="http://schemas.openxmlformats.org/officeDocument/2006/math">
                    <m:r>
                      <a:rPr lang="en-US" sz="1400" b="0" i="1" smtClean="0">
                        <a:solidFill>
                          <a:srgbClr val="00B0F0"/>
                        </a:solidFill>
                        <a:latin typeface="Cambria Math" panose="02040503050406030204" pitchFamily="18" charset="0"/>
                        <a:cs typeface="Calibri" panose="020F0502020204030204"/>
                      </a:rPr>
                      <m:t>𝑙</m:t>
                    </m:r>
                  </m:oMath>
                </a14:m>
                <a:r>
                  <a:rPr lang="en-US" sz="1400" spc="-5" dirty="0">
                    <a:solidFill>
                      <a:srgbClr val="00B0F0"/>
                    </a:solidFill>
                    <a:cs typeface="Calibri" panose="020F0502020204030204"/>
                  </a:rPr>
                  <a:t> grows, so gradient vanishes </a:t>
                </a:r>
                <a:endParaRPr lang="en-US" sz="1400" dirty="0">
                  <a:solidFill>
                    <a:srgbClr val="00B0F0"/>
                  </a:solidFill>
                  <a:cs typeface="Calibri" panose="020F0502020204030204"/>
                </a:endParaRPr>
              </a:p>
            </p:txBody>
          </p:sp>
        </mc:Choice>
        <mc:Fallback xmlns="">
          <p:sp>
            <p:nvSpPr>
              <p:cNvPr id="18" name="TextBox 17"/>
              <p:cNvSpPr txBox="1">
                <a:spLocks noRot="1" noChangeAspect="1" noMove="1" noResize="1" noEditPoints="1" noAdjustHandles="1" noChangeArrowheads="1" noChangeShapeType="1" noTextEdit="1"/>
              </p:cNvSpPr>
              <p:nvPr/>
            </p:nvSpPr>
            <p:spPr>
              <a:xfrm>
                <a:off x="4806338" y="4784455"/>
                <a:ext cx="3588973" cy="307777"/>
              </a:xfrm>
              <a:prstGeom prst="rect">
                <a:avLst/>
              </a:prstGeom>
              <a:blipFill rotWithShape="1">
                <a:blip r:embed="rId3"/>
                <a:stretch>
                  <a:fillRect l="-1" t="-119" r="17" b="-53382"/>
                </a:stretch>
              </a:blipFill>
            </p:spPr>
            <p:txBody>
              <a:bodyPr/>
              <a:lstStyle/>
              <a:p>
                <a:r>
                  <a:rPr lang="en-US" altLang="en-US">
                    <a:noFill/>
                  </a:rPr>
                  <a:t> </a:t>
                </a:r>
              </a:p>
            </p:txBody>
          </p:sp>
        </mc:Fallback>
      </mc:AlternateContent>
      <p:sp>
        <p:nvSpPr>
          <p:cNvPr id="19" name="object 12"/>
          <p:cNvSpPr txBox="1"/>
          <p:nvPr/>
        </p:nvSpPr>
        <p:spPr>
          <a:xfrm>
            <a:off x="488263" y="5668984"/>
            <a:ext cx="6112562" cy="474489"/>
          </a:xfrm>
          <a:prstGeom prst="rect">
            <a:avLst/>
          </a:prstGeom>
        </p:spPr>
        <p:txBody>
          <a:bodyPr vert="horz" wrap="square" lIns="0" tIns="12700" rIns="0" bIns="0" rtlCol="0">
            <a:spAutoFit/>
          </a:bodyPr>
          <a:lstStyle/>
          <a:p>
            <a:pPr marR="6350">
              <a:lnSpc>
                <a:spcPct val="100000"/>
              </a:lnSpc>
              <a:spcBef>
                <a:spcPts val="100"/>
              </a:spcBef>
            </a:pPr>
            <a:r>
              <a:rPr sz="1000" spc="-5" dirty="0">
                <a:solidFill>
                  <a:schemeClr val="bg2">
                    <a:lumMod val="25000"/>
                  </a:schemeClr>
                </a:solidFill>
                <a:uFill>
                  <a:solidFill>
                    <a:srgbClr val="000000"/>
                  </a:solidFill>
                </a:uFill>
                <a:cs typeface="Calibri" panose="020F0502020204030204"/>
              </a:rPr>
              <a:t>Source</a:t>
            </a:r>
            <a:r>
              <a:rPr sz="1000" spc="-5" dirty="0">
                <a:solidFill>
                  <a:schemeClr val="bg2">
                    <a:lumMod val="25000"/>
                  </a:schemeClr>
                </a:solidFill>
                <a:cs typeface="Calibri" panose="020F0502020204030204"/>
              </a:rPr>
              <a:t>:</a:t>
            </a:r>
            <a:r>
              <a:rPr sz="1000" spc="10" dirty="0">
                <a:solidFill>
                  <a:schemeClr val="bg2">
                    <a:lumMod val="25000"/>
                  </a:schemeClr>
                </a:solidFill>
                <a:cs typeface="Calibri" panose="020F0502020204030204"/>
              </a:rPr>
              <a:t> </a:t>
            </a:r>
            <a:r>
              <a:rPr sz="1000" spc="-10" dirty="0">
                <a:solidFill>
                  <a:schemeClr val="bg2">
                    <a:lumMod val="25000"/>
                  </a:schemeClr>
                </a:solidFill>
                <a:cs typeface="Calibri" panose="020F0502020204030204"/>
              </a:rPr>
              <a:t>“On</a:t>
            </a:r>
            <a:r>
              <a:rPr sz="1000" spc="10" dirty="0">
                <a:solidFill>
                  <a:schemeClr val="bg2">
                    <a:lumMod val="25000"/>
                  </a:schemeClr>
                </a:solidFill>
                <a:cs typeface="Calibri" panose="020F0502020204030204"/>
              </a:rPr>
              <a:t> </a:t>
            </a:r>
            <a:r>
              <a:rPr sz="1000" dirty="0">
                <a:solidFill>
                  <a:schemeClr val="bg2">
                    <a:lumMod val="25000"/>
                  </a:schemeClr>
                </a:solidFill>
                <a:cs typeface="Calibri" panose="020F0502020204030204"/>
              </a:rPr>
              <a:t>the</a:t>
            </a:r>
            <a:r>
              <a:rPr sz="1000" spc="10" dirty="0">
                <a:solidFill>
                  <a:schemeClr val="bg2">
                    <a:lumMod val="25000"/>
                  </a:schemeClr>
                </a:solidFill>
                <a:cs typeface="Calibri" panose="020F0502020204030204"/>
              </a:rPr>
              <a:t> </a:t>
            </a:r>
            <a:r>
              <a:rPr sz="1000" spc="-5" dirty="0">
                <a:solidFill>
                  <a:schemeClr val="bg2">
                    <a:lumMod val="25000"/>
                  </a:schemeClr>
                </a:solidFill>
                <a:cs typeface="Calibri" panose="020F0502020204030204"/>
              </a:rPr>
              <a:t>difficulty</a:t>
            </a:r>
            <a:r>
              <a:rPr sz="1000" spc="10" dirty="0">
                <a:solidFill>
                  <a:schemeClr val="bg2">
                    <a:lumMod val="25000"/>
                  </a:schemeClr>
                </a:solidFill>
                <a:cs typeface="Calibri" panose="020F0502020204030204"/>
              </a:rPr>
              <a:t> </a:t>
            </a:r>
            <a:r>
              <a:rPr sz="1000" spc="-5" dirty="0">
                <a:solidFill>
                  <a:schemeClr val="bg2">
                    <a:lumMod val="25000"/>
                  </a:schemeClr>
                </a:solidFill>
                <a:cs typeface="Calibri" panose="020F0502020204030204"/>
              </a:rPr>
              <a:t>of</a:t>
            </a:r>
            <a:r>
              <a:rPr sz="1000" spc="5" dirty="0">
                <a:solidFill>
                  <a:schemeClr val="bg2">
                    <a:lumMod val="25000"/>
                  </a:schemeClr>
                </a:solidFill>
                <a:cs typeface="Calibri" panose="020F0502020204030204"/>
              </a:rPr>
              <a:t> </a:t>
            </a:r>
            <a:r>
              <a:rPr sz="1000" spc="-5" dirty="0">
                <a:solidFill>
                  <a:schemeClr val="bg2">
                    <a:lumMod val="25000"/>
                  </a:schemeClr>
                </a:solidFill>
                <a:cs typeface="Calibri" panose="020F0502020204030204"/>
              </a:rPr>
              <a:t>training</a:t>
            </a:r>
            <a:r>
              <a:rPr sz="1000" spc="10" dirty="0">
                <a:solidFill>
                  <a:schemeClr val="bg2">
                    <a:lumMod val="25000"/>
                  </a:schemeClr>
                </a:solidFill>
                <a:cs typeface="Calibri" panose="020F0502020204030204"/>
              </a:rPr>
              <a:t> </a:t>
            </a:r>
            <a:r>
              <a:rPr sz="1000" spc="-10" dirty="0">
                <a:solidFill>
                  <a:schemeClr val="bg2">
                    <a:lumMod val="25000"/>
                  </a:schemeClr>
                </a:solidFill>
                <a:cs typeface="Calibri" panose="020F0502020204030204"/>
              </a:rPr>
              <a:t>recurrent</a:t>
            </a:r>
            <a:r>
              <a:rPr sz="1000" spc="20" dirty="0">
                <a:solidFill>
                  <a:schemeClr val="bg2">
                    <a:lumMod val="25000"/>
                  </a:schemeClr>
                </a:solidFill>
                <a:cs typeface="Calibri" panose="020F0502020204030204"/>
              </a:rPr>
              <a:t> </a:t>
            </a:r>
            <a:r>
              <a:rPr sz="1000" spc="-5" dirty="0">
                <a:solidFill>
                  <a:schemeClr val="bg2">
                    <a:lumMod val="25000"/>
                  </a:schemeClr>
                </a:solidFill>
                <a:cs typeface="Calibri" panose="020F0502020204030204"/>
              </a:rPr>
              <a:t>neural</a:t>
            </a:r>
            <a:r>
              <a:rPr sz="1000" spc="10" dirty="0">
                <a:solidFill>
                  <a:schemeClr val="bg2">
                    <a:lumMod val="25000"/>
                  </a:schemeClr>
                </a:solidFill>
                <a:cs typeface="Calibri" panose="020F0502020204030204"/>
              </a:rPr>
              <a:t> </a:t>
            </a:r>
            <a:r>
              <a:rPr sz="1000" spc="-20" dirty="0">
                <a:solidFill>
                  <a:schemeClr val="bg2">
                    <a:lumMod val="25000"/>
                  </a:schemeClr>
                </a:solidFill>
                <a:cs typeface="Calibri" panose="020F0502020204030204"/>
              </a:rPr>
              <a:t>networks”,</a:t>
            </a:r>
            <a:r>
              <a:rPr sz="1000" spc="10" dirty="0">
                <a:solidFill>
                  <a:schemeClr val="bg2">
                    <a:lumMod val="25000"/>
                  </a:schemeClr>
                </a:solidFill>
                <a:cs typeface="Calibri" panose="020F0502020204030204"/>
              </a:rPr>
              <a:t> </a:t>
            </a:r>
            <a:r>
              <a:rPr sz="1000" spc="-10" dirty="0">
                <a:solidFill>
                  <a:schemeClr val="bg2">
                    <a:lumMod val="25000"/>
                  </a:schemeClr>
                </a:solidFill>
                <a:cs typeface="Calibri" panose="020F0502020204030204"/>
              </a:rPr>
              <a:t>Pascanu</a:t>
            </a:r>
            <a:r>
              <a:rPr sz="1000" spc="10" dirty="0">
                <a:solidFill>
                  <a:schemeClr val="bg2">
                    <a:lumMod val="25000"/>
                  </a:schemeClr>
                </a:solidFill>
                <a:cs typeface="Calibri" panose="020F0502020204030204"/>
              </a:rPr>
              <a:t> </a:t>
            </a:r>
            <a:r>
              <a:rPr sz="1000" spc="-5" dirty="0">
                <a:solidFill>
                  <a:schemeClr val="bg2">
                    <a:lumMod val="25000"/>
                  </a:schemeClr>
                </a:solidFill>
                <a:cs typeface="Calibri" panose="020F0502020204030204"/>
              </a:rPr>
              <a:t>et</a:t>
            </a:r>
            <a:r>
              <a:rPr sz="1000" spc="15" dirty="0">
                <a:solidFill>
                  <a:schemeClr val="bg2">
                    <a:lumMod val="25000"/>
                  </a:schemeClr>
                </a:solidFill>
                <a:cs typeface="Calibri" panose="020F0502020204030204"/>
              </a:rPr>
              <a:t> </a:t>
            </a:r>
            <a:r>
              <a:rPr sz="1000" dirty="0">
                <a:solidFill>
                  <a:schemeClr val="bg2">
                    <a:lumMod val="25000"/>
                  </a:schemeClr>
                </a:solidFill>
                <a:cs typeface="Calibri" panose="020F0502020204030204"/>
              </a:rPr>
              <a:t>al,</a:t>
            </a:r>
            <a:r>
              <a:rPr sz="1000" spc="15" dirty="0">
                <a:solidFill>
                  <a:schemeClr val="bg2">
                    <a:lumMod val="25000"/>
                  </a:schemeClr>
                </a:solidFill>
                <a:cs typeface="Calibri" panose="020F0502020204030204"/>
              </a:rPr>
              <a:t> </a:t>
            </a:r>
            <a:r>
              <a:rPr sz="1000" dirty="0">
                <a:solidFill>
                  <a:schemeClr val="bg2">
                    <a:lumMod val="25000"/>
                  </a:schemeClr>
                </a:solidFill>
                <a:cs typeface="Calibri" panose="020F0502020204030204"/>
              </a:rPr>
              <a:t>2013.</a:t>
            </a:r>
            <a:r>
              <a:rPr sz="1000" spc="5" dirty="0">
                <a:solidFill>
                  <a:schemeClr val="bg2">
                    <a:lumMod val="25000"/>
                  </a:schemeClr>
                </a:solidFill>
                <a:cs typeface="Calibri" panose="020F0502020204030204"/>
              </a:rPr>
              <a:t> </a:t>
            </a:r>
            <a:r>
              <a:rPr sz="1000" u="sng" spc="-10" dirty="0">
                <a:solidFill>
                  <a:srgbClr val="4198B5"/>
                </a:solidFill>
                <a:uFill>
                  <a:solidFill>
                    <a:srgbClr val="4198B5"/>
                  </a:solidFill>
                </a:uFill>
                <a:cs typeface="Calibri" panose="020F0502020204030204"/>
                <a:hlinkClick r:id="rId4"/>
              </a:rPr>
              <a:t>http://proceedings.mlr.press/v28/pascanu13.pdf</a:t>
            </a:r>
            <a:r>
              <a:rPr lang="en-US" sz="1000" u="sng" spc="-10" dirty="0">
                <a:uFill>
                  <a:solidFill>
                    <a:srgbClr val="4198B5"/>
                  </a:solidFill>
                </a:uFill>
                <a:cs typeface="Calibri" panose="020F0502020204030204"/>
              </a:rPr>
              <a:t> </a:t>
            </a:r>
            <a:r>
              <a:rPr sz="1000" dirty="0">
                <a:solidFill>
                  <a:schemeClr val="bg2">
                    <a:lumMod val="25000"/>
                  </a:schemeClr>
                </a:solidFill>
                <a:cs typeface="Calibri" panose="020F0502020204030204"/>
              </a:rPr>
              <a:t>(and</a:t>
            </a:r>
            <a:r>
              <a:rPr sz="1000" spc="30" dirty="0">
                <a:solidFill>
                  <a:schemeClr val="bg2">
                    <a:lumMod val="25000"/>
                  </a:schemeClr>
                </a:solidFill>
                <a:cs typeface="Calibri" panose="020F0502020204030204"/>
              </a:rPr>
              <a:t> </a:t>
            </a:r>
            <a:r>
              <a:rPr sz="1000" spc="-5" dirty="0">
                <a:solidFill>
                  <a:schemeClr val="bg2">
                    <a:lumMod val="25000"/>
                  </a:schemeClr>
                </a:solidFill>
                <a:cs typeface="Calibri" panose="020F0502020204030204"/>
              </a:rPr>
              <a:t>supplemental</a:t>
            </a:r>
            <a:r>
              <a:rPr sz="1000" spc="35" dirty="0">
                <a:solidFill>
                  <a:schemeClr val="bg2">
                    <a:lumMod val="25000"/>
                  </a:schemeClr>
                </a:solidFill>
                <a:cs typeface="Calibri" panose="020F0502020204030204"/>
              </a:rPr>
              <a:t> </a:t>
            </a:r>
            <a:r>
              <a:rPr sz="1000" spc="-5" dirty="0">
                <a:solidFill>
                  <a:schemeClr val="bg2">
                    <a:lumMod val="25000"/>
                  </a:schemeClr>
                </a:solidFill>
                <a:cs typeface="Calibri" panose="020F0502020204030204"/>
              </a:rPr>
              <a:t>materials),</a:t>
            </a:r>
            <a:r>
              <a:rPr sz="1000" spc="30" dirty="0">
                <a:solidFill>
                  <a:schemeClr val="bg2">
                    <a:lumMod val="25000"/>
                  </a:schemeClr>
                </a:solidFill>
                <a:cs typeface="Calibri" panose="020F0502020204030204"/>
              </a:rPr>
              <a:t> </a:t>
            </a:r>
            <a:r>
              <a:rPr sz="1000" spc="-5" dirty="0">
                <a:solidFill>
                  <a:schemeClr val="bg2">
                    <a:lumMod val="25000"/>
                  </a:schemeClr>
                </a:solidFill>
                <a:cs typeface="Calibri" panose="020F0502020204030204"/>
              </a:rPr>
              <a:t>at</a:t>
            </a:r>
            <a:r>
              <a:rPr lang="en-US" sz="1000" spc="40" dirty="0">
                <a:solidFill>
                  <a:schemeClr val="bg2">
                    <a:lumMod val="25000"/>
                  </a:schemeClr>
                </a:solidFill>
                <a:cs typeface="Calibri" panose="020F0502020204030204"/>
              </a:rPr>
              <a:t> </a:t>
            </a:r>
            <a:r>
              <a:rPr sz="1000" u="sng" spc="-10" dirty="0">
                <a:solidFill>
                  <a:srgbClr val="4198B5"/>
                </a:solidFill>
                <a:uFill>
                  <a:solidFill>
                    <a:srgbClr val="4198B5"/>
                  </a:solidFill>
                </a:uFill>
                <a:cs typeface="Calibri" panose="020F0502020204030204"/>
                <a:hlinkClick r:id="rId5"/>
              </a:rPr>
              <a:t>http:</a:t>
            </a:r>
            <a:r>
              <a:rPr lang="en-IN" sz="1000" u="sng" spc="-10" dirty="0">
                <a:solidFill>
                  <a:srgbClr val="4198B5"/>
                </a:solidFill>
                <a:uFill>
                  <a:solidFill>
                    <a:srgbClr val="4198B5"/>
                  </a:solidFill>
                </a:uFill>
                <a:cs typeface="Calibri" panose="020F0502020204030204"/>
                <a:hlinkClick r:id="rId5"/>
              </a:rPr>
              <a:t>/</a:t>
            </a:r>
            <a:r>
              <a:rPr sz="1000" u="sng" spc="-10" dirty="0">
                <a:solidFill>
                  <a:srgbClr val="4198B5"/>
                </a:solidFill>
                <a:uFill>
                  <a:solidFill>
                    <a:srgbClr val="4198B5"/>
                  </a:solidFill>
                </a:uFill>
                <a:cs typeface="Calibri" panose="020F0502020204030204"/>
                <a:hlinkClick r:id="rId5"/>
              </a:rPr>
              <a:t>/proceedings.mlr.press/v28/pascanu13-supp.pdf</a:t>
            </a:r>
            <a:endParaRPr sz="1000" dirty="0">
              <a:cs typeface="Calibri" panose="020F0502020204030204"/>
            </a:endParaRPr>
          </a:p>
        </p:txBody>
      </p:sp>
      <p:sp>
        <p:nvSpPr>
          <p:cNvPr id="5" name="Right Brace 4"/>
          <p:cNvSpPr/>
          <p:nvPr/>
        </p:nvSpPr>
        <p:spPr>
          <a:xfrm rot="16200000">
            <a:off x="5151861" y="1570758"/>
            <a:ext cx="253950" cy="1424781"/>
          </a:xfrm>
          <a:prstGeom prst="rightBrace">
            <a:avLst>
              <a:gd name="adj1" fmla="val 8333"/>
              <a:gd name="adj2" fmla="val 47508"/>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6" name="TextBox 5"/>
          <p:cNvSpPr txBox="1"/>
          <p:nvPr/>
        </p:nvSpPr>
        <p:spPr>
          <a:xfrm>
            <a:off x="4164366" y="1865859"/>
            <a:ext cx="2503134" cy="307777"/>
          </a:xfrm>
          <a:prstGeom prst="rect">
            <a:avLst/>
          </a:prstGeom>
          <a:noFill/>
        </p:spPr>
        <p:txBody>
          <a:bodyPr wrap="square" rtlCol="0">
            <a:spAutoFit/>
          </a:bodyPr>
          <a:lstStyle/>
          <a:p>
            <a:pPr algn="ctr"/>
            <a:r>
              <a:rPr lang="en-US" sz="1400" dirty="0">
                <a:solidFill>
                  <a:schemeClr val="accent1"/>
                </a:solidFill>
              </a:rPr>
              <a:t>sufficient but not necessary</a:t>
            </a:r>
            <a:endParaRPr lang="en-IN" sz="1400" dirty="0">
              <a:solidFill>
                <a:schemeClr val="accent1"/>
              </a:solidFill>
            </a:endParaRPr>
          </a:p>
        </p:txBody>
      </p:sp>
      <p:grpSp>
        <p:nvGrpSpPr>
          <p:cNvPr id="7" name="object 17"/>
          <p:cNvGrpSpPr/>
          <p:nvPr/>
        </p:nvGrpSpPr>
        <p:grpSpPr>
          <a:xfrm>
            <a:off x="2184863" y="3429000"/>
            <a:ext cx="1137285" cy="646430"/>
            <a:chOff x="3927938" y="2666645"/>
            <a:chExt cx="1137285" cy="646430"/>
          </a:xfrm>
        </p:grpSpPr>
        <p:pic>
          <p:nvPicPr>
            <p:cNvPr id="8" name="object 18"/>
            <p:cNvPicPr/>
            <p:nvPr/>
          </p:nvPicPr>
          <p:blipFill>
            <a:blip r:embed="rId6" cstate="print"/>
            <a:stretch>
              <a:fillRect/>
            </a:stretch>
          </p:blipFill>
          <p:spPr>
            <a:xfrm>
              <a:off x="3988247" y="2713497"/>
              <a:ext cx="1076433" cy="502335"/>
            </a:xfrm>
            <a:prstGeom prst="rect">
              <a:avLst/>
            </a:prstGeom>
          </p:spPr>
        </p:pic>
        <p:pic>
          <p:nvPicPr>
            <p:cNvPr id="9" name="object 19"/>
            <p:cNvPicPr/>
            <p:nvPr/>
          </p:nvPicPr>
          <p:blipFill>
            <a:blip r:embed="rId7" cstate="print"/>
            <a:stretch>
              <a:fillRect/>
            </a:stretch>
          </p:blipFill>
          <p:spPr>
            <a:xfrm>
              <a:off x="3927938" y="2666645"/>
              <a:ext cx="781232" cy="646330"/>
            </a:xfrm>
            <a:prstGeom prst="rect">
              <a:avLst/>
            </a:prstGeom>
          </p:spPr>
        </p:pic>
      </p:grpSp>
      <p:grpSp>
        <p:nvGrpSpPr>
          <p:cNvPr id="10" name="object 23"/>
          <p:cNvGrpSpPr/>
          <p:nvPr/>
        </p:nvGrpSpPr>
        <p:grpSpPr>
          <a:xfrm>
            <a:off x="4058175" y="4047904"/>
            <a:ext cx="4027134" cy="799946"/>
            <a:chOff x="4137958" y="3391049"/>
            <a:chExt cx="4302760" cy="814069"/>
          </a:xfrm>
        </p:grpSpPr>
        <p:sp>
          <p:nvSpPr>
            <p:cNvPr id="11" name="object 24"/>
            <p:cNvSpPr/>
            <p:nvPr/>
          </p:nvSpPr>
          <p:spPr>
            <a:xfrm>
              <a:off x="6281407" y="3475117"/>
              <a:ext cx="250190" cy="384810"/>
            </a:xfrm>
            <a:custGeom>
              <a:avLst/>
              <a:gdLst/>
              <a:ahLst/>
              <a:cxnLst/>
              <a:rect l="l" t="t" r="r" b="b"/>
              <a:pathLst>
                <a:path w="250190" h="384810">
                  <a:moveTo>
                    <a:pt x="0" y="0"/>
                  </a:moveTo>
                  <a:lnTo>
                    <a:pt x="249609" y="0"/>
                  </a:lnTo>
                  <a:lnTo>
                    <a:pt x="249609" y="384466"/>
                  </a:lnTo>
                  <a:lnTo>
                    <a:pt x="0" y="384466"/>
                  </a:lnTo>
                  <a:lnTo>
                    <a:pt x="0" y="0"/>
                  </a:lnTo>
                  <a:close/>
                </a:path>
              </a:pathLst>
            </a:custGeom>
            <a:ln w="19050">
              <a:solidFill>
                <a:srgbClr val="5D4B3C"/>
              </a:solidFill>
            </a:ln>
          </p:spPr>
          <p:txBody>
            <a:bodyPr wrap="square" lIns="0" tIns="0" rIns="0" bIns="0" rtlCol="0"/>
            <a:lstStyle/>
            <a:p>
              <a:endParaRPr/>
            </a:p>
          </p:txBody>
        </p:sp>
        <p:sp>
          <p:nvSpPr>
            <p:cNvPr id="12" name="object 25"/>
            <p:cNvSpPr/>
            <p:nvPr/>
          </p:nvSpPr>
          <p:spPr>
            <a:xfrm>
              <a:off x="6342712" y="3859583"/>
              <a:ext cx="127000" cy="345440"/>
            </a:xfrm>
            <a:custGeom>
              <a:avLst/>
              <a:gdLst/>
              <a:ahLst/>
              <a:cxnLst/>
              <a:rect l="l" t="t" r="r" b="b"/>
              <a:pathLst>
                <a:path w="127000" h="345439">
                  <a:moveTo>
                    <a:pt x="73026" y="114300"/>
                  </a:moveTo>
                  <a:lnTo>
                    <a:pt x="53976" y="114300"/>
                  </a:lnTo>
                  <a:lnTo>
                    <a:pt x="53975" y="345441"/>
                  </a:lnTo>
                  <a:lnTo>
                    <a:pt x="73025" y="345441"/>
                  </a:lnTo>
                  <a:lnTo>
                    <a:pt x="73026" y="114300"/>
                  </a:lnTo>
                  <a:close/>
                </a:path>
                <a:path w="127000" h="345439">
                  <a:moveTo>
                    <a:pt x="63501" y="0"/>
                  </a:moveTo>
                  <a:lnTo>
                    <a:pt x="0" y="127000"/>
                  </a:lnTo>
                  <a:lnTo>
                    <a:pt x="53976" y="127000"/>
                  </a:lnTo>
                  <a:lnTo>
                    <a:pt x="53976" y="114300"/>
                  </a:lnTo>
                  <a:lnTo>
                    <a:pt x="120650" y="114300"/>
                  </a:lnTo>
                  <a:lnTo>
                    <a:pt x="63501" y="0"/>
                  </a:lnTo>
                  <a:close/>
                </a:path>
                <a:path w="127000" h="345439">
                  <a:moveTo>
                    <a:pt x="120650" y="114300"/>
                  </a:moveTo>
                  <a:lnTo>
                    <a:pt x="73026" y="114300"/>
                  </a:lnTo>
                  <a:lnTo>
                    <a:pt x="73026" y="127000"/>
                  </a:lnTo>
                  <a:lnTo>
                    <a:pt x="127000" y="127000"/>
                  </a:lnTo>
                  <a:lnTo>
                    <a:pt x="120650" y="114300"/>
                  </a:lnTo>
                  <a:close/>
                </a:path>
              </a:pathLst>
            </a:custGeom>
            <a:solidFill>
              <a:srgbClr val="5D4B3C"/>
            </a:solidFill>
          </p:spPr>
          <p:txBody>
            <a:bodyPr wrap="square" lIns="0" tIns="0" rIns="0" bIns="0" rtlCol="0"/>
            <a:lstStyle/>
            <a:p>
              <a:endParaRPr/>
            </a:p>
          </p:txBody>
        </p:sp>
        <p:pic>
          <p:nvPicPr>
            <p:cNvPr id="14" name="object 26"/>
            <p:cNvPicPr/>
            <p:nvPr/>
          </p:nvPicPr>
          <p:blipFill>
            <a:blip r:embed="rId8" cstate="print"/>
            <a:stretch>
              <a:fillRect/>
            </a:stretch>
          </p:blipFill>
          <p:spPr>
            <a:xfrm>
              <a:off x="4180522" y="3394995"/>
              <a:ext cx="4260198" cy="640957"/>
            </a:xfrm>
            <a:prstGeom prst="rect">
              <a:avLst/>
            </a:prstGeom>
          </p:spPr>
        </p:pic>
        <p:pic>
          <p:nvPicPr>
            <p:cNvPr id="16" name="object 27"/>
            <p:cNvPicPr/>
            <p:nvPr/>
          </p:nvPicPr>
          <p:blipFill>
            <a:blip r:embed="rId7" cstate="print"/>
            <a:stretch>
              <a:fillRect/>
            </a:stretch>
          </p:blipFill>
          <p:spPr>
            <a:xfrm>
              <a:off x="4137958" y="3391049"/>
              <a:ext cx="866611" cy="716965"/>
            </a:xfrm>
            <a:prstGeom prst="rect">
              <a:avLst/>
            </a:prstGeom>
          </p:spPr>
        </p:pic>
      </p:gr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77393" y="2017162"/>
            <a:ext cx="4514850" cy="355282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a:t>Remedy: Extending RNN with gating</a:t>
            </a:r>
            <a:endParaRPr lang="en-IN"/>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p:txBody>
              <a:bodyPr>
                <a:noAutofit/>
              </a:bodyPr>
              <a:lstStyle/>
              <a:p>
                <a:pPr>
                  <a:lnSpc>
                    <a:spcPct val="100000"/>
                  </a:lnSpc>
                </a:pPr>
                <a:r>
                  <a:rPr lang="en-US" sz="2800"/>
                  <a:t>Elman RNN state transition</a:t>
                </a:r>
                <a:br>
                  <a:rPr lang="en-US" sz="2800"/>
                </a:br>
                <a14:m>
                  <m:oMath xmlns:m="http://schemas.openxmlformats.org/officeDocument/2006/math">
                    <m:sSub>
                      <m:sSubPr>
                        <m:ctrlPr>
                          <a:rPr lang="en-US" sz="2800" b="0" i="1" smtClean="0">
                            <a:latin typeface="Cambria Math" panose="02040503050406030204" pitchFamily="18" charset="0"/>
                          </a:rPr>
                        </m:ctrlPr>
                      </m:sSubPr>
                      <m:e>
                        <m:r>
                          <a:rPr lang="en-US" sz="2800" b="1" i="1" smtClean="0">
                            <a:latin typeface="Cambria Math" panose="02040503050406030204" pitchFamily="18" charset="0"/>
                          </a:rPr>
                          <m:t>𝒉</m:t>
                        </m:r>
                      </m:e>
                      <m:sub>
                        <m:r>
                          <a:rPr lang="en-US" sz="2800" b="0" i="1" smtClean="0">
                            <a:latin typeface="Cambria Math" panose="02040503050406030204" pitchFamily="18" charset="0"/>
                          </a:rPr>
                          <m:t>𝑡</m:t>
                        </m:r>
                      </m:sub>
                    </m:sSub>
                    <m:r>
                      <a:rPr lang="en-US" sz="2800" b="0" i="1" smtClean="0">
                        <a:latin typeface="Cambria Math" panose="02040503050406030204" pitchFamily="18" charset="0"/>
                      </a:rPr>
                      <m:t>=</m:t>
                    </m:r>
                    <m:r>
                      <a:rPr lang="en-US" sz="2800" b="0" i="1" smtClean="0">
                        <a:latin typeface="Cambria Math" panose="02040503050406030204" pitchFamily="18" charset="0"/>
                      </a:rPr>
                      <m:t>𝜎</m:t>
                    </m:r>
                    <m:d>
                      <m:dPr>
                        <m:ctrlPr>
                          <a:rPr lang="en-US" sz="2800" b="0" i="1" smtClean="0">
                            <a:latin typeface="Cambria Math" panose="02040503050406030204" pitchFamily="18" charset="0"/>
                          </a:rPr>
                        </m:ctrlPr>
                      </m:dPr>
                      <m:e>
                        <m:sSub>
                          <m:sSubPr>
                            <m:ctrlPr>
                              <a:rPr lang="en-US" sz="2800" b="0" i="1" smtClean="0">
                                <a:latin typeface="Cambria Math" panose="02040503050406030204" pitchFamily="18" charset="0"/>
                              </a:rPr>
                            </m:ctrlPr>
                          </m:sSubPr>
                          <m:e>
                            <m:r>
                              <a:rPr lang="en-US" sz="2800" b="1" i="1" smtClean="0">
                                <a:latin typeface="Cambria Math" panose="02040503050406030204" pitchFamily="18" charset="0"/>
                              </a:rPr>
                              <m:t>𝒙</m:t>
                            </m:r>
                          </m:e>
                          <m:sub>
                            <m:r>
                              <a:rPr lang="en-US" sz="2800" b="0" i="1" smtClean="0">
                                <a:latin typeface="Cambria Math" panose="02040503050406030204" pitchFamily="18" charset="0"/>
                              </a:rPr>
                              <m:t>𝑡</m:t>
                            </m:r>
                          </m:sub>
                        </m:sSub>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𝑊</m:t>
                            </m:r>
                          </m:e>
                          <m:sub>
                            <m:r>
                              <a:rPr lang="en-US" sz="2800" b="0" i="1" smtClean="0">
                                <a:latin typeface="Cambria Math" panose="02040503050406030204" pitchFamily="18" charset="0"/>
                              </a:rPr>
                              <m:t>h</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1" i="1" smtClean="0">
                                <a:effectLst>
                                  <a:glow rad="139700">
                                    <a:schemeClr val="accent5">
                                      <a:satMod val="175000"/>
                                      <a:alpha val="40000"/>
                                    </a:schemeClr>
                                  </a:glow>
                                </a:effectLst>
                                <a:latin typeface="Cambria Math" panose="02040503050406030204" pitchFamily="18" charset="0"/>
                              </a:rPr>
                              <m:t>𝒉</m:t>
                            </m:r>
                          </m:e>
                          <m:sub>
                            <m:r>
                              <a:rPr lang="en-US" sz="2800" b="0" i="1" smtClean="0">
                                <a:latin typeface="Cambria Math" panose="02040503050406030204" pitchFamily="18" charset="0"/>
                              </a:rPr>
                              <m:t>𝑡</m:t>
                            </m:r>
                            <m:r>
                              <a:rPr lang="en-US" sz="2800" b="0" i="1" smtClean="0">
                                <a:latin typeface="Cambria Math" panose="02040503050406030204" pitchFamily="18" charset="0"/>
                              </a:rPr>
                              <m:t>−1</m:t>
                            </m:r>
                          </m:sub>
                        </m:sSub>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𝑈</m:t>
                            </m:r>
                          </m:e>
                          <m:sub>
                            <m:r>
                              <a:rPr lang="en-US" sz="2800" b="0" i="1" smtClean="0">
                                <a:latin typeface="Cambria Math" panose="02040503050406030204" pitchFamily="18" charset="0"/>
                              </a:rPr>
                              <m:t>h</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1" i="1" smtClean="0">
                                <a:latin typeface="Cambria Math" panose="02040503050406030204" pitchFamily="18" charset="0"/>
                              </a:rPr>
                              <m:t>𝒃</m:t>
                            </m:r>
                          </m:e>
                          <m:sub>
                            <m:r>
                              <a:rPr lang="en-US" sz="2800" b="0" i="1" smtClean="0">
                                <a:latin typeface="Cambria Math" panose="02040503050406030204" pitchFamily="18" charset="0"/>
                              </a:rPr>
                              <m:t>h</m:t>
                            </m:r>
                          </m:sub>
                        </m:sSub>
                      </m:e>
                    </m:d>
                  </m:oMath>
                </a14:m>
                <a:endParaRPr lang="en-US" sz="2800" b="0" i="1">
                  <a:latin typeface="Cambria Math" panose="02040503050406030204" pitchFamily="18" charset="0"/>
                </a:endParaRPr>
              </a:p>
              <a:p>
                <a:pPr>
                  <a:lnSpc>
                    <a:spcPct val="100000"/>
                  </a:lnSpc>
                </a:pPr>
                <a:r>
                  <a:rPr lang="en-US" sz="2800">
                    <a:hlinkClick r:id="rId4"/>
                  </a:rPr>
                  <a:t>Gated recurrent unit (GRU)</a:t>
                </a:r>
                <a:endParaRPr lang="en-US" sz="2800"/>
              </a:p>
              <a:p>
                <a:pPr lvl="1">
                  <a:lnSpc>
                    <a:spcPct val="100000"/>
                  </a:lnSpc>
                </a:pPr>
                <a:r>
                  <a:rPr lang="en-US" sz="2800"/>
                  <a:t>Block-state</a:t>
                </a:r>
                <a:br>
                  <a:rPr lang="en-US" sz="2800"/>
                </a:br>
                <a:r>
                  <a:rPr lang="en-US" sz="2800"/>
                  <a:t> </a:t>
                </a:r>
                <a14:m>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𝑟</m:t>
                        </m:r>
                      </m:e>
                      <m:sub>
                        <m:r>
                          <a:rPr lang="en-US" sz="2800" b="0" i="1" smtClean="0">
                            <a:latin typeface="Cambria Math" panose="02040503050406030204" pitchFamily="18" charset="0"/>
                          </a:rPr>
                          <m:t>𝑡</m:t>
                        </m:r>
                      </m:sub>
                    </m:sSub>
                    <m:r>
                      <a:rPr lang="en-US" sz="2800" b="0" i="1" smtClean="0">
                        <a:latin typeface="Cambria Math" panose="02040503050406030204" pitchFamily="18" charset="0"/>
                      </a:rPr>
                      <m:t>=</m:t>
                    </m:r>
                    <m:r>
                      <a:rPr lang="en-US" sz="2800" b="0" i="1" smtClean="0">
                        <a:latin typeface="Cambria Math" panose="02040503050406030204" pitchFamily="18" charset="0"/>
                      </a:rPr>
                      <m:t>𝜎</m:t>
                    </m:r>
                    <m:d>
                      <m:dPr>
                        <m:ctrlPr>
                          <a:rPr lang="en-US" sz="2800" b="0" i="1" smtClean="0">
                            <a:latin typeface="Cambria Math" panose="02040503050406030204" pitchFamily="18" charset="0"/>
                          </a:rPr>
                        </m:ctrlPr>
                      </m:dPr>
                      <m:e>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𝑡</m:t>
                            </m:r>
                          </m:sub>
                        </m:sSub>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𝑊</m:t>
                            </m:r>
                          </m:e>
                          <m:sub>
                            <m:r>
                              <a:rPr lang="en-US" sz="2800" b="0" i="1" smtClean="0">
                                <a:latin typeface="Cambria Math" panose="02040503050406030204" pitchFamily="18" charset="0"/>
                              </a:rPr>
                              <m:t>𝑟</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h</m:t>
                            </m:r>
                          </m:e>
                          <m:sub>
                            <m:r>
                              <a:rPr lang="en-US" sz="2800" b="0" i="1" smtClean="0">
                                <a:latin typeface="Cambria Math" panose="02040503050406030204" pitchFamily="18" charset="0"/>
                              </a:rPr>
                              <m:t>𝑡</m:t>
                            </m:r>
                            <m:r>
                              <a:rPr lang="en-US" sz="2800" b="0" i="1" smtClean="0">
                                <a:latin typeface="Cambria Math" panose="02040503050406030204" pitchFamily="18" charset="0"/>
                              </a:rPr>
                              <m:t>−1</m:t>
                            </m:r>
                          </m:sub>
                        </m:sSub>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𝑈</m:t>
                            </m:r>
                          </m:e>
                          <m:sub>
                            <m:r>
                              <a:rPr lang="en-US" sz="2800" b="0" i="1" smtClean="0">
                                <a:latin typeface="Cambria Math" panose="02040503050406030204" pitchFamily="18" charset="0"/>
                              </a:rPr>
                              <m:t>𝑟</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𝑏</m:t>
                            </m:r>
                          </m:e>
                          <m:sub>
                            <m:r>
                              <a:rPr lang="en-US" sz="2800" b="0" i="1" smtClean="0">
                                <a:latin typeface="Cambria Math" panose="02040503050406030204" pitchFamily="18" charset="0"/>
                              </a:rPr>
                              <m:t>𝑟</m:t>
                            </m:r>
                          </m:sub>
                        </m:sSub>
                      </m:e>
                    </m:d>
                  </m:oMath>
                </a14:m>
                <a:endParaRPr lang="en-US" sz="2800" b="0"/>
              </a:p>
              <a:p>
                <a:pPr lvl="1">
                  <a:lnSpc>
                    <a:spcPct val="100000"/>
                  </a:lnSpc>
                </a:pPr>
                <a:r>
                  <a:rPr lang="en-US" sz="2800"/>
                  <a:t>Combine</a:t>
                </a:r>
                <a:br>
                  <a:rPr lang="en-US" sz="2800"/>
                </a:br>
                <a:r>
                  <a:rPr lang="en-US" sz="2800"/>
                  <a:t> </a:t>
                </a:r>
                <a14:m>
                  <m:oMath xmlns:m="http://schemas.openxmlformats.org/officeDocument/2006/math">
                    <m:sSub>
                      <m:sSubPr>
                        <m:ctrlPr>
                          <a:rPr lang="en-US" sz="2800" b="0" i="1" smtClean="0">
                            <a:latin typeface="Cambria Math" panose="02040503050406030204" pitchFamily="18" charset="0"/>
                          </a:rPr>
                        </m:ctrlPr>
                      </m:sSubPr>
                      <m:e>
                        <m:acc>
                          <m:accPr>
                            <m:chr m:val="̃"/>
                            <m:ctrlPr>
                              <a:rPr lang="en-US" sz="2800" b="0" i="1" smtClean="0">
                                <a:latin typeface="Cambria Math" panose="02040503050406030204" pitchFamily="18" charset="0"/>
                              </a:rPr>
                            </m:ctrlPr>
                          </m:accPr>
                          <m:e>
                            <m:r>
                              <a:rPr lang="en-US" sz="2800" b="0" i="1" smtClean="0">
                                <a:latin typeface="Cambria Math" panose="02040503050406030204" pitchFamily="18" charset="0"/>
                              </a:rPr>
                              <m:t>h</m:t>
                            </m:r>
                          </m:e>
                        </m:acc>
                      </m:e>
                      <m:sub>
                        <m:r>
                          <a:rPr lang="en-US" sz="2800" b="0" i="1" smtClean="0">
                            <a:latin typeface="Cambria Math" panose="02040503050406030204" pitchFamily="18" charset="0"/>
                          </a:rPr>
                          <m:t>𝑡</m:t>
                        </m:r>
                      </m:sub>
                    </m:sSub>
                    <m:r>
                      <a:rPr lang="en-US" sz="2800" b="0" i="1" smtClean="0">
                        <a:latin typeface="Cambria Math" panose="02040503050406030204" pitchFamily="18" charset="0"/>
                      </a:rPr>
                      <m:t>=</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tanh</m:t>
                        </m:r>
                      </m:fName>
                      <m:e>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𝑡</m:t>
                            </m:r>
                          </m:sub>
                        </m:sSub>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𝑊</m:t>
                            </m:r>
                          </m:e>
                          <m:sub>
                            <m:r>
                              <a:rPr lang="en-US" sz="2800" b="0" i="1" smtClean="0">
                                <a:latin typeface="Cambria Math" panose="02040503050406030204" pitchFamily="18" charset="0"/>
                              </a:rPr>
                              <m:t>h</m:t>
                            </m:r>
                          </m:sub>
                        </m:sSub>
                        <m:r>
                          <a:rPr lang="en-US" sz="2800" b="0" i="1" smtClean="0">
                            <a:latin typeface="Cambria Math" panose="02040503050406030204" pitchFamily="18" charset="0"/>
                          </a:rPr>
                          <m:t>+</m:t>
                        </m:r>
                        <m:d>
                          <m:dPr>
                            <m:ctrlPr>
                              <a:rPr lang="en-US" sz="2800" b="0" i="1" smtClean="0">
                                <a:latin typeface="Cambria Math" panose="02040503050406030204" pitchFamily="18" charset="0"/>
                              </a:rPr>
                            </m:ctrlPr>
                          </m:dPr>
                          <m:e>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𝑟</m:t>
                                </m:r>
                              </m:e>
                              <m:sub>
                                <m:r>
                                  <a:rPr lang="en-US" sz="2800" b="0" i="1" smtClean="0">
                                    <a:latin typeface="Cambria Math" panose="02040503050406030204" pitchFamily="18" charset="0"/>
                                  </a:rPr>
                                  <m:t>𝑡</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h</m:t>
                                </m:r>
                              </m:e>
                              <m:sub>
                                <m:r>
                                  <a:rPr lang="en-US" sz="2800" b="0" i="1" smtClean="0">
                                    <a:latin typeface="Cambria Math" panose="02040503050406030204" pitchFamily="18" charset="0"/>
                                  </a:rPr>
                                  <m:t>𝑡</m:t>
                                </m:r>
                                <m:r>
                                  <a:rPr lang="en-US" sz="2800" b="0" i="1" smtClean="0">
                                    <a:latin typeface="Cambria Math" panose="02040503050406030204" pitchFamily="18" charset="0"/>
                                  </a:rPr>
                                  <m:t>−1</m:t>
                                </m:r>
                              </m:sub>
                            </m:sSub>
                          </m:e>
                        </m:d>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𝑈</m:t>
                            </m:r>
                          </m:e>
                          <m:sub>
                            <m:r>
                              <a:rPr lang="en-US" sz="2800" b="0" i="1" smtClean="0">
                                <a:latin typeface="Cambria Math" panose="02040503050406030204" pitchFamily="18" charset="0"/>
                              </a:rPr>
                              <m:t>h</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𝑏</m:t>
                            </m:r>
                          </m:e>
                          <m:sub>
                            <m:r>
                              <a:rPr lang="en-US" sz="2800" b="0" i="1" smtClean="0">
                                <a:latin typeface="Cambria Math" panose="02040503050406030204" pitchFamily="18" charset="0"/>
                              </a:rPr>
                              <m:t>h</m:t>
                            </m:r>
                          </m:sub>
                        </m:sSub>
                        <m:r>
                          <a:rPr lang="en-US" sz="2800" b="0" i="1" smtClean="0">
                            <a:latin typeface="Cambria Math" panose="02040503050406030204" pitchFamily="18" charset="0"/>
                          </a:rPr>
                          <m:t>)</m:t>
                        </m:r>
                      </m:e>
                    </m:func>
                  </m:oMath>
                </a14:m>
                <a:endParaRPr lang="en-US" sz="2800"/>
              </a:p>
              <a:p>
                <a:pPr lvl="1">
                  <a:lnSpc>
                    <a:spcPct val="100000"/>
                  </a:lnSpc>
                </a:pPr>
                <a:r>
                  <a:rPr lang="en-US" sz="2800"/>
                  <a:t>Update </a:t>
                </a:r>
                <a14:m>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𝑧</m:t>
                        </m:r>
                      </m:e>
                      <m:sub>
                        <m:r>
                          <a:rPr lang="en-US" sz="2800" b="0" i="1" smtClean="0">
                            <a:latin typeface="Cambria Math" panose="02040503050406030204" pitchFamily="18" charset="0"/>
                          </a:rPr>
                          <m:t>𝑡</m:t>
                        </m:r>
                      </m:sub>
                    </m:sSub>
                    <m:r>
                      <a:rPr lang="en-US" sz="2800" b="0" i="1" smtClean="0">
                        <a:latin typeface="Cambria Math" panose="02040503050406030204" pitchFamily="18" charset="0"/>
                      </a:rPr>
                      <m:t>=</m:t>
                    </m:r>
                    <m:r>
                      <a:rPr lang="en-US" sz="2800" b="0" i="1" smtClean="0">
                        <a:latin typeface="Cambria Math" panose="02040503050406030204" pitchFamily="18" charset="0"/>
                      </a:rPr>
                      <m:t>𝜎</m:t>
                    </m:r>
                    <m:d>
                      <m:dPr>
                        <m:ctrlPr>
                          <a:rPr lang="en-US" sz="2800" b="0" i="1" smtClean="0">
                            <a:latin typeface="Cambria Math" panose="02040503050406030204" pitchFamily="18" charset="0"/>
                          </a:rPr>
                        </m:ctrlPr>
                      </m:dPr>
                      <m:e>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𝑡</m:t>
                            </m:r>
                          </m:sub>
                        </m:sSub>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𝑊</m:t>
                            </m:r>
                          </m:e>
                          <m:sub>
                            <m:r>
                              <a:rPr lang="en-US" sz="2800" b="0" i="1" smtClean="0">
                                <a:latin typeface="Cambria Math" panose="02040503050406030204" pitchFamily="18" charset="0"/>
                              </a:rPr>
                              <m:t>𝑧</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h</m:t>
                            </m:r>
                          </m:e>
                          <m:sub>
                            <m:r>
                              <a:rPr lang="en-US" sz="2800" b="0" i="1" smtClean="0">
                                <a:latin typeface="Cambria Math" panose="02040503050406030204" pitchFamily="18" charset="0"/>
                              </a:rPr>
                              <m:t>𝑡</m:t>
                            </m:r>
                            <m:r>
                              <a:rPr lang="en-US" sz="2800" b="0" i="1" smtClean="0">
                                <a:latin typeface="Cambria Math" panose="02040503050406030204" pitchFamily="18" charset="0"/>
                              </a:rPr>
                              <m:t>−1</m:t>
                            </m:r>
                          </m:sub>
                        </m:sSub>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𝑈</m:t>
                            </m:r>
                          </m:e>
                          <m:sub>
                            <m:r>
                              <a:rPr lang="en-US" sz="2800" b="0" i="1" smtClean="0">
                                <a:latin typeface="Cambria Math" panose="02040503050406030204" pitchFamily="18" charset="0"/>
                              </a:rPr>
                              <m:t>𝑧</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𝑏</m:t>
                            </m:r>
                          </m:e>
                          <m:sub>
                            <m:r>
                              <a:rPr lang="en-US" sz="2800" b="0" i="1" smtClean="0">
                                <a:latin typeface="Cambria Math" panose="02040503050406030204" pitchFamily="18" charset="0"/>
                              </a:rPr>
                              <m:t>𝑧</m:t>
                            </m:r>
                          </m:sub>
                        </m:sSub>
                      </m:e>
                    </m:d>
                  </m:oMath>
                </a14:m>
                <a:endParaRPr lang="en-US" sz="2800" b="0"/>
              </a:p>
              <a:p>
                <a:pPr lvl="1">
                  <a:lnSpc>
                    <a:spcPct val="100000"/>
                  </a:lnSpc>
                </a:pPr>
                <a:r>
                  <a:rPr lang="en-US" sz="2800"/>
                  <a:t>Output </a:t>
                </a:r>
                <a14:m>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h</m:t>
                        </m:r>
                      </m:e>
                      <m:sub>
                        <m:r>
                          <a:rPr lang="en-US" sz="2800" b="0" i="1" smtClean="0">
                            <a:latin typeface="Cambria Math" panose="02040503050406030204" pitchFamily="18" charset="0"/>
                          </a:rPr>
                          <m:t>𝑡</m:t>
                        </m:r>
                      </m:sub>
                    </m:sSub>
                    <m:r>
                      <a:rPr lang="en-US" sz="2800" b="0" i="1" smtClean="0">
                        <a:latin typeface="Cambria Math" panose="02040503050406030204" pitchFamily="18" charset="0"/>
                      </a:rPr>
                      <m:t>=</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1−</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𝑧</m:t>
                            </m:r>
                          </m:e>
                          <m:sub>
                            <m:r>
                              <a:rPr lang="en-US" sz="2800" b="0" i="1" smtClean="0">
                                <a:latin typeface="Cambria Math" panose="02040503050406030204" pitchFamily="18" charset="0"/>
                              </a:rPr>
                              <m:t>𝑡</m:t>
                            </m:r>
                          </m:sub>
                        </m:sSub>
                      </m:e>
                    </m:d>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h</m:t>
                        </m:r>
                      </m:e>
                      <m:sub>
                        <m:r>
                          <a:rPr lang="en-US" sz="2800" b="0" i="1" smtClean="0">
                            <a:latin typeface="Cambria Math" panose="02040503050406030204" pitchFamily="18" charset="0"/>
                          </a:rPr>
                          <m:t>𝑡</m:t>
                        </m:r>
                        <m:r>
                          <a:rPr lang="en-US" sz="2800" b="0" i="1" smtClean="0">
                            <a:latin typeface="Cambria Math" panose="02040503050406030204" pitchFamily="18" charset="0"/>
                          </a:rPr>
                          <m:t>−1</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𝑧</m:t>
                        </m:r>
                      </m:e>
                      <m:sub>
                        <m:r>
                          <a:rPr lang="en-US" sz="2800" b="0" i="1" smtClean="0">
                            <a:latin typeface="Cambria Math" panose="02040503050406030204" pitchFamily="18" charset="0"/>
                          </a:rPr>
                          <m:t>𝑡</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acc>
                          <m:accPr>
                            <m:chr m:val="̃"/>
                            <m:ctrlPr>
                              <a:rPr lang="en-US" sz="2800" b="0" i="1" smtClean="0">
                                <a:latin typeface="Cambria Math" panose="02040503050406030204" pitchFamily="18" charset="0"/>
                              </a:rPr>
                            </m:ctrlPr>
                          </m:accPr>
                          <m:e>
                            <m:r>
                              <a:rPr lang="en-US" sz="2800" b="0" i="1" smtClean="0">
                                <a:latin typeface="Cambria Math" panose="02040503050406030204" pitchFamily="18" charset="0"/>
                              </a:rPr>
                              <m:t>h</m:t>
                            </m:r>
                          </m:e>
                        </m:acc>
                      </m:e>
                      <m:sub>
                        <m:r>
                          <a:rPr lang="en-US" sz="2800" b="0" i="1" smtClean="0">
                            <a:latin typeface="Cambria Math" panose="02040503050406030204" pitchFamily="18" charset="0"/>
                          </a:rPr>
                          <m:t>𝑡</m:t>
                        </m:r>
                      </m:sub>
                    </m:sSub>
                  </m:oMath>
                </a14:m>
                <a:endParaRPr lang="en-IN" sz="2800"/>
              </a:p>
              <a:p>
                <a:pPr>
                  <a:lnSpc>
                    <a:spcPct val="100000"/>
                  </a:lnSpc>
                </a:pPr>
                <a:r>
                  <a:rPr lang="en-IN" sz="2800"/>
                  <a:t>Long short-term memory (LSTM) and bi-LSTM</a:t>
                </a:r>
                <a:r>
                  <a:rPr lang="en-US" altLang="en-IN" sz="2800"/>
                  <a:t> </a:t>
                </a:r>
              </a:p>
            </p:txBody>
          </p:sp>
        </mc:Choice>
        <mc:Fallback xmlns="">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5"/>
                <a:stretch>
                  <a:fillRect/>
                </a:stretch>
              </a:blipFill>
            </p:spPr>
            <p:txBody>
              <a:bodyPr/>
              <a:lstStyle/>
              <a:p>
                <a:r>
                  <a:rPr lang="en-US" altLang="en-US">
                    <a:noFill/>
                  </a:rPr>
                  <a:t> </a:t>
                </a:r>
              </a:p>
            </p:txBody>
          </p:sp>
        </mc:Fallback>
      </mc:AlternateContent>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Encoder chained to decoder for seq2seq</a:t>
            </a:r>
            <a:endParaRPr lang="en-IN"/>
          </a:p>
        </p:txBody>
      </p:sp>
      <p:sp>
        <p:nvSpPr>
          <p:cNvPr id="3" name="Text Placeholder 2"/>
          <p:cNvSpPr>
            <a:spLocks noGrp="1"/>
          </p:cNvSpPr>
          <p:nvPr>
            <p:ph type="body" idx="1"/>
          </p:nvPr>
        </p:nvSpPr>
        <p:spPr>
          <a:xfrm>
            <a:off x="74930" y="913130"/>
            <a:ext cx="12055475" cy="2273935"/>
          </a:xfrm>
        </p:spPr>
        <p:txBody>
          <a:bodyPr>
            <a:normAutofit fontScale="80000"/>
          </a:bodyPr>
          <a:lstStyle/>
          <a:p>
            <a:r>
              <a:rPr lang="en-US">
                <a:hlinkClick r:id="rId2"/>
              </a:rPr>
              <a:t>RNNs are Turing complete</a:t>
            </a:r>
            <a:r>
              <a:rPr lang="en-US"/>
              <a:t>, so the following encoder-decoder sequence should be able to reconstruct text</a:t>
            </a:r>
          </a:p>
          <a:p>
            <a:r>
              <a:rPr lang="en-US" altLang="en-IN"/>
              <a:t>Distinct encoder (only inputs) and decoder (only outputs) cells</a:t>
            </a:r>
          </a:p>
          <a:p>
            <a:r>
              <a:rPr lang="en-US" altLang="en-IN"/>
              <a:t>Memorize, translate, summarize, </a:t>
            </a:r>
            <a:r>
              <a:rPr lang="en-US" altLang="en-IN">
                <a:latin typeface="Arial" panose="020B0604020202020204" pitchFamily="34" charset="0"/>
                <a:cs typeface="Arial" panose="020B0604020202020204" pitchFamily="34" charset="0"/>
              </a:rPr>
              <a:t>…</a:t>
            </a:r>
          </a:p>
        </p:txBody>
      </p:sp>
      <p:sp>
        <p:nvSpPr>
          <p:cNvPr id="4" name="Rectangle 3"/>
          <p:cNvSpPr/>
          <p:nvPr/>
        </p:nvSpPr>
        <p:spPr>
          <a:xfrm>
            <a:off x="780585" y="4669017"/>
            <a:ext cx="405159" cy="431182"/>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p:cNvSpPr/>
          <p:nvPr/>
        </p:nvSpPr>
        <p:spPr>
          <a:xfrm>
            <a:off x="1605280" y="4669017"/>
            <a:ext cx="405159" cy="431182"/>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p:cNvSpPr/>
          <p:nvPr/>
        </p:nvSpPr>
        <p:spPr>
          <a:xfrm>
            <a:off x="2429975" y="4669017"/>
            <a:ext cx="405159" cy="431182"/>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p:cNvSpPr/>
          <p:nvPr/>
        </p:nvSpPr>
        <p:spPr>
          <a:xfrm>
            <a:off x="4079365" y="4669017"/>
            <a:ext cx="405159" cy="431182"/>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p:cNvSpPr/>
          <p:nvPr/>
        </p:nvSpPr>
        <p:spPr>
          <a:xfrm>
            <a:off x="4904061" y="4669017"/>
            <a:ext cx="405159" cy="431182"/>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p:cNvSpPr/>
          <p:nvPr/>
        </p:nvSpPr>
        <p:spPr>
          <a:xfrm>
            <a:off x="3254670" y="4669017"/>
            <a:ext cx="405159" cy="431182"/>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p:cNvSpPr/>
          <p:nvPr/>
        </p:nvSpPr>
        <p:spPr>
          <a:xfrm>
            <a:off x="6823306" y="4653776"/>
            <a:ext cx="405159" cy="431182"/>
          </a:xfrm>
          <a:prstGeom prst="rect">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p:nvSpPr>
        <p:spPr>
          <a:xfrm>
            <a:off x="7648001" y="4653776"/>
            <a:ext cx="405159" cy="431182"/>
          </a:xfrm>
          <a:prstGeom prst="rect">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p:cNvSpPr/>
          <p:nvPr/>
        </p:nvSpPr>
        <p:spPr>
          <a:xfrm>
            <a:off x="8472696" y="4653776"/>
            <a:ext cx="405159" cy="431182"/>
          </a:xfrm>
          <a:prstGeom prst="rect">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p:cNvSpPr/>
          <p:nvPr/>
        </p:nvSpPr>
        <p:spPr>
          <a:xfrm>
            <a:off x="10122086" y="4653776"/>
            <a:ext cx="405159" cy="431182"/>
          </a:xfrm>
          <a:prstGeom prst="rect">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p:cNvSpPr/>
          <p:nvPr/>
        </p:nvSpPr>
        <p:spPr>
          <a:xfrm>
            <a:off x="10946782" y="4653776"/>
            <a:ext cx="405159" cy="431182"/>
          </a:xfrm>
          <a:prstGeom prst="rect">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p:cNvSpPr/>
          <p:nvPr/>
        </p:nvSpPr>
        <p:spPr>
          <a:xfrm>
            <a:off x="9297391" y="4653776"/>
            <a:ext cx="405159" cy="431182"/>
          </a:xfrm>
          <a:prstGeom prst="rect">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7" name="Straight Arrow Connector 16"/>
          <p:cNvCxnSpPr/>
          <p:nvPr/>
        </p:nvCxnSpPr>
        <p:spPr>
          <a:xfrm>
            <a:off x="1185744" y="4884608"/>
            <a:ext cx="4195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p:cNvCxnSpPr/>
          <p:nvPr/>
        </p:nvCxnSpPr>
        <p:spPr>
          <a:xfrm>
            <a:off x="2010439" y="4884608"/>
            <a:ext cx="4195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p:cNvCxnSpPr/>
          <p:nvPr/>
        </p:nvCxnSpPr>
        <p:spPr>
          <a:xfrm>
            <a:off x="2835134" y="4884608"/>
            <a:ext cx="4195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p:cNvCxnSpPr/>
          <p:nvPr/>
        </p:nvCxnSpPr>
        <p:spPr>
          <a:xfrm>
            <a:off x="3659829" y="4884608"/>
            <a:ext cx="4195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p:cNvCxnSpPr/>
          <p:nvPr/>
        </p:nvCxnSpPr>
        <p:spPr>
          <a:xfrm>
            <a:off x="4484524" y="4884608"/>
            <a:ext cx="41953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 name="TextBox 29"/>
          <p:cNvSpPr txBox="1"/>
          <p:nvPr/>
        </p:nvSpPr>
        <p:spPr>
          <a:xfrm>
            <a:off x="681639" y="5634691"/>
            <a:ext cx="603050" cy="461665"/>
          </a:xfrm>
          <a:prstGeom prst="rect">
            <a:avLst/>
          </a:prstGeom>
          <a:noFill/>
        </p:spPr>
        <p:txBody>
          <a:bodyPr wrap="none" rtlCol="0">
            <a:spAutoFit/>
          </a:bodyPr>
          <a:lstStyle/>
          <a:p>
            <a:r>
              <a:rPr lang="en-US" sz="2400"/>
              <a:t>the</a:t>
            </a:r>
            <a:endParaRPr lang="en-IN" sz="2400"/>
          </a:p>
        </p:txBody>
      </p:sp>
      <p:sp>
        <p:nvSpPr>
          <p:cNvPr id="31" name="TextBox 30"/>
          <p:cNvSpPr txBox="1"/>
          <p:nvPr/>
        </p:nvSpPr>
        <p:spPr>
          <a:xfrm>
            <a:off x="1528295" y="5634691"/>
            <a:ext cx="559127" cy="461665"/>
          </a:xfrm>
          <a:prstGeom prst="rect">
            <a:avLst/>
          </a:prstGeom>
          <a:noFill/>
        </p:spPr>
        <p:txBody>
          <a:bodyPr wrap="none" rtlCol="0">
            <a:spAutoFit/>
          </a:bodyPr>
          <a:lstStyle/>
          <a:p>
            <a:r>
              <a:rPr lang="en-US" sz="2400"/>
              <a:t>cat</a:t>
            </a:r>
            <a:endParaRPr lang="en-IN" sz="2400"/>
          </a:p>
        </p:txBody>
      </p:sp>
      <p:sp>
        <p:nvSpPr>
          <p:cNvPr id="32" name="TextBox 31"/>
          <p:cNvSpPr txBox="1"/>
          <p:nvPr/>
        </p:nvSpPr>
        <p:spPr>
          <a:xfrm>
            <a:off x="2356517" y="5634691"/>
            <a:ext cx="552074" cy="461665"/>
          </a:xfrm>
          <a:prstGeom prst="rect">
            <a:avLst/>
          </a:prstGeom>
          <a:noFill/>
        </p:spPr>
        <p:txBody>
          <a:bodyPr wrap="none" rtlCol="0">
            <a:spAutoFit/>
          </a:bodyPr>
          <a:lstStyle/>
          <a:p>
            <a:r>
              <a:rPr lang="en-US" sz="2400"/>
              <a:t>sat</a:t>
            </a:r>
            <a:endParaRPr lang="en-IN" sz="2400"/>
          </a:p>
        </p:txBody>
      </p:sp>
      <p:sp>
        <p:nvSpPr>
          <p:cNvPr id="33" name="TextBox 32"/>
          <p:cNvSpPr txBox="1"/>
          <p:nvPr/>
        </p:nvSpPr>
        <p:spPr>
          <a:xfrm>
            <a:off x="3203012" y="5634691"/>
            <a:ext cx="508473" cy="461665"/>
          </a:xfrm>
          <a:prstGeom prst="rect">
            <a:avLst/>
          </a:prstGeom>
          <a:noFill/>
        </p:spPr>
        <p:txBody>
          <a:bodyPr wrap="none" rtlCol="0">
            <a:spAutoFit/>
          </a:bodyPr>
          <a:lstStyle/>
          <a:p>
            <a:r>
              <a:rPr lang="en-US" sz="2400"/>
              <a:t>on</a:t>
            </a:r>
            <a:endParaRPr lang="en-IN" sz="2400"/>
          </a:p>
        </p:txBody>
      </p:sp>
      <p:sp>
        <p:nvSpPr>
          <p:cNvPr id="34" name="TextBox 33"/>
          <p:cNvSpPr txBox="1"/>
          <p:nvPr/>
        </p:nvSpPr>
        <p:spPr>
          <a:xfrm>
            <a:off x="3980419" y="5634691"/>
            <a:ext cx="603050" cy="461665"/>
          </a:xfrm>
          <a:prstGeom prst="rect">
            <a:avLst/>
          </a:prstGeom>
          <a:noFill/>
        </p:spPr>
        <p:txBody>
          <a:bodyPr wrap="none" rtlCol="0">
            <a:spAutoFit/>
          </a:bodyPr>
          <a:lstStyle/>
          <a:p>
            <a:r>
              <a:rPr lang="en-US" sz="2400"/>
              <a:t>the</a:t>
            </a:r>
            <a:endParaRPr lang="en-IN" sz="2400"/>
          </a:p>
        </p:txBody>
      </p:sp>
      <p:sp>
        <p:nvSpPr>
          <p:cNvPr id="35" name="TextBox 34"/>
          <p:cNvSpPr txBox="1"/>
          <p:nvPr/>
        </p:nvSpPr>
        <p:spPr>
          <a:xfrm>
            <a:off x="4759046" y="5626903"/>
            <a:ext cx="677108" cy="461665"/>
          </a:xfrm>
          <a:prstGeom prst="rect">
            <a:avLst/>
          </a:prstGeom>
          <a:noFill/>
        </p:spPr>
        <p:txBody>
          <a:bodyPr wrap="none" rtlCol="0">
            <a:spAutoFit/>
          </a:bodyPr>
          <a:lstStyle/>
          <a:p>
            <a:r>
              <a:rPr lang="en-US" sz="2400"/>
              <a:t>mat</a:t>
            </a:r>
            <a:endParaRPr lang="en-IN" sz="2400"/>
          </a:p>
        </p:txBody>
      </p:sp>
      <p:cxnSp>
        <p:nvCxnSpPr>
          <p:cNvPr id="36" name="Straight Arrow Connector 35"/>
          <p:cNvCxnSpPr>
            <a:stCxn id="30" idx="0"/>
            <a:endCxn id="4" idx="2"/>
          </p:cNvCxnSpPr>
          <p:nvPr/>
        </p:nvCxnSpPr>
        <p:spPr>
          <a:xfrm flipV="1">
            <a:off x="983164" y="5100199"/>
            <a:ext cx="1" cy="5344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9" name="Straight Arrow Connector 38"/>
          <p:cNvCxnSpPr>
            <a:stCxn id="31" idx="0"/>
            <a:endCxn id="5" idx="2"/>
          </p:cNvCxnSpPr>
          <p:nvPr/>
        </p:nvCxnSpPr>
        <p:spPr>
          <a:xfrm flipV="1">
            <a:off x="1807859" y="5100199"/>
            <a:ext cx="1" cy="5344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p:cNvCxnSpPr>
            <a:stCxn id="32" idx="0"/>
            <a:endCxn id="6" idx="2"/>
          </p:cNvCxnSpPr>
          <p:nvPr/>
        </p:nvCxnSpPr>
        <p:spPr>
          <a:xfrm flipV="1">
            <a:off x="2632554" y="5100199"/>
            <a:ext cx="1" cy="5344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p:cNvCxnSpPr>
            <a:stCxn id="33" idx="0"/>
            <a:endCxn id="9" idx="2"/>
          </p:cNvCxnSpPr>
          <p:nvPr/>
        </p:nvCxnSpPr>
        <p:spPr>
          <a:xfrm flipV="1">
            <a:off x="3457249" y="5100199"/>
            <a:ext cx="1" cy="5344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p:cNvCxnSpPr>
            <a:stCxn id="34" idx="0"/>
            <a:endCxn id="7" idx="2"/>
          </p:cNvCxnSpPr>
          <p:nvPr/>
        </p:nvCxnSpPr>
        <p:spPr>
          <a:xfrm flipV="1">
            <a:off x="4281944" y="5100199"/>
            <a:ext cx="1" cy="5344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1" name="Straight Arrow Connector 50"/>
          <p:cNvCxnSpPr>
            <a:stCxn id="35" idx="0"/>
            <a:endCxn id="8" idx="2"/>
          </p:cNvCxnSpPr>
          <p:nvPr/>
        </p:nvCxnSpPr>
        <p:spPr>
          <a:xfrm flipV="1">
            <a:off x="5097600" y="5100199"/>
            <a:ext cx="9041" cy="52670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6" name="TextBox 55"/>
              <p:cNvSpPr txBox="1"/>
              <p:nvPr/>
            </p:nvSpPr>
            <p:spPr>
              <a:xfrm>
                <a:off x="30393" y="4699942"/>
                <a:ext cx="40549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1" i="1" smtClean="0">
                              <a:latin typeface="Cambria Math" panose="02040503050406030204" pitchFamily="18" charset="0"/>
                            </a:rPr>
                            <m:t>𝒉</m:t>
                          </m:r>
                        </m:e>
                        <m:sub>
                          <m:r>
                            <a:rPr lang="en-US" sz="2400" b="0" i="1" smtClean="0">
                              <a:latin typeface="Cambria Math" panose="02040503050406030204" pitchFamily="18" charset="0"/>
                            </a:rPr>
                            <m:t>0</m:t>
                          </m:r>
                        </m:sub>
                      </m:sSub>
                    </m:oMath>
                  </m:oMathPara>
                </a14:m>
                <a:endParaRPr lang="en-IN" sz="2400"/>
              </a:p>
            </p:txBody>
          </p:sp>
        </mc:Choice>
        <mc:Fallback xmlns="">
          <p:sp>
            <p:nvSpPr>
              <p:cNvPr id="56" name="TextBox 55"/>
              <p:cNvSpPr txBox="1">
                <a:spLocks noRot="1" noChangeAspect="1" noMove="1" noResize="1" noEditPoints="1" noAdjustHandles="1" noChangeArrowheads="1" noChangeShapeType="1" noTextEdit="1"/>
              </p:cNvSpPr>
              <p:nvPr/>
            </p:nvSpPr>
            <p:spPr>
              <a:xfrm>
                <a:off x="30393" y="4699942"/>
                <a:ext cx="405496" cy="369332"/>
              </a:xfrm>
              <a:prstGeom prst="rect">
                <a:avLst/>
              </a:prstGeom>
              <a:blipFill rotWithShape="1">
                <a:blip r:embed="rId3"/>
                <a:stretch>
                  <a:fillRect l="-135" t="-83" r="-16844" b="19"/>
                </a:stretch>
              </a:blipFill>
            </p:spPr>
            <p:txBody>
              <a:bodyPr/>
              <a:lstStyle/>
              <a:p>
                <a:r>
                  <a:rPr lang="en-US" altLang="en-US">
                    <a:noFill/>
                  </a:rPr>
                  <a:t> </a:t>
                </a:r>
              </a:p>
            </p:txBody>
          </p:sp>
        </mc:Fallback>
      </mc:AlternateContent>
      <p:cxnSp>
        <p:nvCxnSpPr>
          <p:cNvPr id="57" name="Straight Arrow Connector 56"/>
          <p:cNvCxnSpPr>
            <a:stCxn id="56" idx="3"/>
            <a:endCxn id="4" idx="1"/>
          </p:cNvCxnSpPr>
          <p:nvPr/>
        </p:nvCxnSpPr>
        <p:spPr>
          <a:xfrm>
            <a:off x="435889" y="4884608"/>
            <a:ext cx="34469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1" name="Straight Arrow Connector 60"/>
          <p:cNvCxnSpPr>
            <a:stCxn id="8" idx="3"/>
            <a:endCxn id="10" idx="1"/>
          </p:cNvCxnSpPr>
          <p:nvPr/>
        </p:nvCxnSpPr>
        <p:spPr>
          <a:xfrm flipV="1">
            <a:off x="5309220" y="4869367"/>
            <a:ext cx="1514086" cy="1524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64" name="Speech Bubble: Rectangle with Corners Rounded 63"/>
          <p:cNvSpPr/>
          <p:nvPr/>
        </p:nvSpPr>
        <p:spPr>
          <a:xfrm>
            <a:off x="5525135" y="5861685"/>
            <a:ext cx="6666230" cy="996315"/>
          </a:xfrm>
          <a:prstGeom prst="wedgeRoundRectCallout">
            <a:avLst>
              <a:gd name="adj1" fmla="val -42768"/>
              <a:gd name="adj2" fmla="val -167639"/>
              <a:gd name="adj3" fmla="val 16667"/>
            </a:avLst>
          </a:prstGeom>
          <a:solidFill>
            <a:schemeClr val="bg1">
              <a:lumMod val="95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Single (fixed-size?) “prompt vector” encoding the meaning of the whole input text</a:t>
            </a:r>
            <a:endParaRPr lang="en-IN" sz="2400">
              <a:solidFill>
                <a:schemeClr val="tx1"/>
              </a:solidFill>
            </a:endParaRPr>
          </a:p>
        </p:txBody>
      </p:sp>
      <mc:AlternateContent xmlns:mc="http://schemas.openxmlformats.org/markup-compatibility/2006" xmlns:a14="http://schemas.microsoft.com/office/drawing/2010/main">
        <mc:Choice Requires="a14">
          <p:sp>
            <p:nvSpPr>
              <p:cNvPr id="65" name="TextBox 64"/>
              <p:cNvSpPr txBox="1"/>
              <p:nvPr/>
            </p:nvSpPr>
            <p:spPr>
              <a:xfrm>
                <a:off x="5526008" y="4438406"/>
                <a:ext cx="118243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1" i="1" smtClean="0">
                              <a:latin typeface="Cambria Math" panose="02040503050406030204" pitchFamily="18" charset="0"/>
                            </a:rPr>
                            <m:t>𝒉</m:t>
                          </m:r>
                        </m:e>
                        <m:sub>
                          <m:r>
                            <a:rPr lang="en-US" sz="2400" b="0" i="1" smtClean="0">
                              <a:latin typeface="Cambria Math" panose="02040503050406030204" pitchFamily="18" charset="0"/>
                            </a:rPr>
                            <m:t>𝑇</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1" i="1" smtClean="0">
                              <a:latin typeface="Cambria Math" panose="02040503050406030204" pitchFamily="18" charset="0"/>
                            </a:rPr>
                            <m:t>𝒈</m:t>
                          </m:r>
                        </m:e>
                        <m:sub>
                          <m:r>
                            <a:rPr lang="en-US" sz="2400" b="0" i="1" smtClean="0">
                              <a:latin typeface="Cambria Math" panose="02040503050406030204" pitchFamily="18" charset="0"/>
                            </a:rPr>
                            <m:t>0</m:t>
                          </m:r>
                        </m:sub>
                      </m:sSub>
                    </m:oMath>
                  </m:oMathPara>
                </a14:m>
                <a:endParaRPr lang="en-IN" sz="2400"/>
              </a:p>
            </p:txBody>
          </p:sp>
        </mc:Choice>
        <mc:Fallback xmlns="">
          <p:sp>
            <p:nvSpPr>
              <p:cNvPr id="65" name="TextBox 64"/>
              <p:cNvSpPr txBox="1">
                <a:spLocks noRot="1" noChangeAspect="1" noMove="1" noResize="1" noEditPoints="1" noAdjustHandles="1" noChangeArrowheads="1" noChangeShapeType="1" noTextEdit="1"/>
              </p:cNvSpPr>
              <p:nvPr/>
            </p:nvSpPr>
            <p:spPr>
              <a:xfrm>
                <a:off x="5526008" y="4438406"/>
                <a:ext cx="1182439" cy="369332"/>
              </a:xfrm>
              <a:prstGeom prst="rect">
                <a:avLst/>
              </a:prstGeom>
              <a:blipFill rotWithShape="1">
                <a:blip r:embed="rId4"/>
                <a:stretch>
                  <a:fillRect l="-20" t="-106" r="-14259" b="-131"/>
                </a:stretch>
              </a:blipFill>
            </p:spPr>
            <p:txBody>
              <a:bodyPr/>
              <a:lstStyle/>
              <a:p>
                <a:r>
                  <a:rPr lang="en-US" altLang="en-US">
                    <a:noFill/>
                  </a:rPr>
                  <a:t> </a:t>
                </a:r>
              </a:p>
            </p:txBody>
          </p:sp>
        </mc:Fallback>
      </mc:AlternateContent>
      <p:cxnSp>
        <p:nvCxnSpPr>
          <p:cNvPr id="66" name="Straight Arrow Connector 65"/>
          <p:cNvCxnSpPr>
            <a:stCxn id="10" idx="3"/>
            <a:endCxn id="11" idx="1"/>
          </p:cNvCxnSpPr>
          <p:nvPr/>
        </p:nvCxnSpPr>
        <p:spPr>
          <a:xfrm>
            <a:off x="7228465" y="4869367"/>
            <a:ext cx="4195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9" name="Straight Arrow Connector 68"/>
          <p:cNvCxnSpPr>
            <a:stCxn id="11" idx="3"/>
            <a:endCxn id="12" idx="1"/>
          </p:cNvCxnSpPr>
          <p:nvPr/>
        </p:nvCxnSpPr>
        <p:spPr>
          <a:xfrm>
            <a:off x="8053160" y="4869367"/>
            <a:ext cx="4195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2" name="Straight Arrow Connector 71"/>
          <p:cNvCxnSpPr>
            <a:stCxn id="12" idx="3"/>
            <a:endCxn id="15" idx="1"/>
          </p:cNvCxnSpPr>
          <p:nvPr/>
        </p:nvCxnSpPr>
        <p:spPr>
          <a:xfrm>
            <a:off x="8877855" y="4869367"/>
            <a:ext cx="4195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6" name="Straight Arrow Connector 75"/>
          <p:cNvCxnSpPr>
            <a:stCxn id="15" idx="3"/>
            <a:endCxn id="13" idx="1"/>
          </p:cNvCxnSpPr>
          <p:nvPr/>
        </p:nvCxnSpPr>
        <p:spPr>
          <a:xfrm>
            <a:off x="9702550" y="4869367"/>
            <a:ext cx="4195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9" name="Straight Arrow Connector 78"/>
          <p:cNvCxnSpPr>
            <a:stCxn id="13" idx="3"/>
            <a:endCxn id="14" idx="1"/>
          </p:cNvCxnSpPr>
          <p:nvPr/>
        </p:nvCxnSpPr>
        <p:spPr>
          <a:xfrm>
            <a:off x="10527245" y="4869367"/>
            <a:ext cx="41953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2" name="TextBox 81"/>
          <p:cNvSpPr txBox="1"/>
          <p:nvPr/>
        </p:nvSpPr>
        <p:spPr>
          <a:xfrm>
            <a:off x="6733400" y="3554667"/>
            <a:ext cx="603050" cy="461665"/>
          </a:xfrm>
          <a:prstGeom prst="rect">
            <a:avLst/>
          </a:prstGeom>
          <a:noFill/>
        </p:spPr>
        <p:txBody>
          <a:bodyPr wrap="none" rtlCol="0">
            <a:spAutoFit/>
          </a:bodyPr>
          <a:lstStyle/>
          <a:p>
            <a:r>
              <a:rPr lang="en-US" sz="2400"/>
              <a:t>the</a:t>
            </a:r>
            <a:endParaRPr lang="en-IN" sz="2400"/>
          </a:p>
        </p:txBody>
      </p:sp>
      <p:sp>
        <p:nvSpPr>
          <p:cNvPr id="83" name="TextBox 82"/>
          <p:cNvSpPr txBox="1"/>
          <p:nvPr/>
        </p:nvSpPr>
        <p:spPr>
          <a:xfrm>
            <a:off x="7580056" y="3554667"/>
            <a:ext cx="559127" cy="461665"/>
          </a:xfrm>
          <a:prstGeom prst="rect">
            <a:avLst/>
          </a:prstGeom>
          <a:noFill/>
        </p:spPr>
        <p:txBody>
          <a:bodyPr wrap="none" rtlCol="0">
            <a:spAutoFit/>
          </a:bodyPr>
          <a:lstStyle/>
          <a:p>
            <a:r>
              <a:rPr lang="en-US" sz="2400"/>
              <a:t>cat</a:t>
            </a:r>
            <a:endParaRPr lang="en-IN" sz="2400"/>
          </a:p>
        </p:txBody>
      </p:sp>
      <p:sp>
        <p:nvSpPr>
          <p:cNvPr id="84" name="TextBox 83"/>
          <p:cNvSpPr txBox="1"/>
          <p:nvPr/>
        </p:nvSpPr>
        <p:spPr>
          <a:xfrm>
            <a:off x="8408278" y="3554667"/>
            <a:ext cx="552074" cy="461665"/>
          </a:xfrm>
          <a:prstGeom prst="rect">
            <a:avLst/>
          </a:prstGeom>
          <a:noFill/>
        </p:spPr>
        <p:txBody>
          <a:bodyPr wrap="none" rtlCol="0">
            <a:spAutoFit/>
          </a:bodyPr>
          <a:lstStyle/>
          <a:p>
            <a:r>
              <a:rPr lang="en-US" sz="2400"/>
              <a:t>sat</a:t>
            </a:r>
            <a:endParaRPr lang="en-IN" sz="2400"/>
          </a:p>
        </p:txBody>
      </p:sp>
      <p:sp>
        <p:nvSpPr>
          <p:cNvPr id="85" name="TextBox 84"/>
          <p:cNvSpPr txBox="1"/>
          <p:nvPr/>
        </p:nvSpPr>
        <p:spPr>
          <a:xfrm>
            <a:off x="9254773" y="3554667"/>
            <a:ext cx="508473" cy="461665"/>
          </a:xfrm>
          <a:prstGeom prst="rect">
            <a:avLst/>
          </a:prstGeom>
          <a:noFill/>
        </p:spPr>
        <p:txBody>
          <a:bodyPr wrap="none" rtlCol="0">
            <a:spAutoFit/>
          </a:bodyPr>
          <a:lstStyle/>
          <a:p>
            <a:r>
              <a:rPr lang="en-US" sz="2400"/>
              <a:t>on</a:t>
            </a:r>
            <a:endParaRPr lang="en-IN" sz="2400"/>
          </a:p>
        </p:txBody>
      </p:sp>
      <p:sp>
        <p:nvSpPr>
          <p:cNvPr id="86" name="TextBox 85"/>
          <p:cNvSpPr txBox="1"/>
          <p:nvPr/>
        </p:nvSpPr>
        <p:spPr>
          <a:xfrm>
            <a:off x="10032180" y="3554667"/>
            <a:ext cx="603050" cy="461665"/>
          </a:xfrm>
          <a:prstGeom prst="rect">
            <a:avLst/>
          </a:prstGeom>
          <a:noFill/>
        </p:spPr>
        <p:txBody>
          <a:bodyPr wrap="none" rtlCol="0">
            <a:spAutoFit/>
          </a:bodyPr>
          <a:lstStyle/>
          <a:p>
            <a:r>
              <a:rPr lang="en-US" sz="2400"/>
              <a:t>the</a:t>
            </a:r>
            <a:endParaRPr lang="en-IN" sz="2400"/>
          </a:p>
        </p:txBody>
      </p:sp>
      <p:sp>
        <p:nvSpPr>
          <p:cNvPr id="87" name="TextBox 86"/>
          <p:cNvSpPr txBox="1"/>
          <p:nvPr/>
        </p:nvSpPr>
        <p:spPr>
          <a:xfrm>
            <a:off x="10810807" y="3546879"/>
            <a:ext cx="677108" cy="461665"/>
          </a:xfrm>
          <a:prstGeom prst="rect">
            <a:avLst/>
          </a:prstGeom>
          <a:noFill/>
        </p:spPr>
        <p:txBody>
          <a:bodyPr wrap="none" rtlCol="0">
            <a:spAutoFit/>
          </a:bodyPr>
          <a:lstStyle/>
          <a:p>
            <a:r>
              <a:rPr lang="en-US" sz="2400"/>
              <a:t>mat</a:t>
            </a:r>
            <a:endParaRPr lang="en-IN" sz="2400"/>
          </a:p>
        </p:txBody>
      </p:sp>
      <p:cxnSp>
        <p:nvCxnSpPr>
          <p:cNvPr id="88" name="Straight Arrow Connector 87"/>
          <p:cNvCxnSpPr>
            <a:stCxn id="10" idx="0"/>
            <a:endCxn id="82" idx="2"/>
          </p:cNvCxnSpPr>
          <p:nvPr/>
        </p:nvCxnSpPr>
        <p:spPr>
          <a:xfrm flipV="1">
            <a:off x="7025886" y="4016332"/>
            <a:ext cx="9039" cy="6374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1" name="Straight Arrow Connector 90"/>
          <p:cNvCxnSpPr>
            <a:stCxn id="11" idx="0"/>
            <a:endCxn id="83" idx="2"/>
          </p:cNvCxnSpPr>
          <p:nvPr/>
        </p:nvCxnSpPr>
        <p:spPr>
          <a:xfrm flipV="1">
            <a:off x="7850581" y="4016332"/>
            <a:ext cx="9039" cy="6374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5" name="Straight Arrow Connector 94"/>
          <p:cNvCxnSpPr>
            <a:stCxn id="12" idx="0"/>
            <a:endCxn id="84" idx="2"/>
          </p:cNvCxnSpPr>
          <p:nvPr/>
        </p:nvCxnSpPr>
        <p:spPr>
          <a:xfrm flipV="1">
            <a:off x="8675276" y="4016332"/>
            <a:ext cx="9039" cy="6374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8" name="Straight Arrow Connector 97"/>
          <p:cNvCxnSpPr>
            <a:stCxn id="15" idx="0"/>
            <a:endCxn id="85" idx="2"/>
          </p:cNvCxnSpPr>
          <p:nvPr/>
        </p:nvCxnSpPr>
        <p:spPr>
          <a:xfrm flipV="1">
            <a:off x="9499971" y="4016332"/>
            <a:ext cx="9039" cy="6374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1" name="Straight Arrow Connector 100"/>
          <p:cNvCxnSpPr>
            <a:stCxn id="13" idx="0"/>
            <a:endCxn id="86" idx="2"/>
          </p:cNvCxnSpPr>
          <p:nvPr/>
        </p:nvCxnSpPr>
        <p:spPr>
          <a:xfrm flipV="1">
            <a:off x="10324666" y="4016332"/>
            <a:ext cx="9039" cy="6374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5" name="Straight Arrow Connector 104"/>
          <p:cNvCxnSpPr>
            <a:stCxn id="14" idx="0"/>
            <a:endCxn id="87" idx="2"/>
          </p:cNvCxnSpPr>
          <p:nvPr/>
        </p:nvCxnSpPr>
        <p:spPr>
          <a:xfrm flipH="1" flipV="1">
            <a:off x="11149361" y="4008544"/>
            <a:ext cx="1" cy="6452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8" name="TextBox 107"/>
          <p:cNvSpPr txBox="1"/>
          <p:nvPr/>
        </p:nvSpPr>
        <p:spPr>
          <a:xfrm>
            <a:off x="2337574" y="3980040"/>
            <a:ext cx="1608197" cy="523220"/>
          </a:xfrm>
          <a:prstGeom prst="rect">
            <a:avLst/>
          </a:prstGeom>
          <a:noFill/>
        </p:spPr>
        <p:txBody>
          <a:bodyPr wrap="none" rtlCol="0">
            <a:spAutoFit/>
          </a:bodyPr>
          <a:lstStyle/>
          <a:p>
            <a:r>
              <a:rPr lang="en-US" sz="2800">
                <a:solidFill>
                  <a:schemeClr val="bg1">
                    <a:lumMod val="85000"/>
                  </a:schemeClr>
                </a:solidFill>
              </a:rPr>
              <a:t>ENCODER</a:t>
            </a:r>
            <a:endParaRPr lang="en-IN" sz="2800">
              <a:solidFill>
                <a:schemeClr val="bg1">
                  <a:lumMod val="85000"/>
                </a:schemeClr>
              </a:solidFill>
            </a:endParaRPr>
          </a:p>
        </p:txBody>
      </p:sp>
      <p:sp>
        <p:nvSpPr>
          <p:cNvPr id="109" name="TextBox 108"/>
          <p:cNvSpPr txBox="1"/>
          <p:nvPr/>
        </p:nvSpPr>
        <p:spPr>
          <a:xfrm>
            <a:off x="8775944" y="5169122"/>
            <a:ext cx="1592744" cy="523220"/>
          </a:xfrm>
          <a:prstGeom prst="rect">
            <a:avLst/>
          </a:prstGeom>
          <a:noFill/>
        </p:spPr>
        <p:txBody>
          <a:bodyPr wrap="none" rtlCol="0">
            <a:spAutoFit/>
          </a:bodyPr>
          <a:lstStyle/>
          <a:p>
            <a:r>
              <a:rPr lang="en-US" sz="2800">
                <a:solidFill>
                  <a:schemeClr val="bg1">
                    <a:lumMod val="85000"/>
                  </a:schemeClr>
                </a:solidFill>
              </a:rPr>
              <a:t>DECODER</a:t>
            </a:r>
            <a:endParaRPr lang="en-IN" sz="2800">
              <a:solidFill>
                <a:schemeClr val="bg1">
                  <a:lumMod val="85000"/>
                </a:schemeClr>
              </a:solidFill>
            </a:endParaRPr>
          </a:p>
        </p:txBody>
      </p:sp>
      <p:sp>
        <p:nvSpPr>
          <p:cNvPr id="110" name="Callout: Line 109"/>
          <p:cNvSpPr/>
          <p:nvPr/>
        </p:nvSpPr>
        <p:spPr>
          <a:xfrm>
            <a:off x="294719" y="3668715"/>
            <a:ext cx="747920" cy="569539"/>
          </a:xfrm>
          <a:prstGeom prst="borderCallout1">
            <a:avLst>
              <a:gd name="adj1" fmla="val 101366"/>
              <a:gd name="adj2" fmla="val 81254"/>
              <a:gd name="adj3" fmla="val 168734"/>
              <a:gd name="adj4" fmla="val 87088"/>
            </a:avLst>
          </a:prstGeom>
          <a:solidFill>
            <a:schemeClr val="bg1">
              <a:lumMod val="95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lumMod val="65000"/>
                  </a:schemeClr>
                </a:solidFill>
              </a:rPr>
              <a:t>RNN “cell”</a:t>
            </a:r>
            <a:endParaRPr lang="en-IN">
              <a:solidFill>
                <a:schemeClr val="bg1">
                  <a:lumMod val="65000"/>
                </a:schemeClr>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Decoder cannot handle the workload</a:t>
            </a:r>
          </a:p>
        </p:txBody>
      </p:sp>
      <p:sp>
        <p:nvSpPr>
          <p:cNvPr id="3" name="Text Placeholder 2"/>
          <p:cNvSpPr>
            <a:spLocks noGrp="1"/>
          </p:cNvSpPr>
          <p:nvPr>
            <p:ph type="body" idx="1"/>
          </p:nvPr>
        </p:nvSpPr>
        <p:spPr/>
        <p:txBody>
          <a:bodyPr>
            <a:normAutofit lnSpcReduction="10000"/>
          </a:bodyPr>
          <a:lstStyle/>
          <a:p>
            <a:r>
              <a:rPr lang="en-US">
                <a:sym typeface="+mn-ea"/>
              </a:rPr>
              <a:t>Decoder cell must do many things:</a:t>
            </a:r>
          </a:p>
          <a:p>
            <a:pPr lvl="1"/>
            <a:r>
              <a:rPr lang="en-US">
                <a:sym typeface="+mn-ea"/>
              </a:rPr>
              <a:t>Remember all the input</a:t>
            </a:r>
          </a:p>
          <a:p>
            <a:pPr lvl="1"/>
            <a:r>
              <a:rPr lang="en-US">
                <a:sym typeface="+mn-ea"/>
              </a:rPr>
              <a:t>Remember what part of the input has been processed</a:t>
            </a:r>
          </a:p>
          <a:p>
            <a:pPr lvl="1"/>
            <a:r>
              <a:rPr lang="en-US">
                <a:sym typeface="+mn-ea"/>
              </a:rPr>
              <a:t>Induce a distribution over outputs</a:t>
            </a:r>
          </a:p>
          <a:p>
            <a:pPr lvl="1"/>
            <a:r>
              <a:rPr lang="en-US">
                <a:sym typeface="+mn-ea"/>
              </a:rPr>
              <a:t>Evolve current state into next state based on the above</a:t>
            </a:r>
          </a:p>
          <a:p>
            <a:r>
              <a:rPr lang="en-US">
                <a:sym typeface="+mn-ea"/>
              </a:rPr>
              <a:t>In practice this does not work well</a:t>
            </a:r>
          </a:p>
          <a:p>
            <a:pPr lvl="1"/>
            <a:r>
              <a:rPr lang="en-US">
                <a:sym typeface="+mn-ea"/>
              </a:rPr>
              <a:t>(At least small, simple) RNN cells need more help</a:t>
            </a:r>
          </a:p>
          <a:p>
            <a:r>
              <a:rPr lang="en-US" altLang="en-IN"/>
              <a:t>Given the strength of influence, one form of help is to feed the last-emitted output as input to current cell (takes care of ultra short-range influence)</a:t>
            </a:r>
            <a:endParaRPr lang="en-IN"/>
          </a:p>
          <a:p>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better chaining of RNN decoder</a:t>
            </a:r>
            <a:endParaRPr lang="en-IN"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74930" y="913130"/>
                <a:ext cx="12055475" cy="2761615"/>
              </a:xfrm>
              <a:effectLst>
                <a:glow rad="228600">
                  <a:schemeClr val="accent5">
                    <a:satMod val="175000"/>
                    <a:alpha val="40000"/>
                  </a:schemeClr>
                </a:glow>
              </a:effectLst>
            </p:spPr>
            <p:txBody>
              <a:bodyPr>
                <a:normAutofit fontScale="90000" lnSpcReduction="10000"/>
              </a:bodyPr>
              <a:lstStyle/>
              <a:p>
                <a:pPr>
                  <a:lnSpc>
                    <a:spcPct val="100000"/>
                  </a:lnSpc>
                </a:pPr>
                <a:r>
                  <a:rPr lang="en-US"/>
                  <a:t>Give each decoder cell at </a:t>
                </a:r>
                <a14:m>
                  <m:oMath xmlns:m="http://schemas.openxmlformats.org/officeDocument/2006/math">
                    <m:r>
                      <a:rPr lang="en-US" b="0" i="1" smtClean="0">
                        <a:latin typeface="Cambria Math" panose="02040503050406030204" pitchFamily="18" charset="0"/>
                      </a:rPr>
                      <m:t>𝑡</m:t>
                    </m:r>
                  </m:oMath>
                </a14:m>
                <a:r>
                  <a:rPr lang="en-US"/>
                  <a:t> one additional input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oMath>
                </a14:m>
                <a:endParaRPr lang="en-IN"/>
              </a:p>
              <a:p>
                <a:pPr lvl="1">
                  <a:lnSpc>
                    <a:spcPct val="100000"/>
                  </a:lnSpc>
                </a:pPr>
                <a:r>
                  <a:rPr lang="en-IN"/>
                  <a:t>Inputs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𝒈</m:t>
                        </m:r>
                      </m:e>
                      <m:sub>
                        <m:r>
                          <a:rPr lang="en-US" b="0" i="1" smtClean="0">
                            <a:latin typeface="Cambria Math" panose="02040503050406030204" pitchFamily="18" charset="0"/>
                          </a:rPr>
                          <m:t>𝑡</m:t>
                        </m:r>
                        <m:r>
                          <a:rPr lang="en-US" b="0" i="1" smtClean="0">
                            <a:latin typeface="Cambria Math" panose="02040503050406030204" pitchFamily="18" charset="0"/>
                          </a:rPr>
                          <m:t>−1</m:t>
                        </m:r>
                      </m:sub>
                    </m:sSub>
                  </m:oMath>
                </a14:m>
                <a:r>
                  <a:rPr lang="en-IN"/>
                  <a:t>; outputs </a:t>
                </a:r>
                <a14:m>
                  <m:oMath xmlns:m="http://schemas.openxmlformats.org/officeDocument/2006/math">
                    <m:sSub>
                      <m:sSubPr>
                        <m:ctrlPr>
                          <a:rPr lang="en-US" b="0" i="1" smtClean="0">
                            <a:latin typeface="Cambria Math" panose="02040503050406030204" pitchFamily="18" charset="0"/>
                          </a:rPr>
                        </m:ctrlPr>
                      </m:sSubPr>
                      <m:e>
                        <m:r>
                          <a:rPr lang="en-US" b="1" i="1" smtClean="0">
                            <a:latin typeface="Cambria Math" panose="02040503050406030204" pitchFamily="18" charset="0"/>
                          </a:rPr>
                          <m:t>𝒈</m:t>
                        </m:r>
                      </m:e>
                      <m:sub>
                        <m:r>
                          <a:rPr lang="en-US" b="0" i="1" smtClean="0">
                            <a:latin typeface="Cambria Math" panose="02040503050406030204" pitchFamily="18" charset="0"/>
                          </a:rPr>
                          <m:t>𝑡</m:t>
                        </m:r>
                      </m:sub>
                    </m:sSub>
                  </m:oMath>
                </a14:m>
                <a:r>
                  <a:rPr lang="en-US" altLang="en-IN"/>
                  <a:t> and </a:t>
                </a:r>
                <a:r>
                  <a:rPr lang="en-IN"/>
                  <a:t>distribution over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𝑡</m:t>
                        </m:r>
                      </m:sub>
                    </m:sSub>
                  </m:oMath>
                </a14:m>
                <a:endParaRPr lang="en-IN"/>
              </a:p>
              <a:p>
                <a:pPr lvl="1">
                  <a:lnSpc>
                    <a:spcPct val="100000"/>
                  </a:lnSpc>
                </a:pPr>
                <a:r>
                  <a:rPr lang="en-US" altLang="en-IN"/>
                  <a:t>Take </a:t>
                </a:r>
                <a:r>
                  <a:rPr lang="en-US" altLang="en-IN">
                    <a:effectLst>
                      <a:glow rad="228600">
                        <a:schemeClr val="accent4">
                          <a:satMod val="175000"/>
                          <a:alpha val="40000"/>
                        </a:schemeClr>
                      </a:glow>
                    </a:effectLst>
                  </a:rPr>
                  <a:t>argmax</a:t>
                </a:r>
                <a:r>
                  <a:rPr lang="en-US" altLang="en-IN"/>
                  <a:t> over distribution to output discrete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𝑡</m:t>
                        </m:r>
                      </m:sub>
                    </m:sSub>
                  </m:oMath>
                </a14:m>
                <a:endParaRPr lang="en-US" i="1">
                  <a:latin typeface="Cambria Math" panose="02040503050406030204" pitchFamily="18" charset="0"/>
                </a:endParaRPr>
              </a:p>
              <a:p>
                <a:pPr lvl="1">
                  <a:lnSpc>
                    <a:spcPct val="100000"/>
                  </a:lnSpc>
                </a:pPr>
                <a:r>
                  <a:rPr lang="en-US"/>
                  <a:t>But we can also </a:t>
                </a:r>
                <a:r>
                  <a:rPr lang="en-US">
                    <a:effectLst>
                      <a:glow rad="228600">
                        <a:schemeClr val="accent4">
                          <a:satMod val="175000"/>
                          <a:alpha val="40000"/>
                        </a:schemeClr>
                      </a:glow>
                    </a:effectLst>
                  </a:rPr>
                  <a:t>sample</a:t>
                </a:r>
                <a:r>
                  <a:rPr lang="en-US"/>
                  <a:t> the distribution to introduce variation</a:t>
                </a:r>
                <a:endParaRPr lang="en-IN"/>
              </a:p>
              <a:p>
                <a:pPr>
                  <a:lnSpc>
                    <a:spcPct val="100000"/>
                  </a:lnSpc>
                </a:pPr>
                <a:r>
                  <a:rPr lang="en-IN"/>
                  <a:t>Decoder </a:t>
                </a:r>
                <a:r>
                  <a:rPr lang="en-US" altLang="en-IN"/>
                  <a:t>not exploiting </a:t>
                </a:r>
                <a:r>
                  <a:rPr lang="en-IN"/>
                  <a:t>access to all encoder states </a:t>
                </a:r>
                <a14:m>
                  <m:oMath xmlns:m="http://schemas.openxmlformats.org/officeDocument/2006/math">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𝒉</m:t>
                        </m:r>
                      </m:e>
                      <m:sub>
                        <m:r>
                          <a:rPr lang="en-US" b="0" i="1" smtClean="0">
                            <a:latin typeface="Cambria Math" panose="02040503050406030204" pitchFamily="18" charset="0"/>
                          </a:rPr>
                          <m:t>𝑡</m:t>
                        </m:r>
                      </m:sub>
                    </m:sSub>
                    <m:r>
                      <a:rPr lang="en-US" b="0" i="1" smtClean="0">
                        <a:latin typeface="Cambria Math" panose="02040503050406030204" pitchFamily="18" charset="0"/>
                      </a:rPr>
                      <m:t>}</m:t>
                    </m:r>
                  </m:oMath>
                </a14:m>
                <a:endParaRPr lang="en-IN"/>
              </a:p>
            </p:txBody>
          </p:sp>
        </mc:Choice>
        <mc:Fallback xmlns="">
          <p:sp>
            <p:nvSpPr>
              <p:cNvPr id="3" name="Text Placeholder 2"/>
              <p:cNvSpPr>
                <a:spLocks noRot="1" noChangeAspect="1" noMove="1" noResize="1" noEditPoints="1" noAdjustHandles="1" noChangeArrowheads="1" noChangeShapeType="1" noTextEdit="1"/>
              </p:cNvSpPr>
              <p:nvPr>
                <p:ph type="body" idx="1"/>
              </p:nvPr>
            </p:nvSpPr>
            <p:spPr>
              <a:xfrm>
                <a:off x="74930" y="913130"/>
                <a:ext cx="12055475" cy="2761615"/>
              </a:xfrm>
              <a:blipFill rotWithShape="1">
                <a:blip r:embed="rId3"/>
                <a:stretch>
                  <a:fillRect l="-1896" t="-8278" r="-1896" b="-8278"/>
                </a:stretch>
              </a:blipFill>
              <a:effectLst>
                <a:glow rad="228600">
                  <a:schemeClr val="accent5">
                    <a:satMod val="175000"/>
                    <a:alpha val="40000"/>
                  </a:schemeClr>
                </a:glow>
              </a:effectLst>
            </p:spPr>
            <p:txBody>
              <a:bodyPr/>
              <a:lstStyle/>
              <a:p>
                <a:r>
                  <a:rPr lang="en-US" altLang="en-US">
                    <a:noFill/>
                  </a:rPr>
                  <a:t> </a:t>
                </a:r>
              </a:p>
            </p:txBody>
          </p:sp>
        </mc:Fallback>
      </mc:AlternateContent>
      <p:sp>
        <p:nvSpPr>
          <p:cNvPr id="4" name="Rectangle 3"/>
          <p:cNvSpPr/>
          <p:nvPr/>
        </p:nvSpPr>
        <p:spPr>
          <a:xfrm>
            <a:off x="780585" y="4669017"/>
            <a:ext cx="405159" cy="431182"/>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p:cNvSpPr/>
          <p:nvPr/>
        </p:nvSpPr>
        <p:spPr>
          <a:xfrm>
            <a:off x="1605280" y="4669017"/>
            <a:ext cx="405159" cy="431182"/>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p:cNvSpPr/>
          <p:nvPr/>
        </p:nvSpPr>
        <p:spPr>
          <a:xfrm>
            <a:off x="2429975" y="4669017"/>
            <a:ext cx="405159" cy="431182"/>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p:cNvSpPr/>
          <p:nvPr/>
        </p:nvSpPr>
        <p:spPr>
          <a:xfrm>
            <a:off x="4079365" y="4669017"/>
            <a:ext cx="405159" cy="431182"/>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p:cNvSpPr/>
          <p:nvPr/>
        </p:nvSpPr>
        <p:spPr>
          <a:xfrm>
            <a:off x="4904061" y="4669017"/>
            <a:ext cx="405159" cy="431182"/>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p:cNvSpPr/>
          <p:nvPr/>
        </p:nvSpPr>
        <p:spPr>
          <a:xfrm>
            <a:off x="3254670" y="4669017"/>
            <a:ext cx="405159" cy="431182"/>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p:cNvSpPr/>
          <p:nvPr/>
        </p:nvSpPr>
        <p:spPr>
          <a:xfrm>
            <a:off x="6434890" y="4653776"/>
            <a:ext cx="405159" cy="431182"/>
          </a:xfrm>
          <a:prstGeom prst="rect">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p:nvSpPr>
        <p:spPr>
          <a:xfrm>
            <a:off x="7259585" y="4653776"/>
            <a:ext cx="405159" cy="431182"/>
          </a:xfrm>
          <a:prstGeom prst="rect">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p:cNvSpPr/>
          <p:nvPr/>
        </p:nvSpPr>
        <p:spPr>
          <a:xfrm>
            <a:off x="8084280" y="4653776"/>
            <a:ext cx="405159" cy="431182"/>
          </a:xfrm>
          <a:prstGeom prst="rect">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p:cNvSpPr/>
          <p:nvPr/>
        </p:nvSpPr>
        <p:spPr>
          <a:xfrm>
            <a:off x="9733670" y="4653776"/>
            <a:ext cx="405159" cy="431182"/>
          </a:xfrm>
          <a:prstGeom prst="rect">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p:cNvSpPr/>
          <p:nvPr/>
        </p:nvSpPr>
        <p:spPr>
          <a:xfrm>
            <a:off x="10558366" y="4653776"/>
            <a:ext cx="405159" cy="431182"/>
          </a:xfrm>
          <a:prstGeom prst="rect">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p:cNvSpPr/>
          <p:nvPr/>
        </p:nvSpPr>
        <p:spPr>
          <a:xfrm>
            <a:off x="8908975" y="4653776"/>
            <a:ext cx="405159" cy="431182"/>
          </a:xfrm>
          <a:prstGeom prst="rect">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7" name="Straight Arrow Connector 16"/>
          <p:cNvCxnSpPr/>
          <p:nvPr/>
        </p:nvCxnSpPr>
        <p:spPr>
          <a:xfrm>
            <a:off x="1185744" y="4884608"/>
            <a:ext cx="4195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p:cNvCxnSpPr/>
          <p:nvPr/>
        </p:nvCxnSpPr>
        <p:spPr>
          <a:xfrm>
            <a:off x="2010439" y="4884608"/>
            <a:ext cx="4195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p:cNvCxnSpPr/>
          <p:nvPr/>
        </p:nvCxnSpPr>
        <p:spPr>
          <a:xfrm>
            <a:off x="2835134" y="4884608"/>
            <a:ext cx="4195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p:cNvCxnSpPr/>
          <p:nvPr/>
        </p:nvCxnSpPr>
        <p:spPr>
          <a:xfrm>
            <a:off x="3659829" y="4884608"/>
            <a:ext cx="4195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p:cNvCxnSpPr/>
          <p:nvPr/>
        </p:nvCxnSpPr>
        <p:spPr>
          <a:xfrm>
            <a:off x="4484524" y="4884608"/>
            <a:ext cx="41953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 name="TextBox 29"/>
          <p:cNvSpPr txBox="1"/>
          <p:nvPr/>
        </p:nvSpPr>
        <p:spPr>
          <a:xfrm>
            <a:off x="681639" y="5634691"/>
            <a:ext cx="603050" cy="461665"/>
          </a:xfrm>
          <a:prstGeom prst="rect">
            <a:avLst/>
          </a:prstGeom>
          <a:noFill/>
        </p:spPr>
        <p:txBody>
          <a:bodyPr wrap="none" rtlCol="0">
            <a:spAutoFit/>
          </a:bodyPr>
          <a:lstStyle/>
          <a:p>
            <a:r>
              <a:rPr lang="en-US" sz="2400"/>
              <a:t>the</a:t>
            </a:r>
            <a:endParaRPr lang="en-IN" sz="2400"/>
          </a:p>
        </p:txBody>
      </p:sp>
      <p:sp>
        <p:nvSpPr>
          <p:cNvPr id="31" name="TextBox 30"/>
          <p:cNvSpPr txBox="1"/>
          <p:nvPr/>
        </p:nvSpPr>
        <p:spPr>
          <a:xfrm>
            <a:off x="1528295" y="5634691"/>
            <a:ext cx="559127" cy="461665"/>
          </a:xfrm>
          <a:prstGeom prst="rect">
            <a:avLst/>
          </a:prstGeom>
          <a:noFill/>
        </p:spPr>
        <p:txBody>
          <a:bodyPr wrap="none" rtlCol="0">
            <a:spAutoFit/>
          </a:bodyPr>
          <a:lstStyle/>
          <a:p>
            <a:r>
              <a:rPr lang="en-US" sz="2400"/>
              <a:t>cat</a:t>
            </a:r>
            <a:endParaRPr lang="en-IN" sz="2400"/>
          </a:p>
        </p:txBody>
      </p:sp>
      <p:sp>
        <p:nvSpPr>
          <p:cNvPr id="32" name="TextBox 31"/>
          <p:cNvSpPr txBox="1"/>
          <p:nvPr/>
        </p:nvSpPr>
        <p:spPr>
          <a:xfrm>
            <a:off x="2356517" y="5634691"/>
            <a:ext cx="552074" cy="461665"/>
          </a:xfrm>
          <a:prstGeom prst="rect">
            <a:avLst/>
          </a:prstGeom>
          <a:noFill/>
        </p:spPr>
        <p:txBody>
          <a:bodyPr wrap="none" rtlCol="0">
            <a:spAutoFit/>
          </a:bodyPr>
          <a:lstStyle/>
          <a:p>
            <a:r>
              <a:rPr lang="en-US" sz="2400"/>
              <a:t>sat</a:t>
            </a:r>
            <a:endParaRPr lang="en-IN" sz="2400"/>
          </a:p>
        </p:txBody>
      </p:sp>
      <p:sp>
        <p:nvSpPr>
          <p:cNvPr id="33" name="TextBox 32"/>
          <p:cNvSpPr txBox="1"/>
          <p:nvPr/>
        </p:nvSpPr>
        <p:spPr>
          <a:xfrm>
            <a:off x="3203012" y="5634691"/>
            <a:ext cx="508473" cy="461665"/>
          </a:xfrm>
          <a:prstGeom prst="rect">
            <a:avLst/>
          </a:prstGeom>
          <a:noFill/>
        </p:spPr>
        <p:txBody>
          <a:bodyPr wrap="none" rtlCol="0">
            <a:spAutoFit/>
          </a:bodyPr>
          <a:lstStyle/>
          <a:p>
            <a:r>
              <a:rPr lang="en-US" sz="2400"/>
              <a:t>on</a:t>
            </a:r>
            <a:endParaRPr lang="en-IN" sz="2400"/>
          </a:p>
        </p:txBody>
      </p:sp>
      <p:sp>
        <p:nvSpPr>
          <p:cNvPr id="34" name="TextBox 33"/>
          <p:cNvSpPr txBox="1"/>
          <p:nvPr/>
        </p:nvSpPr>
        <p:spPr>
          <a:xfrm>
            <a:off x="3980419" y="5634691"/>
            <a:ext cx="603050" cy="461665"/>
          </a:xfrm>
          <a:prstGeom prst="rect">
            <a:avLst/>
          </a:prstGeom>
          <a:noFill/>
        </p:spPr>
        <p:txBody>
          <a:bodyPr wrap="none" rtlCol="0">
            <a:spAutoFit/>
          </a:bodyPr>
          <a:lstStyle/>
          <a:p>
            <a:r>
              <a:rPr lang="en-US" sz="2400"/>
              <a:t>the</a:t>
            </a:r>
            <a:endParaRPr lang="en-IN" sz="2400"/>
          </a:p>
        </p:txBody>
      </p:sp>
      <p:sp>
        <p:nvSpPr>
          <p:cNvPr id="35" name="TextBox 34"/>
          <p:cNvSpPr txBox="1"/>
          <p:nvPr/>
        </p:nvSpPr>
        <p:spPr>
          <a:xfrm>
            <a:off x="4759046" y="5626903"/>
            <a:ext cx="677108" cy="461665"/>
          </a:xfrm>
          <a:prstGeom prst="rect">
            <a:avLst/>
          </a:prstGeom>
          <a:noFill/>
        </p:spPr>
        <p:txBody>
          <a:bodyPr wrap="none" rtlCol="0">
            <a:spAutoFit/>
          </a:bodyPr>
          <a:lstStyle/>
          <a:p>
            <a:r>
              <a:rPr lang="en-US" sz="2400"/>
              <a:t>mat</a:t>
            </a:r>
            <a:endParaRPr lang="en-IN" sz="2400"/>
          </a:p>
        </p:txBody>
      </p:sp>
      <p:cxnSp>
        <p:nvCxnSpPr>
          <p:cNvPr id="36" name="Straight Arrow Connector 35"/>
          <p:cNvCxnSpPr>
            <a:stCxn id="30" idx="0"/>
            <a:endCxn id="4" idx="2"/>
          </p:cNvCxnSpPr>
          <p:nvPr/>
        </p:nvCxnSpPr>
        <p:spPr>
          <a:xfrm flipV="1">
            <a:off x="983164" y="5100199"/>
            <a:ext cx="1" cy="5344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9" name="Straight Arrow Connector 38"/>
          <p:cNvCxnSpPr>
            <a:stCxn id="31" idx="0"/>
            <a:endCxn id="5" idx="2"/>
          </p:cNvCxnSpPr>
          <p:nvPr/>
        </p:nvCxnSpPr>
        <p:spPr>
          <a:xfrm flipV="1">
            <a:off x="1807859" y="5100199"/>
            <a:ext cx="1" cy="5344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p:cNvCxnSpPr>
            <a:stCxn id="32" idx="0"/>
            <a:endCxn id="6" idx="2"/>
          </p:cNvCxnSpPr>
          <p:nvPr/>
        </p:nvCxnSpPr>
        <p:spPr>
          <a:xfrm flipV="1">
            <a:off x="2632554" y="5100199"/>
            <a:ext cx="1" cy="5344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p:cNvCxnSpPr>
            <a:stCxn id="33" idx="0"/>
            <a:endCxn id="9" idx="2"/>
          </p:cNvCxnSpPr>
          <p:nvPr/>
        </p:nvCxnSpPr>
        <p:spPr>
          <a:xfrm flipV="1">
            <a:off x="3457249" y="5100199"/>
            <a:ext cx="1" cy="5344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p:cNvCxnSpPr>
            <a:stCxn id="34" idx="0"/>
            <a:endCxn id="7" idx="2"/>
          </p:cNvCxnSpPr>
          <p:nvPr/>
        </p:nvCxnSpPr>
        <p:spPr>
          <a:xfrm flipV="1">
            <a:off x="4281944" y="5100199"/>
            <a:ext cx="1" cy="5344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1" name="Straight Arrow Connector 50"/>
          <p:cNvCxnSpPr>
            <a:stCxn id="35" idx="0"/>
            <a:endCxn id="8" idx="2"/>
          </p:cNvCxnSpPr>
          <p:nvPr/>
        </p:nvCxnSpPr>
        <p:spPr>
          <a:xfrm flipV="1">
            <a:off x="5097600" y="5100199"/>
            <a:ext cx="9041" cy="52670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6" name="TextBox 55"/>
              <p:cNvSpPr txBox="1"/>
              <p:nvPr/>
            </p:nvSpPr>
            <p:spPr>
              <a:xfrm>
                <a:off x="30393" y="4699942"/>
                <a:ext cx="40549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1" i="1" smtClean="0">
                              <a:latin typeface="Cambria Math" panose="02040503050406030204" pitchFamily="18" charset="0"/>
                            </a:rPr>
                            <m:t>𝒉</m:t>
                          </m:r>
                        </m:e>
                        <m:sub>
                          <m:r>
                            <a:rPr lang="en-US" sz="2400" b="0" i="1" smtClean="0">
                              <a:latin typeface="Cambria Math" panose="02040503050406030204" pitchFamily="18" charset="0"/>
                            </a:rPr>
                            <m:t>0</m:t>
                          </m:r>
                        </m:sub>
                      </m:sSub>
                    </m:oMath>
                  </m:oMathPara>
                </a14:m>
                <a:endParaRPr lang="en-IN" sz="2400"/>
              </a:p>
            </p:txBody>
          </p:sp>
        </mc:Choice>
        <mc:Fallback xmlns="">
          <p:sp>
            <p:nvSpPr>
              <p:cNvPr id="56" name="TextBox 55"/>
              <p:cNvSpPr txBox="1">
                <a:spLocks noRot="1" noChangeAspect="1" noMove="1" noResize="1" noEditPoints="1" noAdjustHandles="1" noChangeArrowheads="1" noChangeShapeType="1" noTextEdit="1"/>
              </p:cNvSpPr>
              <p:nvPr/>
            </p:nvSpPr>
            <p:spPr>
              <a:xfrm>
                <a:off x="30393" y="4699942"/>
                <a:ext cx="405496" cy="369332"/>
              </a:xfrm>
              <a:prstGeom prst="rect">
                <a:avLst/>
              </a:prstGeom>
              <a:blipFill rotWithShape="1">
                <a:blip r:embed="rId4"/>
                <a:stretch>
                  <a:fillRect l="-135" t="-83" r="-16844" b="19"/>
                </a:stretch>
              </a:blipFill>
            </p:spPr>
            <p:txBody>
              <a:bodyPr/>
              <a:lstStyle/>
              <a:p>
                <a:r>
                  <a:rPr lang="en-US" altLang="en-US">
                    <a:noFill/>
                  </a:rPr>
                  <a:t> </a:t>
                </a:r>
              </a:p>
            </p:txBody>
          </p:sp>
        </mc:Fallback>
      </mc:AlternateContent>
      <p:cxnSp>
        <p:nvCxnSpPr>
          <p:cNvPr id="57" name="Straight Arrow Connector 56"/>
          <p:cNvCxnSpPr>
            <a:stCxn id="56" idx="3"/>
            <a:endCxn id="4" idx="1"/>
          </p:cNvCxnSpPr>
          <p:nvPr/>
        </p:nvCxnSpPr>
        <p:spPr>
          <a:xfrm>
            <a:off x="435889" y="4884608"/>
            <a:ext cx="34469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1" name="Straight Arrow Connector 60"/>
          <p:cNvCxnSpPr>
            <a:stCxn id="8" idx="3"/>
            <a:endCxn id="10" idx="1"/>
          </p:cNvCxnSpPr>
          <p:nvPr/>
        </p:nvCxnSpPr>
        <p:spPr>
          <a:xfrm flipV="1">
            <a:off x="5309220" y="4869367"/>
            <a:ext cx="1125670" cy="1524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5" name="TextBox 64"/>
              <p:cNvSpPr txBox="1"/>
              <p:nvPr/>
            </p:nvSpPr>
            <p:spPr>
              <a:xfrm>
                <a:off x="5526008" y="4964386"/>
                <a:ext cx="734624" cy="7386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1" i="1" smtClean="0">
                              <a:latin typeface="Cambria Math" panose="02040503050406030204" pitchFamily="18" charset="0"/>
                            </a:rPr>
                            <m:t>𝒉</m:t>
                          </m:r>
                        </m:e>
                        <m:sub>
                          <m:r>
                            <a:rPr lang="en-US" sz="2400" b="0" i="1" smtClean="0">
                              <a:latin typeface="Cambria Math" panose="02040503050406030204" pitchFamily="18" charset="0"/>
                            </a:rPr>
                            <m:t>𝑇</m:t>
                          </m:r>
                        </m:sub>
                      </m:sSub>
                    </m:oMath>
                    <m:oMath xmlns:m="http://schemas.openxmlformats.org/officeDocument/2006/math">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1" i="1" smtClean="0">
                              <a:latin typeface="Cambria Math" panose="02040503050406030204" pitchFamily="18" charset="0"/>
                            </a:rPr>
                            <m:t>𝒈</m:t>
                          </m:r>
                        </m:e>
                        <m:sub>
                          <m:r>
                            <a:rPr lang="en-US" sz="2400" b="0" i="1" smtClean="0">
                              <a:latin typeface="Cambria Math" panose="02040503050406030204" pitchFamily="18" charset="0"/>
                            </a:rPr>
                            <m:t>0</m:t>
                          </m:r>
                        </m:sub>
                      </m:sSub>
                    </m:oMath>
                  </m:oMathPara>
                </a14:m>
                <a:endParaRPr lang="en-IN" sz="2400"/>
              </a:p>
            </p:txBody>
          </p:sp>
        </mc:Choice>
        <mc:Fallback xmlns="">
          <p:sp>
            <p:nvSpPr>
              <p:cNvPr id="65" name="TextBox 64"/>
              <p:cNvSpPr txBox="1">
                <a:spLocks noRot="1" noChangeAspect="1" noMove="1" noResize="1" noEditPoints="1" noAdjustHandles="1" noChangeArrowheads="1" noChangeShapeType="1" noTextEdit="1"/>
              </p:cNvSpPr>
              <p:nvPr/>
            </p:nvSpPr>
            <p:spPr>
              <a:xfrm>
                <a:off x="5526008" y="4964386"/>
                <a:ext cx="734624" cy="738664"/>
              </a:xfrm>
              <a:prstGeom prst="rect">
                <a:avLst/>
              </a:prstGeom>
              <a:blipFill rotWithShape="1">
                <a:blip r:embed="rId5"/>
                <a:stretch>
                  <a:fillRect l="-32" t="-80" r="-10177" b="16"/>
                </a:stretch>
              </a:blipFill>
            </p:spPr>
            <p:txBody>
              <a:bodyPr/>
              <a:lstStyle/>
              <a:p>
                <a:r>
                  <a:rPr lang="en-US" altLang="en-US">
                    <a:noFill/>
                  </a:rPr>
                  <a:t> </a:t>
                </a:r>
              </a:p>
            </p:txBody>
          </p:sp>
        </mc:Fallback>
      </mc:AlternateContent>
      <p:cxnSp>
        <p:nvCxnSpPr>
          <p:cNvPr id="66" name="Straight Arrow Connector 65"/>
          <p:cNvCxnSpPr>
            <a:stCxn id="10" idx="3"/>
            <a:endCxn id="11" idx="1"/>
          </p:cNvCxnSpPr>
          <p:nvPr/>
        </p:nvCxnSpPr>
        <p:spPr>
          <a:xfrm>
            <a:off x="6840049" y="4869367"/>
            <a:ext cx="4195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9" name="Straight Arrow Connector 68"/>
          <p:cNvCxnSpPr>
            <a:stCxn id="11" idx="3"/>
            <a:endCxn id="12" idx="1"/>
          </p:cNvCxnSpPr>
          <p:nvPr/>
        </p:nvCxnSpPr>
        <p:spPr>
          <a:xfrm>
            <a:off x="7664744" y="4869367"/>
            <a:ext cx="4195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2" name="Straight Arrow Connector 71"/>
          <p:cNvCxnSpPr>
            <a:stCxn id="12" idx="3"/>
            <a:endCxn id="15" idx="1"/>
          </p:cNvCxnSpPr>
          <p:nvPr/>
        </p:nvCxnSpPr>
        <p:spPr>
          <a:xfrm>
            <a:off x="8489439" y="4869367"/>
            <a:ext cx="4195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6" name="Straight Arrow Connector 75"/>
          <p:cNvCxnSpPr>
            <a:stCxn id="15" idx="3"/>
            <a:endCxn id="13" idx="1"/>
          </p:cNvCxnSpPr>
          <p:nvPr/>
        </p:nvCxnSpPr>
        <p:spPr>
          <a:xfrm>
            <a:off x="9314134" y="4869367"/>
            <a:ext cx="4195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9" name="Straight Arrow Connector 78"/>
          <p:cNvCxnSpPr>
            <a:stCxn id="13" idx="3"/>
            <a:endCxn id="14" idx="1"/>
          </p:cNvCxnSpPr>
          <p:nvPr/>
        </p:nvCxnSpPr>
        <p:spPr>
          <a:xfrm>
            <a:off x="10138829" y="4869367"/>
            <a:ext cx="41953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2" name="TextBox 81"/>
          <p:cNvSpPr txBox="1"/>
          <p:nvPr/>
        </p:nvSpPr>
        <p:spPr>
          <a:xfrm>
            <a:off x="6344984" y="3554667"/>
            <a:ext cx="603050" cy="461665"/>
          </a:xfrm>
          <a:prstGeom prst="rect">
            <a:avLst/>
          </a:prstGeom>
          <a:noFill/>
        </p:spPr>
        <p:txBody>
          <a:bodyPr wrap="none" rtlCol="0">
            <a:spAutoFit/>
          </a:bodyPr>
          <a:lstStyle/>
          <a:p>
            <a:r>
              <a:rPr lang="en-US" sz="2400"/>
              <a:t>the</a:t>
            </a:r>
            <a:endParaRPr lang="en-IN" sz="2400"/>
          </a:p>
        </p:txBody>
      </p:sp>
      <p:sp>
        <p:nvSpPr>
          <p:cNvPr id="83" name="TextBox 82"/>
          <p:cNvSpPr txBox="1"/>
          <p:nvPr/>
        </p:nvSpPr>
        <p:spPr>
          <a:xfrm>
            <a:off x="7191640" y="3554667"/>
            <a:ext cx="559127" cy="461665"/>
          </a:xfrm>
          <a:prstGeom prst="rect">
            <a:avLst/>
          </a:prstGeom>
          <a:noFill/>
        </p:spPr>
        <p:txBody>
          <a:bodyPr wrap="none" rtlCol="0">
            <a:spAutoFit/>
          </a:bodyPr>
          <a:lstStyle/>
          <a:p>
            <a:r>
              <a:rPr lang="en-US" sz="2400"/>
              <a:t>cat</a:t>
            </a:r>
            <a:endParaRPr lang="en-IN" sz="2400"/>
          </a:p>
        </p:txBody>
      </p:sp>
      <p:sp>
        <p:nvSpPr>
          <p:cNvPr id="84" name="TextBox 83"/>
          <p:cNvSpPr txBox="1"/>
          <p:nvPr/>
        </p:nvSpPr>
        <p:spPr>
          <a:xfrm>
            <a:off x="8019862" y="3554667"/>
            <a:ext cx="552074" cy="461665"/>
          </a:xfrm>
          <a:prstGeom prst="rect">
            <a:avLst/>
          </a:prstGeom>
          <a:noFill/>
        </p:spPr>
        <p:txBody>
          <a:bodyPr wrap="none" rtlCol="0">
            <a:spAutoFit/>
          </a:bodyPr>
          <a:lstStyle/>
          <a:p>
            <a:r>
              <a:rPr lang="en-US" sz="2400"/>
              <a:t>sat</a:t>
            </a:r>
            <a:endParaRPr lang="en-IN" sz="2400"/>
          </a:p>
        </p:txBody>
      </p:sp>
      <p:sp>
        <p:nvSpPr>
          <p:cNvPr id="85" name="TextBox 84"/>
          <p:cNvSpPr txBox="1"/>
          <p:nvPr/>
        </p:nvSpPr>
        <p:spPr>
          <a:xfrm>
            <a:off x="8866357" y="3554667"/>
            <a:ext cx="508473" cy="461665"/>
          </a:xfrm>
          <a:prstGeom prst="rect">
            <a:avLst/>
          </a:prstGeom>
          <a:noFill/>
        </p:spPr>
        <p:txBody>
          <a:bodyPr wrap="none" rtlCol="0">
            <a:spAutoFit/>
          </a:bodyPr>
          <a:lstStyle/>
          <a:p>
            <a:r>
              <a:rPr lang="en-US" sz="2400"/>
              <a:t>on</a:t>
            </a:r>
            <a:endParaRPr lang="en-IN" sz="2400"/>
          </a:p>
        </p:txBody>
      </p:sp>
      <p:sp>
        <p:nvSpPr>
          <p:cNvPr id="86" name="TextBox 85"/>
          <p:cNvSpPr txBox="1"/>
          <p:nvPr/>
        </p:nvSpPr>
        <p:spPr>
          <a:xfrm>
            <a:off x="9643764" y="3554667"/>
            <a:ext cx="603050" cy="461665"/>
          </a:xfrm>
          <a:prstGeom prst="rect">
            <a:avLst/>
          </a:prstGeom>
          <a:noFill/>
        </p:spPr>
        <p:txBody>
          <a:bodyPr wrap="none" rtlCol="0">
            <a:spAutoFit/>
          </a:bodyPr>
          <a:lstStyle/>
          <a:p>
            <a:r>
              <a:rPr lang="en-US" sz="2400"/>
              <a:t>the</a:t>
            </a:r>
            <a:endParaRPr lang="en-IN" sz="2400"/>
          </a:p>
        </p:txBody>
      </p:sp>
      <p:sp>
        <p:nvSpPr>
          <p:cNvPr id="87" name="TextBox 86"/>
          <p:cNvSpPr txBox="1"/>
          <p:nvPr/>
        </p:nvSpPr>
        <p:spPr>
          <a:xfrm>
            <a:off x="10422391" y="3546879"/>
            <a:ext cx="677108" cy="461665"/>
          </a:xfrm>
          <a:prstGeom prst="rect">
            <a:avLst/>
          </a:prstGeom>
          <a:noFill/>
        </p:spPr>
        <p:txBody>
          <a:bodyPr wrap="none" rtlCol="0">
            <a:spAutoFit/>
          </a:bodyPr>
          <a:lstStyle/>
          <a:p>
            <a:r>
              <a:rPr lang="en-US" sz="2400"/>
              <a:t>mat</a:t>
            </a:r>
            <a:endParaRPr lang="en-IN" sz="2400"/>
          </a:p>
        </p:txBody>
      </p:sp>
      <p:cxnSp>
        <p:nvCxnSpPr>
          <p:cNvPr id="88" name="Straight Arrow Connector 87"/>
          <p:cNvCxnSpPr>
            <a:stCxn id="10" idx="0"/>
            <a:endCxn id="82" idx="2"/>
          </p:cNvCxnSpPr>
          <p:nvPr/>
        </p:nvCxnSpPr>
        <p:spPr>
          <a:xfrm flipV="1">
            <a:off x="6637470" y="4016332"/>
            <a:ext cx="9039" cy="6374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1" name="Straight Arrow Connector 90"/>
          <p:cNvCxnSpPr>
            <a:stCxn id="11" idx="0"/>
            <a:endCxn id="83" idx="2"/>
          </p:cNvCxnSpPr>
          <p:nvPr/>
        </p:nvCxnSpPr>
        <p:spPr>
          <a:xfrm flipV="1">
            <a:off x="7462165" y="4016332"/>
            <a:ext cx="9039" cy="6374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5" name="Straight Arrow Connector 94"/>
          <p:cNvCxnSpPr>
            <a:stCxn id="12" idx="0"/>
            <a:endCxn id="84" idx="2"/>
          </p:cNvCxnSpPr>
          <p:nvPr/>
        </p:nvCxnSpPr>
        <p:spPr>
          <a:xfrm flipV="1">
            <a:off x="8286860" y="4016332"/>
            <a:ext cx="9039" cy="6374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8" name="Straight Arrow Connector 97"/>
          <p:cNvCxnSpPr>
            <a:stCxn id="15" idx="0"/>
            <a:endCxn id="85" idx="2"/>
          </p:cNvCxnSpPr>
          <p:nvPr/>
        </p:nvCxnSpPr>
        <p:spPr>
          <a:xfrm flipV="1">
            <a:off x="9111555" y="4016332"/>
            <a:ext cx="9039" cy="6374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1" name="Straight Arrow Connector 100"/>
          <p:cNvCxnSpPr>
            <a:stCxn id="13" idx="0"/>
            <a:endCxn id="86" idx="2"/>
          </p:cNvCxnSpPr>
          <p:nvPr/>
        </p:nvCxnSpPr>
        <p:spPr>
          <a:xfrm flipV="1">
            <a:off x="9936250" y="4016332"/>
            <a:ext cx="9039" cy="6374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5" name="Straight Arrow Connector 104"/>
          <p:cNvCxnSpPr>
            <a:stCxn id="14" idx="0"/>
            <a:endCxn id="87" idx="2"/>
          </p:cNvCxnSpPr>
          <p:nvPr/>
        </p:nvCxnSpPr>
        <p:spPr>
          <a:xfrm flipH="1" flipV="1">
            <a:off x="10760945" y="4008544"/>
            <a:ext cx="1" cy="6452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8" name="TextBox 107"/>
          <p:cNvSpPr txBox="1"/>
          <p:nvPr/>
        </p:nvSpPr>
        <p:spPr>
          <a:xfrm>
            <a:off x="2337574" y="3980040"/>
            <a:ext cx="1608197" cy="523220"/>
          </a:xfrm>
          <a:prstGeom prst="rect">
            <a:avLst/>
          </a:prstGeom>
          <a:noFill/>
        </p:spPr>
        <p:txBody>
          <a:bodyPr wrap="none" rtlCol="0">
            <a:spAutoFit/>
          </a:bodyPr>
          <a:lstStyle/>
          <a:p>
            <a:r>
              <a:rPr lang="en-US" sz="2800">
                <a:solidFill>
                  <a:schemeClr val="bg1">
                    <a:lumMod val="85000"/>
                  </a:schemeClr>
                </a:solidFill>
              </a:rPr>
              <a:t>ENCODER</a:t>
            </a:r>
            <a:endParaRPr lang="en-IN" sz="2800">
              <a:solidFill>
                <a:schemeClr val="bg1">
                  <a:lumMod val="85000"/>
                </a:schemeClr>
              </a:solidFill>
            </a:endParaRPr>
          </a:p>
        </p:txBody>
      </p:sp>
      <p:sp>
        <p:nvSpPr>
          <p:cNvPr id="58" name="TextBox 57"/>
          <p:cNvSpPr txBox="1"/>
          <p:nvPr/>
        </p:nvSpPr>
        <p:spPr>
          <a:xfrm>
            <a:off x="7160640" y="5732061"/>
            <a:ext cx="603050" cy="461665"/>
          </a:xfrm>
          <a:prstGeom prst="rect">
            <a:avLst/>
          </a:prstGeom>
          <a:noFill/>
        </p:spPr>
        <p:txBody>
          <a:bodyPr wrap="none" rtlCol="0">
            <a:spAutoFit/>
          </a:bodyPr>
          <a:lstStyle/>
          <a:p>
            <a:r>
              <a:rPr lang="en-US" sz="2400"/>
              <a:t>the</a:t>
            </a:r>
            <a:endParaRPr lang="en-IN" sz="2400"/>
          </a:p>
        </p:txBody>
      </p:sp>
      <p:sp>
        <p:nvSpPr>
          <p:cNvPr id="59" name="TextBox 58"/>
          <p:cNvSpPr txBox="1"/>
          <p:nvPr/>
        </p:nvSpPr>
        <p:spPr>
          <a:xfrm>
            <a:off x="8007296" y="5732061"/>
            <a:ext cx="559127" cy="461665"/>
          </a:xfrm>
          <a:prstGeom prst="rect">
            <a:avLst/>
          </a:prstGeom>
          <a:noFill/>
        </p:spPr>
        <p:txBody>
          <a:bodyPr wrap="none" rtlCol="0">
            <a:spAutoFit/>
          </a:bodyPr>
          <a:lstStyle/>
          <a:p>
            <a:r>
              <a:rPr lang="en-US" sz="2400"/>
              <a:t>cat</a:t>
            </a:r>
            <a:endParaRPr lang="en-IN" sz="2400"/>
          </a:p>
        </p:txBody>
      </p:sp>
      <p:sp>
        <p:nvSpPr>
          <p:cNvPr id="60" name="TextBox 59"/>
          <p:cNvSpPr txBox="1"/>
          <p:nvPr/>
        </p:nvSpPr>
        <p:spPr>
          <a:xfrm>
            <a:off x="8835518" y="5732061"/>
            <a:ext cx="552074" cy="461665"/>
          </a:xfrm>
          <a:prstGeom prst="rect">
            <a:avLst/>
          </a:prstGeom>
          <a:noFill/>
        </p:spPr>
        <p:txBody>
          <a:bodyPr wrap="none" rtlCol="0">
            <a:spAutoFit/>
          </a:bodyPr>
          <a:lstStyle/>
          <a:p>
            <a:r>
              <a:rPr lang="en-US" sz="2400"/>
              <a:t>sat</a:t>
            </a:r>
            <a:endParaRPr lang="en-IN" sz="2400"/>
          </a:p>
        </p:txBody>
      </p:sp>
      <p:sp>
        <p:nvSpPr>
          <p:cNvPr id="62" name="TextBox 61"/>
          <p:cNvSpPr txBox="1"/>
          <p:nvPr/>
        </p:nvSpPr>
        <p:spPr>
          <a:xfrm>
            <a:off x="9682013" y="5732061"/>
            <a:ext cx="508473" cy="461665"/>
          </a:xfrm>
          <a:prstGeom prst="rect">
            <a:avLst/>
          </a:prstGeom>
          <a:noFill/>
        </p:spPr>
        <p:txBody>
          <a:bodyPr wrap="none" rtlCol="0">
            <a:spAutoFit/>
          </a:bodyPr>
          <a:lstStyle/>
          <a:p>
            <a:r>
              <a:rPr lang="en-US" sz="2400"/>
              <a:t>on</a:t>
            </a:r>
            <a:endParaRPr lang="en-IN" sz="2400"/>
          </a:p>
        </p:txBody>
      </p:sp>
      <p:sp>
        <p:nvSpPr>
          <p:cNvPr id="63" name="TextBox 62"/>
          <p:cNvSpPr txBox="1"/>
          <p:nvPr/>
        </p:nvSpPr>
        <p:spPr>
          <a:xfrm>
            <a:off x="10459420" y="5732061"/>
            <a:ext cx="603050" cy="461665"/>
          </a:xfrm>
          <a:prstGeom prst="rect">
            <a:avLst/>
          </a:prstGeom>
          <a:noFill/>
        </p:spPr>
        <p:txBody>
          <a:bodyPr wrap="none" rtlCol="0">
            <a:spAutoFit/>
          </a:bodyPr>
          <a:lstStyle/>
          <a:p>
            <a:r>
              <a:rPr lang="en-US" sz="2400"/>
              <a:t>the</a:t>
            </a:r>
            <a:endParaRPr lang="en-IN" sz="2400"/>
          </a:p>
        </p:txBody>
      </p:sp>
      <p:cxnSp>
        <p:nvCxnSpPr>
          <p:cNvPr id="67" name="Straight Arrow Connector 66"/>
          <p:cNvCxnSpPr>
            <a:stCxn id="58" idx="0"/>
            <a:endCxn id="11" idx="2"/>
          </p:cNvCxnSpPr>
          <p:nvPr/>
        </p:nvCxnSpPr>
        <p:spPr>
          <a:xfrm flipV="1">
            <a:off x="7462165" y="5084958"/>
            <a:ext cx="0" cy="64710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8" name="Straight Arrow Connector 67"/>
          <p:cNvCxnSpPr>
            <a:stCxn id="59" idx="0"/>
            <a:endCxn id="12" idx="2"/>
          </p:cNvCxnSpPr>
          <p:nvPr/>
        </p:nvCxnSpPr>
        <p:spPr>
          <a:xfrm flipV="1">
            <a:off x="8286860" y="5084958"/>
            <a:ext cx="0" cy="64710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0" name="Straight Arrow Connector 69"/>
          <p:cNvCxnSpPr>
            <a:stCxn id="60" idx="0"/>
            <a:endCxn id="15" idx="2"/>
          </p:cNvCxnSpPr>
          <p:nvPr/>
        </p:nvCxnSpPr>
        <p:spPr>
          <a:xfrm flipV="1">
            <a:off x="9111555" y="5084958"/>
            <a:ext cx="0" cy="64710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3" name="Straight Arrow Connector 72"/>
          <p:cNvCxnSpPr>
            <a:stCxn id="62" idx="0"/>
            <a:endCxn id="13" idx="2"/>
          </p:cNvCxnSpPr>
          <p:nvPr/>
        </p:nvCxnSpPr>
        <p:spPr>
          <a:xfrm flipV="1">
            <a:off x="9936250" y="5084958"/>
            <a:ext cx="0" cy="64710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7" name="Straight Arrow Connector 76"/>
          <p:cNvCxnSpPr>
            <a:stCxn id="63" idx="0"/>
            <a:endCxn id="14" idx="2"/>
          </p:cNvCxnSpPr>
          <p:nvPr/>
        </p:nvCxnSpPr>
        <p:spPr>
          <a:xfrm flipV="1">
            <a:off x="10760945" y="5084958"/>
            <a:ext cx="1" cy="64710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3" name="Straight Connector 42"/>
          <p:cNvCxnSpPr>
            <a:stCxn id="82" idx="2"/>
            <a:endCxn id="58" idx="0"/>
          </p:cNvCxnSpPr>
          <p:nvPr/>
        </p:nvCxnSpPr>
        <p:spPr>
          <a:xfrm>
            <a:off x="6646509" y="4016332"/>
            <a:ext cx="815656" cy="1715729"/>
          </a:xfrm>
          <a:prstGeom prst="line">
            <a:avLst/>
          </a:prstGeom>
          <a:ln>
            <a:prstDash val="lgDash"/>
          </a:ln>
        </p:spPr>
        <p:style>
          <a:lnRef idx="1">
            <a:schemeClr val="accent2"/>
          </a:lnRef>
          <a:fillRef idx="0">
            <a:schemeClr val="accent2"/>
          </a:fillRef>
          <a:effectRef idx="0">
            <a:schemeClr val="accent2"/>
          </a:effectRef>
          <a:fontRef idx="minor">
            <a:schemeClr val="tx1"/>
          </a:fontRef>
        </p:style>
      </p:cxnSp>
      <p:cxnSp>
        <p:nvCxnSpPr>
          <p:cNvPr id="81" name="Straight Connector 80"/>
          <p:cNvCxnSpPr>
            <a:stCxn id="83" idx="2"/>
            <a:endCxn id="59" idx="0"/>
          </p:cNvCxnSpPr>
          <p:nvPr/>
        </p:nvCxnSpPr>
        <p:spPr>
          <a:xfrm>
            <a:off x="7471204" y="4016332"/>
            <a:ext cx="815656" cy="1715729"/>
          </a:xfrm>
          <a:prstGeom prst="line">
            <a:avLst/>
          </a:prstGeom>
          <a:ln>
            <a:prstDash val="lgDash"/>
          </a:ln>
        </p:spPr>
        <p:style>
          <a:lnRef idx="1">
            <a:schemeClr val="accent2"/>
          </a:lnRef>
          <a:fillRef idx="0">
            <a:schemeClr val="accent2"/>
          </a:fillRef>
          <a:effectRef idx="0">
            <a:schemeClr val="accent2"/>
          </a:effectRef>
          <a:fontRef idx="minor">
            <a:schemeClr val="tx1"/>
          </a:fontRef>
        </p:style>
      </p:cxnSp>
      <p:cxnSp>
        <p:nvCxnSpPr>
          <p:cNvPr id="89" name="Straight Connector 88"/>
          <p:cNvCxnSpPr>
            <a:stCxn id="84" idx="2"/>
            <a:endCxn id="60" idx="0"/>
          </p:cNvCxnSpPr>
          <p:nvPr/>
        </p:nvCxnSpPr>
        <p:spPr>
          <a:xfrm>
            <a:off x="8295899" y="4016332"/>
            <a:ext cx="815656" cy="1715729"/>
          </a:xfrm>
          <a:prstGeom prst="line">
            <a:avLst/>
          </a:prstGeom>
          <a:ln>
            <a:prstDash val="lgDash"/>
          </a:ln>
        </p:spPr>
        <p:style>
          <a:lnRef idx="1">
            <a:schemeClr val="accent2"/>
          </a:lnRef>
          <a:fillRef idx="0">
            <a:schemeClr val="accent2"/>
          </a:fillRef>
          <a:effectRef idx="0">
            <a:schemeClr val="accent2"/>
          </a:effectRef>
          <a:fontRef idx="minor">
            <a:schemeClr val="tx1"/>
          </a:fontRef>
        </p:style>
      </p:cxnSp>
      <p:cxnSp>
        <p:nvCxnSpPr>
          <p:cNvPr id="90" name="Straight Connector 89"/>
          <p:cNvCxnSpPr>
            <a:stCxn id="85" idx="2"/>
            <a:endCxn id="62" idx="0"/>
          </p:cNvCxnSpPr>
          <p:nvPr/>
        </p:nvCxnSpPr>
        <p:spPr>
          <a:xfrm>
            <a:off x="9120594" y="4016332"/>
            <a:ext cx="815656" cy="1715729"/>
          </a:xfrm>
          <a:prstGeom prst="line">
            <a:avLst/>
          </a:prstGeom>
          <a:ln>
            <a:prstDash val="lgDash"/>
          </a:ln>
        </p:spPr>
        <p:style>
          <a:lnRef idx="1">
            <a:schemeClr val="accent2"/>
          </a:lnRef>
          <a:fillRef idx="0">
            <a:schemeClr val="accent2"/>
          </a:fillRef>
          <a:effectRef idx="0">
            <a:schemeClr val="accent2"/>
          </a:effectRef>
          <a:fontRef idx="minor">
            <a:schemeClr val="tx1"/>
          </a:fontRef>
        </p:style>
      </p:cxnSp>
      <p:cxnSp>
        <p:nvCxnSpPr>
          <p:cNvPr id="92" name="Straight Connector 91"/>
          <p:cNvCxnSpPr>
            <a:stCxn id="86" idx="2"/>
            <a:endCxn id="63" idx="0"/>
          </p:cNvCxnSpPr>
          <p:nvPr/>
        </p:nvCxnSpPr>
        <p:spPr>
          <a:xfrm>
            <a:off x="9945289" y="4016332"/>
            <a:ext cx="815656" cy="1715729"/>
          </a:xfrm>
          <a:prstGeom prst="line">
            <a:avLst/>
          </a:prstGeom>
          <a:ln>
            <a:prstDash val="lgDash"/>
          </a:ln>
        </p:spPr>
        <p:style>
          <a:lnRef idx="1">
            <a:schemeClr val="accent2"/>
          </a:lnRef>
          <a:fillRef idx="0">
            <a:schemeClr val="accent2"/>
          </a:fillRef>
          <a:effectRef idx="0">
            <a:schemeClr val="accent2"/>
          </a:effectRef>
          <a:fontRef idx="minor">
            <a:schemeClr val="tx1"/>
          </a:fontRef>
        </p:style>
      </p:cxnSp>
      <p:sp>
        <p:nvSpPr>
          <p:cNvPr id="55" name="Rectangle: Rounded Corners 54"/>
          <p:cNvSpPr/>
          <p:nvPr/>
        </p:nvSpPr>
        <p:spPr>
          <a:xfrm>
            <a:off x="0" y="6146165"/>
            <a:ext cx="7098030" cy="711835"/>
          </a:xfrm>
          <a:prstGeom prst="roundRect">
            <a:avLst>
              <a:gd name="adj" fmla="val 32582"/>
            </a:avLst>
          </a:prstGeom>
          <a:solidFill>
            <a:schemeClr val="bg1">
              <a:lumMod val="95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The encoder is free to look at all input tokens together, not limited to scanning left-to-right</a:t>
            </a:r>
            <a:endParaRPr lang="en-IN" sz="2400">
              <a:solidFill>
                <a:schemeClr val="tx1"/>
              </a:solidFill>
            </a:endParaRPr>
          </a:p>
        </p:txBody>
      </p:sp>
      <p:sp>
        <p:nvSpPr>
          <p:cNvPr id="94" name="Rectangle 93"/>
          <p:cNvSpPr/>
          <p:nvPr/>
        </p:nvSpPr>
        <p:spPr>
          <a:xfrm>
            <a:off x="11389022" y="4648709"/>
            <a:ext cx="405159" cy="431182"/>
          </a:xfrm>
          <a:prstGeom prst="rect">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6" name="TextBox 95"/>
          <p:cNvSpPr txBox="1"/>
          <p:nvPr/>
        </p:nvSpPr>
        <p:spPr>
          <a:xfrm>
            <a:off x="11253047" y="5732060"/>
            <a:ext cx="677108" cy="461665"/>
          </a:xfrm>
          <a:prstGeom prst="rect">
            <a:avLst/>
          </a:prstGeom>
          <a:noFill/>
        </p:spPr>
        <p:txBody>
          <a:bodyPr wrap="none" rtlCol="0">
            <a:spAutoFit/>
          </a:bodyPr>
          <a:lstStyle/>
          <a:p>
            <a:r>
              <a:rPr lang="en-US" sz="2400"/>
              <a:t>mat</a:t>
            </a:r>
            <a:endParaRPr lang="en-IN" sz="2400"/>
          </a:p>
        </p:txBody>
      </p:sp>
      <p:cxnSp>
        <p:nvCxnSpPr>
          <p:cNvPr id="74" name="Straight Arrow Connector 73"/>
          <p:cNvCxnSpPr>
            <a:stCxn id="14" idx="3"/>
            <a:endCxn id="94" idx="1"/>
          </p:cNvCxnSpPr>
          <p:nvPr/>
        </p:nvCxnSpPr>
        <p:spPr>
          <a:xfrm flipV="1">
            <a:off x="10963525" y="4864300"/>
            <a:ext cx="425497" cy="506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8" name="Straight Arrow Connector 77"/>
          <p:cNvCxnSpPr>
            <a:stCxn id="96" idx="0"/>
            <a:endCxn id="94" idx="2"/>
          </p:cNvCxnSpPr>
          <p:nvPr/>
        </p:nvCxnSpPr>
        <p:spPr>
          <a:xfrm flipV="1">
            <a:off x="11591601" y="5079891"/>
            <a:ext cx="1" cy="65216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0" name="Straight Connector 99"/>
          <p:cNvCxnSpPr>
            <a:stCxn id="87" idx="2"/>
            <a:endCxn id="96" idx="0"/>
          </p:cNvCxnSpPr>
          <p:nvPr/>
        </p:nvCxnSpPr>
        <p:spPr>
          <a:xfrm>
            <a:off x="10760945" y="4008544"/>
            <a:ext cx="830656" cy="1723516"/>
          </a:xfrm>
          <a:prstGeom prst="line">
            <a:avLst/>
          </a:prstGeom>
          <a:ln>
            <a:prstDash val="lgDash"/>
          </a:ln>
        </p:spPr>
        <p:style>
          <a:lnRef idx="1">
            <a:schemeClr val="accent2"/>
          </a:lnRef>
          <a:fillRef idx="0">
            <a:schemeClr val="accent2"/>
          </a:fillRef>
          <a:effectRef idx="0">
            <a:schemeClr val="accent2"/>
          </a:effectRef>
          <a:fontRef idx="minor">
            <a:schemeClr val="tx1"/>
          </a:fontRef>
        </p:style>
      </p:cxnSp>
      <p:cxnSp>
        <p:nvCxnSpPr>
          <p:cNvPr id="99" name="Straight Arrow Connector 98"/>
          <p:cNvCxnSpPr>
            <a:stCxn id="107" idx="0"/>
            <a:endCxn id="10" idx="2"/>
          </p:cNvCxnSpPr>
          <p:nvPr/>
        </p:nvCxnSpPr>
        <p:spPr>
          <a:xfrm flipV="1">
            <a:off x="6631510" y="5084958"/>
            <a:ext cx="5960" cy="64710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7" name="TextBox 106"/>
          <p:cNvSpPr txBox="1"/>
          <p:nvPr/>
        </p:nvSpPr>
        <p:spPr>
          <a:xfrm>
            <a:off x="6245827" y="5732060"/>
            <a:ext cx="771365" cy="461665"/>
          </a:xfrm>
          <a:prstGeom prst="rect">
            <a:avLst/>
          </a:prstGeom>
          <a:noFill/>
        </p:spPr>
        <p:txBody>
          <a:bodyPr wrap="none" rtlCol="0">
            <a:spAutoFit/>
          </a:bodyPr>
          <a:lstStyle/>
          <a:p>
            <a:r>
              <a:rPr lang="en-US" sz="2400"/>
              <a:t>[</a:t>
            </a:r>
            <a:r>
              <a:rPr lang="en-US" sz="2400">
                <a:effectLst>
                  <a:glow rad="228600">
                    <a:schemeClr val="accent6">
                      <a:satMod val="175000"/>
                      <a:alpha val="40000"/>
                    </a:schemeClr>
                  </a:glow>
                </a:effectLst>
              </a:rPr>
              <a:t>GO</a:t>
            </a:r>
            <a:r>
              <a:rPr lang="en-US" sz="2400"/>
              <a:t>]</a:t>
            </a:r>
            <a:endParaRPr lang="en-IN" sz="2400"/>
          </a:p>
        </p:txBody>
      </p:sp>
      <p:sp>
        <p:nvSpPr>
          <p:cNvPr id="110" name="TextBox 109"/>
          <p:cNvSpPr txBox="1"/>
          <p:nvPr/>
        </p:nvSpPr>
        <p:spPr>
          <a:xfrm>
            <a:off x="11133864" y="3539226"/>
            <a:ext cx="912429" cy="461665"/>
          </a:xfrm>
          <a:prstGeom prst="rect">
            <a:avLst/>
          </a:prstGeom>
          <a:noFill/>
        </p:spPr>
        <p:txBody>
          <a:bodyPr wrap="none" rtlCol="0">
            <a:spAutoFit/>
          </a:bodyPr>
          <a:lstStyle/>
          <a:p>
            <a:r>
              <a:rPr lang="en-US" sz="2400"/>
              <a:t>[</a:t>
            </a:r>
            <a:r>
              <a:rPr lang="en-US" sz="2400">
                <a:effectLst>
                  <a:glow rad="228600">
                    <a:schemeClr val="accent2">
                      <a:satMod val="175000"/>
                      <a:alpha val="40000"/>
                    </a:schemeClr>
                  </a:glow>
                </a:effectLst>
              </a:rPr>
              <a:t>END</a:t>
            </a:r>
            <a:r>
              <a:rPr lang="en-US" sz="2400"/>
              <a:t>]</a:t>
            </a:r>
            <a:endParaRPr lang="en-IN" sz="2400"/>
          </a:p>
        </p:txBody>
      </p:sp>
      <p:cxnSp>
        <p:nvCxnSpPr>
          <p:cNvPr id="112" name="Straight Arrow Connector 111"/>
          <p:cNvCxnSpPr>
            <a:stCxn id="94" idx="0"/>
            <a:endCxn id="110" idx="2"/>
          </p:cNvCxnSpPr>
          <p:nvPr/>
        </p:nvCxnSpPr>
        <p:spPr>
          <a:xfrm flipH="1" flipV="1">
            <a:off x="11590079" y="4000891"/>
            <a:ext cx="1523" cy="64781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0" name="TextBox 79"/>
          <p:cNvSpPr txBox="1"/>
          <p:nvPr/>
        </p:nvSpPr>
        <p:spPr>
          <a:xfrm>
            <a:off x="8309308" y="6198255"/>
            <a:ext cx="1592744" cy="523220"/>
          </a:xfrm>
          <a:prstGeom prst="rect">
            <a:avLst/>
          </a:prstGeom>
          <a:noFill/>
        </p:spPr>
        <p:txBody>
          <a:bodyPr wrap="none" rtlCol="0">
            <a:spAutoFit/>
          </a:bodyPr>
          <a:lstStyle/>
          <a:p>
            <a:r>
              <a:rPr lang="en-US" sz="2800">
                <a:solidFill>
                  <a:schemeClr val="bg1">
                    <a:lumMod val="85000"/>
                  </a:schemeClr>
                </a:solidFill>
              </a:rPr>
              <a:t>DECODER</a:t>
            </a:r>
            <a:endParaRPr lang="en-IN" sz="2800">
              <a:solidFill>
                <a:schemeClr val="bg1">
                  <a:lumMod val="85000"/>
                </a:schemeClr>
              </a:solidFill>
            </a:endParaRPr>
          </a:p>
        </p:txBody>
      </p:sp>
      <mc:AlternateContent xmlns:mc="http://schemas.openxmlformats.org/markup-compatibility/2006">
        <mc:Choice xmlns:p14="http://schemas.microsoft.com/office/powerpoint/2010/main" Requires="p14">
          <p:contentPart p14:bwMode="auto" r:id="rId6">
            <p14:nvContentPartPr>
              <p14:cNvPr id="16" name="Ink 15">
                <a:extLst>
                  <a:ext uri="{FF2B5EF4-FFF2-40B4-BE49-F238E27FC236}">
                    <a16:creationId xmlns:a16="http://schemas.microsoft.com/office/drawing/2014/main" id="{F93ABEA4-141D-146B-68EB-4CB8D4B59852}"/>
                  </a:ext>
                </a:extLst>
              </p14:cNvPr>
              <p14:cNvContentPartPr/>
              <p14:nvPr/>
            </p14:nvContentPartPr>
            <p14:xfrm>
              <a:off x="1868040" y="3683520"/>
              <a:ext cx="7820640" cy="2831040"/>
            </p14:xfrm>
          </p:contentPart>
        </mc:Choice>
        <mc:Fallback>
          <p:pic>
            <p:nvPicPr>
              <p:cNvPr id="16" name="Ink 15">
                <a:extLst>
                  <a:ext uri="{FF2B5EF4-FFF2-40B4-BE49-F238E27FC236}">
                    <a16:creationId xmlns:a16="http://schemas.microsoft.com/office/drawing/2014/main" id="{F93ABEA4-141D-146B-68EB-4CB8D4B59852}"/>
                  </a:ext>
                </a:extLst>
              </p:cNvPr>
              <p:cNvPicPr/>
              <p:nvPr/>
            </p:nvPicPr>
            <p:blipFill>
              <a:blip r:embed="rId7"/>
              <a:stretch>
                <a:fillRect/>
              </a:stretch>
            </p:blipFill>
            <p:spPr>
              <a:xfrm>
                <a:off x="1858680" y="3674160"/>
                <a:ext cx="7839360" cy="284976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8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9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0"/>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8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9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5"/>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90"/>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73"/>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2"/>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101"/>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8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92"/>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77"/>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63"/>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05"/>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87"/>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100"/>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78"/>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96"/>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112"/>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110"/>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p:bldP spid="83" grpId="0"/>
      <p:bldP spid="84" grpId="0"/>
      <p:bldP spid="85" grpId="0"/>
      <p:bldP spid="86" grpId="0"/>
      <p:bldP spid="87" grpId="0"/>
      <p:bldP spid="58" grpId="0"/>
      <p:bldP spid="59" grpId="0"/>
      <p:bldP spid="60" grpId="0"/>
      <p:bldP spid="62" grpId="0"/>
      <p:bldP spid="63" grpId="0"/>
      <p:bldP spid="55" grpId="0" bldLvl="0" animBg="1"/>
      <p:bldP spid="96" grpId="0"/>
      <p:bldP spid="107" grpId="0"/>
      <p:bldP spid="110"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Hard decisions in soft networks</a:t>
            </a:r>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p:txBody>
              <a:bodyPr>
                <a:normAutofit fontScale="80000"/>
              </a:bodyPr>
              <a:lstStyle/>
              <a:p>
                <a:pPr>
                  <a:lnSpc>
                    <a:spcPct val="100000"/>
                  </a:lnSpc>
                </a:pPr>
                <a:r>
                  <a:rPr lang="en-US"/>
                  <a:t>Note that decoder cell at </a:t>
                </a:r>
                <a14:m>
                  <m:oMath xmlns:m="http://schemas.openxmlformats.org/officeDocument/2006/math">
                    <m:r>
                      <a:rPr lang="en-US" i="1">
                        <a:latin typeface="Cambria Math" panose="02040503050406030204" pitchFamily="18" charset="0"/>
                        <a:cs typeface="DejaVu Math TeX Gyre" panose="02000503000000000000" charset="0"/>
                      </a:rPr>
                      <m:t>𝑡</m:t>
                    </m:r>
                  </m:oMath>
                </a14:m>
                <a:r>
                  <a:rPr lang="en-US"/>
                  <a:t> emits a discrete token </a:t>
                </a:r>
                <a14:m>
                  <m:oMath xmlns:m="http://schemas.openxmlformats.org/officeDocument/2006/math">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𝑦</m:t>
                        </m:r>
                      </m:e>
                      <m:sub>
                        <m:r>
                          <a:rPr lang="en-US" i="1">
                            <a:latin typeface="Cambria Math" panose="02040503050406030204" pitchFamily="18" charset="0"/>
                            <a:cs typeface="DejaVu Math TeX Gyre" panose="02000503000000000000" charset="0"/>
                          </a:rPr>
                          <m:t>𝑡</m:t>
                        </m:r>
                      </m:sub>
                    </m:sSub>
                  </m:oMath>
                </a14:m>
                <a:r>
                  <a:rPr lang="en-US"/>
                  <a:t>, not a distribution over tokens</a:t>
                </a:r>
              </a:p>
              <a:p>
                <a:pPr>
                  <a:lnSpc>
                    <a:spcPct val="100000"/>
                  </a:lnSpc>
                </a:pPr>
                <a:r>
                  <a:rPr lang="en-US"/>
                  <a:t>To feed back to cell at </a:t>
                </a:r>
                <a14:m>
                  <m:oMath xmlns:m="http://schemas.openxmlformats.org/officeDocument/2006/math">
                    <m:r>
                      <a:rPr lang="en-US" i="1">
                        <a:latin typeface="Cambria Math" panose="02040503050406030204" pitchFamily="18" charset="0"/>
                        <a:cs typeface="DejaVu Math TeX Gyre" panose="02000503000000000000" charset="0"/>
                      </a:rPr>
                      <m:t>𝑡</m:t>
                    </m:r>
                    <m:r>
                      <a:rPr lang="en-US" i="1">
                        <a:latin typeface="Cambria Math" panose="02040503050406030204" pitchFamily="18" charset="0"/>
                        <a:cs typeface="DejaVu Math TeX Gyre" panose="02000503000000000000" charset="0"/>
                      </a:rPr>
                      <m:t>+1</m:t>
                    </m:r>
                  </m:oMath>
                </a14:m>
                <a:r>
                  <a:rPr lang="en-US"/>
                  <a:t>, look up base embedding matrix </a:t>
                </a:r>
                <a14:m>
                  <m:oMath xmlns:m="http://schemas.openxmlformats.org/officeDocument/2006/math">
                    <m:r>
                      <a:rPr lang="en-US" i="1">
                        <a:latin typeface="Cambria Math" panose="02040503050406030204" pitchFamily="18" charset="0"/>
                        <a:cs typeface="DejaVu Math TeX Gyre" panose="02000503000000000000" charset="0"/>
                      </a:rPr>
                      <m:t>𝐵</m:t>
                    </m:r>
                  </m:oMath>
                </a14:m>
                <a:r>
                  <a:rPr lang="en-US"/>
                  <a:t> at row </a:t>
                </a:r>
                <a14:m>
                  <m:oMath xmlns:m="http://schemas.openxmlformats.org/officeDocument/2006/math">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𝑦</m:t>
                        </m:r>
                      </m:e>
                      <m:sub>
                        <m:r>
                          <a:rPr lang="en-US" i="1">
                            <a:latin typeface="Cambria Math" panose="02040503050406030204" pitchFamily="18" charset="0"/>
                            <a:cs typeface="DejaVu Math TeX Gyre" panose="02000503000000000000" charset="0"/>
                          </a:rPr>
                          <m:t>𝑡</m:t>
                        </m:r>
                      </m:sub>
                    </m:sSub>
                  </m:oMath>
                </a14:m>
                <a:endParaRPr lang="en-US" i="1">
                  <a:latin typeface="DejaVu Math TeX Gyre" panose="02000503000000000000" charset="0"/>
                  <a:cs typeface="DejaVu Math TeX Gyre" panose="02000503000000000000" charset="0"/>
                </a:endParaRPr>
              </a:p>
              <a:p>
                <a:pPr lvl="1">
                  <a:lnSpc>
                    <a:spcPct val="100000"/>
                  </a:lnSpc>
                </a:pPr>
                <a:r>
                  <a:rPr lang="en-US"/>
                  <a:t>Just like each input token </a:t>
                </a:r>
                <a14:m>
                  <m:oMath xmlns:m="http://schemas.openxmlformats.org/officeDocument/2006/math">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𝑥</m:t>
                        </m:r>
                      </m:e>
                      <m:sub>
                        <m:r>
                          <a:rPr lang="en-US" i="1">
                            <a:latin typeface="Cambria Math" panose="02040503050406030204" pitchFamily="18" charset="0"/>
                            <a:cs typeface="DejaVu Math TeX Gyre" panose="02000503000000000000" charset="0"/>
                          </a:rPr>
                          <m:t>𝑡</m:t>
                        </m:r>
                      </m:sub>
                    </m:sSub>
                  </m:oMath>
                </a14:m>
                <a:r>
                  <a:rPr lang="en-US"/>
                  <a:t> is looked up in </a:t>
                </a:r>
                <a14:m>
                  <m:oMath xmlns:m="http://schemas.openxmlformats.org/officeDocument/2006/math">
                    <m:r>
                      <a:rPr lang="en-US" i="1">
                        <a:latin typeface="Cambria Math" panose="02040503050406030204" pitchFamily="18" charset="0"/>
                        <a:cs typeface="DejaVu Math TeX Gyre" panose="02000503000000000000" charset="0"/>
                      </a:rPr>
                      <m:t>𝐵</m:t>
                    </m:r>
                  </m:oMath>
                </a14:m>
                <a:endParaRPr lang="en-US"/>
              </a:p>
              <a:p>
                <a:pPr>
                  <a:lnSpc>
                    <a:spcPct val="100000"/>
                  </a:lnSpc>
                </a:pPr>
                <a:r>
                  <a:rPr lang="en-US"/>
                  <a:t>Whether </a:t>
                </a:r>
                <a14:m>
                  <m:oMath xmlns:m="http://schemas.openxmlformats.org/officeDocument/2006/math">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𝑦</m:t>
                        </m:r>
                      </m:e>
                      <m:sub>
                        <m:r>
                          <a:rPr lang="en-US" i="1">
                            <a:latin typeface="Cambria Math" panose="02040503050406030204" pitchFamily="18" charset="0"/>
                            <a:cs typeface="DejaVu Math TeX Gyre" panose="02000503000000000000" charset="0"/>
                          </a:rPr>
                          <m:t>𝑡</m:t>
                        </m:r>
                      </m:sub>
                    </m:sSub>
                  </m:oMath>
                </a14:m>
                <a:r>
                  <a:rPr lang="en-US"/>
                  <a:t> is via argmax or sampling, it carries no continuous gradient information</a:t>
                </a:r>
              </a:p>
              <a:p>
                <a:pPr lvl="1">
                  <a:lnSpc>
                    <a:spcPct val="100000"/>
                  </a:lnSpc>
                </a:pPr>
                <a:r>
                  <a:rPr lang="en-US">
                    <a:hlinkClick r:id="rId2" action="ppaction://hlinkfile"/>
                  </a:rPr>
                  <a:t>“Straight through” estimator (STE)</a:t>
                </a:r>
                <a:endParaRPr lang="en-US"/>
              </a:p>
              <a:p>
                <a:pPr lvl="1">
                  <a:lnSpc>
                    <a:spcPct val="100000"/>
                  </a:lnSpc>
                </a:pPr>
                <a:r>
                  <a:rPr lang="en-US"/>
                  <a:t>Softmax-weighted (attention?)</a:t>
                </a:r>
              </a:p>
              <a:p>
                <a:pPr lvl="1">
                  <a:lnSpc>
                    <a:spcPct val="100000"/>
                  </a:lnSpc>
                </a:pPr>
                <a:r>
                  <a:rPr lang="en-US">
                    <a:hlinkClick r:id="rId3" action="ppaction://hlinkfile"/>
                  </a:rPr>
                  <a:t>Gumbel softmax</a:t>
                </a:r>
                <a:endParaRPr lang="en-US"/>
              </a:p>
            </p:txBody>
          </p:sp>
        </mc:Choice>
        <mc:Fallback xmlns="">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4"/>
                <a:stretch>
                  <a:fillRect/>
                </a:stretch>
              </a:blipFill>
            </p:spPr>
            <p:txBody>
              <a:bodyPr/>
              <a:lstStyle/>
              <a:p>
                <a:r>
                  <a:rPr lang="en-US" altLang="en-US">
                    <a:noFill/>
                  </a:rPr>
                  <a:t> </a:t>
                </a:r>
              </a:p>
            </p:txBody>
          </p:sp>
        </mc:Fallback>
      </mc:AlternateContent>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r>
              <a:rPr lang="en-US"/>
              <a:t>Dropout</a:t>
            </a:r>
          </a:p>
          <a:p>
            <a:r>
              <a:rPr lang="en-US"/>
              <a:t>Max vs softmax</a:t>
            </a:r>
          </a:p>
          <a:p>
            <a:r>
              <a:rPr lang="en-US"/>
              <a:t>Straight through</a:t>
            </a:r>
          </a:p>
          <a:p>
            <a:r>
              <a:rPr lang="en-US"/>
              <a:t>Logistic and Gumbel noise</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Improving backprop in the face of sampling</a:t>
            </a:r>
            <a:endParaRPr lang="en-IN"/>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p:txBody>
              <a:bodyPr/>
              <a:lstStyle/>
              <a:p>
                <a:r>
                  <a:rPr lang="en-US" dirty="0"/>
                  <a:t>Compare </a:t>
                </a:r>
                <a14:m>
                  <m:oMath xmlns:m="http://schemas.openxmlformats.org/officeDocument/2006/math">
                    <m:r>
                      <m:rPr>
                        <m:sty m:val="p"/>
                      </m:rPr>
                      <a:rPr lang="en-US" b="0" i="0" smtClean="0">
                        <a:latin typeface="Cambria Math" panose="02040503050406030204" pitchFamily="18" charset="0"/>
                      </a:rPr>
                      <m:t>max</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oMath>
                </a14:m>
                <a:r>
                  <a:rPr lang="en-IN" dirty="0"/>
                  <a:t> with </a:t>
                </a:r>
                <a14:m>
                  <m:oMath xmlns:m="http://schemas.openxmlformats.org/officeDocument/2006/math">
                    <m:r>
                      <m:rPr>
                        <m:sty m:val="p"/>
                      </m:rPr>
                      <a:rPr lang="en-US" b="0" i="0" smtClean="0">
                        <a:latin typeface="Cambria Math" panose="02040503050406030204" pitchFamily="18" charset="0"/>
                      </a:rPr>
                      <m:t>log</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𝑎</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𝑏</m:t>
                        </m:r>
                      </m:sup>
                    </m:sSup>
                    <m:r>
                      <a:rPr lang="en-US" b="0" i="1" smtClean="0">
                        <a:latin typeface="Cambria Math" panose="02040503050406030204" pitchFamily="18" charset="0"/>
                      </a:rPr>
                      <m:t>)</m:t>
                    </m:r>
                  </m:oMath>
                </a14:m>
                <a:endParaRPr lang="en-IN" dirty="0"/>
              </a:p>
              <a:p>
                <a:pPr lvl="1"/>
                <a14:m>
                  <m:oMath xmlns:m="http://schemas.openxmlformats.org/officeDocument/2006/math">
                    <m:box>
                      <m:boxPr>
                        <m:ctrlPr>
                          <a:rPr lang="en-IN" i="1" smtClean="0">
                            <a:latin typeface="Cambria Math" panose="02040503050406030204" pitchFamily="18" charset="0"/>
                          </a:rPr>
                        </m:ctrlPr>
                      </m:boxPr>
                      <m:e>
                        <m:argPr>
                          <m:argSz m:val="-1"/>
                        </m:argPr>
                        <m:f>
                          <m:fPr>
                            <m:ctrlPr>
                              <a:rPr lang="en-IN" i="1" smtClean="0">
                                <a:latin typeface="Cambria Math" panose="02040503050406030204" pitchFamily="18" charset="0"/>
                              </a:rPr>
                            </m:ctrlPr>
                          </m:fPr>
                          <m:num>
                            <m:r>
                              <a:rPr lang="en-US" b="0" i="1" smtClean="0">
                                <a:latin typeface="Cambria Math" panose="02040503050406030204" pitchFamily="18" charset="0"/>
                              </a:rPr>
                              <m:t>𝑑</m:t>
                            </m:r>
                            <m:r>
                              <a:rPr lang="en-US" b="0" i="1" smtClean="0">
                                <a:latin typeface="Cambria Math" panose="02040503050406030204" pitchFamily="18" charset="0"/>
                              </a:rPr>
                              <m:t> </m:t>
                            </m:r>
                            <m:r>
                              <m:rPr>
                                <m:sty m:val="p"/>
                              </m:rPr>
                              <a:rPr lang="en-US" b="0" i="0" smtClean="0">
                                <a:latin typeface="Cambria Math" panose="02040503050406030204" pitchFamily="18" charset="0"/>
                              </a:rPr>
                              <m:t>max</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num>
                          <m:den>
                            <m:r>
                              <a:rPr lang="en-US" b="0" i="1" smtClean="0">
                                <a:latin typeface="Cambria Math" panose="02040503050406030204" pitchFamily="18" charset="0"/>
                              </a:rPr>
                              <m:t>𝑑𝑎</m:t>
                            </m:r>
                          </m:den>
                        </m:f>
                      </m:e>
                    </m:box>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e>
                          </m:mr>
                          <m:mr>
                            <m:e>
                              <m:r>
                                <a:rPr lang="en-US" b="0" i="1" smtClean="0">
                                  <a:latin typeface="Cambria Math" panose="02040503050406030204" pitchFamily="18" charset="0"/>
                                </a:rPr>
                                <m:t>0</m:t>
                              </m:r>
                            </m:e>
                            <m:e>
                              <m:r>
                                <m:rPr>
                                  <m:sty m:val="p"/>
                                </m:rPr>
                                <a:rPr lang="en-US" b="0" i="0" smtClean="0">
                                  <a:latin typeface="Cambria Math" panose="02040503050406030204" pitchFamily="18" charset="0"/>
                                </a:rPr>
                                <m:t>o</m:t>
                              </m:r>
                              <m:r>
                                <a:rPr lang="en-US" b="0" i="0" smtClean="0">
                                  <a:latin typeface="Cambria Math" panose="02040503050406030204" pitchFamily="18" charset="0"/>
                                </a:rPr>
                                <m:t>.</m:t>
                              </m:r>
                              <m:r>
                                <m:rPr>
                                  <m:sty m:val="p"/>
                                </m:rPr>
                                <a:rPr lang="en-US" b="0" i="0" smtClean="0">
                                  <a:latin typeface="Cambria Math" panose="02040503050406030204" pitchFamily="18" charset="0"/>
                                </a:rPr>
                                <m:t>w</m:t>
                              </m:r>
                              <m:r>
                                <a:rPr lang="en-US" b="0" i="0" smtClean="0">
                                  <a:latin typeface="Cambria Math" panose="02040503050406030204" pitchFamily="18" charset="0"/>
                                </a:rPr>
                                <m:t>.</m:t>
                              </m:r>
                            </m:e>
                          </m:mr>
                        </m:m>
                      </m:e>
                    </m:d>
                  </m:oMath>
                </a14:m>
                <a:endParaRPr lang="en-IN" dirty="0"/>
              </a:p>
              <a:p>
                <a:pPr lvl="1"/>
                <a14:m>
                  <m:oMath xmlns:m="http://schemas.openxmlformats.org/officeDocument/2006/math">
                    <m:f>
                      <m:fPr>
                        <m:ctrlPr>
                          <a:rPr lang="en-IN" i="1" smtClean="0">
                            <a:latin typeface="Cambria Math" panose="02040503050406030204" pitchFamily="18" charset="0"/>
                          </a:rPr>
                        </m:ctrlPr>
                      </m:fPr>
                      <m:num>
                        <m:r>
                          <a:rPr lang="en-US" b="0" i="1" smtClean="0">
                            <a:latin typeface="Cambria Math" panose="02040503050406030204" pitchFamily="18" charset="0"/>
                          </a:rPr>
                          <m:t>𝑑</m:t>
                        </m:r>
                        <m:r>
                          <a:rPr lang="en-US" b="0" i="1" smtClean="0">
                            <a:latin typeface="Cambria Math" panose="02040503050406030204" pitchFamily="18" charset="0"/>
                          </a:rPr>
                          <m:t> </m:t>
                        </m:r>
                        <m:r>
                          <m:rPr>
                            <m:sty m:val="p"/>
                          </m:rPr>
                          <a:rPr lang="en-US" b="0" i="0" smtClean="0">
                            <a:latin typeface="Cambria Math" panose="02040503050406030204" pitchFamily="18" charset="0"/>
                          </a:rPr>
                          <m:t>log</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𝑎</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𝑏</m:t>
                            </m:r>
                          </m:sup>
                        </m:sSup>
                        <m:r>
                          <a:rPr lang="en-US" b="0" i="1" smtClean="0">
                            <a:latin typeface="Cambria Math" panose="02040503050406030204" pitchFamily="18" charset="0"/>
                          </a:rPr>
                          <m:t>)</m:t>
                        </m:r>
                      </m:num>
                      <m:den>
                        <m:r>
                          <a:rPr lang="en-US" b="0" i="1" smtClean="0">
                            <a:latin typeface="Cambria Math" panose="02040503050406030204" pitchFamily="18" charset="0"/>
                          </a:rPr>
                          <m:t>𝑑𝑎</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𝑎</m:t>
                            </m:r>
                          </m:sup>
                        </m:sSup>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𝑎</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𝑏</m:t>
                            </m:r>
                          </m:sup>
                        </m:sSup>
                      </m:den>
                    </m:f>
                  </m:oMath>
                </a14:m>
                <a:r>
                  <a:rPr lang="en-IN" dirty="0"/>
                  <a:t> … never zero</a:t>
                </a:r>
              </a:p>
              <a:p>
                <a:r>
                  <a:rPr lang="en-IN" dirty="0"/>
                  <a:t>The problem with discrete latent variables while training neural networks</a:t>
                </a:r>
              </a:p>
              <a:p>
                <a:r>
                  <a:rPr lang="en-IN" dirty="0"/>
                  <a:t>Demonstrated with mixture of Gaussians</a:t>
                </a:r>
              </a:p>
            </p:txBody>
          </p:sp>
        </mc:Choice>
        <mc:Fallback xmlns="">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en-US" altLang="en-US">
                    <a:noFill/>
                  </a:rPr>
                  <a:t> </a:t>
                </a:r>
              </a:p>
            </p:txBody>
          </p:sp>
        </mc:Fallback>
      </mc:AlternateContent>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IN"/>
              <a:t>Back to challenges of large output vocabulary</a:t>
            </a:r>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p:txBody>
              <a:bodyPr>
                <a:normAutofit lnSpcReduction="10000"/>
              </a:bodyPr>
              <a:lstStyle/>
              <a:p>
                <a:pPr>
                  <a:lnSpc>
                    <a:spcPct val="100000"/>
                  </a:lnSpc>
                </a:pPr>
                <a:r>
                  <a:rPr lang="en-US" sz="3600">
                    <a:sym typeface="+mn-ea"/>
                    <a:hlinkClick r:id="rId3"/>
                  </a:rPr>
                  <a:t>Decoding tricks</a:t>
                </a:r>
                <a:r>
                  <a:rPr lang="en-US" sz="3600">
                    <a:sym typeface="+mn-ea"/>
                  </a:rPr>
                  <a:t> for large vocabulary</a:t>
                </a:r>
                <a:endParaRPr lang="en-US" sz="3600"/>
              </a:p>
              <a:p>
                <a:pPr>
                  <a:lnSpc>
                    <a:spcPct val="100000"/>
                  </a:lnSpc>
                </a:pPr>
                <a:r>
                  <a:rPr lang="en-US" sz="3600"/>
                  <a:t>Let </a:t>
                </a:r>
                <a14:m>
                  <m:oMath xmlns:m="http://schemas.openxmlformats.org/officeDocument/2006/math">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𝑊</m:t>
                        </m:r>
                      </m:e>
                      <m:sub>
                        <m:r>
                          <a:rPr lang="en-US" sz="3600" b="0" i="1" smtClean="0">
                            <a:latin typeface="Cambria Math" panose="02040503050406030204" pitchFamily="18" charset="0"/>
                          </a:rPr>
                          <m:t>0</m:t>
                        </m:r>
                      </m:sub>
                    </m:sSub>
                  </m:oMath>
                </a14:m>
                <a:r>
                  <a:rPr lang="en-IN" sz="3600"/>
                  <a:t> be an initial “prompt sequence”</a:t>
                </a:r>
              </a:p>
              <a:p>
                <a:pPr>
                  <a:lnSpc>
                    <a:spcPct val="100000"/>
                  </a:lnSpc>
                </a:pPr>
                <a:r>
                  <a:rPr lang="en-IN" sz="3600"/>
                  <a:t>By convention, </a:t>
                </a:r>
                <a14:m>
                  <m:oMath xmlns:m="http://schemas.openxmlformats.org/officeDocument/2006/math">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𝑤</m:t>
                        </m:r>
                      </m:e>
                      <m:sub>
                        <m:r>
                          <a:rPr lang="en-US" sz="3600" b="0" i="1" smtClean="0">
                            <a:latin typeface="Cambria Math" panose="02040503050406030204" pitchFamily="18" charset="0"/>
                          </a:rPr>
                          <m:t>1:0</m:t>
                        </m:r>
                      </m:sub>
                    </m:sSub>
                    <m:r>
                      <a:rPr lang="en-US" sz="3600" b="0" i="1" smtClean="0">
                        <a:latin typeface="Cambria Math" panose="02040503050406030204" pitchFamily="18" charset="0"/>
                      </a:rPr>
                      <m:t>=( )</m:t>
                    </m:r>
                  </m:oMath>
                </a14:m>
                <a:endParaRPr lang="en-IN" sz="3600"/>
              </a:p>
              <a:p>
                <a:pPr>
                  <a:lnSpc>
                    <a:spcPct val="100000"/>
                  </a:lnSpc>
                </a:pPr>
                <a:r>
                  <a:rPr lang="en-IN" sz="3600"/>
                  <a:t>“Completing the prompt” amounts to</a:t>
                </a:r>
                <a:br>
                  <a:rPr lang="en-IN" sz="3600"/>
                </a:br>
                <a14:m>
                  <m:oMath xmlns:m="http://schemas.openxmlformats.org/officeDocument/2006/math">
                    <m:func>
                      <m:funcPr>
                        <m:ctrlPr>
                          <a:rPr lang="en-IN" sz="3600" i="1" smtClean="0">
                            <a:latin typeface="Cambria Math" panose="02040503050406030204" pitchFamily="18" charset="0"/>
                          </a:rPr>
                        </m:ctrlPr>
                      </m:funcPr>
                      <m:fName>
                        <m:limLow>
                          <m:limLowPr>
                            <m:ctrlPr>
                              <a:rPr lang="en-IN" sz="3600" i="1" smtClean="0">
                                <a:latin typeface="Cambria Math" panose="02040503050406030204" pitchFamily="18" charset="0"/>
                              </a:rPr>
                            </m:ctrlPr>
                          </m:limLowPr>
                          <m:e>
                            <m:r>
                              <m:rPr>
                                <m:sty m:val="p"/>
                              </m:rPr>
                              <a:rPr lang="en-IN" sz="3600" i="0" smtClean="0">
                                <a:latin typeface="Cambria Math" panose="02040503050406030204" pitchFamily="18" charset="0"/>
                              </a:rPr>
                              <m:t>max</m:t>
                            </m:r>
                          </m:e>
                          <m:lim>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𝑤</m:t>
                                </m:r>
                              </m:e>
                              <m:sub>
                                <m:r>
                                  <a:rPr lang="en-US" sz="3600" b="0" i="1" smtClean="0">
                                    <a:latin typeface="Cambria Math" panose="02040503050406030204" pitchFamily="18" charset="0"/>
                                  </a:rPr>
                                  <m:t>1:</m:t>
                                </m:r>
                                <m:r>
                                  <a:rPr lang="en-US" sz="3600" b="0" i="1" smtClean="0">
                                    <a:latin typeface="Cambria Math" panose="02040503050406030204" pitchFamily="18" charset="0"/>
                                  </a:rPr>
                                  <m:t>𝑇</m:t>
                                </m:r>
                              </m:sub>
                            </m:sSub>
                          </m:lim>
                        </m:limLow>
                      </m:fName>
                      <m:e>
                        <m:func>
                          <m:funcPr>
                            <m:ctrlPr>
                              <a:rPr lang="en-US" sz="3600" b="0" i="1" smtClean="0">
                                <a:latin typeface="Cambria Math" panose="02040503050406030204" pitchFamily="18" charset="0"/>
                              </a:rPr>
                            </m:ctrlPr>
                          </m:funcPr>
                          <m:fName>
                            <m:r>
                              <m:rPr>
                                <m:sty m:val="p"/>
                              </m:rPr>
                              <a:rPr lang="en-US" sz="3600" b="0" i="0" smtClean="0">
                                <a:latin typeface="Cambria Math" panose="02040503050406030204" pitchFamily="18" charset="0"/>
                              </a:rPr>
                              <m:t>Pr</m:t>
                            </m:r>
                          </m:fName>
                          <m:e>
                            <m:d>
                              <m:dPr>
                                <m:ctrlPr>
                                  <a:rPr lang="en-US" sz="3600" b="0" i="1" smtClean="0">
                                    <a:latin typeface="Cambria Math" panose="02040503050406030204" pitchFamily="18" charset="0"/>
                                  </a:rPr>
                                </m:ctrlPr>
                              </m:dPr>
                              <m:e>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𝑤</m:t>
                                    </m:r>
                                  </m:e>
                                  <m:sub>
                                    <m:r>
                                      <a:rPr lang="en-US" sz="3600" b="0" i="1" smtClean="0">
                                        <a:latin typeface="Cambria Math" panose="02040503050406030204" pitchFamily="18" charset="0"/>
                                      </a:rPr>
                                      <m:t>1:</m:t>
                                    </m:r>
                                    <m:r>
                                      <a:rPr lang="en-US" sz="3600" b="0" i="1" smtClean="0">
                                        <a:latin typeface="Cambria Math" panose="02040503050406030204" pitchFamily="18" charset="0"/>
                                      </a:rPr>
                                      <m:t>𝑇</m:t>
                                    </m:r>
                                  </m:sub>
                                </m:sSub>
                              </m:e>
                              <m:e>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𝑊</m:t>
                                    </m:r>
                                  </m:e>
                                  <m:sub>
                                    <m:r>
                                      <a:rPr lang="en-US" sz="3600" b="0" i="1" smtClean="0">
                                        <a:latin typeface="Cambria Math" panose="02040503050406030204" pitchFamily="18" charset="0"/>
                                      </a:rPr>
                                      <m:t>0</m:t>
                                    </m:r>
                                  </m:sub>
                                </m:sSub>
                              </m:e>
                            </m:d>
                            <m:r>
                              <a:rPr lang="en-US" sz="3600" b="0" i="1" smtClean="0">
                                <a:latin typeface="Cambria Math" panose="02040503050406030204" pitchFamily="18" charset="0"/>
                              </a:rPr>
                              <m:t>=</m:t>
                            </m:r>
                          </m:e>
                        </m:func>
                        <m:func>
                          <m:funcPr>
                            <m:ctrlPr>
                              <a:rPr lang="en-US" sz="3600" b="0" i="1" smtClean="0">
                                <a:latin typeface="Cambria Math" panose="02040503050406030204" pitchFamily="18" charset="0"/>
                              </a:rPr>
                            </m:ctrlPr>
                          </m:funcPr>
                          <m:fName>
                            <m:limLow>
                              <m:limLowPr>
                                <m:ctrlPr>
                                  <a:rPr lang="en-US" sz="3600" b="0" i="1" smtClean="0">
                                    <a:latin typeface="Cambria Math" panose="02040503050406030204" pitchFamily="18" charset="0"/>
                                  </a:rPr>
                                </m:ctrlPr>
                              </m:limLowPr>
                              <m:e>
                                <m:r>
                                  <m:rPr>
                                    <m:sty m:val="p"/>
                                  </m:rPr>
                                  <a:rPr lang="en-US" sz="3600" b="0" i="0" smtClean="0">
                                    <a:latin typeface="Cambria Math" panose="02040503050406030204" pitchFamily="18" charset="0"/>
                                  </a:rPr>
                                  <m:t>max</m:t>
                                </m:r>
                              </m:e>
                              <m:lim>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𝑤</m:t>
                                    </m:r>
                                  </m:e>
                                  <m:sub>
                                    <m:r>
                                      <a:rPr lang="en-US" sz="3600" b="0" i="1" smtClean="0">
                                        <a:latin typeface="Cambria Math" panose="02040503050406030204" pitchFamily="18" charset="0"/>
                                      </a:rPr>
                                      <m:t>1:</m:t>
                                    </m:r>
                                    <m:r>
                                      <a:rPr lang="en-US" sz="3600" b="0" i="1" smtClean="0">
                                        <a:latin typeface="Cambria Math" panose="02040503050406030204" pitchFamily="18" charset="0"/>
                                      </a:rPr>
                                      <m:t>𝑇</m:t>
                                    </m:r>
                                  </m:sub>
                                </m:sSub>
                              </m:lim>
                            </m:limLow>
                          </m:fName>
                          <m:e>
                            <m:nary>
                              <m:naryPr>
                                <m:chr m:val="∏"/>
                                <m:supHide m:val="on"/>
                                <m:ctrlPr>
                                  <a:rPr lang="en-US" sz="3600" b="0" i="1" smtClean="0">
                                    <a:latin typeface="Cambria Math" panose="02040503050406030204" pitchFamily="18" charset="0"/>
                                  </a:rPr>
                                </m:ctrlPr>
                              </m:naryPr>
                              <m:sub>
                                <m:r>
                                  <m:rPr>
                                    <m:brk m:alnAt="7"/>
                                  </m:rPr>
                                  <a:rPr lang="en-US" sz="3600" b="0" i="1" smtClean="0">
                                    <a:latin typeface="Cambria Math" panose="02040503050406030204" pitchFamily="18" charset="0"/>
                                  </a:rPr>
                                  <m:t>1</m:t>
                                </m:r>
                                <m:r>
                                  <a:rPr lang="en-US" sz="3600" b="0" i="1" smtClean="0">
                                    <a:latin typeface="Cambria Math" panose="02040503050406030204" pitchFamily="18" charset="0"/>
                                  </a:rPr>
                                  <m:t>≤</m:t>
                                </m:r>
                                <m:r>
                                  <a:rPr lang="en-US" sz="3600" b="0" i="1" smtClean="0">
                                    <a:latin typeface="Cambria Math" panose="02040503050406030204" pitchFamily="18" charset="0"/>
                                  </a:rPr>
                                  <m:t>𝑡</m:t>
                                </m:r>
                                <m:r>
                                  <a:rPr lang="en-US" sz="3600" b="0" i="1" smtClean="0">
                                    <a:latin typeface="Cambria Math" panose="02040503050406030204" pitchFamily="18" charset="0"/>
                                  </a:rPr>
                                  <m:t>≤</m:t>
                                </m:r>
                                <m:r>
                                  <a:rPr lang="en-US" sz="3600" b="0" i="1" smtClean="0">
                                    <a:latin typeface="Cambria Math" panose="02040503050406030204" pitchFamily="18" charset="0"/>
                                  </a:rPr>
                                  <m:t>𝑇</m:t>
                                </m:r>
                              </m:sub>
                              <m:sup/>
                              <m:e>
                                <m:func>
                                  <m:funcPr>
                                    <m:ctrlPr>
                                      <a:rPr lang="en-US" sz="3600" b="0" i="1" smtClean="0">
                                        <a:latin typeface="Cambria Math" panose="02040503050406030204" pitchFamily="18" charset="0"/>
                                      </a:rPr>
                                    </m:ctrlPr>
                                  </m:funcPr>
                                  <m:fName>
                                    <m:r>
                                      <m:rPr>
                                        <m:sty m:val="p"/>
                                      </m:rPr>
                                      <a:rPr lang="en-US" sz="3600" b="0" i="0" smtClean="0">
                                        <a:latin typeface="Cambria Math" panose="02040503050406030204" pitchFamily="18" charset="0"/>
                                      </a:rPr>
                                      <m:t>Pr</m:t>
                                    </m:r>
                                  </m:fName>
                                  <m:e>
                                    <m:d>
                                      <m:dPr>
                                        <m:ctrlPr>
                                          <a:rPr lang="en-US" sz="3600" b="0" i="1" smtClean="0">
                                            <a:latin typeface="Cambria Math" panose="02040503050406030204" pitchFamily="18" charset="0"/>
                                          </a:rPr>
                                        </m:ctrlPr>
                                      </m:dPr>
                                      <m:e>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𝑤</m:t>
                                            </m:r>
                                          </m:e>
                                          <m:sub>
                                            <m:r>
                                              <a:rPr lang="en-US" sz="3600" b="0" i="1" smtClean="0">
                                                <a:latin typeface="Cambria Math" panose="02040503050406030204" pitchFamily="18" charset="0"/>
                                              </a:rPr>
                                              <m:t>𝑡</m:t>
                                            </m:r>
                                          </m:sub>
                                        </m:sSub>
                                        <m:r>
                                          <a:rPr lang="en-US" sz="3600" b="0" i="1" smtClean="0">
                                            <a:latin typeface="Cambria Math" panose="02040503050406030204" pitchFamily="18" charset="0"/>
                                          </a:rPr>
                                          <m:t>|</m:t>
                                        </m:r>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𝑤</m:t>
                                            </m:r>
                                          </m:e>
                                          <m:sub>
                                            <m:r>
                                              <a:rPr lang="en-US" sz="3600" b="0" i="1" smtClean="0">
                                                <a:latin typeface="Cambria Math" panose="02040503050406030204" pitchFamily="18" charset="0"/>
                                              </a:rPr>
                                              <m:t>1:</m:t>
                                            </m:r>
                                            <m:r>
                                              <a:rPr lang="en-US" sz="3600" b="0" i="1" smtClean="0">
                                                <a:latin typeface="Cambria Math" panose="02040503050406030204" pitchFamily="18" charset="0"/>
                                              </a:rPr>
                                              <m:t>𝑡</m:t>
                                            </m:r>
                                            <m:r>
                                              <a:rPr lang="en-US" sz="3600" b="0" i="1" smtClean="0">
                                                <a:latin typeface="Cambria Math" panose="02040503050406030204" pitchFamily="18" charset="0"/>
                                              </a:rPr>
                                              <m:t>−1</m:t>
                                            </m:r>
                                          </m:sub>
                                        </m:sSub>
                                        <m:r>
                                          <a:rPr lang="en-US" sz="3600" b="0" i="1" smtClean="0">
                                            <a:latin typeface="Cambria Math" panose="02040503050406030204" pitchFamily="18" charset="0"/>
                                          </a:rPr>
                                          <m:t>;</m:t>
                                        </m:r>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𝑊</m:t>
                                            </m:r>
                                          </m:e>
                                          <m:sub>
                                            <m:r>
                                              <a:rPr lang="en-US" sz="3600" b="0" i="1" smtClean="0">
                                                <a:latin typeface="Cambria Math" panose="02040503050406030204" pitchFamily="18" charset="0"/>
                                              </a:rPr>
                                              <m:t>0</m:t>
                                            </m:r>
                                          </m:sub>
                                        </m:sSub>
                                      </m:e>
                                    </m:d>
                                  </m:e>
                                </m:func>
                              </m:e>
                            </m:nary>
                          </m:e>
                        </m:func>
                      </m:e>
                    </m:func>
                  </m:oMath>
                </a14:m>
                <a:endParaRPr lang="en-IN" sz="3600"/>
              </a:p>
              <a:p>
                <a:pPr>
                  <a:lnSpc>
                    <a:spcPct val="100000"/>
                  </a:lnSpc>
                </a:pPr>
                <a:r>
                  <a:rPr lang="en-IN" sz="3600"/>
                  <a:t>If the domain of </a:t>
                </a:r>
                <a14:m>
                  <m:oMath xmlns:m="http://schemas.openxmlformats.org/officeDocument/2006/math">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𝑤</m:t>
                        </m:r>
                      </m:e>
                      <m:sub>
                        <m:r>
                          <a:rPr lang="en-US" sz="3600" b="0" i="1" smtClean="0">
                            <a:latin typeface="Cambria Math" panose="02040503050406030204" pitchFamily="18" charset="0"/>
                          </a:rPr>
                          <m:t>𝑡</m:t>
                        </m:r>
                      </m:sub>
                    </m:sSub>
                    <m:r>
                      <a:rPr lang="en-US" sz="3600" b="0" i="1" smtClean="0">
                        <a:latin typeface="Cambria Math" panose="02040503050406030204" pitchFamily="18" charset="0"/>
                      </a:rPr>
                      <m:t>∈[</m:t>
                    </m:r>
                    <m:r>
                      <a:rPr lang="en-US" sz="3600" b="0" i="1" smtClean="0">
                        <a:latin typeface="Cambria Math" panose="02040503050406030204" pitchFamily="18" charset="0"/>
                      </a:rPr>
                      <m:t>𝐿</m:t>
                    </m:r>
                    <m:r>
                      <a:rPr lang="en-US" sz="3600" b="0" i="1" smtClean="0">
                        <a:latin typeface="Cambria Math" panose="02040503050406030204" pitchFamily="18" charset="0"/>
                      </a:rPr>
                      <m:t>]</m:t>
                    </m:r>
                  </m:oMath>
                </a14:m>
                <a:r>
                  <a:rPr lang="en-IN" sz="3600"/>
                  <a:t> is small (POS/NER labels), can build a full DP trellis</a:t>
                </a:r>
              </a:p>
              <a:p>
                <a:pPr>
                  <a:lnSpc>
                    <a:spcPct val="100000"/>
                  </a:lnSpc>
                </a:pPr>
                <a:r>
                  <a:rPr lang="en-IN" sz="3600"/>
                  <a:t>Otherwise, need to cut corners</a:t>
                </a:r>
              </a:p>
              <a:p>
                <a:pPr>
                  <a:lnSpc>
                    <a:spcPct val="100000"/>
                  </a:lnSpc>
                </a:pPr>
                <a:r>
                  <a:rPr lang="en-IN" sz="3600"/>
                  <a:t>Besides, we want to sample the posterior anyway</a:t>
                </a:r>
              </a:p>
            </p:txBody>
          </p:sp>
        </mc:Choice>
        <mc:Fallback xmlns="">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4"/>
                <a:stretch>
                  <a:fillRect/>
                </a:stretch>
              </a:blipFill>
            </p:spPr>
            <p:txBody>
              <a:bodyPr/>
              <a:lstStyle/>
              <a:p>
                <a:r>
                  <a:rPr lang="en-US" altLang="en-US">
                    <a:noFill/>
                  </a:rPr>
                  <a:t> </a:t>
                </a:r>
              </a:p>
            </p:txBody>
          </p:sp>
        </mc:Fallback>
      </mc:AlternateContent>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p:cNvPicPr>
            <a:picLocks noGrp="1" noChangeAspect="1"/>
          </p:cNvPicPr>
          <p:nvPr>
            <p:ph sz="half" idx="4294967295"/>
          </p:nvPr>
        </p:nvPicPr>
        <p:blipFill>
          <a:blip r:embed="rId2">
            <a:extLst>
              <a:ext uri="{28A0092B-C50C-407E-A947-70E740481C1C}">
                <a14:useLocalDpi xmlns:a14="http://schemas.microsoft.com/office/drawing/2010/main" val="0"/>
              </a:ext>
            </a:extLst>
          </a:blip>
          <a:stretch>
            <a:fillRect/>
          </a:stretch>
        </p:blipFill>
        <p:spPr>
          <a:xfrm>
            <a:off x="0" y="1685925"/>
            <a:ext cx="5425440" cy="4551045"/>
          </a:xfrm>
        </p:spPr>
      </p:pic>
      <mc:AlternateContent xmlns:mc="http://schemas.openxmlformats.org/markup-compatibility/2006" xmlns:a14="http://schemas.microsoft.com/office/drawing/2010/main">
        <mc:Choice Requires="a14">
          <p:sp>
            <p:nvSpPr>
              <p:cNvPr id="9" name="Content Placeholder 8"/>
              <p:cNvSpPr>
                <a:spLocks noGrp="1"/>
              </p:cNvSpPr>
              <p:nvPr>
                <p:ph sz="half" idx="4294967295"/>
              </p:nvPr>
            </p:nvSpPr>
            <p:spPr>
              <a:xfrm>
                <a:off x="5476240" y="913130"/>
                <a:ext cx="6715760" cy="5859780"/>
              </a:xfrm>
              <a:effectLst>
                <a:glow rad="228600">
                  <a:schemeClr val="accent6">
                    <a:satMod val="175000"/>
                    <a:alpha val="40000"/>
                  </a:schemeClr>
                </a:glow>
              </a:effectLst>
            </p:spPr>
            <p:txBody>
              <a:bodyPr>
                <a:noAutofit/>
              </a:bodyPr>
              <a:lstStyle/>
              <a:p>
                <a:pPr>
                  <a:lnSpc>
                    <a:spcPct val="100000"/>
                  </a:lnSpc>
                </a:pPr>
                <a:r>
                  <a:rPr lang="en-US" sz="3200"/>
                  <a:t>At each step </a:t>
                </a:r>
                <a14:m>
                  <m:oMath xmlns:m="http://schemas.openxmlformats.org/officeDocument/2006/math">
                    <m:r>
                      <a:rPr lang="en-US" sz="3200" b="0" i="1" smtClean="0">
                        <a:latin typeface="Cambria Math" panose="02040503050406030204" pitchFamily="18" charset="0"/>
                      </a:rPr>
                      <m:t>𝑡</m:t>
                    </m:r>
                  </m:oMath>
                </a14:m>
                <a:r>
                  <a:rPr lang="en-IN" sz="3200"/>
                  <a:t>, choose </a:t>
                </a:r>
                <a14:m>
                  <m:oMath xmlns:m="http://schemas.openxmlformats.org/officeDocument/2006/math">
                    <m:func>
                      <m:funcPr>
                        <m:ctrlPr>
                          <a:rPr lang="en-IN" sz="3200" i="1" smtClean="0">
                            <a:latin typeface="Cambria Math" panose="02040503050406030204" pitchFamily="18" charset="0"/>
                          </a:rPr>
                        </m:ctrlPr>
                      </m:funcPr>
                      <m:fName>
                        <m:limLow>
                          <m:limLowPr>
                            <m:ctrlPr>
                              <a:rPr lang="en-IN" sz="3200" i="1" smtClean="0">
                                <a:latin typeface="Cambria Math" panose="02040503050406030204" pitchFamily="18" charset="0"/>
                              </a:rPr>
                            </m:ctrlPr>
                          </m:limLowPr>
                          <m:e>
                            <m:r>
                              <m:rPr>
                                <m:sty m:val="p"/>
                              </m:rPr>
                              <a:rPr lang="en-US" sz="3200" b="0" i="0" smtClean="0">
                                <a:latin typeface="Cambria Math" panose="02040503050406030204" pitchFamily="18" charset="0"/>
                              </a:rPr>
                              <m:t>arg</m:t>
                            </m:r>
                            <m:r>
                              <m:rPr>
                                <m:sty m:val="p"/>
                              </m:rPr>
                              <a:rPr lang="en-IN" sz="3200" i="0" smtClean="0">
                                <a:latin typeface="Cambria Math" panose="02040503050406030204" pitchFamily="18" charset="0"/>
                              </a:rPr>
                              <m:t>max</m:t>
                            </m:r>
                          </m:e>
                          <m:lim>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𝑤</m:t>
                                </m:r>
                              </m:e>
                              <m:sub>
                                <m:r>
                                  <a:rPr lang="en-US" sz="3200" b="0" i="1" smtClean="0">
                                    <a:latin typeface="Cambria Math" panose="02040503050406030204" pitchFamily="18" charset="0"/>
                                  </a:rPr>
                                  <m:t>𝑡</m:t>
                                </m:r>
                              </m:sub>
                            </m:sSub>
                            <m:r>
                              <a:rPr lang="en-US" sz="3200" b="0" i="1" smtClean="0">
                                <a:latin typeface="Cambria Math" panose="02040503050406030204" pitchFamily="18" charset="0"/>
                              </a:rPr>
                              <m:t>∈[</m:t>
                            </m:r>
                            <m:r>
                              <a:rPr lang="en-US" sz="3200" b="0" i="1" smtClean="0">
                                <a:latin typeface="Cambria Math" panose="02040503050406030204" pitchFamily="18" charset="0"/>
                              </a:rPr>
                              <m:t>𝐿</m:t>
                            </m:r>
                            <m:r>
                              <a:rPr lang="en-US" sz="3200" b="0" i="1" smtClean="0">
                                <a:latin typeface="Cambria Math" panose="02040503050406030204" pitchFamily="18" charset="0"/>
                              </a:rPr>
                              <m:t>]</m:t>
                            </m:r>
                          </m:lim>
                        </m:limLow>
                      </m:fName>
                      <m:e>
                        <m:r>
                          <m:rPr>
                            <m:sty m:val="p"/>
                          </m:rPr>
                          <a:rPr lang="en-US" sz="3200" b="0" i="0" smtClean="0">
                            <a:latin typeface="Cambria Math" panose="02040503050406030204" pitchFamily="18" charset="0"/>
                          </a:rPr>
                          <m:t>Pr</m:t>
                        </m:r>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𝑤</m:t>
                            </m:r>
                          </m:e>
                          <m:sub>
                            <m:r>
                              <a:rPr lang="en-US" sz="3200" b="0" i="1" smtClean="0">
                                <a:latin typeface="Cambria Math" panose="02040503050406030204" pitchFamily="18" charset="0"/>
                              </a:rPr>
                              <m:t>𝑡</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𝑤</m:t>
                            </m:r>
                          </m:e>
                          <m:sub>
                            <m:r>
                              <a:rPr lang="en-US" sz="3200" b="0" i="1" smtClean="0">
                                <a:latin typeface="Cambria Math" panose="02040503050406030204" pitchFamily="18" charset="0"/>
                              </a:rPr>
                              <m:t>1:</m:t>
                            </m:r>
                            <m:r>
                              <a:rPr lang="en-US" sz="3200" b="0" i="1" smtClean="0">
                                <a:latin typeface="Cambria Math" panose="02040503050406030204" pitchFamily="18" charset="0"/>
                              </a:rPr>
                              <m:t>𝑡</m:t>
                            </m:r>
                            <m:r>
                              <a:rPr lang="en-US" sz="3200" b="0" i="1" smtClean="0">
                                <a:latin typeface="Cambria Math" panose="02040503050406030204" pitchFamily="18" charset="0"/>
                              </a:rPr>
                              <m:t>−1</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𝑊</m:t>
                            </m:r>
                          </m:e>
                          <m:sub>
                            <m:r>
                              <a:rPr lang="en-US" sz="3200" b="0" i="1" smtClean="0">
                                <a:latin typeface="Cambria Math" panose="02040503050406030204" pitchFamily="18" charset="0"/>
                              </a:rPr>
                              <m:t>0</m:t>
                            </m:r>
                          </m:sub>
                        </m:sSub>
                        <m:r>
                          <a:rPr lang="en-US" sz="3200" b="0" i="1" smtClean="0">
                            <a:latin typeface="Cambria Math" panose="02040503050406030204" pitchFamily="18" charset="0"/>
                          </a:rPr>
                          <m:t>)</m:t>
                        </m:r>
                      </m:e>
                    </m:func>
                  </m:oMath>
                </a14:m>
                <a:endParaRPr lang="en-IN" sz="3200"/>
              </a:p>
              <a:p>
                <a:pPr>
                  <a:lnSpc>
                    <a:spcPct val="100000"/>
                  </a:lnSpc>
                </a:pPr>
                <a:r>
                  <a:rPr lang="en-IN" sz="3200"/>
                  <a:t>Easy to get trapped into dead ends</a:t>
                </a:r>
              </a:p>
              <a:p>
                <a:pPr>
                  <a:lnSpc>
                    <a:spcPct val="100000"/>
                  </a:lnSpc>
                </a:pPr>
                <a:r>
                  <a:rPr lang="en-IN" sz="3200"/>
                  <a:t>E.g. from GPT2: </a:t>
                </a:r>
                <a:r>
                  <a:rPr lang="en-US" sz="3200">
                    <a:effectLst>
                      <a:glow rad="139700">
                        <a:schemeClr val="accent6">
                          <a:satMod val="175000"/>
                          <a:alpha val="40000"/>
                        </a:schemeClr>
                      </a:glow>
                    </a:effectLst>
                  </a:rPr>
                  <a:t>I enjoy walking with my cute dog</a:t>
                </a:r>
                <a:r>
                  <a:rPr lang="en-US" sz="3200"/>
                  <a:t>, but I'm not sure if I'll ever be able to walk with my dog. I'm not sure if I'll ever be able to walk with my dog. […]</a:t>
                </a:r>
              </a:p>
              <a:p>
                <a:pPr>
                  <a:lnSpc>
                    <a:spcPct val="100000"/>
                  </a:lnSpc>
                </a:pPr>
                <a:r>
                  <a:rPr lang="en-US" altLang="en-IN" sz="3200"/>
                  <a:t>N</a:t>
                </a:r>
                <a:r>
                  <a:rPr lang="en-IN" sz="3200"/>
                  <a:t>o stochastic variation</a:t>
                </a:r>
              </a:p>
            </p:txBody>
          </p:sp>
        </mc:Choice>
        <mc:Fallback xmlns="">
          <p:sp>
            <p:nvSpPr>
              <p:cNvPr id="9" name="Content Placeholder 8"/>
              <p:cNvSpPr>
                <a:spLocks noRot="1" noChangeAspect="1" noMove="1" noResize="1" noEditPoints="1" noAdjustHandles="1" noChangeArrowheads="1" noChangeShapeType="1" noTextEdit="1"/>
              </p:cNvSpPr>
              <p:nvPr>
                <p:ph sz="half" idx="4294967295"/>
              </p:nvPr>
            </p:nvSpPr>
            <p:spPr>
              <a:xfrm>
                <a:off x="5476240" y="913130"/>
                <a:ext cx="6715760" cy="5859780"/>
              </a:xfrm>
              <a:blipFill rotWithShape="1">
                <a:blip r:embed="rId3"/>
                <a:stretch>
                  <a:fillRect l="-3404" t="-3901" r="-3404" b="-3901"/>
                </a:stretch>
              </a:blipFill>
              <a:effectLst>
                <a:glow rad="228600">
                  <a:schemeClr val="accent6">
                    <a:satMod val="175000"/>
                    <a:alpha val="40000"/>
                  </a:schemeClr>
                </a:glow>
              </a:effectLst>
            </p:spPr>
            <p:txBody>
              <a:bodyPr/>
              <a:lstStyle/>
              <a:p>
                <a:r>
                  <a:rPr lang="en-US" altLang="en-US">
                    <a:noFill/>
                  </a:rPr>
                  <a:t> </a:t>
                </a:r>
              </a:p>
            </p:txBody>
          </p:sp>
        </mc:Fallback>
      </mc:AlternateContent>
      <p:sp>
        <p:nvSpPr>
          <p:cNvPr id="7" name="Title 6"/>
          <p:cNvSpPr>
            <a:spLocks noGrp="1"/>
          </p:cNvSpPr>
          <p:nvPr>
            <p:ph type="title"/>
          </p:nvPr>
        </p:nvSpPr>
        <p:spPr/>
        <p:txBody>
          <a:bodyPr/>
          <a:lstStyle/>
          <a:p>
            <a:r>
              <a:rPr lang="en-US"/>
              <a:t>Greedy decoding</a:t>
            </a:r>
            <a:endParaRPr lang="en-IN"/>
          </a:p>
        </p:txBody>
      </p:sp>
      <mc:AlternateContent xmlns:mc="http://schemas.openxmlformats.org/markup-compatibility/2006" xmlns:p14="http://schemas.microsoft.com/office/powerpoint/2010/main">
        <mc:Choice Requires="p14">
          <p:contentPart p14:bwMode="auto" r:id="rId4">
            <p14:nvContentPartPr>
              <p14:cNvPr id="2" name="Ink 1"/>
              <p14:cNvContentPartPr/>
              <p14:nvPr/>
            </p14:nvContentPartPr>
            <p14:xfrm>
              <a:off x="8377560" y="1990080"/>
              <a:ext cx="923400" cy="148320"/>
            </p14:xfrm>
          </p:contentPart>
        </mc:Choice>
        <mc:Fallback xmlns="">
          <p:pic>
            <p:nvPicPr>
              <p:cNvPr id="2" name="Ink 1"/>
            </p:nvPicPr>
            <p:blipFill>
              <a:blip r:embed="rId5"/>
            </p:blipFill>
            <p:spPr>
              <a:xfrm>
                <a:off x="8377560" y="1990080"/>
                <a:ext cx="923400" cy="148320"/>
              </a:xfrm>
              <a:prstGeom prst="rect"/>
            </p:spPr>
          </p:pic>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sz="half" idx="4294967295"/>
          </p:nvPr>
        </p:nvPicPr>
        <p:blipFill>
          <a:blip r:embed="rId2">
            <a:extLst>
              <a:ext uri="{28A0092B-C50C-407E-A947-70E740481C1C}">
                <a14:useLocalDpi xmlns:a14="http://schemas.microsoft.com/office/drawing/2010/main" val="0"/>
              </a:ext>
            </a:extLst>
          </a:blip>
          <a:stretch>
            <a:fillRect/>
          </a:stretch>
        </p:blipFill>
        <p:spPr>
          <a:xfrm>
            <a:off x="0" y="1320165"/>
            <a:ext cx="5854700" cy="4922520"/>
          </a:xfrm>
        </p:spPr>
      </p:pic>
      <mc:AlternateContent xmlns:mc="http://schemas.openxmlformats.org/markup-compatibility/2006" xmlns:a14="http://schemas.microsoft.com/office/drawing/2010/main">
        <mc:Choice Requires="a14">
          <p:sp>
            <p:nvSpPr>
              <p:cNvPr id="3" name="Content Placeholder 2"/>
              <p:cNvSpPr>
                <a:spLocks noGrp="1"/>
              </p:cNvSpPr>
              <p:nvPr>
                <p:ph sz="half" idx="4294967295"/>
              </p:nvPr>
            </p:nvSpPr>
            <p:spPr>
              <a:xfrm>
                <a:off x="6040120" y="913130"/>
                <a:ext cx="6151880" cy="5859780"/>
              </a:xfrm>
              <a:effectLst>
                <a:glow rad="139700">
                  <a:schemeClr val="accent6">
                    <a:satMod val="175000"/>
                    <a:alpha val="40000"/>
                  </a:schemeClr>
                </a:glow>
              </a:effectLst>
            </p:spPr>
            <p:txBody>
              <a:bodyPr>
                <a:normAutofit fontScale="92500" lnSpcReduction="20000"/>
              </a:bodyPr>
              <a:lstStyle/>
              <a:p>
                <a:r>
                  <a:rPr lang="en-US"/>
                  <a:t>Always find an output sequence with probability </a:t>
                </a:r>
                <a14:m>
                  <m:oMath xmlns:m="http://schemas.openxmlformats.org/officeDocument/2006/math">
                    <m:r>
                      <a:rPr lang="en-US" b="0" i="1" smtClean="0">
                        <a:latin typeface="Cambria Math" panose="02040503050406030204" pitchFamily="18" charset="0"/>
                      </a:rPr>
                      <m:t>≥</m:t>
                    </m:r>
                  </m:oMath>
                </a14:m>
                <a:r>
                  <a:rPr lang="en-US"/>
                  <a:t> greedy search</a:t>
                </a:r>
              </a:p>
              <a:p>
                <a:r>
                  <a:rPr lang="en-US"/>
                  <a:t>Not guaranteed to find the most likely output</a:t>
                </a:r>
              </a:p>
              <a:p>
                <a:r>
                  <a:rPr lang="en-US"/>
                  <a:t>GPT2: </a:t>
                </a:r>
                <a:r>
                  <a:rPr lang="en-US">
                    <a:effectLst>
                      <a:glow rad="139700">
                        <a:schemeClr val="accent6">
                          <a:satMod val="175000"/>
                          <a:alpha val="40000"/>
                        </a:schemeClr>
                      </a:glow>
                    </a:effectLst>
                  </a:rPr>
                  <a:t>I enjoy walking with my cute dog</a:t>
                </a:r>
                <a:r>
                  <a:rPr lang="en-US"/>
                  <a:t>, but I'm not sure if I'll ever be able to walk with him again.</a:t>
                </a:r>
              </a:p>
              <a:p>
                <a:r>
                  <a:rPr lang="en-IN"/>
                  <a:t>Deterministic, no stochastic variation</a:t>
                </a:r>
              </a:p>
              <a:p>
                <a:r>
                  <a:rPr lang="en-IN"/>
                  <a:t>Can sample from surviving beams</a:t>
                </a:r>
              </a:p>
            </p:txBody>
          </p:sp>
        </mc:Choice>
        <mc:Fallback xmlns="">
          <p:sp>
            <p:nvSpPr>
              <p:cNvPr id="3" name="Content Placeholder 2"/>
              <p:cNvSpPr>
                <a:spLocks noRot="1" noChangeAspect="1" noMove="1" noResize="1" noEditPoints="1" noAdjustHandles="1" noChangeArrowheads="1" noChangeShapeType="1" noTextEdit="1"/>
              </p:cNvSpPr>
              <p:nvPr>
                <p:ph sz="half" idx="4294967295"/>
              </p:nvPr>
            </p:nvSpPr>
            <p:spPr>
              <a:xfrm>
                <a:off x="6040120" y="913130"/>
                <a:ext cx="6151880" cy="5859780"/>
              </a:xfrm>
              <a:blipFill rotWithShape="1">
                <a:blip r:embed="rId3"/>
                <a:stretch>
                  <a:fillRect l="-2271" t="-2384" r="-2271" b="-2384"/>
                </a:stretch>
              </a:blipFill>
              <a:effectLst>
                <a:glow rad="139700">
                  <a:schemeClr val="accent6">
                    <a:satMod val="175000"/>
                    <a:alpha val="40000"/>
                  </a:schemeClr>
                </a:glow>
              </a:effectLst>
            </p:spPr>
            <p:txBody>
              <a:bodyPr/>
              <a:lstStyle/>
              <a:p>
                <a:r>
                  <a:rPr lang="en-US" altLang="en-US">
                    <a:noFill/>
                  </a:rPr>
                  <a:t> </a:t>
                </a:r>
              </a:p>
            </p:txBody>
          </p:sp>
        </mc:Fallback>
      </mc:AlternateContent>
      <p:sp>
        <p:nvSpPr>
          <p:cNvPr id="4" name="Title 3"/>
          <p:cNvSpPr>
            <a:spLocks noGrp="1"/>
          </p:cNvSpPr>
          <p:nvPr>
            <p:ph type="title"/>
          </p:nvPr>
        </p:nvSpPr>
        <p:spPr/>
        <p:txBody>
          <a:bodyPr/>
          <a:lstStyle/>
          <a:p>
            <a:r>
              <a:rPr lang="en-US"/>
              <a:t>Beam search</a:t>
            </a:r>
            <a:endParaRPr lang="en-IN"/>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1524001" y="4038601"/>
            <a:ext cx="1167765" cy="337913"/>
          </a:xfrm>
          <a:prstGeom prst="rect">
            <a:avLst/>
          </a:prstGeom>
          <a:ln w="9143">
            <a:solidFill>
              <a:srgbClr val="000000"/>
            </a:solidFill>
          </a:ln>
        </p:spPr>
        <p:txBody>
          <a:bodyPr vert="horz" wrap="square" lIns="0" tIns="29845" rIns="0" bIns="0" rtlCol="0">
            <a:spAutoFit/>
          </a:bodyPr>
          <a:lstStyle/>
          <a:p>
            <a:pPr marL="131445">
              <a:spcBef>
                <a:spcPts val="235"/>
              </a:spcBef>
            </a:pPr>
            <a:r>
              <a:rPr sz="2000" i="1" spc="-5" dirty="0">
                <a:solidFill>
                  <a:srgbClr val="00AF50"/>
                </a:solidFill>
                <a:latin typeface="Calibri" panose="020F0502020204030204"/>
                <a:cs typeface="Calibri" panose="020F0502020204030204"/>
              </a:rPr>
              <a:t>&lt;START&gt;</a:t>
            </a:r>
            <a:endParaRPr sz="2000">
              <a:latin typeface="Calibri" panose="020F0502020204030204"/>
              <a:cs typeface="Calibri" panose="020F0502020204030204"/>
            </a:endParaRPr>
          </a:p>
        </p:txBody>
      </p:sp>
      <p:sp>
        <p:nvSpPr>
          <p:cNvPr id="7" name="object 7"/>
          <p:cNvSpPr txBox="1"/>
          <p:nvPr/>
        </p:nvSpPr>
        <p:spPr>
          <a:xfrm>
            <a:off x="2525522" y="5791326"/>
            <a:ext cx="2348869" cy="860425"/>
          </a:xfrm>
          <a:prstGeom prst="rect">
            <a:avLst/>
          </a:prstGeom>
          <a:ln w="19812">
            <a:solidFill>
              <a:srgbClr val="BA56BD"/>
            </a:solidFill>
          </a:ln>
        </p:spPr>
        <p:txBody>
          <a:bodyPr vert="horz" wrap="square" lIns="0" tIns="29845" rIns="0" bIns="0" rtlCol="0">
            <a:spAutoFit/>
          </a:bodyPr>
          <a:lstStyle/>
          <a:p>
            <a:pPr marL="187960">
              <a:spcBef>
                <a:spcPts val="235"/>
              </a:spcBef>
            </a:pPr>
            <a:r>
              <a:rPr spc="-10" dirty="0">
                <a:solidFill>
                  <a:srgbClr val="BA56BD"/>
                </a:solidFill>
                <a:cs typeface="Calibri" panose="020F0502020204030204"/>
              </a:rPr>
              <a:t>Calculate</a:t>
            </a:r>
            <a:r>
              <a:rPr dirty="0">
                <a:solidFill>
                  <a:srgbClr val="BA56BD"/>
                </a:solidFill>
                <a:cs typeface="Calibri" panose="020F0502020204030204"/>
              </a:rPr>
              <a:t> </a:t>
            </a:r>
            <a:r>
              <a:rPr spc="-15" dirty="0">
                <a:solidFill>
                  <a:srgbClr val="BA56BD"/>
                </a:solidFill>
                <a:cs typeface="Calibri" panose="020F0502020204030204"/>
              </a:rPr>
              <a:t>prob</a:t>
            </a:r>
            <a:endParaRPr dirty="0">
              <a:cs typeface="Calibri" panose="020F0502020204030204"/>
            </a:endParaRPr>
          </a:p>
          <a:p>
            <a:pPr marL="99695"/>
            <a:r>
              <a:rPr spc="-10" dirty="0">
                <a:solidFill>
                  <a:srgbClr val="BA56BD"/>
                </a:solidFill>
                <a:cs typeface="Calibri" panose="020F0502020204030204"/>
              </a:rPr>
              <a:t>dist</a:t>
            </a:r>
            <a:r>
              <a:rPr lang="en-US" spc="-10" dirty="0">
                <a:solidFill>
                  <a:srgbClr val="BA56BD"/>
                </a:solidFill>
                <a:cs typeface="Calibri" panose="020F0502020204030204"/>
              </a:rPr>
              <a:t>ribution</a:t>
            </a:r>
            <a:r>
              <a:rPr spc="-10" dirty="0">
                <a:solidFill>
                  <a:srgbClr val="BA56BD"/>
                </a:solidFill>
                <a:cs typeface="Calibri" panose="020F0502020204030204"/>
              </a:rPr>
              <a:t> </a:t>
            </a:r>
            <a:r>
              <a:rPr spc="-5" dirty="0">
                <a:solidFill>
                  <a:srgbClr val="BA56BD"/>
                </a:solidFill>
                <a:cs typeface="Calibri" panose="020F0502020204030204"/>
              </a:rPr>
              <a:t>of</a:t>
            </a:r>
            <a:r>
              <a:rPr spc="-20" dirty="0">
                <a:solidFill>
                  <a:srgbClr val="BA56BD"/>
                </a:solidFill>
                <a:cs typeface="Calibri" panose="020F0502020204030204"/>
              </a:rPr>
              <a:t> </a:t>
            </a:r>
            <a:r>
              <a:rPr spc="-10" dirty="0">
                <a:solidFill>
                  <a:srgbClr val="BA56BD"/>
                </a:solidFill>
                <a:cs typeface="Calibri" panose="020F0502020204030204"/>
              </a:rPr>
              <a:t>next</a:t>
            </a:r>
            <a:r>
              <a:rPr spc="-15" dirty="0">
                <a:solidFill>
                  <a:srgbClr val="BA56BD"/>
                </a:solidFill>
                <a:cs typeface="Calibri" panose="020F0502020204030204"/>
              </a:rPr>
              <a:t> word</a:t>
            </a:r>
            <a:endParaRPr dirty="0">
              <a:cs typeface="Calibri" panose="020F0502020204030204"/>
            </a:endParaRPr>
          </a:p>
        </p:txBody>
      </p:sp>
      <p:sp>
        <p:nvSpPr>
          <p:cNvPr id="10" name="object 3"/>
          <p:cNvSpPr txBox="1"/>
          <p:nvPr/>
        </p:nvSpPr>
        <p:spPr>
          <a:xfrm>
            <a:off x="1875934" y="840487"/>
            <a:ext cx="3557126" cy="321242"/>
          </a:xfrm>
          <a:prstGeom prst="rect">
            <a:avLst/>
          </a:prstGeom>
        </p:spPr>
        <p:txBody>
          <a:bodyPr vert="horz" wrap="square" lIns="0" tIns="13335" rIns="0" bIns="0" rtlCol="0">
            <a:spAutoFit/>
          </a:bodyPr>
          <a:lstStyle/>
          <a:p>
            <a:pPr marL="12700">
              <a:spcBef>
                <a:spcPts val="105"/>
              </a:spcBef>
            </a:pPr>
            <a:r>
              <a:rPr sz="2000" b="1" dirty="0">
                <a:cs typeface="Calibri" panose="020F0502020204030204"/>
              </a:rPr>
              <a:t>Beam</a:t>
            </a:r>
            <a:r>
              <a:rPr sz="2000" b="1" spc="-10" dirty="0">
                <a:cs typeface="Calibri" panose="020F0502020204030204"/>
              </a:rPr>
              <a:t> </a:t>
            </a:r>
            <a:r>
              <a:rPr sz="2000" b="1" spc="-5" dirty="0">
                <a:cs typeface="Calibri" panose="020F0502020204030204"/>
              </a:rPr>
              <a:t>size</a:t>
            </a:r>
            <a:r>
              <a:rPr sz="2000" b="1" dirty="0">
                <a:cs typeface="Calibri" panose="020F0502020204030204"/>
              </a:rPr>
              <a:t> =</a:t>
            </a:r>
            <a:r>
              <a:rPr sz="2000" b="1" spc="-15" dirty="0">
                <a:cs typeface="Calibri" panose="020F0502020204030204"/>
              </a:rPr>
              <a:t> </a:t>
            </a:r>
            <a:r>
              <a:rPr sz="2000" b="1" dirty="0">
                <a:cs typeface="Calibri" panose="020F0502020204030204"/>
              </a:rPr>
              <a:t>k</a:t>
            </a:r>
            <a:r>
              <a:rPr sz="2000" b="1" spc="-10" dirty="0">
                <a:cs typeface="Calibri" panose="020F0502020204030204"/>
              </a:rPr>
              <a:t> </a:t>
            </a:r>
            <a:r>
              <a:rPr sz="2000" b="1" dirty="0">
                <a:cs typeface="Calibri" panose="020F0502020204030204"/>
              </a:rPr>
              <a:t>=</a:t>
            </a:r>
            <a:r>
              <a:rPr sz="2000" b="1" spc="-5" dirty="0">
                <a:cs typeface="Calibri" panose="020F0502020204030204"/>
              </a:rPr>
              <a:t> </a:t>
            </a:r>
            <a:r>
              <a:rPr sz="2000" b="1" dirty="0">
                <a:cs typeface="Calibri" panose="020F0502020204030204"/>
              </a:rPr>
              <a:t>2</a:t>
            </a:r>
            <a:r>
              <a:rPr sz="2000" dirty="0">
                <a:cs typeface="Calibri" panose="020F0502020204030204"/>
              </a:rPr>
              <a:t>.</a:t>
            </a:r>
            <a:r>
              <a:rPr sz="2000" spc="-25" dirty="0">
                <a:cs typeface="Calibri" panose="020F0502020204030204"/>
              </a:rPr>
              <a:t> </a:t>
            </a:r>
            <a:endParaRPr sz="2000" dirty="0">
              <a:cs typeface="Calibri" panose="020F0502020204030204"/>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1524001" y="4038601"/>
            <a:ext cx="1167765" cy="337913"/>
          </a:xfrm>
          <a:prstGeom prst="rect">
            <a:avLst/>
          </a:prstGeom>
          <a:ln w="9143">
            <a:solidFill>
              <a:srgbClr val="000000"/>
            </a:solidFill>
          </a:ln>
        </p:spPr>
        <p:txBody>
          <a:bodyPr vert="horz" wrap="square" lIns="0" tIns="29845" rIns="0" bIns="0" rtlCol="0">
            <a:spAutoFit/>
          </a:bodyPr>
          <a:lstStyle/>
          <a:p>
            <a:pPr marL="131445">
              <a:spcBef>
                <a:spcPts val="235"/>
              </a:spcBef>
            </a:pPr>
            <a:r>
              <a:rPr sz="2000" i="1" spc="-5" dirty="0">
                <a:latin typeface="Calibri" panose="020F0502020204030204"/>
                <a:cs typeface="Calibri" panose="020F0502020204030204"/>
              </a:rPr>
              <a:t>&lt;START&gt;</a:t>
            </a:r>
            <a:endParaRPr sz="2000">
              <a:latin typeface="Calibri" panose="020F0502020204030204"/>
              <a:cs typeface="Calibri" panose="020F0502020204030204"/>
            </a:endParaRPr>
          </a:p>
        </p:txBody>
      </p:sp>
      <p:sp>
        <p:nvSpPr>
          <p:cNvPr id="5" name="object 5"/>
          <p:cNvSpPr txBox="1"/>
          <p:nvPr/>
        </p:nvSpPr>
        <p:spPr>
          <a:xfrm>
            <a:off x="2308859" y="3107436"/>
            <a:ext cx="571500" cy="337913"/>
          </a:xfrm>
          <a:prstGeom prst="rect">
            <a:avLst/>
          </a:prstGeom>
          <a:ln w="9143">
            <a:solidFill>
              <a:srgbClr val="000000"/>
            </a:solidFill>
          </a:ln>
        </p:spPr>
        <p:txBody>
          <a:bodyPr vert="horz" wrap="square" lIns="0" tIns="29845" rIns="0" bIns="0" rtlCol="0">
            <a:spAutoFit/>
          </a:bodyPr>
          <a:lstStyle/>
          <a:p>
            <a:pPr marL="158750">
              <a:spcBef>
                <a:spcPts val="235"/>
              </a:spcBef>
            </a:pPr>
            <a:r>
              <a:rPr sz="2000" i="1" dirty="0">
                <a:solidFill>
                  <a:srgbClr val="00AF50"/>
                </a:solidFill>
                <a:latin typeface="Calibri" panose="020F0502020204030204"/>
                <a:cs typeface="Calibri" panose="020F0502020204030204"/>
              </a:rPr>
              <a:t>he</a:t>
            </a:r>
            <a:endParaRPr sz="2000">
              <a:latin typeface="Calibri" panose="020F0502020204030204"/>
              <a:cs typeface="Calibri" panose="020F0502020204030204"/>
            </a:endParaRPr>
          </a:p>
        </p:txBody>
      </p:sp>
      <p:sp>
        <p:nvSpPr>
          <p:cNvPr id="6" name="object 6"/>
          <p:cNvSpPr txBox="1"/>
          <p:nvPr/>
        </p:nvSpPr>
        <p:spPr>
          <a:xfrm>
            <a:off x="2308859" y="4971289"/>
            <a:ext cx="571500" cy="337271"/>
          </a:xfrm>
          <a:prstGeom prst="rect">
            <a:avLst/>
          </a:prstGeom>
          <a:ln w="9143">
            <a:solidFill>
              <a:srgbClr val="000000"/>
            </a:solidFill>
          </a:ln>
        </p:spPr>
        <p:txBody>
          <a:bodyPr vert="horz" wrap="square" lIns="0" tIns="29209" rIns="0" bIns="0" rtlCol="0">
            <a:spAutoFit/>
          </a:bodyPr>
          <a:lstStyle/>
          <a:p>
            <a:pPr algn="ctr">
              <a:spcBef>
                <a:spcPts val="230"/>
              </a:spcBef>
            </a:pPr>
            <a:r>
              <a:rPr sz="2000" i="1" dirty="0">
                <a:solidFill>
                  <a:srgbClr val="00AF50"/>
                </a:solidFill>
                <a:latin typeface="Calibri" panose="020F0502020204030204"/>
                <a:cs typeface="Calibri" panose="020F0502020204030204"/>
              </a:rPr>
              <a:t>I</a:t>
            </a:r>
            <a:endParaRPr sz="2000">
              <a:latin typeface="Calibri" panose="020F0502020204030204"/>
              <a:cs typeface="Calibri" panose="020F0502020204030204"/>
            </a:endParaRPr>
          </a:p>
        </p:txBody>
      </p:sp>
      <p:sp>
        <p:nvSpPr>
          <p:cNvPr id="7" name="object 7"/>
          <p:cNvSpPr/>
          <p:nvPr/>
        </p:nvSpPr>
        <p:spPr>
          <a:xfrm>
            <a:off x="2103158" y="3543300"/>
            <a:ext cx="491490" cy="500380"/>
          </a:xfrm>
          <a:custGeom>
            <a:avLst/>
            <a:gdLst/>
            <a:ahLst/>
            <a:cxnLst/>
            <a:rect l="l" t="t" r="r" b="b"/>
            <a:pathLst>
              <a:path w="491490" h="500379">
                <a:moveTo>
                  <a:pt x="433491" y="49928"/>
                </a:moveTo>
                <a:lnTo>
                  <a:pt x="0" y="491236"/>
                </a:lnTo>
                <a:lnTo>
                  <a:pt x="9067" y="500125"/>
                </a:lnTo>
                <a:lnTo>
                  <a:pt x="442556" y="58822"/>
                </a:lnTo>
                <a:lnTo>
                  <a:pt x="433491" y="49928"/>
                </a:lnTo>
                <a:close/>
              </a:path>
              <a:path w="491490" h="500379">
                <a:moveTo>
                  <a:pt x="478171" y="40894"/>
                </a:moveTo>
                <a:lnTo>
                  <a:pt x="442366" y="40894"/>
                </a:lnTo>
                <a:lnTo>
                  <a:pt x="451434" y="49784"/>
                </a:lnTo>
                <a:lnTo>
                  <a:pt x="442556" y="58822"/>
                </a:lnTo>
                <a:lnTo>
                  <a:pt x="465188" y="81025"/>
                </a:lnTo>
                <a:lnTo>
                  <a:pt x="478171" y="40894"/>
                </a:lnTo>
                <a:close/>
              </a:path>
              <a:path w="491490" h="500379">
                <a:moveTo>
                  <a:pt x="442366" y="40894"/>
                </a:moveTo>
                <a:lnTo>
                  <a:pt x="433491" y="49928"/>
                </a:lnTo>
                <a:lnTo>
                  <a:pt x="442556" y="58822"/>
                </a:lnTo>
                <a:lnTo>
                  <a:pt x="451434" y="49784"/>
                </a:lnTo>
                <a:lnTo>
                  <a:pt x="442366" y="40894"/>
                </a:lnTo>
                <a:close/>
              </a:path>
              <a:path w="491490" h="500379">
                <a:moveTo>
                  <a:pt x="491401" y="0"/>
                </a:moveTo>
                <a:lnTo>
                  <a:pt x="410819" y="27686"/>
                </a:lnTo>
                <a:lnTo>
                  <a:pt x="433491" y="49928"/>
                </a:lnTo>
                <a:lnTo>
                  <a:pt x="442366" y="40894"/>
                </a:lnTo>
                <a:lnTo>
                  <a:pt x="478171" y="40894"/>
                </a:lnTo>
                <a:lnTo>
                  <a:pt x="491401" y="0"/>
                </a:lnTo>
                <a:close/>
              </a:path>
            </a:pathLst>
          </a:custGeom>
          <a:solidFill>
            <a:srgbClr val="000000"/>
          </a:solidFill>
        </p:spPr>
        <p:txBody>
          <a:bodyPr wrap="square" lIns="0" tIns="0" rIns="0" bIns="0" rtlCol="0"/>
          <a:lstStyle/>
          <a:p>
            <a:endParaRPr/>
          </a:p>
        </p:txBody>
      </p:sp>
      <p:sp>
        <p:nvSpPr>
          <p:cNvPr id="8" name="object 8"/>
          <p:cNvSpPr/>
          <p:nvPr/>
        </p:nvSpPr>
        <p:spPr>
          <a:xfrm>
            <a:off x="2103158" y="4470020"/>
            <a:ext cx="491490" cy="501015"/>
          </a:xfrm>
          <a:custGeom>
            <a:avLst/>
            <a:gdLst/>
            <a:ahLst/>
            <a:cxnLst/>
            <a:rect l="l" t="t" r="r" b="b"/>
            <a:pathLst>
              <a:path w="491490" h="501014">
                <a:moveTo>
                  <a:pt x="433458" y="450760"/>
                </a:moveTo>
                <a:lnTo>
                  <a:pt x="410832" y="472947"/>
                </a:lnTo>
                <a:lnTo>
                  <a:pt x="491401" y="500760"/>
                </a:lnTo>
                <a:lnTo>
                  <a:pt x="478211" y="459866"/>
                </a:lnTo>
                <a:lnTo>
                  <a:pt x="442391" y="459866"/>
                </a:lnTo>
                <a:lnTo>
                  <a:pt x="433458" y="450760"/>
                </a:lnTo>
                <a:close/>
              </a:path>
              <a:path w="491490" h="501014">
                <a:moveTo>
                  <a:pt x="442525" y="441869"/>
                </a:moveTo>
                <a:lnTo>
                  <a:pt x="433458" y="450760"/>
                </a:lnTo>
                <a:lnTo>
                  <a:pt x="442391" y="459866"/>
                </a:lnTo>
                <a:lnTo>
                  <a:pt x="451459" y="450976"/>
                </a:lnTo>
                <a:lnTo>
                  <a:pt x="442525" y="441869"/>
                </a:lnTo>
                <a:close/>
              </a:path>
              <a:path w="491490" h="501014">
                <a:moveTo>
                  <a:pt x="465226" y="419607"/>
                </a:moveTo>
                <a:lnTo>
                  <a:pt x="442525" y="441869"/>
                </a:lnTo>
                <a:lnTo>
                  <a:pt x="451459" y="450976"/>
                </a:lnTo>
                <a:lnTo>
                  <a:pt x="442391" y="459866"/>
                </a:lnTo>
                <a:lnTo>
                  <a:pt x="478211" y="459866"/>
                </a:lnTo>
                <a:lnTo>
                  <a:pt x="465226" y="419607"/>
                </a:lnTo>
                <a:close/>
              </a:path>
              <a:path w="491490" h="501014">
                <a:moveTo>
                  <a:pt x="9067" y="0"/>
                </a:moveTo>
                <a:lnTo>
                  <a:pt x="0" y="8889"/>
                </a:lnTo>
                <a:lnTo>
                  <a:pt x="433458" y="450760"/>
                </a:lnTo>
                <a:lnTo>
                  <a:pt x="442525" y="441869"/>
                </a:lnTo>
                <a:lnTo>
                  <a:pt x="9067" y="0"/>
                </a:lnTo>
                <a:close/>
              </a:path>
            </a:pathLst>
          </a:custGeom>
          <a:solidFill>
            <a:srgbClr val="000000"/>
          </a:solidFill>
        </p:spPr>
        <p:txBody>
          <a:bodyPr wrap="square" lIns="0" tIns="0" rIns="0" bIns="0" rtlCol="0"/>
          <a:lstStyle/>
          <a:p>
            <a:endParaRPr/>
          </a:p>
        </p:txBody>
      </p:sp>
      <p:sp>
        <p:nvSpPr>
          <p:cNvPr id="10" name="object 10"/>
          <p:cNvSpPr txBox="1"/>
          <p:nvPr/>
        </p:nvSpPr>
        <p:spPr>
          <a:xfrm>
            <a:off x="2359457" y="2785617"/>
            <a:ext cx="2609215" cy="299720"/>
          </a:xfrm>
          <a:prstGeom prst="rect">
            <a:avLst/>
          </a:prstGeom>
        </p:spPr>
        <p:txBody>
          <a:bodyPr vert="horz" wrap="square" lIns="0" tIns="12700" rIns="0" bIns="0" rtlCol="0">
            <a:spAutoFit/>
          </a:bodyPr>
          <a:lstStyle/>
          <a:p>
            <a:pPr marL="38100">
              <a:spcBef>
                <a:spcPts val="100"/>
              </a:spcBef>
            </a:pPr>
            <a:r>
              <a:rPr dirty="0">
                <a:solidFill>
                  <a:srgbClr val="4285F4"/>
                </a:solidFill>
                <a:latin typeface="Calibri" panose="020F0502020204030204"/>
                <a:cs typeface="Calibri" panose="020F0502020204030204"/>
              </a:rPr>
              <a:t>-0.7</a:t>
            </a:r>
            <a:r>
              <a:rPr spc="395" dirty="0">
                <a:solidFill>
                  <a:srgbClr val="4285F4"/>
                </a:solidFill>
                <a:latin typeface="Calibri" panose="020F0502020204030204"/>
                <a:cs typeface="Calibri" panose="020F0502020204030204"/>
              </a:rPr>
              <a:t> </a:t>
            </a:r>
            <a:r>
              <a:rPr sz="2700" baseline="2000" dirty="0">
                <a:solidFill>
                  <a:srgbClr val="4285F4"/>
                </a:solidFill>
                <a:latin typeface="Calibri" panose="020F0502020204030204"/>
                <a:cs typeface="Calibri" panose="020F0502020204030204"/>
              </a:rPr>
              <a:t>=</a:t>
            </a:r>
            <a:r>
              <a:rPr sz="2700" spc="-22" baseline="2000" dirty="0">
                <a:solidFill>
                  <a:srgbClr val="4285F4"/>
                </a:solidFill>
                <a:latin typeface="Calibri" panose="020F0502020204030204"/>
                <a:cs typeface="Calibri" panose="020F0502020204030204"/>
              </a:rPr>
              <a:t> </a:t>
            </a:r>
            <a:r>
              <a:rPr sz="2700" baseline="2000" dirty="0">
                <a:solidFill>
                  <a:srgbClr val="4285F4"/>
                </a:solidFill>
                <a:latin typeface="Calibri" panose="020F0502020204030204"/>
                <a:cs typeface="Calibri" panose="020F0502020204030204"/>
              </a:rPr>
              <a:t>log</a:t>
            </a:r>
            <a:r>
              <a:rPr sz="2700" spc="7" baseline="2000" dirty="0">
                <a:solidFill>
                  <a:srgbClr val="4285F4"/>
                </a:solidFill>
                <a:latin typeface="Calibri" panose="020F0502020204030204"/>
                <a:cs typeface="Calibri" panose="020F0502020204030204"/>
              </a:rPr>
              <a:t> </a:t>
            </a:r>
            <a:r>
              <a:rPr sz="2700" spc="-30" baseline="2000" dirty="0">
                <a:solidFill>
                  <a:srgbClr val="4285F4"/>
                </a:solidFill>
                <a:latin typeface="Calibri" panose="020F0502020204030204"/>
                <a:cs typeface="Calibri" panose="020F0502020204030204"/>
              </a:rPr>
              <a:t>P</a:t>
            </a:r>
            <a:r>
              <a:rPr spc="-30" baseline="-19000" dirty="0">
                <a:solidFill>
                  <a:srgbClr val="4285F4"/>
                </a:solidFill>
                <a:latin typeface="Calibri" panose="020F0502020204030204"/>
                <a:cs typeface="Calibri" panose="020F0502020204030204"/>
              </a:rPr>
              <a:t>LM</a:t>
            </a:r>
            <a:r>
              <a:rPr sz="2700" spc="-30" baseline="2000" dirty="0">
                <a:solidFill>
                  <a:srgbClr val="4285F4"/>
                </a:solidFill>
                <a:latin typeface="Calibri" panose="020F0502020204030204"/>
                <a:cs typeface="Calibri" panose="020F0502020204030204"/>
              </a:rPr>
              <a:t>(</a:t>
            </a:r>
            <a:r>
              <a:rPr sz="2700" i="1" spc="-30" baseline="2000" dirty="0">
                <a:solidFill>
                  <a:srgbClr val="4285F4"/>
                </a:solidFill>
                <a:latin typeface="Calibri" panose="020F0502020204030204"/>
                <a:cs typeface="Calibri" panose="020F0502020204030204"/>
              </a:rPr>
              <a:t>he</a:t>
            </a:r>
            <a:r>
              <a:rPr sz="2700" spc="-30" baseline="2000" dirty="0">
                <a:solidFill>
                  <a:srgbClr val="4285F4"/>
                </a:solidFill>
                <a:latin typeface="Calibri" panose="020F0502020204030204"/>
                <a:cs typeface="Calibri" panose="020F0502020204030204"/>
              </a:rPr>
              <a:t>|</a:t>
            </a:r>
            <a:r>
              <a:rPr sz="2700" i="1" spc="-30" baseline="2000" dirty="0">
                <a:solidFill>
                  <a:srgbClr val="4285F4"/>
                </a:solidFill>
                <a:latin typeface="Calibri" panose="020F0502020204030204"/>
                <a:cs typeface="Calibri" panose="020F0502020204030204"/>
              </a:rPr>
              <a:t>&lt;START&gt;</a:t>
            </a:r>
            <a:r>
              <a:rPr sz="2700" spc="-30" baseline="2000" dirty="0">
                <a:solidFill>
                  <a:srgbClr val="4285F4"/>
                </a:solidFill>
                <a:latin typeface="Calibri" panose="020F0502020204030204"/>
                <a:cs typeface="Calibri" panose="020F0502020204030204"/>
              </a:rPr>
              <a:t>)</a:t>
            </a:r>
            <a:endParaRPr sz="2700" baseline="2000">
              <a:latin typeface="Calibri" panose="020F0502020204030204"/>
              <a:cs typeface="Calibri" panose="020F0502020204030204"/>
            </a:endParaRPr>
          </a:p>
        </p:txBody>
      </p:sp>
      <p:sp>
        <p:nvSpPr>
          <p:cNvPr id="11" name="object 11"/>
          <p:cNvSpPr txBox="1"/>
          <p:nvPr/>
        </p:nvSpPr>
        <p:spPr>
          <a:xfrm>
            <a:off x="2359457" y="5425236"/>
            <a:ext cx="2408555" cy="299720"/>
          </a:xfrm>
          <a:prstGeom prst="rect">
            <a:avLst/>
          </a:prstGeom>
        </p:spPr>
        <p:txBody>
          <a:bodyPr vert="horz" wrap="square" lIns="0" tIns="12700" rIns="0" bIns="0" rtlCol="0">
            <a:spAutoFit/>
          </a:bodyPr>
          <a:lstStyle/>
          <a:p>
            <a:pPr marL="38100">
              <a:spcBef>
                <a:spcPts val="100"/>
              </a:spcBef>
            </a:pPr>
            <a:r>
              <a:rPr sz="2700" baseline="-3000" dirty="0">
                <a:solidFill>
                  <a:srgbClr val="4285F4"/>
                </a:solidFill>
                <a:latin typeface="Calibri" panose="020F0502020204030204"/>
                <a:cs typeface="Calibri" panose="020F0502020204030204"/>
              </a:rPr>
              <a:t>-0.9</a:t>
            </a:r>
            <a:r>
              <a:rPr sz="2700" spc="209" baseline="-3000" dirty="0">
                <a:solidFill>
                  <a:srgbClr val="4285F4"/>
                </a:solidFill>
                <a:latin typeface="Calibri" panose="020F0502020204030204"/>
                <a:cs typeface="Calibri" panose="020F0502020204030204"/>
              </a:rPr>
              <a:t> </a:t>
            </a:r>
            <a:r>
              <a:rPr dirty="0">
                <a:solidFill>
                  <a:srgbClr val="4285F4"/>
                </a:solidFill>
                <a:latin typeface="Calibri" panose="020F0502020204030204"/>
                <a:cs typeface="Calibri" panose="020F0502020204030204"/>
              </a:rPr>
              <a:t>=</a:t>
            </a:r>
            <a:r>
              <a:rPr spc="-15" dirty="0">
                <a:solidFill>
                  <a:srgbClr val="4285F4"/>
                </a:solidFill>
                <a:latin typeface="Calibri" panose="020F0502020204030204"/>
                <a:cs typeface="Calibri" panose="020F0502020204030204"/>
              </a:rPr>
              <a:t> </a:t>
            </a:r>
            <a:r>
              <a:rPr dirty="0">
                <a:solidFill>
                  <a:srgbClr val="4285F4"/>
                </a:solidFill>
                <a:latin typeface="Calibri" panose="020F0502020204030204"/>
                <a:cs typeface="Calibri" panose="020F0502020204030204"/>
              </a:rPr>
              <a:t>log</a:t>
            </a:r>
            <a:r>
              <a:rPr spc="5" dirty="0">
                <a:solidFill>
                  <a:srgbClr val="4285F4"/>
                </a:solidFill>
                <a:latin typeface="Calibri" panose="020F0502020204030204"/>
                <a:cs typeface="Calibri" panose="020F0502020204030204"/>
              </a:rPr>
              <a:t> </a:t>
            </a:r>
            <a:r>
              <a:rPr spc="-20" dirty="0">
                <a:solidFill>
                  <a:srgbClr val="4285F4"/>
                </a:solidFill>
                <a:latin typeface="Calibri" panose="020F0502020204030204"/>
                <a:cs typeface="Calibri" panose="020F0502020204030204"/>
              </a:rPr>
              <a:t>P</a:t>
            </a:r>
            <a:r>
              <a:rPr spc="-30" baseline="-21000" dirty="0">
                <a:solidFill>
                  <a:srgbClr val="4285F4"/>
                </a:solidFill>
                <a:latin typeface="Calibri" panose="020F0502020204030204"/>
                <a:cs typeface="Calibri" panose="020F0502020204030204"/>
              </a:rPr>
              <a:t>LM</a:t>
            </a:r>
            <a:r>
              <a:rPr spc="-20" dirty="0">
                <a:solidFill>
                  <a:srgbClr val="4285F4"/>
                </a:solidFill>
                <a:latin typeface="Calibri" panose="020F0502020204030204"/>
                <a:cs typeface="Calibri" panose="020F0502020204030204"/>
              </a:rPr>
              <a:t>(</a:t>
            </a:r>
            <a:r>
              <a:rPr i="1" spc="-20" dirty="0">
                <a:solidFill>
                  <a:srgbClr val="4285F4"/>
                </a:solidFill>
                <a:latin typeface="Calibri" panose="020F0502020204030204"/>
                <a:cs typeface="Calibri" panose="020F0502020204030204"/>
              </a:rPr>
              <a:t>I</a:t>
            </a:r>
            <a:r>
              <a:rPr spc="-20" dirty="0">
                <a:solidFill>
                  <a:srgbClr val="4285F4"/>
                </a:solidFill>
                <a:latin typeface="Calibri" panose="020F0502020204030204"/>
                <a:cs typeface="Calibri" panose="020F0502020204030204"/>
              </a:rPr>
              <a:t>|</a:t>
            </a:r>
            <a:r>
              <a:rPr i="1" spc="-20" dirty="0">
                <a:solidFill>
                  <a:srgbClr val="4285F4"/>
                </a:solidFill>
                <a:latin typeface="Calibri" panose="020F0502020204030204"/>
                <a:cs typeface="Calibri" panose="020F0502020204030204"/>
              </a:rPr>
              <a:t>&lt;START&gt;</a:t>
            </a:r>
            <a:r>
              <a:rPr spc="-20" dirty="0">
                <a:solidFill>
                  <a:srgbClr val="4285F4"/>
                </a:solidFill>
                <a:latin typeface="Calibri" panose="020F0502020204030204"/>
                <a:cs typeface="Calibri" panose="020F0502020204030204"/>
              </a:rPr>
              <a:t>)</a:t>
            </a:r>
            <a:endParaRPr>
              <a:latin typeface="Calibri" panose="020F0502020204030204"/>
              <a:cs typeface="Calibri" panose="020F0502020204030204"/>
            </a:endParaRPr>
          </a:p>
        </p:txBody>
      </p:sp>
      <p:sp>
        <p:nvSpPr>
          <p:cNvPr id="13" name="object 13"/>
          <p:cNvSpPr txBox="1"/>
          <p:nvPr/>
        </p:nvSpPr>
        <p:spPr>
          <a:xfrm>
            <a:off x="2499995" y="6017260"/>
            <a:ext cx="2468880" cy="584835"/>
          </a:xfrm>
          <a:prstGeom prst="rect">
            <a:avLst/>
          </a:prstGeom>
          <a:ln w="19812">
            <a:solidFill>
              <a:srgbClr val="BA56BD"/>
            </a:solidFill>
          </a:ln>
        </p:spPr>
        <p:txBody>
          <a:bodyPr vert="horz" wrap="square" lIns="0" tIns="31115" rIns="0" bIns="0" rtlCol="0">
            <a:spAutoFit/>
          </a:bodyPr>
          <a:lstStyle/>
          <a:p>
            <a:pPr marL="99695" marR="95250" indent="129540">
              <a:spcBef>
                <a:spcPts val="245"/>
              </a:spcBef>
            </a:pPr>
            <a:r>
              <a:rPr spc="-55" dirty="0">
                <a:solidFill>
                  <a:srgbClr val="BA56BD"/>
                </a:solidFill>
                <a:cs typeface="Calibri" panose="020F0502020204030204"/>
              </a:rPr>
              <a:t>Take</a:t>
            </a:r>
            <a:r>
              <a:rPr spc="-10" dirty="0">
                <a:solidFill>
                  <a:srgbClr val="BA56BD"/>
                </a:solidFill>
                <a:cs typeface="Calibri" panose="020F0502020204030204"/>
              </a:rPr>
              <a:t> top</a:t>
            </a:r>
            <a:r>
              <a:rPr spc="5" dirty="0">
                <a:solidFill>
                  <a:srgbClr val="BA56BD"/>
                </a:solidFill>
                <a:cs typeface="Calibri" panose="020F0502020204030204"/>
              </a:rPr>
              <a:t> </a:t>
            </a:r>
            <a:r>
              <a:rPr i="1" dirty="0">
                <a:solidFill>
                  <a:srgbClr val="BA56BD"/>
                </a:solidFill>
                <a:cs typeface="Calibri" panose="020F0502020204030204"/>
              </a:rPr>
              <a:t>k</a:t>
            </a:r>
            <a:r>
              <a:rPr i="1" spc="-15" dirty="0">
                <a:solidFill>
                  <a:srgbClr val="BA56BD"/>
                </a:solidFill>
                <a:cs typeface="Calibri" panose="020F0502020204030204"/>
              </a:rPr>
              <a:t> </a:t>
            </a:r>
            <a:r>
              <a:rPr spc="-15" dirty="0">
                <a:solidFill>
                  <a:srgbClr val="BA56BD"/>
                </a:solidFill>
                <a:cs typeface="Calibri" panose="020F0502020204030204"/>
              </a:rPr>
              <a:t>words </a:t>
            </a:r>
            <a:r>
              <a:rPr spc="-10" dirty="0">
                <a:solidFill>
                  <a:srgbClr val="BA56BD"/>
                </a:solidFill>
                <a:cs typeface="Calibri" panose="020F0502020204030204"/>
              </a:rPr>
              <a:t> </a:t>
            </a:r>
            <a:r>
              <a:rPr dirty="0">
                <a:solidFill>
                  <a:srgbClr val="BA56BD"/>
                </a:solidFill>
                <a:cs typeface="Calibri" panose="020F0502020204030204"/>
              </a:rPr>
              <a:t>and</a:t>
            </a:r>
            <a:r>
              <a:rPr spc="-30" dirty="0">
                <a:solidFill>
                  <a:srgbClr val="BA56BD"/>
                </a:solidFill>
                <a:cs typeface="Calibri" panose="020F0502020204030204"/>
              </a:rPr>
              <a:t> </a:t>
            </a:r>
            <a:r>
              <a:rPr spc="-10" dirty="0">
                <a:solidFill>
                  <a:srgbClr val="BA56BD"/>
                </a:solidFill>
                <a:cs typeface="Calibri" panose="020F0502020204030204"/>
              </a:rPr>
              <a:t>compute</a:t>
            </a:r>
            <a:r>
              <a:rPr spc="-25" dirty="0">
                <a:solidFill>
                  <a:srgbClr val="BA56BD"/>
                </a:solidFill>
                <a:cs typeface="Calibri" panose="020F0502020204030204"/>
              </a:rPr>
              <a:t> </a:t>
            </a:r>
            <a:r>
              <a:rPr spc="-10" dirty="0">
                <a:solidFill>
                  <a:srgbClr val="BA56BD"/>
                </a:solidFill>
                <a:cs typeface="Calibri" panose="020F0502020204030204"/>
              </a:rPr>
              <a:t>scores</a:t>
            </a:r>
            <a:endParaRPr>
              <a:cs typeface="Calibri" panose="020F0502020204030204"/>
            </a:endParaRPr>
          </a:p>
        </p:txBody>
      </p:sp>
      <p:grpSp>
        <p:nvGrpSpPr>
          <p:cNvPr id="15" name="Group 14"/>
          <p:cNvGrpSpPr/>
          <p:nvPr/>
        </p:nvGrpSpPr>
        <p:grpSpPr>
          <a:xfrm>
            <a:off x="1875934" y="646192"/>
            <a:ext cx="8356238" cy="736600"/>
            <a:chOff x="1875934" y="646192"/>
            <a:chExt cx="8356238" cy="736600"/>
          </a:xfrm>
        </p:grpSpPr>
        <p:sp>
          <p:nvSpPr>
            <p:cNvPr id="16" name="object 3"/>
            <p:cNvSpPr txBox="1"/>
            <p:nvPr/>
          </p:nvSpPr>
          <p:spPr>
            <a:xfrm>
              <a:off x="1875934" y="840487"/>
              <a:ext cx="3557126" cy="321242"/>
            </a:xfrm>
            <a:prstGeom prst="rect">
              <a:avLst/>
            </a:prstGeom>
          </p:spPr>
          <p:txBody>
            <a:bodyPr vert="horz" wrap="square" lIns="0" tIns="13335" rIns="0" bIns="0" rtlCol="0">
              <a:spAutoFit/>
            </a:bodyPr>
            <a:lstStyle/>
            <a:p>
              <a:pPr marL="12700">
                <a:spcBef>
                  <a:spcPts val="105"/>
                </a:spcBef>
              </a:pPr>
              <a:r>
                <a:rPr sz="2000" b="1" dirty="0">
                  <a:cs typeface="Calibri" panose="020F0502020204030204"/>
                </a:rPr>
                <a:t>Beam</a:t>
              </a:r>
              <a:r>
                <a:rPr sz="2000" b="1" spc="-10" dirty="0">
                  <a:cs typeface="Calibri" panose="020F0502020204030204"/>
                </a:rPr>
                <a:t> </a:t>
              </a:r>
              <a:r>
                <a:rPr sz="2000" b="1" spc="-5" dirty="0">
                  <a:cs typeface="Calibri" panose="020F0502020204030204"/>
                </a:rPr>
                <a:t>size</a:t>
              </a:r>
              <a:r>
                <a:rPr sz="2000" b="1" dirty="0">
                  <a:cs typeface="Calibri" panose="020F0502020204030204"/>
                </a:rPr>
                <a:t> =</a:t>
              </a:r>
              <a:r>
                <a:rPr sz="2000" b="1" spc="-15" dirty="0">
                  <a:cs typeface="Calibri" panose="020F0502020204030204"/>
                </a:rPr>
                <a:t> </a:t>
              </a:r>
              <a:r>
                <a:rPr sz="2000" b="1" dirty="0">
                  <a:cs typeface="Calibri" panose="020F0502020204030204"/>
                </a:rPr>
                <a:t>k</a:t>
              </a:r>
              <a:r>
                <a:rPr sz="2000" b="1" spc="-10" dirty="0">
                  <a:cs typeface="Calibri" panose="020F0502020204030204"/>
                </a:rPr>
                <a:t> </a:t>
              </a:r>
              <a:r>
                <a:rPr sz="2000" b="1" dirty="0">
                  <a:cs typeface="Calibri" panose="020F0502020204030204"/>
                </a:rPr>
                <a:t>=</a:t>
              </a:r>
              <a:r>
                <a:rPr sz="2000" b="1" spc="-5" dirty="0">
                  <a:cs typeface="Calibri" panose="020F0502020204030204"/>
                </a:rPr>
                <a:t> </a:t>
              </a:r>
              <a:r>
                <a:rPr sz="2000" b="1" dirty="0">
                  <a:cs typeface="Calibri" panose="020F0502020204030204"/>
                </a:rPr>
                <a:t>2</a:t>
              </a:r>
              <a:r>
                <a:rPr sz="2000" dirty="0">
                  <a:cs typeface="Calibri" panose="020F0502020204030204"/>
                </a:rPr>
                <a:t>.</a:t>
              </a:r>
              <a:r>
                <a:rPr sz="2000" spc="-25" dirty="0">
                  <a:cs typeface="Calibri" panose="020F0502020204030204"/>
                </a:rPr>
                <a:t> </a:t>
              </a:r>
              <a:r>
                <a:rPr sz="2000" dirty="0">
                  <a:solidFill>
                    <a:srgbClr val="4285F4"/>
                  </a:solidFill>
                  <a:cs typeface="Calibri" panose="020F0502020204030204"/>
                </a:rPr>
                <a:t>Blue</a:t>
              </a:r>
              <a:r>
                <a:rPr sz="2000" spc="-10" dirty="0">
                  <a:solidFill>
                    <a:srgbClr val="4285F4"/>
                  </a:solidFill>
                  <a:cs typeface="Calibri" panose="020F0502020204030204"/>
                </a:rPr>
                <a:t> </a:t>
              </a:r>
              <a:r>
                <a:rPr sz="2000" dirty="0">
                  <a:solidFill>
                    <a:srgbClr val="4285F4"/>
                  </a:solidFill>
                  <a:cs typeface="Calibri" panose="020F0502020204030204"/>
                </a:rPr>
                <a:t>numbers</a:t>
              </a:r>
              <a:r>
                <a:rPr sz="2000" spc="-5" dirty="0">
                  <a:solidFill>
                    <a:srgbClr val="4285F4"/>
                  </a:solidFill>
                  <a:cs typeface="Calibri" panose="020F0502020204030204"/>
                </a:rPr>
                <a:t> </a:t>
              </a:r>
              <a:r>
                <a:rPr sz="2000" dirty="0">
                  <a:solidFill>
                    <a:srgbClr val="4285F4"/>
                  </a:solidFill>
                  <a:cs typeface="Calibri" panose="020F0502020204030204"/>
                </a:rPr>
                <a:t>=</a:t>
              </a:r>
              <a:endParaRPr sz="2000" dirty="0">
                <a:cs typeface="Calibri" panose="020F0502020204030204"/>
              </a:endParaRPr>
            </a:p>
          </p:txBody>
        </p:sp>
        <p:pic>
          <p:nvPicPr>
            <p:cNvPr id="17" name="object 50"/>
            <p:cNvPicPr/>
            <p:nvPr/>
          </p:nvPicPr>
          <p:blipFill>
            <a:blip r:embed="rId2" cstate="print"/>
            <a:stretch>
              <a:fillRect/>
            </a:stretch>
          </p:blipFill>
          <p:spPr>
            <a:xfrm>
              <a:off x="5415822" y="646192"/>
              <a:ext cx="4816350" cy="736600"/>
            </a:xfrm>
            <a:prstGeom prst="rect">
              <a:avLst/>
            </a:prstGeom>
          </p:spPr>
        </p:pic>
      </p:gr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3273551" y="2842260"/>
            <a:ext cx="1117600" cy="337912"/>
          </a:xfrm>
          <a:prstGeom prst="rect">
            <a:avLst/>
          </a:prstGeom>
          <a:ln w="9144">
            <a:solidFill>
              <a:srgbClr val="000000"/>
            </a:solidFill>
          </a:ln>
        </p:spPr>
        <p:txBody>
          <a:bodyPr vert="horz" wrap="square" lIns="0" tIns="29844" rIns="0" bIns="0" rtlCol="0">
            <a:spAutoFit/>
          </a:bodyPr>
          <a:lstStyle/>
          <a:p>
            <a:pPr algn="ctr">
              <a:spcBef>
                <a:spcPts val="235"/>
              </a:spcBef>
            </a:pPr>
            <a:r>
              <a:rPr sz="2000" i="1" spc="-5" dirty="0">
                <a:latin typeface="Calibri" panose="020F0502020204030204"/>
                <a:cs typeface="Calibri" panose="020F0502020204030204"/>
              </a:rPr>
              <a:t>hit</a:t>
            </a:r>
            <a:endParaRPr sz="2000">
              <a:latin typeface="Calibri" panose="020F0502020204030204"/>
              <a:cs typeface="Calibri" panose="020F0502020204030204"/>
            </a:endParaRPr>
          </a:p>
        </p:txBody>
      </p:sp>
      <p:sp>
        <p:nvSpPr>
          <p:cNvPr id="5" name="object 5"/>
          <p:cNvSpPr txBox="1"/>
          <p:nvPr/>
        </p:nvSpPr>
        <p:spPr>
          <a:xfrm>
            <a:off x="3273551" y="3368040"/>
            <a:ext cx="1117600" cy="338554"/>
          </a:xfrm>
          <a:prstGeom prst="rect">
            <a:avLst/>
          </a:prstGeom>
          <a:ln w="9144">
            <a:solidFill>
              <a:srgbClr val="000000"/>
            </a:solidFill>
          </a:ln>
        </p:spPr>
        <p:txBody>
          <a:bodyPr vert="horz" wrap="square" lIns="0" tIns="30480" rIns="0" bIns="0" rtlCol="0">
            <a:spAutoFit/>
          </a:bodyPr>
          <a:lstStyle/>
          <a:p>
            <a:pPr marL="247015">
              <a:spcBef>
                <a:spcPts val="240"/>
              </a:spcBef>
            </a:pPr>
            <a:r>
              <a:rPr sz="2000" i="1" spc="-5" dirty="0">
                <a:latin typeface="Calibri" panose="020F0502020204030204"/>
                <a:cs typeface="Calibri" panose="020F0502020204030204"/>
              </a:rPr>
              <a:t>struck</a:t>
            </a:r>
            <a:endParaRPr sz="2000">
              <a:latin typeface="Calibri" panose="020F0502020204030204"/>
              <a:cs typeface="Calibri" panose="020F0502020204030204"/>
            </a:endParaRPr>
          </a:p>
        </p:txBody>
      </p:sp>
      <p:sp>
        <p:nvSpPr>
          <p:cNvPr id="6" name="object 6"/>
          <p:cNvSpPr txBox="1"/>
          <p:nvPr/>
        </p:nvSpPr>
        <p:spPr>
          <a:xfrm>
            <a:off x="3273551" y="4698491"/>
            <a:ext cx="1117600" cy="338554"/>
          </a:xfrm>
          <a:prstGeom prst="rect">
            <a:avLst/>
          </a:prstGeom>
          <a:ln w="9144">
            <a:solidFill>
              <a:srgbClr val="000000"/>
            </a:solidFill>
          </a:ln>
        </p:spPr>
        <p:txBody>
          <a:bodyPr vert="horz" wrap="square" lIns="0" tIns="30480" rIns="0" bIns="0" rtlCol="0">
            <a:spAutoFit/>
          </a:bodyPr>
          <a:lstStyle/>
          <a:p>
            <a:pPr marL="352425">
              <a:spcBef>
                <a:spcPts val="240"/>
              </a:spcBef>
            </a:pPr>
            <a:r>
              <a:rPr sz="2000" i="1" dirty="0">
                <a:latin typeface="Calibri" panose="020F0502020204030204"/>
                <a:cs typeface="Calibri" panose="020F0502020204030204"/>
              </a:rPr>
              <a:t>was</a:t>
            </a:r>
            <a:endParaRPr sz="2000">
              <a:latin typeface="Calibri" panose="020F0502020204030204"/>
              <a:cs typeface="Calibri" panose="020F0502020204030204"/>
            </a:endParaRPr>
          </a:p>
        </p:txBody>
      </p:sp>
      <p:sp>
        <p:nvSpPr>
          <p:cNvPr id="7" name="object 7"/>
          <p:cNvSpPr txBox="1"/>
          <p:nvPr/>
        </p:nvSpPr>
        <p:spPr>
          <a:xfrm>
            <a:off x="3273551" y="5224272"/>
            <a:ext cx="1117600" cy="339195"/>
          </a:xfrm>
          <a:prstGeom prst="rect">
            <a:avLst/>
          </a:prstGeom>
          <a:ln w="9144">
            <a:solidFill>
              <a:srgbClr val="000000"/>
            </a:solidFill>
          </a:ln>
        </p:spPr>
        <p:txBody>
          <a:bodyPr vert="horz" wrap="square" lIns="0" tIns="31115" rIns="0" bIns="0" rtlCol="0">
            <a:spAutoFit/>
          </a:bodyPr>
          <a:lstStyle/>
          <a:p>
            <a:pPr algn="ctr">
              <a:spcBef>
                <a:spcPts val="245"/>
              </a:spcBef>
            </a:pPr>
            <a:r>
              <a:rPr sz="2000" i="1" spc="-5" dirty="0">
                <a:latin typeface="Calibri" panose="020F0502020204030204"/>
                <a:cs typeface="Calibri" panose="020F0502020204030204"/>
              </a:rPr>
              <a:t>got</a:t>
            </a:r>
            <a:endParaRPr sz="2000">
              <a:latin typeface="Calibri" panose="020F0502020204030204"/>
              <a:cs typeface="Calibri" panose="020F0502020204030204"/>
            </a:endParaRPr>
          </a:p>
        </p:txBody>
      </p:sp>
      <p:sp>
        <p:nvSpPr>
          <p:cNvPr id="8" name="object 8"/>
          <p:cNvSpPr/>
          <p:nvPr/>
        </p:nvSpPr>
        <p:spPr>
          <a:xfrm>
            <a:off x="2876804" y="3060192"/>
            <a:ext cx="397510" cy="526415"/>
          </a:xfrm>
          <a:custGeom>
            <a:avLst/>
            <a:gdLst/>
            <a:ahLst/>
            <a:cxnLst/>
            <a:rect l="l" t="t" r="r" b="b"/>
            <a:pathLst>
              <a:path w="397510" h="526414">
                <a:moveTo>
                  <a:pt x="397383" y="0"/>
                </a:moveTo>
                <a:lnTo>
                  <a:pt x="312801" y="11049"/>
                </a:lnTo>
                <a:lnTo>
                  <a:pt x="330568" y="37338"/>
                </a:lnTo>
                <a:lnTo>
                  <a:pt x="0" y="260223"/>
                </a:lnTo>
                <a:lnTo>
                  <a:pt x="3441" y="265341"/>
                </a:lnTo>
                <a:lnTo>
                  <a:pt x="0" y="270510"/>
                </a:lnTo>
                <a:lnTo>
                  <a:pt x="330288" y="489445"/>
                </a:lnTo>
                <a:lnTo>
                  <a:pt x="312801" y="515874"/>
                </a:lnTo>
                <a:lnTo>
                  <a:pt x="397383" y="526161"/>
                </a:lnTo>
                <a:lnTo>
                  <a:pt x="380238" y="496443"/>
                </a:lnTo>
                <a:lnTo>
                  <a:pt x="354838" y="452374"/>
                </a:lnTo>
                <a:lnTo>
                  <a:pt x="337337" y="478815"/>
                </a:lnTo>
                <a:lnTo>
                  <a:pt x="15278" y="265264"/>
                </a:lnTo>
                <a:lnTo>
                  <a:pt x="337693" y="47879"/>
                </a:lnTo>
                <a:lnTo>
                  <a:pt x="355473" y="74168"/>
                </a:lnTo>
                <a:lnTo>
                  <a:pt x="380301" y="30226"/>
                </a:lnTo>
                <a:lnTo>
                  <a:pt x="397383" y="0"/>
                </a:lnTo>
                <a:close/>
              </a:path>
            </a:pathLst>
          </a:custGeom>
          <a:solidFill>
            <a:srgbClr val="000000"/>
          </a:solidFill>
        </p:spPr>
        <p:txBody>
          <a:bodyPr wrap="square" lIns="0" tIns="0" rIns="0" bIns="0" rtlCol="0"/>
          <a:lstStyle/>
          <a:p>
            <a:endParaRPr/>
          </a:p>
        </p:txBody>
      </p:sp>
      <p:sp>
        <p:nvSpPr>
          <p:cNvPr id="9" name="object 9"/>
          <p:cNvSpPr/>
          <p:nvPr/>
        </p:nvSpPr>
        <p:spPr>
          <a:xfrm>
            <a:off x="2876804" y="4916423"/>
            <a:ext cx="397510" cy="527050"/>
          </a:xfrm>
          <a:custGeom>
            <a:avLst/>
            <a:gdLst/>
            <a:ahLst/>
            <a:cxnLst/>
            <a:rect l="l" t="t" r="r" b="b"/>
            <a:pathLst>
              <a:path w="397510" h="527050">
                <a:moveTo>
                  <a:pt x="397383" y="0"/>
                </a:moveTo>
                <a:lnTo>
                  <a:pt x="312928" y="11938"/>
                </a:lnTo>
                <a:lnTo>
                  <a:pt x="331038" y="38100"/>
                </a:lnTo>
                <a:lnTo>
                  <a:pt x="0" y="267081"/>
                </a:lnTo>
                <a:lnTo>
                  <a:pt x="3721" y="272542"/>
                </a:lnTo>
                <a:lnTo>
                  <a:pt x="127" y="278142"/>
                </a:lnTo>
                <a:lnTo>
                  <a:pt x="329869" y="491121"/>
                </a:lnTo>
                <a:lnTo>
                  <a:pt x="312674" y="517779"/>
                </a:lnTo>
                <a:lnTo>
                  <a:pt x="397383" y="527050"/>
                </a:lnTo>
                <a:lnTo>
                  <a:pt x="380136" y="497967"/>
                </a:lnTo>
                <a:lnTo>
                  <a:pt x="353949" y="453771"/>
                </a:lnTo>
                <a:lnTo>
                  <a:pt x="336778" y="480402"/>
                </a:lnTo>
                <a:lnTo>
                  <a:pt x="14541" y="272351"/>
                </a:lnTo>
                <a:lnTo>
                  <a:pt x="338251" y="48526"/>
                </a:lnTo>
                <a:lnTo>
                  <a:pt x="356362" y="74676"/>
                </a:lnTo>
                <a:lnTo>
                  <a:pt x="380428" y="30861"/>
                </a:lnTo>
                <a:lnTo>
                  <a:pt x="397383" y="0"/>
                </a:lnTo>
                <a:close/>
              </a:path>
            </a:pathLst>
          </a:custGeom>
          <a:solidFill>
            <a:srgbClr val="000000"/>
          </a:solidFill>
        </p:spPr>
        <p:txBody>
          <a:bodyPr wrap="square" lIns="0" tIns="0" rIns="0" bIns="0" rtlCol="0"/>
          <a:lstStyle/>
          <a:p>
            <a:endParaRPr/>
          </a:p>
        </p:txBody>
      </p:sp>
      <p:sp>
        <p:nvSpPr>
          <p:cNvPr id="10" name="object 10"/>
          <p:cNvSpPr txBox="1"/>
          <p:nvPr/>
        </p:nvSpPr>
        <p:spPr>
          <a:xfrm>
            <a:off x="1524001" y="4038601"/>
            <a:ext cx="1167765" cy="337913"/>
          </a:xfrm>
          <a:prstGeom prst="rect">
            <a:avLst/>
          </a:prstGeom>
          <a:ln w="9143">
            <a:solidFill>
              <a:srgbClr val="000000"/>
            </a:solidFill>
          </a:ln>
        </p:spPr>
        <p:txBody>
          <a:bodyPr vert="horz" wrap="square" lIns="0" tIns="29845" rIns="0" bIns="0" rtlCol="0">
            <a:spAutoFit/>
          </a:bodyPr>
          <a:lstStyle/>
          <a:p>
            <a:pPr marL="131445">
              <a:spcBef>
                <a:spcPts val="235"/>
              </a:spcBef>
            </a:pPr>
            <a:r>
              <a:rPr sz="2000" i="1" spc="-5" dirty="0">
                <a:latin typeface="Calibri" panose="020F0502020204030204"/>
                <a:cs typeface="Calibri" panose="020F0502020204030204"/>
              </a:rPr>
              <a:t>&lt;START&gt;</a:t>
            </a:r>
            <a:endParaRPr sz="2000">
              <a:latin typeface="Calibri" panose="020F0502020204030204"/>
              <a:cs typeface="Calibri" panose="020F0502020204030204"/>
            </a:endParaRPr>
          </a:p>
        </p:txBody>
      </p:sp>
      <p:sp>
        <p:nvSpPr>
          <p:cNvPr id="11" name="object 11"/>
          <p:cNvSpPr txBox="1"/>
          <p:nvPr/>
        </p:nvSpPr>
        <p:spPr>
          <a:xfrm>
            <a:off x="2308859" y="3107436"/>
            <a:ext cx="571500" cy="337913"/>
          </a:xfrm>
          <a:prstGeom prst="rect">
            <a:avLst/>
          </a:prstGeom>
          <a:ln w="9143">
            <a:solidFill>
              <a:srgbClr val="000000"/>
            </a:solidFill>
          </a:ln>
        </p:spPr>
        <p:txBody>
          <a:bodyPr vert="horz" wrap="square" lIns="0" tIns="29845" rIns="0" bIns="0" rtlCol="0">
            <a:spAutoFit/>
          </a:bodyPr>
          <a:lstStyle/>
          <a:p>
            <a:pPr marL="158750">
              <a:spcBef>
                <a:spcPts val="235"/>
              </a:spcBef>
            </a:pPr>
            <a:r>
              <a:rPr sz="2000" i="1" dirty="0">
                <a:solidFill>
                  <a:srgbClr val="00AF50"/>
                </a:solidFill>
                <a:latin typeface="Calibri" panose="020F0502020204030204"/>
                <a:cs typeface="Calibri" panose="020F0502020204030204"/>
              </a:rPr>
              <a:t>he</a:t>
            </a:r>
            <a:endParaRPr sz="2000">
              <a:latin typeface="Calibri" panose="020F0502020204030204"/>
              <a:cs typeface="Calibri" panose="020F0502020204030204"/>
            </a:endParaRPr>
          </a:p>
        </p:txBody>
      </p:sp>
      <p:sp>
        <p:nvSpPr>
          <p:cNvPr id="12" name="object 12"/>
          <p:cNvSpPr txBox="1"/>
          <p:nvPr/>
        </p:nvSpPr>
        <p:spPr>
          <a:xfrm>
            <a:off x="2308859" y="4971289"/>
            <a:ext cx="571500" cy="337271"/>
          </a:xfrm>
          <a:prstGeom prst="rect">
            <a:avLst/>
          </a:prstGeom>
          <a:ln w="9143">
            <a:solidFill>
              <a:srgbClr val="000000"/>
            </a:solidFill>
          </a:ln>
        </p:spPr>
        <p:txBody>
          <a:bodyPr vert="horz" wrap="square" lIns="0" tIns="29209" rIns="0" bIns="0" rtlCol="0">
            <a:spAutoFit/>
          </a:bodyPr>
          <a:lstStyle/>
          <a:p>
            <a:pPr algn="ctr">
              <a:spcBef>
                <a:spcPts val="230"/>
              </a:spcBef>
            </a:pPr>
            <a:r>
              <a:rPr sz="2000" i="1" dirty="0">
                <a:solidFill>
                  <a:srgbClr val="00AF50"/>
                </a:solidFill>
                <a:latin typeface="Calibri" panose="020F0502020204030204"/>
                <a:cs typeface="Calibri" panose="020F0502020204030204"/>
              </a:rPr>
              <a:t>I</a:t>
            </a:r>
            <a:endParaRPr sz="2000">
              <a:latin typeface="Calibri" panose="020F0502020204030204"/>
              <a:cs typeface="Calibri" panose="020F0502020204030204"/>
            </a:endParaRPr>
          </a:p>
        </p:txBody>
      </p:sp>
      <p:sp>
        <p:nvSpPr>
          <p:cNvPr id="13" name="object 13"/>
          <p:cNvSpPr/>
          <p:nvPr/>
        </p:nvSpPr>
        <p:spPr>
          <a:xfrm>
            <a:off x="2103158" y="3543300"/>
            <a:ext cx="491490" cy="500380"/>
          </a:xfrm>
          <a:custGeom>
            <a:avLst/>
            <a:gdLst/>
            <a:ahLst/>
            <a:cxnLst/>
            <a:rect l="l" t="t" r="r" b="b"/>
            <a:pathLst>
              <a:path w="491490" h="500379">
                <a:moveTo>
                  <a:pt x="433491" y="49928"/>
                </a:moveTo>
                <a:lnTo>
                  <a:pt x="0" y="491236"/>
                </a:lnTo>
                <a:lnTo>
                  <a:pt x="9067" y="500125"/>
                </a:lnTo>
                <a:lnTo>
                  <a:pt x="442556" y="58822"/>
                </a:lnTo>
                <a:lnTo>
                  <a:pt x="433491" y="49928"/>
                </a:lnTo>
                <a:close/>
              </a:path>
              <a:path w="491490" h="500379">
                <a:moveTo>
                  <a:pt x="478171" y="40894"/>
                </a:moveTo>
                <a:lnTo>
                  <a:pt x="442366" y="40894"/>
                </a:lnTo>
                <a:lnTo>
                  <a:pt x="451434" y="49784"/>
                </a:lnTo>
                <a:lnTo>
                  <a:pt x="442556" y="58822"/>
                </a:lnTo>
                <a:lnTo>
                  <a:pt x="465188" y="81025"/>
                </a:lnTo>
                <a:lnTo>
                  <a:pt x="478171" y="40894"/>
                </a:lnTo>
                <a:close/>
              </a:path>
              <a:path w="491490" h="500379">
                <a:moveTo>
                  <a:pt x="442366" y="40894"/>
                </a:moveTo>
                <a:lnTo>
                  <a:pt x="433491" y="49928"/>
                </a:lnTo>
                <a:lnTo>
                  <a:pt x="442556" y="58822"/>
                </a:lnTo>
                <a:lnTo>
                  <a:pt x="451434" y="49784"/>
                </a:lnTo>
                <a:lnTo>
                  <a:pt x="442366" y="40894"/>
                </a:lnTo>
                <a:close/>
              </a:path>
              <a:path w="491490" h="500379">
                <a:moveTo>
                  <a:pt x="491401" y="0"/>
                </a:moveTo>
                <a:lnTo>
                  <a:pt x="410819" y="27686"/>
                </a:lnTo>
                <a:lnTo>
                  <a:pt x="433491" y="49928"/>
                </a:lnTo>
                <a:lnTo>
                  <a:pt x="442366" y="40894"/>
                </a:lnTo>
                <a:lnTo>
                  <a:pt x="478171" y="40894"/>
                </a:lnTo>
                <a:lnTo>
                  <a:pt x="491401" y="0"/>
                </a:lnTo>
                <a:close/>
              </a:path>
            </a:pathLst>
          </a:custGeom>
          <a:solidFill>
            <a:srgbClr val="000000"/>
          </a:solidFill>
        </p:spPr>
        <p:txBody>
          <a:bodyPr wrap="square" lIns="0" tIns="0" rIns="0" bIns="0" rtlCol="0"/>
          <a:lstStyle/>
          <a:p>
            <a:endParaRPr/>
          </a:p>
        </p:txBody>
      </p:sp>
      <p:sp>
        <p:nvSpPr>
          <p:cNvPr id="14" name="object 14"/>
          <p:cNvSpPr/>
          <p:nvPr/>
        </p:nvSpPr>
        <p:spPr>
          <a:xfrm>
            <a:off x="2103158" y="4470020"/>
            <a:ext cx="491490" cy="501015"/>
          </a:xfrm>
          <a:custGeom>
            <a:avLst/>
            <a:gdLst/>
            <a:ahLst/>
            <a:cxnLst/>
            <a:rect l="l" t="t" r="r" b="b"/>
            <a:pathLst>
              <a:path w="491490" h="501014">
                <a:moveTo>
                  <a:pt x="433458" y="450760"/>
                </a:moveTo>
                <a:lnTo>
                  <a:pt x="410832" y="472947"/>
                </a:lnTo>
                <a:lnTo>
                  <a:pt x="491401" y="500760"/>
                </a:lnTo>
                <a:lnTo>
                  <a:pt x="478211" y="459866"/>
                </a:lnTo>
                <a:lnTo>
                  <a:pt x="442391" y="459866"/>
                </a:lnTo>
                <a:lnTo>
                  <a:pt x="433458" y="450760"/>
                </a:lnTo>
                <a:close/>
              </a:path>
              <a:path w="491490" h="501014">
                <a:moveTo>
                  <a:pt x="442525" y="441869"/>
                </a:moveTo>
                <a:lnTo>
                  <a:pt x="433458" y="450760"/>
                </a:lnTo>
                <a:lnTo>
                  <a:pt x="442391" y="459866"/>
                </a:lnTo>
                <a:lnTo>
                  <a:pt x="451459" y="450976"/>
                </a:lnTo>
                <a:lnTo>
                  <a:pt x="442525" y="441869"/>
                </a:lnTo>
                <a:close/>
              </a:path>
              <a:path w="491490" h="501014">
                <a:moveTo>
                  <a:pt x="465226" y="419607"/>
                </a:moveTo>
                <a:lnTo>
                  <a:pt x="442525" y="441869"/>
                </a:lnTo>
                <a:lnTo>
                  <a:pt x="451459" y="450976"/>
                </a:lnTo>
                <a:lnTo>
                  <a:pt x="442391" y="459866"/>
                </a:lnTo>
                <a:lnTo>
                  <a:pt x="478211" y="459866"/>
                </a:lnTo>
                <a:lnTo>
                  <a:pt x="465226" y="419607"/>
                </a:lnTo>
                <a:close/>
              </a:path>
              <a:path w="491490" h="501014">
                <a:moveTo>
                  <a:pt x="9067" y="0"/>
                </a:moveTo>
                <a:lnTo>
                  <a:pt x="0" y="8889"/>
                </a:lnTo>
                <a:lnTo>
                  <a:pt x="433458" y="450760"/>
                </a:lnTo>
                <a:lnTo>
                  <a:pt x="442525" y="441869"/>
                </a:lnTo>
                <a:lnTo>
                  <a:pt x="9067" y="0"/>
                </a:lnTo>
                <a:close/>
              </a:path>
            </a:pathLst>
          </a:custGeom>
          <a:solidFill>
            <a:srgbClr val="000000"/>
          </a:solidFill>
        </p:spPr>
        <p:txBody>
          <a:bodyPr wrap="square" lIns="0" tIns="0" rIns="0" bIns="0" rtlCol="0"/>
          <a:lstStyle/>
          <a:p>
            <a:endParaRPr/>
          </a:p>
        </p:txBody>
      </p:sp>
      <p:sp>
        <p:nvSpPr>
          <p:cNvPr id="16" name="object 16"/>
          <p:cNvSpPr txBox="1"/>
          <p:nvPr/>
        </p:nvSpPr>
        <p:spPr>
          <a:xfrm>
            <a:off x="2384857" y="2785617"/>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-0.7</a:t>
            </a:r>
            <a:endParaRPr>
              <a:latin typeface="Calibri" panose="020F0502020204030204"/>
              <a:cs typeface="Calibri" panose="020F0502020204030204"/>
            </a:endParaRPr>
          </a:p>
        </p:txBody>
      </p:sp>
      <p:sp>
        <p:nvSpPr>
          <p:cNvPr id="17" name="object 17"/>
          <p:cNvSpPr txBox="1"/>
          <p:nvPr/>
        </p:nvSpPr>
        <p:spPr>
          <a:xfrm>
            <a:off x="2384857" y="5439562"/>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-0.9</a:t>
            </a:r>
            <a:endParaRPr>
              <a:latin typeface="Calibri" panose="020F0502020204030204"/>
              <a:cs typeface="Calibri" panose="020F0502020204030204"/>
            </a:endParaRPr>
          </a:p>
        </p:txBody>
      </p:sp>
      <p:sp>
        <p:nvSpPr>
          <p:cNvPr id="18" name="object 18"/>
          <p:cNvSpPr txBox="1"/>
          <p:nvPr/>
        </p:nvSpPr>
        <p:spPr>
          <a:xfrm>
            <a:off x="3601212" y="4346829"/>
            <a:ext cx="3388995" cy="299720"/>
          </a:xfrm>
          <a:prstGeom prst="rect">
            <a:avLst/>
          </a:prstGeom>
        </p:spPr>
        <p:txBody>
          <a:bodyPr vert="horz" wrap="square" lIns="0" tIns="12700" rIns="0" bIns="0" rtlCol="0">
            <a:spAutoFit/>
          </a:bodyPr>
          <a:lstStyle/>
          <a:p>
            <a:pPr marL="38100">
              <a:spcBef>
                <a:spcPts val="100"/>
              </a:spcBef>
            </a:pPr>
            <a:r>
              <a:rPr sz="2700" baseline="2000" dirty="0">
                <a:solidFill>
                  <a:srgbClr val="4285F4"/>
                </a:solidFill>
                <a:latin typeface="Calibri" panose="020F0502020204030204"/>
                <a:cs typeface="Calibri" panose="020F0502020204030204"/>
              </a:rPr>
              <a:t>-1.6</a:t>
            </a:r>
            <a:r>
              <a:rPr sz="2700" spc="-7" baseline="2000" dirty="0">
                <a:solidFill>
                  <a:srgbClr val="4285F4"/>
                </a:solidFill>
                <a:latin typeface="Calibri" panose="020F0502020204030204"/>
                <a:cs typeface="Calibri" panose="020F0502020204030204"/>
              </a:rPr>
              <a:t> </a:t>
            </a:r>
            <a:r>
              <a:rPr dirty="0">
                <a:solidFill>
                  <a:srgbClr val="4285F4"/>
                </a:solidFill>
                <a:latin typeface="Calibri" panose="020F0502020204030204"/>
                <a:cs typeface="Calibri" panose="020F0502020204030204"/>
              </a:rPr>
              <a:t>=</a:t>
            </a:r>
            <a:r>
              <a:rPr spc="-10" dirty="0">
                <a:solidFill>
                  <a:srgbClr val="4285F4"/>
                </a:solidFill>
                <a:latin typeface="Calibri" panose="020F0502020204030204"/>
                <a:cs typeface="Calibri" panose="020F0502020204030204"/>
              </a:rPr>
              <a:t> </a:t>
            </a:r>
            <a:r>
              <a:rPr dirty="0">
                <a:solidFill>
                  <a:srgbClr val="4285F4"/>
                </a:solidFill>
                <a:latin typeface="Calibri" panose="020F0502020204030204"/>
                <a:cs typeface="Calibri" panose="020F0502020204030204"/>
              </a:rPr>
              <a:t>log</a:t>
            </a:r>
            <a:r>
              <a:rPr spc="10" dirty="0">
                <a:solidFill>
                  <a:srgbClr val="4285F4"/>
                </a:solidFill>
                <a:latin typeface="Calibri" panose="020F0502020204030204"/>
                <a:cs typeface="Calibri" panose="020F0502020204030204"/>
              </a:rPr>
              <a:t> </a:t>
            </a:r>
            <a:r>
              <a:rPr spc="-20" dirty="0">
                <a:solidFill>
                  <a:srgbClr val="4285F4"/>
                </a:solidFill>
                <a:latin typeface="Calibri" panose="020F0502020204030204"/>
                <a:cs typeface="Calibri" panose="020F0502020204030204"/>
              </a:rPr>
              <a:t>P</a:t>
            </a:r>
            <a:r>
              <a:rPr spc="-30" baseline="-21000" dirty="0">
                <a:solidFill>
                  <a:srgbClr val="4285F4"/>
                </a:solidFill>
                <a:latin typeface="Calibri" panose="020F0502020204030204"/>
                <a:cs typeface="Calibri" panose="020F0502020204030204"/>
              </a:rPr>
              <a:t>LM</a:t>
            </a:r>
            <a:r>
              <a:rPr spc="-20" dirty="0">
                <a:solidFill>
                  <a:srgbClr val="4285F4"/>
                </a:solidFill>
                <a:latin typeface="Calibri" panose="020F0502020204030204"/>
                <a:cs typeface="Calibri" panose="020F0502020204030204"/>
              </a:rPr>
              <a:t>(</a:t>
            </a:r>
            <a:r>
              <a:rPr i="1" spc="-20" dirty="0">
                <a:solidFill>
                  <a:srgbClr val="4285F4"/>
                </a:solidFill>
                <a:latin typeface="Calibri" panose="020F0502020204030204"/>
                <a:cs typeface="Calibri" panose="020F0502020204030204"/>
              </a:rPr>
              <a:t>was</a:t>
            </a:r>
            <a:r>
              <a:rPr spc="-20" dirty="0">
                <a:solidFill>
                  <a:srgbClr val="4285F4"/>
                </a:solidFill>
                <a:latin typeface="Calibri" panose="020F0502020204030204"/>
                <a:cs typeface="Calibri" panose="020F0502020204030204"/>
              </a:rPr>
              <a:t>|</a:t>
            </a:r>
            <a:r>
              <a:rPr i="1" spc="-20" dirty="0">
                <a:solidFill>
                  <a:srgbClr val="4285F4"/>
                </a:solidFill>
                <a:latin typeface="Calibri" panose="020F0502020204030204"/>
                <a:cs typeface="Calibri" panose="020F0502020204030204"/>
              </a:rPr>
              <a:t>&lt;START&gt;</a:t>
            </a:r>
            <a:r>
              <a:rPr i="1" spc="-10" dirty="0">
                <a:solidFill>
                  <a:srgbClr val="4285F4"/>
                </a:solidFill>
                <a:latin typeface="Calibri" panose="020F0502020204030204"/>
                <a:cs typeface="Calibri" panose="020F0502020204030204"/>
              </a:rPr>
              <a:t> </a:t>
            </a:r>
            <a:r>
              <a:rPr i="1" dirty="0">
                <a:solidFill>
                  <a:srgbClr val="4285F4"/>
                </a:solidFill>
                <a:latin typeface="Calibri" panose="020F0502020204030204"/>
                <a:cs typeface="Calibri" panose="020F0502020204030204"/>
              </a:rPr>
              <a:t>I</a:t>
            </a:r>
            <a:r>
              <a:rPr dirty="0">
                <a:solidFill>
                  <a:srgbClr val="4285F4"/>
                </a:solidFill>
                <a:latin typeface="Calibri" panose="020F0502020204030204"/>
                <a:cs typeface="Calibri" panose="020F0502020204030204"/>
              </a:rPr>
              <a:t>)</a:t>
            </a:r>
            <a:r>
              <a:rPr spc="-5" dirty="0">
                <a:solidFill>
                  <a:srgbClr val="4285F4"/>
                </a:solidFill>
                <a:latin typeface="Calibri" panose="020F0502020204030204"/>
                <a:cs typeface="Calibri" panose="020F0502020204030204"/>
              </a:rPr>
              <a:t> </a:t>
            </a:r>
            <a:r>
              <a:rPr dirty="0">
                <a:solidFill>
                  <a:srgbClr val="4285F4"/>
                </a:solidFill>
                <a:latin typeface="Calibri" panose="020F0502020204030204"/>
                <a:cs typeface="Calibri" panose="020F0502020204030204"/>
              </a:rPr>
              <a:t>+</a:t>
            </a:r>
            <a:r>
              <a:rPr spc="10" dirty="0">
                <a:solidFill>
                  <a:srgbClr val="4285F4"/>
                </a:solidFill>
                <a:latin typeface="Calibri" panose="020F0502020204030204"/>
                <a:cs typeface="Calibri" panose="020F0502020204030204"/>
              </a:rPr>
              <a:t> </a:t>
            </a:r>
            <a:r>
              <a:rPr dirty="0">
                <a:solidFill>
                  <a:srgbClr val="4285F4"/>
                </a:solidFill>
                <a:latin typeface="Calibri" panose="020F0502020204030204"/>
                <a:cs typeface="Calibri" panose="020F0502020204030204"/>
              </a:rPr>
              <a:t>-0.9</a:t>
            </a:r>
            <a:endParaRPr>
              <a:latin typeface="Calibri" panose="020F0502020204030204"/>
              <a:cs typeface="Calibri" panose="020F0502020204030204"/>
            </a:endParaRPr>
          </a:p>
        </p:txBody>
      </p:sp>
      <p:sp>
        <p:nvSpPr>
          <p:cNvPr id="19" name="object 19"/>
          <p:cNvSpPr txBox="1"/>
          <p:nvPr/>
        </p:nvSpPr>
        <p:spPr>
          <a:xfrm>
            <a:off x="3601211" y="5669992"/>
            <a:ext cx="3341370" cy="300355"/>
          </a:xfrm>
          <a:prstGeom prst="rect">
            <a:avLst/>
          </a:prstGeom>
        </p:spPr>
        <p:txBody>
          <a:bodyPr vert="horz" wrap="square" lIns="0" tIns="12700" rIns="0" bIns="0" rtlCol="0">
            <a:spAutoFit/>
          </a:bodyPr>
          <a:lstStyle/>
          <a:p>
            <a:pPr marL="38100">
              <a:spcBef>
                <a:spcPts val="100"/>
              </a:spcBef>
            </a:pPr>
            <a:r>
              <a:rPr sz="2700" baseline="-3000" dirty="0">
                <a:solidFill>
                  <a:srgbClr val="4285F4"/>
                </a:solidFill>
                <a:latin typeface="Calibri" panose="020F0502020204030204"/>
                <a:cs typeface="Calibri" panose="020F0502020204030204"/>
              </a:rPr>
              <a:t>-1.8</a:t>
            </a:r>
            <a:r>
              <a:rPr sz="2700" spc="120" baseline="-3000" dirty="0">
                <a:solidFill>
                  <a:srgbClr val="4285F4"/>
                </a:solidFill>
                <a:latin typeface="Calibri" panose="020F0502020204030204"/>
                <a:cs typeface="Calibri" panose="020F0502020204030204"/>
              </a:rPr>
              <a:t> </a:t>
            </a:r>
            <a:r>
              <a:rPr dirty="0">
                <a:solidFill>
                  <a:srgbClr val="4285F4"/>
                </a:solidFill>
                <a:latin typeface="Calibri" panose="020F0502020204030204"/>
                <a:cs typeface="Calibri" panose="020F0502020204030204"/>
              </a:rPr>
              <a:t>=</a:t>
            </a:r>
            <a:r>
              <a:rPr spc="-10" dirty="0">
                <a:solidFill>
                  <a:srgbClr val="4285F4"/>
                </a:solidFill>
                <a:latin typeface="Calibri" panose="020F0502020204030204"/>
                <a:cs typeface="Calibri" panose="020F0502020204030204"/>
              </a:rPr>
              <a:t> </a:t>
            </a:r>
            <a:r>
              <a:rPr dirty="0">
                <a:solidFill>
                  <a:srgbClr val="4285F4"/>
                </a:solidFill>
                <a:latin typeface="Calibri" panose="020F0502020204030204"/>
                <a:cs typeface="Calibri" panose="020F0502020204030204"/>
              </a:rPr>
              <a:t>log</a:t>
            </a:r>
            <a:r>
              <a:rPr spc="10" dirty="0">
                <a:solidFill>
                  <a:srgbClr val="4285F4"/>
                </a:solidFill>
                <a:latin typeface="Calibri" panose="020F0502020204030204"/>
                <a:cs typeface="Calibri" panose="020F0502020204030204"/>
              </a:rPr>
              <a:t> </a:t>
            </a:r>
            <a:r>
              <a:rPr spc="-20" dirty="0">
                <a:solidFill>
                  <a:srgbClr val="4285F4"/>
                </a:solidFill>
                <a:latin typeface="Calibri" panose="020F0502020204030204"/>
                <a:cs typeface="Calibri" panose="020F0502020204030204"/>
              </a:rPr>
              <a:t>P</a:t>
            </a:r>
            <a:r>
              <a:rPr spc="-30" baseline="-21000" dirty="0">
                <a:solidFill>
                  <a:srgbClr val="4285F4"/>
                </a:solidFill>
                <a:latin typeface="Calibri" panose="020F0502020204030204"/>
                <a:cs typeface="Calibri" panose="020F0502020204030204"/>
              </a:rPr>
              <a:t>LM</a:t>
            </a:r>
            <a:r>
              <a:rPr spc="-20" dirty="0">
                <a:solidFill>
                  <a:srgbClr val="4285F4"/>
                </a:solidFill>
                <a:latin typeface="Calibri" panose="020F0502020204030204"/>
                <a:cs typeface="Calibri" panose="020F0502020204030204"/>
              </a:rPr>
              <a:t>(</a:t>
            </a:r>
            <a:r>
              <a:rPr i="1" spc="-20" dirty="0">
                <a:solidFill>
                  <a:srgbClr val="4285F4"/>
                </a:solidFill>
                <a:latin typeface="Calibri" panose="020F0502020204030204"/>
                <a:cs typeface="Calibri" panose="020F0502020204030204"/>
              </a:rPr>
              <a:t>got</a:t>
            </a:r>
            <a:r>
              <a:rPr spc="-20" dirty="0">
                <a:solidFill>
                  <a:srgbClr val="4285F4"/>
                </a:solidFill>
                <a:latin typeface="Calibri" panose="020F0502020204030204"/>
                <a:cs typeface="Calibri" panose="020F0502020204030204"/>
              </a:rPr>
              <a:t>|</a:t>
            </a:r>
            <a:r>
              <a:rPr i="1" spc="-20" dirty="0">
                <a:solidFill>
                  <a:srgbClr val="4285F4"/>
                </a:solidFill>
                <a:latin typeface="Calibri" panose="020F0502020204030204"/>
                <a:cs typeface="Calibri" panose="020F0502020204030204"/>
              </a:rPr>
              <a:t>&lt;START&gt;</a:t>
            </a:r>
            <a:r>
              <a:rPr i="1" spc="-10" dirty="0">
                <a:solidFill>
                  <a:srgbClr val="4285F4"/>
                </a:solidFill>
                <a:latin typeface="Calibri" panose="020F0502020204030204"/>
                <a:cs typeface="Calibri" panose="020F0502020204030204"/>
              </a:rPr>
              <a:t> </a:t>
            </a:r>
            <a:r>
              <a:rPr i="1" dirty="0">
                <a:solidFill>
                  <a:srgbClr val="4285F4"/>
                </a:solidFill>
                <a:latin typeface="Calibri" panose="020F0502020204030204"/>
                <a:cs typeface="Calibri" panose="020F0502020204030204"/>
              </a:rPr>
              <a:t>I</a:t>
            </a:r>
            <a:r>
              <a:rPr dirty="0">
                <a:solidFill>
                  <a:srgbClr val="4285F4"/>
                </a:solidFill>
                <a:latin typeface="Calibri" panose="020F0502020204030204"/>
                <a:cs typeface="Calibri" panose="020F0502020204030204"/>
              </a:rPr>
              <a:t>)</a:t>
            </a:r>
            <a:r>
              <a:rPr spc="-10" dirty="0">
                <a:solidFill>
                  <a:srgbClr val="4285F4"/>
                </a:solidFill>
                <a:latin typeface="Calibri" panose="020F0502020204030204"/>
                <a:cs typeface="Calibri" panose="020F0502020204030204"/>
              </a:rPr>
              <a:t> </a:t>
            </a:r>
            <a:r>
              <a:rPr dirty="0">
                <a:solidFill>
                  <a:srgbClr val="4285F4"/>
                </a:solidFill>
                <a:latin typeface="Calibri" panose="020F0502020204030204"/>
                <a:cs typeface="Calibri" panose="020F0502020204030204"/>
              </a:rPr>
              <a:t>+ -0.9</a:t>
            </a:r>
            <a:endParaRPr>
              <a:latin typeface="Calibri" panose="020F0502020204030204"/>
              <a:cs typeface="Calibri" panose="020F0502020204030204"/>
            </a:endParaRPr>
          </a:p>
        </p:txBody>
      </p:sp>
      <p:sp>
        <p:nvSpPr>
          <p:cNvPr id="20" name="object 20"/>
          <p:cNvSpPr txBox="1"/>
          <p:nvPr/>
        </p:nvSpPr>
        <p:spPr>
          <a:xfrm>
            <a:off x="3601211" y="2482977"/>
            <a:ext cx="3488690" cy="299720"/>
          </a:xfrm>
          <a:prstGeom prst="rect">
            <a:avLst/>
          </a:prstGeom>
        </p:spPr>
        <p:txBody>
          <a:bodyPr vert="horz" wrap="square" lIns="0" tIns="12700" rIns="0" bIns="0" rtlCol="0">
            <a:spAutoFit/>
          </a:bodyPr>
          <a:lstStyle/>
          <a:p>
            <a:pPr marL="38100">
              <a:spcBef>
                <a:spcPts val="100"/>
              </a:spcBef>
            </a:pPr>
            <a:r>
              <a:rPr dirty="0">
                <a:solidFill>
                  <a:srgbClr val="4285F4"/>
                </a:solidFill>
                <a:latin typeface="Calibri" panose="020F0502020204030204"/>
                <a:cs typeface="Calibri" panose="020F0502020204030204"/>
              </a:rPr>
              <a:t>-1.7</a:t>
            </a:r>
            <a:r>
              <a:rPr spc="415" dirty="0">
                <a:solidFill>
                  <a:srgbClr val="4285F4"/>
                </a:solidFill>
                <a:latin typeface="Calibri" panose="020F0502020204030204"/>
                <a:cs typeface="Calibri" panose="020F0502020204030204"/>
              </a:rPr>
              <a:t> </a:t>
            </a:r>
            <a:r>
              <a:rPr dirty="0">
                <a:solidFill>
                  <a:srgbClr val="4285F4"/>
                </a:solidFill>
                <a:latin typeface="Calibri" panose="020F0502020204030204"/>
                <a:cs typeface="Calibri" panose="020F0502020204030204"/>
              </a:rPr>
              <a:t>=</a:t>
            </a:r>
            <a:r>
              <a:rPr spc="-10" dirty="0">
                <a:solidFill>
                  <a:srgbClr val="4285F4"/>
                </a:solidFill>
                <a:latin typeface="Calibri" panose="020F0502020204030204"/>
                <a:cs typeface="Calibri" panose="020F0502020204030204"/>
              </a:rPr>
              <a:t> </a:t>
            </a:r>
            <a:r>
              <a:rPr dirty="0">
                <a:solidFill>
                  <a:srgbClr val="4285F4"/>
                </a:solidFill>
                <a:latin typeface="Calibri" panose="020F0502020204030204"/>
                <a:cs typeface="Calibri" panose="020F0502020204030204"/>
              </a:rPr>
              <a:t>log</a:t>
            </a:r>
            <a:r>
              <a:rPr spc="10" dirty="0">
                <a:solidFill>
                  <a:srgbClr val="4285F4"/>
                </a:solidFill>
                <a:latin typeface="Calibri" panose="020F0502020204030204"/>
                <a:cs typeface="Calibri" panose="020F0502020204030204"/>
              </a:rPr>
              <a:t> </a:t>
            </a:r>
            <a:r>
              <a:rPr spc="-20" dirty="0">
                <a:solidFill>
                  <a:srgbClr val="4285F4"/>
                </a:solidFill>
                <a:latin typeface="Calibri" panose="020F0502020204030204"/>
                <a:cs typeface="Calibri" panose="020F0502020204030204"/>
              </a:rPr>
              <a:t>P</a:t>
            </a:r>
            <a:r>
              <a:rPr spc="-30" baseline="-21000" dirty="0">
                <a:solidFill>
                  <a:srgbClr val="4285F4"/>
                </a:solidFill>
                <a:latin typeface="Calibri" panose="020F0502020204030204"/>
                <a:cs typeface="Calibri" panose="020F0502020204030204"/>
              </a:rPr>
              <a:t>LM</a:t>
            </a:r>
            <a:r>
              <a:rPr spc="-20" dirty="0">
                <a:solidFill>
                  <a:srgbClr val="4285F4"/>
                </a:solidFill>
                <a:latin typeface="Calibri" panose="020F0502020204030204"/>
                <a:cs typeface="Calibri" panose="020F0502020204030204"/>
              </a:rPr>
              <a:t>(</a:t>
            </a:r>
            <a:r>
              <a:rPr i="1" spc="-20" dirty="0">
                <a:solidFill>
                  <a:srgbClr val="4285F4"/>
                </a:solidFill>
                <a:latin typeface="Calibri" panose="020F0502020204030204"/>
                <a:cs typeface="Calibri" panose="020F0502020204030204"/>
              </a:rPr>
              <a:t>hit</a:t>
            </a:r>
            <a:r>
              <a:rPr spc="-20" dirty="0">
                <a:solidFill>
                  <a:srgbClr val="4285F4"/>
                </a:solidFill>
                <a:latin typeface="Calibri" panose="020F0502020204030204"/>
                <a:cs typeface="Calibri" panose="020F0502020204030204"/>
              </a:rPr>
              <a:t>|</a:t>
            </a:r>
            <a:r>
              <a:rPr i="1" spc="-20" dirty="0">
                <a:solidFill>
                  <a:srgbClr val="4285F4"/>
                </a:solidFill>
                <a:latin typeface="Calibri" panose="020F0502020204030204"/>
                <a:cs typeface="Calibri" panose="020F0502020204030204"/>
              </a:rPr>
              <a:t>&lt;START&gt;</a:t>
            </a:r>
            <a:r>
              <a:rPr i="1" spc="-10" dirty="0">
                <a:solidFill>
                  <a:srgbClr val="4285F4"/>
                </a:solidFill>
                <a:latin typeface="Calibri" panose="020F0502020204030204"/>
                <a:cs typeface="Calibri" panose="020F0502020204030204"/>
              </a:rPr>
              <a:t> </a:t>
            </a:r>
            <a:r>
              <a:rPr i="1" dirty="0">
                <a:solidFill>
                  <a:srgbClr val="4285F4"/>
                </a:solidFill>
                <a:latin typeface="Calibri" panose="020F0502020204030204"/>
                <a:cs typeface="Calibri" panose="020F0502020204030204"/>
              </a:rPr>
              <a:t>he</a:t>
            </a:r>
            <a:r>
              <a:rPr dirty="0">
                <a:solidFill>
                  <a:srgbClr val="4285F4"/>
                </a:solidFill>
                <a:latin typeface="Calibri" panose="020F0502020204030204"/>
                <a:cs typeface="Calibri" panose="020F0502020204030204"/>
              </a:rPr>
              <a:t>)</a:t>
            </a:r>
            <a:r>
              <a:rPr spc="-10" dirty="0">
                <a:solidFill>
                  <a:srgbClr val="4285F4"/>
                </a:solidFill>
                <a:latin typeface="Calibri" panose="020F0502020204030204"/>
                <a:cs typeface="Calibri" panose="020F0502020204030204"/>
              </a:rPr>
              <a:t> </a:t>
            </a:r>
            <a:r>
              <a:rPr dirty="0">
                <a:solidFill>
                  <a:srgbClr val="4285F4"/>
                </a:solidFill>
                <a:latin typeface="Calibri" panose="020F0502020204030204"/>
                <a:cs typeface="Calibri" panose="020F0502020204030204"/>
              </a:rPr>
              <a:t>+</a:t>
            </a:r>
            <a:r>
              <a:rPr spc="10" dirty="0">
                <a:solidFill>
                  <a:srgbClr val="4285F4"/>
                </a:solidFill>
                <a:latin typeface="Calibri" panose="020F0502020204030204"/>
                <a:cs typeface="Calibri" panose="020F0502020204030204"/>
              </a:rPr>
              <a:t> </a:t>
            </a:r>
            <a:r>
              <a:rPr dirty="0">
                <a:solidFill>
                  <a:srgbClr val="4285F4"/>
                </a:solidFill>
                <a:latin typeface="Calibri" panose="020F0502020204030204"/>
                <a:cs typeface="Calibri" panose="020F0502020204030204"/>
              </a:rPr>
              <a:t>-0.7</a:t>
            </a:r>
            <a:endParaRPr>
              <a:latin typeface="Calibri" panose="020F0502020204030204"/>
              <a:cs typeface="Calibri" panose="020F0502020204030204"/>
            </a:endParaRPr>
          </a:p>
        </p:txBody>
      </p:sp>
      <p:sp>
        <p:nvSpPr>
          <p:cNvPr id="21" name="object 21"/>
          <p:cNvSpPr txBox="1"/>
          <p:nvPr/>
        </p:nvSpPr>
        <p:spPr>
          <a:xfrm>
            <a:off x="3601211" y="3800602"/>
            <a:ext cx="3743960" cy="299720"/>
          </a:xfrm>
          <a:prstGeom prst="rect">
            <a:avLst/>
          </a:prstGeom>
        </p:spPr>
        <p:txBody>
          <a:bodyPr vert="horz" wrap="square" lIns="0" tIns="12700" rIns="0" bIns="0" rtlCol="0">
            <a:spAutoFit/>
          </a:bodyPr>
          <a:lstStyle/>
          <a:p>
            <a:pPr marL="38100">
              <a:spcBef>
                <a:spcPts val="100"/>
              </a:spcBef>
            </a:pPr>
            <a:r>
              <a:rPr dirty="0">
                <a:solidFill>
                  <a:srgbClr val="4285F4"/>
                </a:solidFill>
                <a:latin typeface="Calibri" panose="020F0502020204030204"/>
                <a:cs typeface="Calibri" panose="020F0502020204030204"/>
              </a:rPr>
              <a:t>-2.9 </a:t>
            </a:r>
            <a:r>
              <a:rPr sz="2700" baseline="2000" dirty="0">
                <a:solidFill>
                  <a:srgbClr val="4285F4"/>
                </a:solidFill>
                <a:latin typeface="Calibri" panose="020F0502020204030204"/>
                <a:cs typeface="Calibri" panose="020F0502020204030204"/>
              </a:rPr>
              <a:t>=</a:t>
            </a:r>
            <a:r>
              <a:rPr sz="2700" spc="-15" baseline="2000" dirty="0">
                <a:solidFill>
                  <a:srgbClr val="4285F4"/>
                </a:solidFill>
                <a:latin typeface="Calibri" panose="020F0502020204030204"/>
                <a:cs typeface="Calibri" panose="020F0502020204030204"/>
              </a:rPr>
              <a:t> </a:t>
            </a:r>
            <a:r>
              <a:rPr sz="2700" baseline="2000" dirty="0">
                <a:solidFill>
                  <a:srgbClr val="4285F4"/>
                </a:solidFill>
                <a:latin typeface="Calibri" panose="020F0502020204030204"/>
                <a:cs typeface="Calibri" panose="020F0502020204030204"/>
              </a:rPr>
              <a:t>log</a:t>
            </a:r>
            <a:r>
              <a:rPr sz="2700" spc="15" baseline="2000" dirty="0">
                <a:solidFill>
                  <a:srgbClr val="4285F4"/>
                </a:solidFill>
                <a:latin typeface="Calibri" panose="020F0502020204030204"/>
                <a:cs typeface="Calibri" panose="020F0502020204030204"/>
              </a:rPr>
              <a:t> </a:t>
            </a:r>
            <a:r>
              <a:rPr sz="2700" spc="-30" baseline="2000" dirty="0">
                <a:solidFill>
                  <a:srgbClr val="4285F4"/>
                </a:solidFill>
                <a:latin typeface="Calibri" panose="020F0502020204030204"/>
                <a:cs typeface="Calibri" panose="020F0502020204030204"/>
              </a:rPr>
              <a:t>P</a:t>
            </a:r>
            <a:r>
              <a:rPr spc="-30" baseline="-16000" dirty="0">
                <a:solidFill>
                  <a:srgbClr val="4285F4"/>
                </a:solidFill>
                <a:latin typeface="Calibri" panose="020F0502020204030204"/>
                <a:cs typeface="Calibri" panose="020F0502020204030204"/>
              </a:rPr>
              <a:t>LM</a:t>
            </a:r>
            <a:r>
              <a:rPr sz="2700" spc="-30" baseline="2000" dirty="0">
                <a:solidFill>
                  <a:srgbClr val="4285F4"/>
                </a:solidFill>
                <a:latin typeface="Calibri" panose="020F0502020204030204"/>
                <a:cs typeface="Calibri" panose="020F0502020204030204"/>
              </a:rPr>
              <a:t>(</a:t>
            </a:r>
            <a:r>
              <a:rPr sz="2700" i="1" spc="-30" baseline="2000" dirty="0">
                <a:solidFill>
                  <a:srgbClr val="4285F4"/>
                </a:solidFill>
                <a:latin typeface="Calibri" panose="020F0502020204030204"/>
                <a:cs typeface="Calibri" panose="020F0502020204030204"/>
              </a:rPr>
              <a:t>struck</a:t>
            </a:r>
            <a:r>
              <a:rPr sz="2700" spc="-30" baseline="2000" dirty="0">
                <a:solidFill>
                  <a:srgbClr val="4285F4"/>
                </a:solidFill>
                <a:latin typeface="Calibri" panose="020F0502020204030204"/>
                <a:cs typeface="Calibri" panose="020F0502020204030204"/>
              </a:rPr>
              <a:t>|</a:t>
            </a:r>
            <a:r>
              <a:rPr sz="2700" i="1" spc="-30" baseline="2000" dirty="0">
                <a:solidFill>
                  <a:srgbClr val="4285F4"/>
                </a:solidFill>
                <a:latin typeface="Calibri" panose="020F0502020204030204"/>
                <a:cs typeface="Calibri" panose="020F0502020204030204"/>
              </a:rPr>
              <a:t>&lt;START&gt;</a:t>
            </a:r>
            <a:r>
              <a:rPr sz="2700" i="1" spc="7" baseline="2000" dirty="0">
                <a:solidFill>
                  <a:srgbClr val="4285F4"/>
                </a:solidFill>
                <a:latin typeface="Calibri" panose="020F0502020204030204"/>
                <a:cs typeface="Calibri" panose="020F0502020204030204"/>
              </a:rPr>
              <a:t> </a:t>
            </a:r>
            <a:r>
              <a:rPr sz="2700" i="1" baseline="2000" dirty="0">
                <a:solidFill>
                  <a:srgbClr val="4285F4"/>
                </a:solidFill>
                <a:latin typeface="Calibri" panose="020F0502020204030204"/>
                <a:cs typeface="Calibri" panose="020F0502020204030204"/>
              </a:rPr>
              <a:t>he</a:t>
            </a:r>
            <a:r>
              <a:rPr sz="2700" baseline="2000" dirty="0">
                <a:solidFill>
                  <a:srgbClr val="4285F4"/>
                </a:solidFill>
                <a:latin typeface="Calibri" panose="020F0502020204030204"/>
                <a:cs typeface="Calibri" panose="020F0502020204030204"/>
              </a:rPr>
              <a:t>)</a:t>
            </a:r>
            <a:r>
              <a:rPr sz="2700" spc="-7" baseline="2000" dirty="0">
                <a:solidFill>
                  <a:srgbClr val="4285F4"/>
                </a:solidFill>
                <a:latin typeface="Calibri" panose="020F0502020204030204"/>
                <a:cs typeface="Calibri" panose="020F0502020204030204"/>
              </a:rPr>
              <a:t> </a:t>
            </a:r>
            <a:r>
              <a:rPr sz="2700" baseline="2000" dirty="0">
                <a:solidFill>
                  <a:srgbClr val="4285F4"/>
                </a:solidFill>
                <a:latin typeface="Calibri" panose="020F0502020204030204"/>
                <a:cs typeface="Calibri" panose="020F0502020204030204"/>
              </a:rPr>
              <a:t>+ -0.7</a:t>
            </a:r>
            <a:endParaRPr sz="2700" baseline="2000">
              <a:latin typeface="Calibri" panose="020F0502020204030204"/>
              <a:cs typeface="Calibri" panose="020F0502020204030204"/>
            </a:endParaRPr>
          </a:p>
        </p:txBody>
      </p:sp>
      <p:sp>
        <p:nvSpPr>
          <p:cNvPr id="23" name="object 23"/>
          <p:cNvSpPr txBox="1"/>
          <p:nvPr/>
        </p:nvSpPr>
        <p:spPr>
          <a:xfrm>
            <a:off x="2480310" y="6083300"/>
            <a:ext cx="4245610" cy="584835"/>
          </a:xfrm>
          <a:prstGeom prst="rect">
            <a:avLst/>
          </a:prstGeom>
          <a:ln w="19811">
            <a:solidFill>
              <a:srgbClr val="BA56BD"/>
            </a:solidFill>
          </a:ln>
        </p:spPr>
        <p:txBody>
          <a:bodyPr vert="horz" wrap="square" lIns="0" tIns="31115" rIns="0" bIns="0" rtlCol="0">
            <a:spAutoFit/>
          </a:bodyPr>
          <a:lstStyle/>
          <a:p>
            <a:pPr marR="46355" algn="ctr">
              <a:spcBef>
                <a:spcPts val="245"/>
              </a:spcBef>
            </a:pPr>
            <a:r>
              <a:rPr spc="-10" dirty="0">
                <a:solidFill>
                  <a:srgbClr val="BA56BD"/>
                </a:solidFill>
                <a:cs typeface="Calibri" panose="020F0502020204030204"/>
              </a:rPr>
              <a:t>For</a:t>
            </a:r>
            <a:r>
              <a:rPr spc="-20" dirty="0">
                <a:solidFill>
                  <a:srgbClr val="BA56BD"/>
                </a:solidFill>
                <a:cs typeface="Calibri" panose="020F0502020204030204"/>
              </a:rPr>
              <a:t> </a:t>
            </a:r>
            <a:r>
              <a:rPr dirty="0">
                <a:solidFill>
                  <a:srgbClr val="BA56BD"/>
                </a:solidFill>
                <a:cs typeface="Calibri" panose="020F0502020204030204"/>
              </a:rPr>
              <a:t>each</a:t>
            </a:r>
            <a:r>
              <a:rPr spc="5" dirty="0">
                <a:solidFill>
                  <a:srgbClr val="BA56BD"/>
                </a:solidFill>
                <a:cs typeface="Calibri" panose="020F0502020204030204"/>
              </a:rPr>
              <a:t> </a:t>
            </a:r>
            <a:r>
              <a:rPr spc="-5" dirty="0">
                <a:solidFill>
                  <a:srgbClr val="BA56BD"/>
                </a:solidFill>
                <a:cs typeface="Calibri" panose="020F0502020204030204"/>
              </a:rPr>
              <a:t>of</a:t>
            </a:r>
            <a:r>
              <a:rPr spc="5" dirty="0">
                <a:solidFill>
                  <a:srgbClr val="BA56BD"/>
                </a:solidFill>
                <a:cs typeface="Calibri" panose="020F0502020204030204"/>
              </a:rPr>
              <a:t> </a:t>
            </a:r>
            <a:r>
              <a:rPr dirty="0">
                <a:solidFill>
                  <a:srgbClr val="BA56BD"/>
                </a:solidFill>
                <a:cs typeface="Calibri" panose="020F0502020204030204"/>
              </a:rPr>
              <a:t>the </a:t>
            </a:r>
            <a:r>
              <a:rPr i="1" dirty="0">
                <a:solidFill>
                  <a:srgbClr val="BA56BD"/>
                </a:solidFill>
                <a:cs typeface="Calibri" panose="020F0502020204030204"/>
              </a:rPr>
              <a:t>k</a:t>
            </a:r>
            <a:r>
              <a:rPr i="1" spc="-10" dirty="0">
                <a:solidFill>
                  <a:srgbClr val="BA56BD"/>
                </a:solidFill>
                <a:cs typeface="Calibri" panose="020F0502020204030204"/>
              </a:rPr>
              <a:t> </a:t>
            </a:r>
            <a:r>
              <a:rPr spc="-5" dirty="0">
                <a:solidFill>
                  <a:srgbClr val="BA56BD"/>
                </a:solidFill>
                <a:cs typeface="Calibri" panose="020F0502020204030204"/>
              </a:rPr>
              <a:t>hypotheses,</a:t>
            </a:r>
            <a:r>
              <a:rPr spc="-15" dirty="0">
                <a:solidFill>
                  <a:srgbClr val="BA56BD"/>
                </a:solidFill>
                <a:cs typeface="Calibri" panose="020F0502020204030204"/>
              </a:rPr>
              <a:t> </a:t>
            </a:r>
            <a:r>
              <a:rPr spc="-5" dirty="0">
                <a:solidFill>
                  <a:srgbClr val="BA56BD"/>
                </a:solidFill>
                <a:cs typeface="Calibri" panose="020F0502020204030204"/>
              </a:rPr>
              <a:t>find</a:t>
            </a:r>
            <a:endParaRPr>
              <a:cs typeface="Calibri" panose="020F0502020204030204"/>
            </a:endParaRPr>
          </a:p>
          <a:p>
            <a:pPr algn="ctr">
              <a:lnSpc>
                <a:spcPct val="100000"/>
              </a:lnSpc>
            </a:pPr>
            <a:r>
              <a:rPr spc="-10" dirty="0">
                <a:solidFill>
                  <a:srgbClr val="BA56BD"/>
                </a:solidFill>
                <a:cs typeface="Calibri" panose="020F0502020204030204"/>
              </a:rPr>
              <a:t>top </a:t>
            </a:r>
            <a:r>
              <a:rPr i="1" dirty="0">
                <a:solidFill>
                  <a:srgbClr val="BA56BD"/>
                </a:solidFill>
                <a:cs typeface="Calibri" panose="020F0502020204030204"/>
              </a:rPr>
              <a:t>k</a:t>
            </a:r>
            <a:r>
              <a:rPr i="1" spc="-10" dirty="0">
                <a:solidFill>
                  <a:srgbClr val="BA56BD"/>
                </a:solidFill>
                <a:cs typeface="Calibri" panose="020F0502020204030204"/>
              </a:rPr>
              <a:t> </a:t>
            </a:r>
            <a:r>
              <a:rPr spc="-10" dirty="0">
                <a:solidFill>
                  <a:srgbClr val="BA56BD"/>
                </a:solidFill>
                <a:cs typeface="Calibri" panose="020F0502020204030204"/>
              </a:rPr>
              <a:t>next</a:t>
            </a:r>
            <a:r>
              <a:rPr dirty="0">
                <a:solidFill>
                  <a:srgbClr val="BA56BD"/>
                </a:solidFill>
                <a:cs typeface="Calibri" panose="020F0502020204030204"/>
              </a:rPr>
              <a:t> </a:t>
            </a:r>
            <a:r>
              <a:rPr spc="-15" dirty="0">
                <a:solidFill>
                  <a:srgbClr val="BA56BD"/>
                </a:solidFill>
                <a:cs typeface="Calibri" panose="020F0502020204030204"/>
              </a:rPr>
              <a:t>words</a:t>
            </a:r>
            <a:r>
              <a:rPr spc="-5" dirty="0">
                <a:solidFill>
                  <a:srgbClr val="BA56BD"/>
                </a:solidFill>
                <a:cs typeface="Calibri" panose="020F0502020204030204"/>
              </a:rPr>
              <a:t> </a:t>
            </a:r>
            <a:r>
              <a:rPr dirty="0">
                <a:solidFill>
                  <a:srgbClr val="BA56BD"/>
                </a:solidFill>
                <a:cs typeface="Calibri" panose="020F0502020204030204"/>
              </a:rPr>
              <a:t>and</a:t>
            </a:r>
            <a:r>
              <a:rPr spc="-10" dirty="0">
                <a:solidFill>
                  <a:srgbClr val="BA56BD"/>
                </a:solidFill>
                <a:cs typeface="Calibri" panose="020F0502020204030204"/>
              </a:rPr>
              <a:t> calculate</a:t>
            </a:r>
            <a:r>
              <a:rPr spc="15" dirty="0">
                <a:solidFill>
                  <a:srgbClr val="BA56BD"/>
                </a:solidFill>
                <a:cs typeface="Calibri" panose="020F0502020204030204"/>
              </a:rPr>
              <a:t> </a:t>
            </a:r>
            <a:r>
              <a:rPr spc="-10" dirty="0">
                <a:solidFill>
                  <a:srgbClr val="BA56BD"/>
                </a:solidFill>
                <a:cs typeface="Calibri" panose="020F0502020204030204"/>
              </a:rPr>
              <a:t>scores</a:t>
            </a:r>
            <a:endParaRPr>
              <a:cs typeface="Calibri" panose="020F0502020204030204"/>
            </a:endParaRPr>
          </a:p>
        </p:txBody>
      </p:sp>
      <p:grpSp>
        <p:nvGrpSpPr>
          <p:cNvPr id="28" name="Group 27"/>
          <p:cNvGrpSpPr/>
          <p:nvPr/>
        </p:nvGrpSpPr>
        <p:grpSpPr>
          <a:xfrm>
            <a:off x="1875934" y="646192"/>
            <a:ext cx="8356238" cy="736600"/>
            <a:chOff x="1875934" y="646192"/>
            <a:chExt cx="8356238" cy="736600"/>
          </a:xfrm>
        </p:grpSpPr>
        <p:sp>
          <p:nvSpPr>
            <p:cNvPr id="29" name="object 3"/>
            <p:cNvSpPr txBox="1"/>
            <p:nvPr/>
          </p:nvSpPr>
          <p:spPr>
            <a:xfrm>
              <a:off x="1875934" y="840487"/>
              <a:ext cx="3557126" cy="321242"/>
            </a:xfrm>
            <a:prstGeom prst="rect">
              <a:avLst/>
            </a:prstGeom>
          </p:spPr>
          <p:txBody>
            <a:bodyPr vert="horz" wrap="square" lIns="0" tIns="13335" rIns="0" bIns="0" rtlCol="0">
              <a:spAutoFit/>
            </a:bodyPr>
            <a:lstStyle/>
            <a:p>
              <a:pPr marL="12700">
                <a:spcBef>
                  <a:spcPts val="105"/>
                </a:spcBef>
              </a:pPr>
              <a:r>
                <a:rPr sz="2000" b="1" dirty="0">
                  <a:cs typeface="Calibri" panose="020F0502020204030204"/>
                </a:rPr>
                <a:t>Beam</a:t>
              </a:r>
              <a:r>
                <a:rPr sz="2000" b="1" spc="-10" dirty="0">
                  <a:cs typeface="Calibri" panose="020F0502020204030204"/>
                </a:rPr>
                <a:t> </a:t>
              </a:r>
              <a:r>
                <a:rPr sz="2000" b="1" spc="-5" dirty="0">
                  <a:cs typeface="Calibri" panose="020F0502020204030204"/>
                </a:rPr>
                <a:t>size</a:t>
              </a:r>
              <a:r>
                <a:rPr sz="2000" b="1" dirty="0">
                  <a:cs typeface="Calibri" panose="020F0502020204030204"/>
                </a:rPr>
                <a:t> =</a:t>
              </a:r>
              <a:r>
                <a:rPr sz="2000" b="1" spc="-15" dirty="0">
                  <a:cs typeface="Calibri" panose="020F0502020204030204"/>
                </a:rPr>
                <a:t> </a:t>
              </a:r>
              <a:r>
                <a:rPr sz="2000" b="1" dirty="0">
                  <a:cs typeface="Calibri" panose="020F0502020204030204"/>
                </a:rPr>
                <a:t>k</a:t>
              </a:r>
              <a:r>
                <a:rPr sz="2000" b="1" spc="-10" dirty="0">
                  <a:cs typeface="Calibri" panose="020F0502020204030204"/>
                </a:rPr>
                <a:t> </a:t>
              </a:r>
              <a:r>
                <a:rPr sz="2000" b="1" dirty="0">
                  <a:cs typeface="Calibri" panose="020F0502020204030204"/>
                </a:rPr>
                <a:t>=</a:t>
              </a:r>
              <a:r>
                <a:rPr sz="2000" b="1" spc="-5" dirty="0">
                  <a:cs typeface="Calibri" panose="020F0502020204030204"/>
                </a:rPr>
                <a:t> </a:t>
              </a:r>
              <a:r>
                <a:rPr sz="2000" b="1" dirty="0">
                  <a:cs typeface="Calibri" panose="020F0502020204030204"/>
                </a:rPr>
                <a:t>2</a:t>
              </a:r>
              <a:r>
                <a:rPr sz="2000" dirty="0">
                  <a:cs typeface="Calibri" panose="020F0502020204030204"/>
                </a:rPr>
                <a:t>.</a:t>
              </a:r>
              <a:r>
                <a:rPr sz="2000" spc="-25" dirty="0">
                  <a:cs typeface="Calibri" panose="020F0502020204030204"/>
                </a:rPr>
                <a:t> </a:t>
              </a:r>
              <a:r>
                <a:rPr sz="2000" dirty="0">
                  <a:solidFill>
                    <a:srgbClr val="4285F4"/>
                  </a:solidFill>
                  <a:cs typeface="Calibri" panose="020F0502020204030204"/>
                </a:rPr>
                <a:t>Blue</a:t>
              </a:r>
              <a:r>
                <a:rPr sz="2000" spc="-10" dirty="0">
                  <a:solidFill>
                    <a:srgbClr val="4285F4"/>
                  </a:solidFill>
                  <a:cs typeface="Calibri" panose="020F0502020204030204"/>
                </a:rPr>
                <a:t> </a:t>
              </a:r>
              <a:r>
                <a:rPr sz="2000" dirty="0">
                  <a:solidFill>
                    <a:srgbClr val="4285F4"/>
                  </a:solidFill>
                  <a:cs typeface="Calibri" panose="020F0502020204030204"/>
                </a:rPr>
                <a:t>numbers</a:t>
              </a:r>
              <a:r>
                <a:rPr sz="2000" spc="-5" dirty="0">
                  <a:solidFill>
                    <a:srgbClr val="4285F4"/>
                  </a:solidFill>
                  <a:cs typeface="Calibri" panose="020F0502020204030204"/>
                </a:rPr>
                <a:t> </a:t>
              </a:r>
              <a:r>
                <a:rPr sz="2000" dirty="0">
                  <a:solidFill>
                    <a:srgbClr val="4285F4"/>
                  </a:solidFill>
                  <a:cs typeface="Calibri" panose="020F0502020204030204"/>
                </a:rPr>
                <a:t>=</a:t>
              </a:r>
              <a:endParaRPr sz="2000" dirty="0">
                <a:cs typeface="Calibri" panose="020F0502020204030204"/>
              </a:endParaRPr>
            </a:p>
          </p:txBody>
        </p:sp>
        <p:pic>
          <p:nvPicPr>
            <p:cNvPr id="30" name="object 50"/>
            <p:cNvPicPr/>
            <p:nvPr/>
          </p:nvPicPr>
          <p:blipFill>
            <a:blip r:embed="rId2" cstate="print"/>
            <a:stretch>
              <a:fillRect/>
            </a:stretch>
          </p:blipFill>
          <p:spPr>
            <a:xfrm>
              <a:off x="5415822" y="646192"/>
              <a:ext cx="4816350" cy="736600"/>
            </a:xfrm>
            <a:prstGeom prst="rect">
              <a:avLst/>
            </a:prstGeom>
          </p:spPr>
        </p:pic>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3273551" y="2842260"/>
            <a:ext cx="1117600" cy="337912"/>
          </a:xfrm>
          <a:prstGeom prst="rect">
            <a:avLst/>
          </a:prstGeom>
          <a:ln w="9144">
            <a:solidFill>
              <a:srgbClr val="000000"/>
            </a:solidFill>
          </a:ln>
        </p:spPr>
        <p:txBody>
          <a:bodyPr vert="horz" wrap="square" lIns="0" tIns="29844" rIns="0" bIns="0" rtlCol="0">
            <a:spAutoFit/>
          </a:bodyPr>
          <a:lstStyle/>
          <a:p>
            <a:pPr algn="ctr">
              <a:spcBef>
                <a:spcPts val="235"/>
              </a:spcBef>
            </a:pPr>
            <a:r>
              <a:rPr sz="2000" i="1" spc="-5" dirty="0">
                <a:solidFill>
                  <a:srgbClr val="00AF50"/>
                </a:solidFill>
                <a:latin typeface="Calibri" panose="020F0502020204030204"/>
                <a:cs typeface="Calibri" panose="020F0502020204030204"/>
              </a:rPr>
              <a:t>hit</a:t>
            </a:r>
            <a:endParaRPr sz="2000">
              <a:latin typeface="Calibri" panose="020F0502020204030204"/>
              <a:cs typeface="Calibri" panose="020F0502020204030204"/>
            </a:endParaRPr>
          </a:p>
        </p:txBody>
      </p:sp>
      <p:sp>
        <p:nvSpPr>
          <p:cNvPr id="5" name="object 5"/>
          <p:cNvSpPr txBox="1"/>
          <p:nvPr/>
        </p:nvSpPr>
        <p:spPr>
          <a:xfrm>
            <a:off x="3273551" y="3368040"/>
            <a:ext cx="1117600" cy="338554"/>
          </a:xfrm>
          <a:prstGeom prst="rect">
            <a:avLst/>
          </a:prstGeom>
          <a:ln w="9144">
            <a:solidFill>
              <a:srgbClr val="000000"/>
            </a:solidFill>
          </a:ln>
        </p:spPr>
        <p:txBody>
          <a:bodyPr vert="horz" wrap="square" lIns="0" tIns="30480" rIns="0" bIns="0" rtlCol="0">
            <a:spAutoFit/>
          </a:bodyPr>
          <a:lstStyle/>
          <a:p>
            <a:pPr marL="247015">
              <a:spcBef>
                <a:spcPts val="240"/>
              </a:spcBef>
            </a:pPr>
            <a:r>
              <a:rPr sz="2000" i="1" spc="-5" dirty="0">
                <a:latin typeface="Calibri" panose="020F0502020204030204"/>
                <a:cs typeface="Calibri" panose="020F0502020204030204"/>
              </a:rPr>
              <a:t>struck</a:t>
            </a:r>
            <a:endParaRPr sz="2000">
              <a:latin typeface="Calibri" panose="020F0502020204030204"/>
              <a:cs typeface="Calibri" panose="020F0502020204030204"/>
            </a:endParaRPr>
          </a:p>
        </p:txBody>
      </p:sp>
      <p:sp>
        <p:nvSpPr>
          <p:cNvPr id="6" name="object 6"/>
          <p:cNvSpPr txBox="1"/>
          <p:nvPr/>
        </p:nvSpPr>
        <p:spPr>
          <a:xfrm>
            <a:off x="3273551" y="4698491"/>
            <a:ext cx="1117600" cy="338554"/>
          </a:xfrm>
          <a:prstGeom prst="rect">
            <a:avLst/>
          </a:prstGeom>
          <a:ln w="9144">
            <a:solidFill>
              <a:srgbClr val="000000"/>
            </a:solidFill>
          </a:ln>
        </p:spPr>
        <p:txBody>
          <a:bodyPr vert="horz" wrap="square" lIns="0" tIns="30480" rIns="0" bIns="0" rtlCol="0">
            <a:spAutoFit/>
          </a:bodyPr>
          <a:lstStyle/>
          <a:p>
            <a:pPr marL="352425">
              <a:spcBef>
                <a:spcPts val="240"/>
              </a:spcBef>
            </a:pPr>
            <a:r>
              <a:rPr sz="2000" i="1" dirty="0">
                <a:solidFill>
                  <a:srgbClr val="00AF50"/>
                </a:solidFill>
                <a:latin typeface="Calibri" panose="020F0502020204030204"/>
                <a:cs typeface="Calibri" panose="020F0502020204030204"/>
              </a:rPr>
              <a:t>was</a:t>
            </a:r>
            <a:endParaRPr sz="2000">
              <a:latin typeface="Calibri" panose="020F0502020204030204"/>
              <a:cs typeface="Calibri" panose="020F0502020204030204"/>
            </a:endParaRPr>
          </a:p>
        </p:txBody>
      </p:sp>
      <p:sp>
        <p:nvSpPr>
          <p:cNvPr id="7" name="object 7"/>
          <p:cNvSpPr txBox="1"/>
          <p:nvPr/>
        </p:nvSpPr>
        <p:spPr>
          <a:xfrm>
            <a:off x="3273551" y="5224272"/>
            <a:ext cx="1117600" cy="339195"/>
          </a:xfrm>
          <a:prstGeom prst="rect">
            <a:avLst/>
          </a:prstGeom>
          <a:ln w="9144">
            <a:solidFill>
              <a:srgbClr val="000000"/>
            </a:solidFill>
          </a:ln>
        </p:spPr>
        <p:txBody>
          <a:bodyPr vert="horz" wrap="square" lIns="0" tIns="31115" rIns="0" bIns="0" rtlCol="0">
            <a:spAutoFit/>
          </a:bodyPr>
          <a:lstStyle/>
          <a:p>
            <a:pPr algn="ctr">
              <a:spcBef>
                <a:spcPts val="245"/>
              </a:spcBef>
            </a:pPr>
            <a:r>
              <a:rPr sz="2000" i="1" spc="-5" dirty="0">
                <a:latin typeface="Calibri" panose="020F0502020204030204"/>
                <a:cs typeface="Calibri" panose="020F0502020204030204"/>
              </a:rPr>
              <a:t>got</a:t>
            </a:r>
            <a:endParaRPr sz="2000">
              <a:latin typeface="Calibri" panose="020F0502020204030204"/>
              <a:cs typeface="Calibri" panose="020F0502020204030204"/>
            </a:endParaRPr>
          </a:p>
        </p:txBody>
      </p:sp>
      <p:sp>
        <p:nvSpPr>
          <p:cNvPr id="8" name="object 8"/>
          <p:cNvSpPr/>
          <p:nvPr/>
        </p:nvSpPr>
        <p:spPr>
          <a:xfrm>
            <a:off x="2876804" y="3060192"/>
            <a:ext cx="397510" cy="526415"/>
          </a:xfrm>
          <a:custGeom>
            <a:avLst/>
            <a:gdLst/>
            <a:ahLst/>
            <a:cxnLst/>
            <a:rect l="l" t="t" r="r" b="b"/>
            <a:pathLst>
              <a:path w="397510" h="526414">
                <a:moveTo>
                  <a:pt x="397383" y="0"/>
                </a:moveTo>
                <a:lnTo>
                  <a:pt x="312801" y="11049"/>
                </a:lnTo>
                <a:lnTo>
                  <a:pt x="330568" y="37338"/>
                </a:lnTo>
                <a:lnTo>
                  <a:pt x="0" y="260223"/>
                </a:lnTo>
                <a:lnTo>
                  <a:pt x="3441" y="265341"/>
                </a:lnTo>
                <a:lnTo>
                  <a:pt x="0" y="270510"/>
                </a:lnTo>
                <a:lnTo>
                  <a:pt x="330288" y="489445"/>
                </a:lnTo>
                <a:lnTo>
                  <a:pt x="312801" y="515874"/>
                </a:lnTo>
                <a:lnTo>
                  <a:pt x="397383" y="526161"/>
                </a:lnTo>
                <a:lnTo>
                  <a:pt x="380238" y="496443"/>
                </a:lnTo>
                <a:lnTo>
                  <a:pt x="354838" y="452374"/>
                </a:lnTo>
                <a:lnTo>
                  <a:pt x="337337" y="478815"/>
                </a:lnTo>
                <a:lnTo>
                  <a:pt x="15278" y="265264"/>
                </a:lnTo>
                <a:lnTo>
                  <a:pt x="337693" y="47879"/>
                </a:lnTo>
                <a:lnTo>
                  <a:pt x="355473" y="74168"/>
                </a:lnTo>
                <a:lnTo>
                  <a:pt x="380301" y="30226"/>
                </a:lnTo>
                <a:lnTo>
                  <a:pt x="397383" y="0"/>
                </a:lnTo>
                <a:close/>
              </a:path>
            </a:pathLst>
          </a:custGeom>
          <a:solidFill>
            <a:srgbClr val="000000"/>
          </a:solidFill>
        </p:spPr>
        <p:txBody>
          <a:bodyPr wrap="square" lIns="0" tIns="0" rIns="0" bIns="0" rtlCol="0"/>
          <a:lstStyle/>
          <a:p>
            <a:endParaRPr/>
          </a:p>
        </p:txBody>
      </p:sp>
      <p:sp>
        <p:nvSpPr>
          <p:cNvPr id="9" name="object 9"/>
          <p:cNvSpPr/>
          <p:nvPr/>
        </p:nvSpPr>
        <p:spPr>
          <a:xfrm>
            <a:off x="2876804" y="4916423"/>
            <a:ext cx="397510" cy="527050"/>
          </a:xfrm>
          <a:custGeom>
            <a:avLst/>
            <a:gdLst/>
            <a:ahLst/>
            <a:cxnLst/>
            <a:rect l="l" t="t" r="r" b="b"/>
            <a:pathLst>
              <a:path w="397510" h="527050">
                <a:moveTo>
                  <a:pt x="397383" y="0"/>
                </a:moveTo>
                <a:lnTo>
                  <a:pt x="312928" y="11938"/>
                </a:lnTo>
                <a:lnTo>
                  <a:pt x="331038" y="38100"/>
                </a:lnTo>
                <a:lnTo>
                  <a:pt x="0" y="267081"/>
                </a:lnTo>
                <a:lnTo>
                  <a:pt x="3721" y="272542"/>
                </a:lnTo>
                <a:lnTo>
                  <a:pt x="127" y="278142"/>
                </a:lnTo>
                <a:lnTo>
                  <a:pt x="329869" y="491121"/>
                </a:lnTo>
                <a:lnTo>
                  <a:pt x="312674" y="517779"/>
                </a:lnTo>
                <a:lnTo>
                  <a:pt x="397383" y="527050"/>
                </a:lnTo>
                <a:lnTo>
                  <a:pt x="380136" y="497967"/>
                </a:lnTo>
                <a:lnTo>
                  <a:pt x="353949" y="453771"/>
                </a:lnTo>
                <a:lnTo>
                  <a:pt x="336778" y="480402"/>
                </a:lnTo>
                <a:lnTo>
                  <a:pt x="14541" y="272351"/>
                </a:lnTo>
                <a:lnTo>
                  <a:pt x="338251" y="48526"/>
                </a:lnTo>
                <a:lnTo>
                  <a:pt x="356362" y="74676"/>
                </a:lnTo>
                <a:lnTo>
                  <a:pt x="380428" y="30861"/>
                </a:lnTo>
                <a:lnTo>
                  <a:pt x="397383" y="0"/>
                </a:lnTo>
                <a:close/>
              </a:path>
            </a:pathLst>
          </a:custGeom>
          <a:solidFill>
            <a:srgbClr val="000000"/>
          </a:solidFill>
        </p:spPr>
        <p:txBody>
          <a:bodyPr wrap="square" lIns="0" tIns="0" rIns="0" bIns="0" rtlCol="0"/>
          <a:lstStyle/>
          <a:p>
            <a:endParaRPr/>
          </a:p>
        </p:txBody>
      </p:sp>
      <p:sp>
        <p:nvSpPr>
          <p:cNvPr id="10" name="object 10"/>
          <p:cNvSpPr txBox="1"/>
          <p:nvPr/>
        </p:nvSpPr>
        <p:spPr>
          <a:xfrm>
            <a:off x="1524001" y="4038601"/>
            <a:ext cx="1167765" cy="337913"/>
          </a:xfrm>
          <a:prstGeom prst="rect">
            <a:avLst/>
          </a:prstGeom>
          <a:ln w="9143">
            <a:solidFill>
              <a:srgbClr val="000000"/>
            </a:solidFill>
          </a:ln>
        </p:spPr>
        <p:txBody>
          <a:bodyPr vert="horz" wrap="square" lIns="0" tIns="29845" rIns="0" bIns="0" rtlCol="0">
            <a:spAutoFit/>
          </a:bodyPr>
          <a:lstStyle/>
          <a:p>
            <a:pPr marL="131445">
              <a:spcBef>
                <a:spcPts val="235"/>
              </a:spcBef>
            </a:pPr>
            <a:r>
              <a:rPr sz="2000" i="1" spc="-5" dirty="0">
                <a:latin typeface="Calibri" panose="020F0502020204030204"/>
                <a:cs typeface="Calibri" panose="020F0502020204030204"/>
              </a:rPr>
              <a:t>&lt;START&gt;</a:t>
            </a:r>
            <a:endParaRPr sz="2000">
              <a:latin typeface="Calibri" panose="020F0502020204030204"/>
              <a:cs typeface="Calibri" panose="020F0502020204030204"/>
            </a:endParaRPr>
          </a:p>
        </p:txBody>
      </p:sp>
      <p:sp>
        <p:nvSpPr>
          <p:cNvPr id="11" name="object 11"/>
          <p:cNvSpPr txBox="1"/>
          <p:nvPr/>
        </p:nvSpPr>
        <p:spPr>
          <a:xfrm>
            <a:off x="2308859" y="3107436"/>
            <a:ext cx="571500" cy="337913"/>
          </a:xfrm>
          <a:prstGeom prst="rect">
            <a:avLst/>
          </a:prstGeom>
          <a:ln w="9143">
            <a:solidFill>
              <a:srgbClr val="000000"/>
            </a:solidFill>
          </a:ln>
        </p:spPr>
        <p:txBody>
          <a:bodyPr vert="horz" wrap="square" lIns="0" tIns="29845" rIns="0" bIns="0" rtlCol="0">
            <a:spAutoFit/>
          </a:bodyPr>
          <a:lstStyle/>
          <a:p>
            <a:pPr marL="158750">
              <a:spcBef>
                <a:spcPts val="235"/>
              </a:spcBef>
            </a:pPr>
            <a:r>
              <a:rPr sz="2000" i="1" dirty="0">
                <a:latin typeface="Calibri" panose="020F0502020204030204"/>
                <a:cs typeface="Calibri" panose="020F0502020204030204"/>
              </a:rPr>
              <a:t>he</a:t>
            </a:r>
            <a:endParaRPr sz="2000">
              <a:latin typeface="Calibri" panose="020F0502020204030204"/>
              <a:cs typeface="Calibri" panose="020F0502020204030204"/>
            </a:endParaRPr>
          </a:p>
        </p:txBody>
      </p:sp>
      <p:sp>
        <p:nvSpPr>
          <p:cNvPr id="12" name="object 12"/>
          <p:cNvSpPr txBox="1"/>
          <p:nvPr/>
        </p:nvSpPr>
        <p:spPr>
          <a:xfrm>
            <a:off x="2308859" y="4971289"/>
            <a:ext cx="571500" cy="337271"/>
          </a:xfrm>
          <a:prstGeom prst="rect">
            <a:avLst/>
          </a:prstGeom>
          <a:ln w="9143">
            <a:solidFill>
              <a:srgbClr val="000000"/>
            </a:solidFill>
          </a:ln>
        </p:spPr>
        <p:txBody>
          <a:bodyPr vert="horz" wrap="square" lIns="0" tIns="29209" rIns="0" bIns="0" rtlCol="0">
            <a:spAutoFit/>
          </a:bodyPr>
          <a:lstStyle/>
          <a:p>
            <a:pPr algn="ctr">
              <a:spcBef>
                <a:spcPts val="230"/>
              </a:spcBef>
            </a:pPr>
            <a:r>
              <a:rPr sz="2000" i="1" dirty="0">
                <a:latin typeface="Calibri" panose="020F0502020204030204"/>
                <a:cs typeface="Calibri" panose="020F0502020204030204"/>
              </a:rPr>
              <a:t>I</a:t>
            </a:r>
            <a:endParaRPr sz="2000">
              <a:latin typeface="Calibri" panose="020F0502020204030204"/>
              <a:cs typeface="Calibri" panose="020F0502020204030204"/>
            </a:endParaRPr>
          </a:p>
        </p:txBody>
      </p:sp>
      <p:sp>
        <p:nvSpPr>
          <p:cNvPr id="13" name="object 13"/>
          <p:cNvSpPr/>
          <p:nvPr/>
        </p:nvSpPr>
        <p:spPr>
          <a:xfrm>
            <a:off x="2103158" y="3543300"/>
            <a:ext cx="491490" cy="500380"/>
          </a:xfrm>
          <a:custGeom>
            <a:avLst/>
            <a:gdLst/>
            <a:ahLst/>
            <a:cxnLst/>
            <a:rect l="l" t="t" r="r" b="b"/>
            <a:pathLst>
              <a:path w="491490" h="500379">
                <a:moveTo>
                  <a:pt x="433491" y="49928"/>
                </a:moveTo>
                <a:lnTo>
                  <a:pt x="0" y="491236"/>
                </a:lnTo>
                <a:lnTo>
                  <a:pt x="9067" y="500125"/>
                </a:lnTo>
                <a:lnTo>
                  <a:pt x="442556" y="58822"/>
                </a:lnTo>
                <a:lnTo>
                  <a:pt x="433491" y="49928"/>
                </a:lnTo>
                <a:close/>
              </a:path>
              <a:path w="491490" h="500379">
                <a:moveTo>
                  <a:pt x="478171" y="40894"/>
                </a:moveTo>
                <a:lnTo>
                  <a:pt x="442366" y="40894"/>
                </a:lnTo>
                <a:lnTo>
                  <a:pt x="451434" y="49784"/>
                </a:lnTo>
                <a:lnTo>
                  <a:pt x="442556" y="58822"/>
                </a:lnTo>
                <a:lnTo>
                  <a:pt x="465188" y="81025"/>
                </a:lnTo>
                <a:lnTo>
                  <a:pt x="478171" y="40894"/>
                </a:lnTo>
                <a:close/>
              </a:path>
              <a:path w="491490" h="500379">
                <a:moveTo>
                  <a:pt x="442366" y="40894"/>
                </a:moveTo>
                <a:lnTo>
                  <a:pt x="433491" y="49928"/>
                </a:lnTo>
                <a:lnTo>
                  <a:pt x="442556" y="58822"/>
                </a:lnTo>
                <a:lnTo>
                  <a:pt x="451434" y="49784"/>
                </a:lnTo>
                <a:lnTo>
                  <a:pt x="442366" y="40894"/>
                </a:lnTo>
                <a:close/>
              </a:path>
              <a:path w="491490" h="500379">
                <a:moveTo>
                  <a:pt x="491401" y="0"/>
                </a:moveTo>
                <a:lnTo>
                  <a:pt x="410819" y="27686"/>
                </a:lnTo>
                <a:lnTo>
                  <a:pt x="433491" y="49928"/>
                </a:lnTo>
                <a:lnTo>
                  <a:pt x="442366" y="40894"/>
                </a:lnTo>
                <a:lnTo>
                  <a:pt x="478171" y="40894"/>
                </a:lnTo>
                <a:lnTo>
                  <a:pt x="491401" y="0"/>
                </a:lnTo>
                <a:close/>
              </a:path>
            </a:pathLst>
          </a:custGeom>
          <a:solidFill>
            <a:srgbClr val="000000"/>
          </a:solidFill>
        </p:spPr>
        <p:txBody>
          <a:bodyPr wrap="square" lIns="0" tIns="0" rIns="0" bIns="0" rtlCol="0"/>
          <a:lstStyle/>
          <a:p>
            <a:endParaRPr/>
          </a:p>
        </p:txBody>
      </p:sp>
      <p:sp>
        <p:nvSpPr>
          <p:cNvPr id="14" name="object 14"/>
          <p:cNvSpPr/>
          <p:nvPr/>
        </p:nvSpPr>
        <p:spPr>
          <a:xfrm>
            <a:off x="2103158" y="4470020"/>
            <a:ext cx="491490" cy="501015"/>
          </a:xfrm>
          <a:custGeom>
            <a:avLst/>
            <a:gdLst/>
            <a:ahLst/>
            <a:cxnLst/>
            <a:rect l="l" t="t" r="r" b="b"/>
            <a:pathLst>
              <a:path w="491490" h="501014">
                <a:moveTo>
                  <a:pt x="433458" y="450760"/>
                </a:moveTo>
                <a:lnTo>
                  <a:pt x="410832" y="472947"/>
                </a:lnTo>
                <a:lnTo>
                  <a:pt x="491401" y="500760"/>
                </a:lnTo>
                <a:lnTo>
                  <a:pt x="478211" y="459866"/>
                </a:lnTo>
                <a:lnTo>
                  <a:pt x="442391" y="459866"/>
                </a:lnTo>
                <a:lnTo>
                  <a:pt x="433458" y="450760"/>
                </a:lnTo>
                <a:close/>
              </a:path>
              <a:path w="491490" h="501014">
                <a:moveTo>
                  <a:pt x="442525" y="441869"/>
                </a:moveTo>
                <a:lnTo>
                  <a:pt x="433458" y="450760"/>
                </a:lnTo>
                <a:lnTo>
                  <a:pt x="442391" y="459866"/>
                </a:lnTo>
                <a:lnTo>
                  <a:pt x="451459" y="450976"/>
                </a:lnTo>
                <a:lnTo>
                  <a:pt x="442525" y="441869"/>
                </a:lnTo>
                <a:close/>
              </a:path>
              <a:path w="491490" h="501014">
                <a:moveTo>
                  <a:pt x="465226" y="419607"/>
                </a:moveTo>
                <a:lnTo>
                  <a:pt x="442525" y="441869"/>
                </a:lnTo>
                <a:lnTo>
                  <a:pt x="451459" y="450976"/>
                </a:lnTo>
                <a:lnTo>
                  <a:pt x="442391" y="459866"/>
                </a:lnTo>
                <a:lnTo>
                  <a:pt x="478211" y="459866"/>
                </a:lnTo>
                <a:lnTo>
                  <a:pt x="465226" y="419607"/>
                </a:lnTo>
                <a:close/>
              </a:path>
              <a:path w="491490" h="501014">
                <a:moveTo>
                  <a:pt x="9067" y="0"/>
                </a:moveTo>
                <a:lnTo>
                  <a:pt x="0" y="8889"/>
                </a:lnTo>
                <a:lnTo>
                  <a:pt x="433458" y="450760"/>
                </a:lnTo>
                <a:lnTo>
                  <a:pt x="442525" y="441869"/>
                </a:lnTo>
                <a:lnTo>
                  <a:pt x="9067" y="0"/>
                </a:lnTo>
                <a:close/>
              </a:path>
            </a:pathLst>
          </a:custGeom>
          <a:solidFill>
            <a:srgbClr val="000000"/>
          </a:solidFill>
        </p:spPr>
        <p:txBody>
          <a:bodyPr wrap="square" lIns="0" tIns="0" rIns="0" bIns="0" rtlCol="0"/>
          <a:lstStyle/>
          <a:p>
            <a:endParaRPr/>
          </a:p>
        </p:txBody>
      </p:sp>
      <p:sp>
        <p:nvSpPr>
          <p:cNvPr id="16" name="object 16"/>
          <p:cNvSpPr txBox="1"/>
          <p:nvPr/>
        </p:nvSpPr>
        <p:spPr>
          <a:xfrm>
            <a:off x="2384857" y="2785617"/>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-0.7</a:t>
            </a:r>
            <a:endParaRPr>
              <a:latin typeface="Calibri" panose="020F0502020204030204"/>
              <a:cs typeface="Calibri" panose="020F0502020204030204"/>
            </a:endParaRPr>
          </a:p>
        </p:txBody>
      </p:sp>
      <p:sp>
        <p:nvSpPr>
          <p:cNvPr id="17" name="object 17"/>
          <p:cNvSpPr txBox="1"/>
          <p:nvPr/>
        </p:nvSpPr>
        <p:spPr>
          <a:xfrm>
            <a:off x="2384857" y="5439562"/>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-0.9</a:t>
            </a:r>
            <a:endParaRPr>
              <a:latin typeface="Calibri" panose="020F0502020204030204"/>
              <a:cs typeface="Calibri" panose="020F0502020204030204"/>
            </a:endParaRPr>
          </a:p>
        </p:txBody>
      </p:sp>
      <p:sp>
        <p:nvSpPr>
          <p:cNvPr id="18" name="object 18"/>
          <p:cNvSpPr txBox="1"/>
          <p:nvPr/>
        </p:nvSpPr>
        <p:spPr>
          <a:xfrm>
            <a:off x="3626612" y="4340479"/>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-1.6</a:t>
            </a:r>
            <a:endParaRPr>
              <a:latin typeface="Calibri" panose="020F0502020204030204"/>
              <a:cs typeface="Calibri" panose="020F0502020204030204"/>
            </a:endParaRPr>
          </a:p>
        </p:txBody>
      </p:sp>
      <p:sp>
        <p:nvSpPr>
          <p:cNvPr id="19" name="object 19"/>
          <p:cNvSpPr txBox="1"/>
          <p:nvPr/>
        </p:nvSpPr>
        <p:spPr>
          <a:xfrm>
            <a:off x="3626612" y="5683708"/>
            <a:ext cx="385445" cy="300355"/>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-1.8</a:t>
            </a:r>
            <a:endParaRPr>
              <a:latin typeface="Calibri" panose="020F0502020204030204"/>
              <a:cs typeface="Calibri" panose="020F0502020204030204"/>
            </a:endParaRPr>
          </a:p>
        </p:txBody>
      </p:sp>
      <p:sp>
        <p:nvSpPr>
          <p:cNvPr id="20" name="object 20"/>
          <p:cNvSpPr txBox="1"/>
          <p:nvPr/>
        </p:nvSpPr>
        <p:spPr>
          <a:xfrm>
            <a:off x="3626612" y="2481198"/>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-1.7</a:t>
            </a:r>
            <a:endParaRPr>
              <a:latin typeface="Calibri" panose="020F0502020204030204"/>
              <a:cs typeface="Calibri" panose="020F0502020204030204"/>
            </a:endParaRPr>
          </a:p>
        </p:txBody>
      </p:sp>
      <p:sp>
        <p:nvSpPr>
          <p:cNvPr id="21" name="object 21"/>
          <p:cNvSpPr txBox="1"/>
          <p:nvPr/>
        </p:nvSpPr>
        <p:spPr>
          <a:xfrm>
            <a:off x="3626612" y="3800602"/>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-2.9</a:t>
            </a:r>
            <a:endParaRPr>
              <a:latin typeface="Calibri" panose="020F0502020204030204"/>
              <a:cs typeface="Calibri" panose="020F0502020204030204"/>
            </a:endParaRPr>
          </a:p>
        </p:txBody>
      </p:sp>
      <p:sp>
        <p:nvSpPr>
          <p:cNvPr id="23" name="object 23"/>
          <p:cNvSpPr txBox="1"/>
          <p:nvPr/>
        </p:nvSpPr>
        <p:spPr>
          <a:xfrm>
            <a:off x="2804795" y="6083300"/>
            <a:ext cx="3679190" cy="584835"/>
          </a:xfrm>
          <a:prstGeom prst="rect">
            <a:avLst/>
          </a:prstGeom>
          <a:ln w="19811">
            <a:solidFill>
              <a:srgbClr val="BA56BD"/>
            </a:solidFill>
          </a:ln>
        </p:spPr>
        <p:txBody>
          <a:bodyPr vert="horz" wrap="square" lIns="0" tIns="31115" rIns="0" bIns="0" rtlCol="0">
            <a:spAutoFit/>
          </a:bodyPr>
          <a:lstStyle/>
          <a:p>
            <a:pPr algn="ctr">
              <a:spcBef>
                <a:spcPts val="245"/>
              </a:spcBef>
            </a:pPr>
            <a:r>
              <a:rPr spc="-5" dirty="0">
                <a:solidFill>
                  <a:srgbClr val="BA56BD"/>
                </a:solidFill>
                <a:cs typeface="Calibri" panose="020F0502020204030204"/>
              </a:rPr>
              <a:t>Of</a:t>
            </a:r>
            <a:r>
              <a:rPr spc="-10" dirty="0">
                <a:solidFill>
                  <a:srgbClr val="BA56BD"/>
                </a:solidFill>
                <a:cs typeface="Calibri" panose="020F0502020204030204"/>
              </a:rPr>
              <a:t> </a:t>
            </a:r>
            <a:r>
              <a:rPr spc="-5" dirty="0">
                <a:solidFill>
                  <a:srgbClr val="BA56BD"/>
                </a:solidFill>
                <a:cs typeface="Calibri" panose="020F0502020204030204"/>
              </a:rPr>
              <a:t>these </a:t>
            </a:r>
            <a:r>
              <a:rPr i="1" spc="-5" dirty="0">
                <a:solidFill>
                  <a:srgbClr val="BA56BD"/>
                </a:solidFill>
                <a:cs typeface="Calibri" panose="020F0502020204030204"/>
              </a:rPr>
              <a:t>k</a:t>
            </a:r>
            <a:r>
              <a:rPr spc="-7" baseline="25000" dirty="0">
                <a:solidFill>
                  <a:srgbClr val="BA56BD"/>
                </a:solidFill>
                <a:cs typeface="Calibri" panose="020F0502020204030204"/>
              </a:rPr>
              <a:t>2</a:t>
            </a:r>
            <a:r>
              <a:rPr spc="195" baseline="25000" dirty="0">
                <a:solidFill>
                  <a:srgbClr val="BA56BD"/>
                </a:solidFill>
                <a:cs typeface="Calibri" panose="020F0502020204030204"/>
              </a:rPr>
              <a:t> </a:t>
            </a:r>
            <a:r>
              <a:rPr spc="-5" dirty="0">
                <a:solidFill>
                  <a:srgbClr val="BA56BD"/>
                </a:solidFill>
                <a:cs typeface="Calibri" panose="020F0502020204030204"/>
              </a:rPr>
              <a:t>hypotheses,</a:t>
            </a:r>
            <a:endParaRPr>
              <a:cs typeface="Calibri" panose="020F0502020204030204"/>
            </a:endParaRPr>
          </a:p>
          <a:p>
            <a:pPr algn="ctr">
              <a:lnSpc>
                <a:spcPct val="100000"/>
              </a:lnSpc>
            </a:pPr>
            <a:r>
              <a:rPr spc="-10" dirty="0">
                <a:solidFill>
                  <a:srgbClr val="BA56BD"/>
                </a:solidFill>
                <a:cs typeface="Calibri" panose="020F0502020204030204"/>
              </a:rPr>
              <a:t>just </a:t>
            </a:r>
            <a:r>
              <a:rPr spc="-15" dirty="0">
                <a:solidFill>
                  <a:srgbClr val="BA56BD"/>
                </a:solidFill>
                <a:cs typeface="Calibri" panose="020F0502020204030204"/>
              </a:rPr>
              <a:t>keep</a:t>
            </a:r>
            <a:r>
              <a:rPr dirty="0">
                <a:solidFill>
                  <a:srgbClr val="BA56BD"/>
                </a:solidFill>
                <a:cs typeface="Calibri" panose="020F0502020204030204"/>
              </a:rPr>
              <a:t> </a:t>
            </a:r>
            <a:r>
              <a:rPr i="1" dirty="0">
                <a:solidFill>
                  <a:srgbClr val="BA56BD"/>
                </a:solidFill>
                <a:cs typeface="Calibri" panose="020F0502020204030204"/>
              </a:rPr>
              <a:t>k</a:t>
            </a:r>
            <a:r>
              <a:rPr i="1" spc="-10" dirty="0">
                <a:solidFill>
                  <a:srgbClr val="BA56BD"/>
                </a:solidFill>
                <a:cs typeface="Calibri" panose="020F0502020204030204"/>
              </a:rPr>
              <a:t> </a:t>
            </a:r>
            <a:r>
              <a:rPr spc="-5" dirty="0">
                <a:solidFill>
                  <a:srgbClr val="BA56BD"/>
                </a:solidFill>
                <a:cs typeface="Calibri" panose="020F0502020204030204"/>
              </a:rPr>
              <a:t>with</a:t>
            </a:r>
            <a:r>
              <a:rPr spc="5" dirty="0">
                <a:solidFill>
                  <a:srgbClr val="BA56BD"/>
                </a:solidFill>
                <a:cs typeface="Calibri" panose="020F0502020204030204"/>
              </a:rPr>
              <a:t> </a:t>
            </a:r>
            <a:r>
              <a:rPr spc="-10" dirty="0">
                <a:solidFill>
                  <a:srgbClr val="BA56BD"/>
                </a:solidFill>
                <a:cs typeface="Calibri" panose="020F0502020204030204"/>
              </a:rPr>
              <a:t>highest</a:t>
            </a:r>
            <a:r>
              <a:rPr spc="-5" dirty="0">
                <a:solidFill>
                  <a:srgbClr val="BA56BD"/>
                </a:solidFill>
                <a:cs typeface="Calibri" panose="020F0502020204030204"/>
              </a:rPr>
              <a:t> </a:t>
            </a:r>
            <a:r>
              <a:rPr spc="-10" dirty="0">
                <a:solidFill>
                  <a:srgbClr val="BA56BD"/>
                </a:solidFill>
                <a:cs typeface="Calibri" panose="020F0502020204030204"/>
              </a:rPr>
              <a:t>scores</a:t>
            </a:r>
            <a:endParaRPr>
              <a:cs typeface="Calibri" panose="020F0502020204030204"/>
            </a:endParaRPr>
          </a:p>
        </p:txBody>
      </p:sp>
      <p:grpSp>
        <p:nvGrpSpPr>
          <p:cNvPr id="25" name="Group 24"/>
          <p:cNvGrpSpPr/>
          <p:nvPr/>
        </p:nvGrpSpPr>
        <p:grpSpPr>
          <a:xfrm>
            <a:off x="1875934" y="646192"/>
            <a:ext cx="8356238" cy="736600"/>
            <a:chOff x="1875934" y="646192"/>
            <a:chExt cx="8356238" cy="736600"/>
          </a:xfrm>
        </p:grpSpPr>
        <p:sp>
          <p:nvSpPr>
            <p:cNvPr id="26" name="object 3"/>
            <p:cNvSpPr txBox="1"/>
            <p:nvPr/>
          </p:nvSpPr>
          <p:spPr>
            <a:xfrm>
              <a:off x="1875934" y="840487"/>
              <a:ext cx="3557126" cy="321242"/>
            </a:xfrm>
            <a:prstGeom prst="rect">
              <a:avLst/>
            </a:prstGeom>
          </p:spPr>
          <p:txBody>
            <a:bodyPr vert="horz" wrap="square" lIns="0" tIns="13335" rIns="0" bIns="0" rtlCol="0">
              <a:spAutoFit/>
            </a:bodyPr>
            <a:lstStyle/>
            <a:p>
              <a:pPr marL="12700">
                <a:spcBef>
                  <a:spcPts val="105"/>
                </a:spcBef>
              </a:pPr>
              <a:r>
                <a:rPr sz="2000" b="1" dirty="0">
                  <a:cs typeface="Calibri" panose="020F0502020204030204"/>
                </a:rPr>
                <a:t>Beam</a:t>
              </a:r>
              <a:r>
                <a:rPr sz="2000" b="1" spc="-10" dirty="0">
                  <a:cs typeface="Calibri" panose="020F0502020204030204"/>
                </a:rPr>
                <a:t> </a:t>
              </a:r>
              <a:r>
                <a:rPr sz="2000" b="1" spc="-5" dirty="0">
                  <a:cs typeface="Calibri" panose="020F0502020204030204"/>
                </a:rPr>
                <a:t>size</a:t>
              </a:r>
              <a:r>
                <a:rPr sz="2000" b="1" dirty="0">
                  <a:cs typeface="Calibri" panose="020F0502020204030204"/>
                </a:rPr>
                <a:t> =</a:t>
              </a:r>
              <a:r>
                <a:rPr sz="2000" b="1" spc="-15" dirty="0">
                  <a:cs typeface="Calibri" panose="020F0502020204030204"/>
                </a:rPr>
                <a:t> </a:t>
              </a:r>
              <a:r>
                <a:rPr sz="2000" b="1" dirty="0">
                  <a:cs typeface="Calibri" panose="020F0502020204030204"/>
                </a:rPr>
                <a:t>k</a:t>
              </a:r>
              <a:r>
                <a:rPr sz="2000" b="1" spc="-10" dirty="0">
                  <a:cs typeface="Calibri" panose="020F0502020204030204"/>
                </a:rPr>
                <a:t> </a:t>
              </a:r>
              <a:r>
                <a:rPr sz="2000" b="1" dirty="0">
                  <a:cs typeface="Calibri" panose="020F0502020204030204"/>
                </a:rPr>
                <a:t>=</a:t>
              </a:r>
              <a:r>
                <a:rPr sz="2000" b="1" spc="-5" dirty="0">
                  <a:cs typeface="Calibri" panose="020F0502020204030204"/>
                </a:rPr>
                <a:t> </a:t>
              </a:r>
              <a:r>
                <a:rPr sz="2000" b="1" dirty="0">
                  <a:cs typeface="Calibri" panose="020F0502020204030204"/>
                </a:rPr>
                <a:t>2</a:t>
              </a:r>
              <a:r>
                <a:rPr sz="2000" dirty="0">
                  <a:cs typeface="Calibri" panose="020F0502020204030204"/>
                </a:rPr>
                <a:t>.</a:t>
              </a:r>
              <a:r>
                <a:rPr sz="2000" spc="-25" dirty="0">
                  <a:cs typeface="Calibri" panose="020F0502020204030204"/>
                </a:rPr>
                <a:t> </a:t>
              </a:r>
              <a:r>
                <a:rPr sz="2000" dirty="0">
                  <a:solidFill>
                    <a:srgbClr val="4285F4"/>
                  </a:solidFill>
                  <a:cs typeface="Calibri" panose="020F0502020204030204"/>
                </a:rPr>
                <a:t>Blue</a:t>
              </a:r>
              <a:r>
                <a:rPr sz="2000" spc="-10" dirty="0">
                  <a:solidFill>
                    <a:srgbClr val="4285F4"/>
                  </a:solidFill>
                  <a:cs typeface="Calibri" panose="020F0502020204030204"/>
                </a:rPr>
                <a:t> </a:t>
              </a:r>
              <a:r>
                <a:rPr sz="2000" dirty="0">
                  <a:solidFill>
                    <a:srgbClr val="4285F4"/>
                  </a:solidFill>
                  <a:cs typeface="Calibri" panose="020F0502020204030204"/>
                </a:rPr>
                <a:t>numbers</a:t>
              </a:r>
              <a:r>
                <a:rPr sz="2000" spc="-5" dirty="0">
                  <a:solidFill>
                    <a:srgbClr val="4285F4"/>
                  </a:solidFill>
                  <a:cs typeface="Calibri" panose="020F0502020204030204"/>
                </a:rPr>
                <a:t> </a:t>
              </a:r>
              <a:r>
                <a:rPr sz="2000" dirty="0">
                  <a:solidFill>
                    <a:srgbClr val="4285F4"/>
                  </a:solidFill>
                  <a:cs typeface="Calibri" panose="020F0502020204030204"/>
                </a:rPr>
                <a:t>=</a:t>
              </a:r>
              <a:endParaRPr sz="2000" dirty="0">
                <a:cs typeface="Calibri" panose="020F0502020204030204"/>
              </a:endParaRPr>
            </a:p>
          </p:txBody>
        </p:sp>
        <p:pic>
          <p:nvPicPr>
            <p:cNvPr id="27" name="object 50"/>
            <p:cNvPicPr/>
            <p:nvPr/>
          </p:nvPicPr>
          <p:blipFill>
            <a:blip r:embed="rId2" cstate="print"/>
            <a:stretch>
              <a:fillRect/>
            </a:stretch>
          </p:blipFill>
          <p:spPr>
            <a:xfrm>
              <a:off x="5415822" y="646192"/>
              <a:ext cx="4816350" cy="736600"/>
            </a:xfrm>
            <a:prstGeom prst="rect">
              <a:avLst/>
            </a:prstGeom>
          </p:spPr>
        </p:pic>
      </p:gr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3273551" y="2842260"/>
            <a:ext cx="1117600" cy="337912"/>
          </a:xfrm>
          <a:prstGeom prst="rect">
            <a:avLst/>
          </a:prstGeom>
          <a:ln w="9144">
            <a:solidFill>
              <a:srgbClr val="000000"/>
            </a:solidFill>
          </a:ln>
        </p:spPr>
        <p:txBody>
          <a:bodyPr vert="horz" wrap="square" lIns="0" tIns="29844" rIns="0" bIns="0" rtlCol="0">
            <a:spAutoFit/>
          </a:bodyPr>
          <a:lstStyle/>
          <a:p>
            <a:pPr algn="ctr">
              <a:spcBef>
                <a:spcPts val="235"/>
              </a:spcBef>
            </a:pPr>
            <a:r>
              <a:rPr sz="2000" i="1" spc="-5" dirty="0">
                <a:solidFill>
                  <a:srgbClr val="00AF50"/>
                </a:solidFill>
                <a:latin typeface="Calibri" panose="020F0502020204030204"/>
                <a:cs typeface="Calibri" panose="020F0502020204030204"/>
              </a:rPr>
              <a:t>hit</a:t>
            </a:r>
            <a:endParaRPr sz="2000">
              <a:latin typeface="Calibri" panose="020F0502020204030204"/>
              <a:cs typeface="Calibri" panose="020F0502020204030204"/>
            </a:endParaRPr>
          </a:p>
        </p:txBody>
      </p:sp>
      <p:sp>
        <p:nvSpPr>
          <p:cNvPr id="5" name="object 5"/>
          <p:cNvSpPr txBox="1"/>
          <p:nvPr/>
        </p:nvSpPr>
        <p:spPr>
          <a:xfrm>
            <a:off x="3273551" y="3368040"/>
            <a:ext cx="1117600" cy="338554"/>
          </a:xfrm>
          <a:prstGeom prst="rect">
            <a:avLst/>
          </a:prstGeom>
          <a:ln w="9144">
            <a:solidFill>
              <a:srgbClr val="000000"/>
            </a:solidFill>
          </a:ln>
        </p:spPr>
        <p:txBody>
          <a:bodyPr vert="horz" wrap="square" lIns="0" tIns="30480" rIns="0" bIns="0" rtlCol="0">
            <a:spAutoFit/>
          </a:bodyPr>
          <a:lstStyle/>
          <a:p>
            <a:pPr marL="247015">
              <a:spcBef>
                <a:spcPts val="240"/>
              </a:spcBef>
            </a:pPr>
            <a:r>
              <a:rPr sz="2000" i="1" spc="-5" dirty="0">
                <a:latin typeface="Calibri" panose="020F0502020204030204"/>
                <a:cs typeface="Calibri" panose="020F0502020204030204"/>
              </a:rPr>
              <a:t>struck</a:t>
            </a:r>
            <a:endParaRPr sz="2000">
              <a:latin typeface="Calibri" panose="020F0502020204030204"/>
              <a:cs typeface="Calibri" panose="020F0502020204030204"/>
            </a:endParaRPr>
          </a:p>
        </p:txBody>
      </p:sp>
      <p:sp>
        <p:nvSpPr>
          <p:cNvPr id="6" name="object 6"/>
          <p:cNvSpPr txBox="1"/>
          <p:nvPr/>
        </p:nvSpPr>
        <p:spPr>
          <a:xfrm>
            <a:off x="3273551" y="4698491"/>
            <a:ext cx="1117600" cy="338554"/>
          </a:xfrm>
          <a:prstGeom prst="rect">
            <a:avLst/>
          </a:prstGeom>
          <a:ln w="9144">
            <a:solidFill>
              <a:srgbClr val="000000"/>
            </a:solidFill>
          </a:ln>
        </p:spPr>
        <p:txBody>
          <a:bodyPr vert="horz" wrap="square" lIns="0" tIns="30480" rIns="0" bIns="0" rtlCol="0">
            <a:spAutoFit/>
          </a:bodyPr>
          <a:lstStyle/>
          <a:p>
            <a:pPr marL="352425">
              <a:spcBef>
                <a:spcPts val="240"/>
              </a:spcBef>
            </a:pPr>
            <a:r>
              <a:rPr sz="2000" i="1" dirty="0">
                <a:solidFill>
                  <a:srgbClr val="00AF50"/>
                </a:solidFill>
                <a:latin typeface="Calibri" panose="020F0502020204030204"/>
                <a:cs typeface="Calibri" panose="020F0502020204030204"/>
              </a:rPr>
              <a:t>was</a:t>
            </a:r>
            <a:endParaRPr sz="2000">
              <a:latin typeface="Calibri" panose="020F0502020204030204"/>
              <a:cs typeface="Calibri" panose="020F0502020204030204"/>
            </a:endParaRPr>
          </a:p>
        </p:txBody>
      </p:sp>
      <p:sp>
        <p:nvSpPr>
          <p:cNvPr id="7" name="object 7"/>
          <p:cNvSpPr txBox="1"/>
          <p:nvPr/>
        </p:nvSpPr>
        <p:spPr>
          <a:xfrm>
            <a:off x="3273551" y="5224272"/>
            <a:ext cx="1117600" cy="339195"/>
          </a:xfrm>
          <a:prstGeom prst="rect">
            <a:avLst/>
          </a:prstGeom>
          <a:ln w="9144">
            <a:solidFill>
              <a:srgbClr val="000000"/>
            </a:solidFill>
          </a:ln>
        </p:spPr>
        <p:txBody>
          <a:bodyPr vert="horz" wrap="square" lIns="0" tIns="31115" rIns="0" bIns="0" rtlCol="0">
            <a:spAutoFit/>
          </a:bodyPr>
          <a:lstStyle/>
          <a:p>
            <a:pPr algn="ctr">
              <a:spcBef>
                <a:spcPts val="245"/>
              </a:spcBef>
            </a:pPr>
            <a:r>
              <a:rPr sz="2000" i="1" spc="-5" dirty="0">
                <a:latin typeface="Calibri" panose="020F0502020204030204"/>
                <a:cs typeface="Calibri" panose="020F0502020204030204"/>
              </a:rPr>
              <a:t>got</a:t>
            </a:r>
            <a:endParaRPr sz="2000">
              <a:latin typeface="Calibri" panose="020F0502020204030204"/>
              <a:cs typeface="Calibri" panose="020F0502020204030204"/>
            </a:endParaRPr>
          </a:p>
        </p:txBody>
      </p:sp>
      <p:sp>
        <p:nvSpPr>
          <p:cNvPr id="8" name="object 8"/>
          <p:cNvSpPr/>
          <p:nvPr/>
        </p:nvSpPr>
        <p:spPr>
          <a:xfrm>
            <a:off x="2876804" y="3060192"/>
            <a:ext cx="397510" cy="526415"/>
          </a:xfrm>
          <a:custGeom>
            <a:avLst/>
            <a:gdLst/>
            <a:ahLst/>
            <a:cxnLst/>
            <a:rect l="l" t="t" r="r" b="b"/>
            <a:pathLst>
              <a:path w="397510" h="526414">
                <a:moveTo>
                  <a:pt x="397383" y="0"/>
                </a:moveTo>
                <a:lnTo>
                  <a:pt x="312801" y="11049"/>
                </a:lnTo>
                <a:lnTo>
                  <a:pt x="330568" y="37338"/>
                </a:lnTo>
                <a:lnTo>
                  <a:pt x="0" y="260223"/>
                </a:lnTo>
                <a:lnTo>
                  <a:pt x="3441" y="265341"/>
                </a:lnTo>
                <a:lnTo>
                  <a:pt x="0" y="270510"/>
                </a:lnTo>
                <a:lnTo>
                  <a:pt x="330288" y="489445"/>
                </a:lnTo>
                <a:lnTo>
                  <a:pt x="312801" y="515874"/>
                </a:lnTo>
                <a:lnTo>
                  <a:pt x="397383" y="526161"/>
                </a:lnTo>
                <a:lnTo>
                  <a:pt x="380238" y="496443"/>
                </a:lnTo>
                <a:lnTo>
                  <a:pt x="354838" y="452374"/>
                </a:lnTo>
                <a:lnTo>
                  <a:pt x="337337" y="478815"/>
                </a:lnTo>
                <a:lnTo>
                  <a:pt x="15278" y="265264"/>
                </a:lnTo>
                <a:lnTo>
                  <a:pt x="337693" y="47879"/>
                </a:lnTo>
                <a:lnTo>
                  <a:pt x="355473" y="74168"/>
                </a:lnTo>
                <a:lnTo>
                  <a:pt x="380301" y="30226"/>
                </a:lnTo>
                <a:lnTo>
                  <a:pt x="397383" y="0"/>
                </a:lnTo>
                <a:close/>
              </a:path>
            </a:pathLst>
          </a:custGeom>
          <a:solidFill>
            <a:srgbClr val="000000"/>
          </a:solidFill>
        </p:spPr>
        <p:txBody>
          <a:bodyPr wrap="square" lIns="0" tIns="0" rIns="0" bIns="0" rtlCol="0"/>
          <a:lstStyle/>
          <a:p>
            <a:endParaRPr/>
          </a:p>
        </p:txBody>
      </p:sp>
      <p:sp>
        <p:nvSpPr>
          <p:cNvPr id="9" name="object 9"/>
          <p:cNvSpPr/>
          <p:nvPr/>
        </p:nvSpPr>
        <p:spPr>
          <a:xfrm>
            <a:off x="2876804" y="4916423"/>
            <a:ext cx="397510" cy="527050"/>
          </a:xfrm>
          <a:custGeom>
            <a:avLst/>
            <a:gdLst/>
            <a:ahLst/>
            <a:cxnLst/>
            <a:rect l="l" t="t" r="r" b="b"/>
            <a:pathLst>
              <a:path w="397510" h="527050">
                <a:moveTo>
                  <a:pt x="397383" y="0"/>
                </a:moveTo>
                <a:lnTo>
                  <a:pt x="312928" y="11938"/>
                </a:lnTo>
                <a:lnTo>
                  <a:pt x="331038" y="38100"/>
                </a:lnTo>
                <a:lnTo>
                  <a:pt x="0" y="267081"/>
                </a:lnTo>
                <a:lnTo>
                  <a:pt x="3721" y="272542"/>
                </a:lnTo>
                <a:lnTo>
                  <a:pt x="127" y="278142"/>
                </a:lnTo>
                <a:lnTo>
                  <a:pt x="329869" y="491121"/>
                </a:lnTo>
                <a:lnTo>
                  <a:pt x="312674" y="517779"/>
                </a:lnTo>
                <a:lnTo>
                  <a:pt x="397383" y="527050"/>
                </a:lnTo>
                <a:lnTo>
                  <a:pt x="380136" y="497967"/>
                </a:lnTo>
                <a:lnTo>
                  <a:pt x="353949" y="453771"/>
                </a:lnTo>
                <a:lnTo>
                  <a:pt x="336778" y="480402"/>
                </a:lnTo>
                <a:lnTo>
                  <a:pt x="14541" y="272351"/>
                </a:lnTo>
                <a:lnTo>
                  <a:pt x="338251" y="48526"/>
                </a:lnTo>
                <a:lnTo>
                  <a:pt x="356362" y="74676"/>
                </a:lnTo>
                <a:lnTo>
                  <a:pt x="380428" y="30861"/>
                </a:lnTo>
                <a:lnTo>
                  <a:pt x="397383" y="0"/>
                </a:lnTo>
                <a:close/>
              </a:path>
            </a:pathLst>
          </a:custGeom>
          <a:solidFill>
            <a:srgbClr val="000000"/>
          </a:solidFill>
        </p:spPr>
        <p:txBody>
          <a:bodyPr wrap="square" lIns="0" tIns="0" rIns="0" bIns="0" rtlCol="0"/>
          <a:lstStyle/>
          <a:p>
            <a:endParaRPr/>
          </a:p>
        </p:txBody>
      </p:sp>
      <p:sp>
        <p:nvSpPr>
          <p:cNvPr id="10" name="object 10"/>
          <p:cNvSpPr txBox="1"/>
          <p:nvPr/>
        </p:nvSpPr>
        <p:spPr>
          <a:xfrm>
            <a:off x="4728972" y="2546604"/>
            <a:ext cx="1117600" cy="338554"/>
          </a:xfrm>
          <a:prstGeom prst="rect">
            <a:avLst/>
          </a:prstGeom>
          <a:ln w="9144">
            <a:solidFill>
              <a:srgbClr val="000000"/>
            </a:solidFill>
          </a:ln>
        </p:spPr>
        <p:txBody>
          <a:bodyPr vert="horz" wrap="square" lIns="0" tIns="30480" rIns="0" bIns="0" rtlCol="0">
            <a:spAutoFit/>
          </a:bodyPr>
          <a:lstStyle/>
          <a:p>
            <a:pPr algn="ctr">
              <a:spcBef>
                <a:spcPts val="240"/>
              </a:spcBef>
            </a:pPr>
            <a:r>
              <a:rPr sz="2000" i="1" dirty="0">
                <a:latin typeface="Calibri" panose="020F0502020204030204"/>
                <a:cs typeface="Calibri" panose="020F0502020204030204"/>
              </a:rPr>
              <a:t>a</a:t>
            </a:r>
            <a:endParaRPr sz="2000">
              <a:latin typeface="Calibri" panose="020F0502020204030204"/>
              <a:cs typeface="Calibri" panose="020F0502020204030204"/>
            </a:endParaRPr>
          </a:p>
        </p:txBody>
      </p:sp>
      <p:sp>
        <p:nvSpPr>
          <p:cNvPr id="11" name="object 11"/>
          <p:cNvSpPr txBox="1"/>
          <p:nvPr/>
        </p:nvSpPr>
        <p:spPr>
          <a:xfrm>
            <a:off x="4728972" y="3073908"/>
            <a:ext cx="1117600" cy="337913"/>
          </a:xfrm>
          <a:prstGeom prst="rect">
            <a:avLst/>
          </a:prstGeom>
          <a:ln w="9144">
            <a:solidFill>
              <a:srgbClr val="000000"/>
            </a:solidFill>
          </a:ln>
        </p:spPr>
        <p:txBody>
          <a:bodyPr vert="horz" wrap="square" lIns="0" tIns="29845" rIns="0" bIns="0" rtlCol="0">
            <a:spAutoFit/>
          </a:bodyPr>
          <a:lstStyle/>
          <a:p>
            <a:pPr algn="ctr">
              <a:spcBef>
                <a:spcPts val="235"/>
              </a:spcBef>
            </a:pPr>
            <a:r>
              <a:rPr sz="2000" i="1" spc="-5" dirty="0">
                <a:latin typeface="Calibri" panose="020F0502020204030204"/>
                <a:cs typeface="Calibri" panose="020F0502020204030204"/>
              </a:rPr>
              <a:t>me</a:t>
            </a:r>
            <a:endParaRPr sz="2000">
              <a:latin typeface="Calibri" panose="020F0502020204030204"/>
              <a:cs typeface="Calibri" panose="020F0502020204030204"/>
            </a:endParaRPr>
          </a:p>
        </p:txBody>
      </p:sp>
      <p:sp>
        <p:nvSpPr>
          <p:cNvPr id="12" name="object 12"/>
          <p:cNvSpPr txBox="1"/>
          <p:nvPr/>
        </p:nvSpPr>
        <p:spPr>
          <a:xfrm>
            <a:off x="4728972" y="4430268"/>
            <a:ext cx="1117600" cy="337913"/>
          </a:xfrm>
          <a:prstGeom prst="rect">
            <a:avLst/>
          </a:prstGeom>
          <a:ln w="9144">
            <a:solidFill>
              <a:srgbClr val="000000"/>
            </a:solidFill>
          </a:ln>
        </p:spPr>
        <p:txBody>
          <a:bodyPr vert="horz" wrap="square" lIns="0" tIns="29845" rIns="0" bIns="0" rtlCol="0">
            <a:spAutoFit/>
          </a:bodyPr>
          <a:lstStyle/>
          <a:p>
            <a:pPr algn="ctr">
              <a:spcBef>
                <a:spcPts val="235"/>
              </a:spcBef>
            </a:pPr>
            <a:r>
              <a:rPr sz="2000" i="1" spc="-5" dirty="0">
                <a:latin typeface="Calibri" panose="020F0502020204030204"/>
                <a:cs typeface="Calibri" panose="020F0502020204030204"/>
              </a:rPr>
              <a:t>hit</a:t>
            </a:r>
            <a:endParaRPr sz="2000">
              <a:latin typeface="Calibri" panose="020F0502020204030204"/>
              <a:cs typeface="Calibri" panose="020F0502020204030204"/>
            </a:endParaRPr>
          </a:p>
        </p:txBody>
      </p:sp>
      <p:sp>
        <p:nvSpPr>
          <p:cNvPr id="13" name="object 13"/>
          <p:cNvSpPr txBox="1"/>
          <p:nvPr/>
        </p:nvSpPr>
        <p:spPr>
          <a:xfrm>
            <a:off x="4728972" y="4956048"/>
            <a:ext cx="1117600" cy="339195"/>
          </a:xfrm>
          <a:prstGeom prst="rect">
            <a:avLst/>
          </a:prstGeom>
          <a:ln w="9144">
            <a:solidFill>
              <a:srgbClr val="000000"/>
            </a:solidFill>
          </a:ln>
        </p:spPr>
        <p:txBody>
          <a:bodyPr vert="horz" wrap="square" lIns="0" tIns="31115" rIns="0" bIns="0" rtlCol="0">
            <a:spAutoFit/>
          </a:bodyPr>
          <a:lstStyle/>
          <a:p>
            <a:pPr marL="247015">
              <a:spcBef>
                <a:spcPts val="245"/>
              </a:spcBef>
            </a:pPr>
            <a:r>
              <a:rPr sz="2000" i="1" spc="-5" dirty="0">
                <a:latin typeface="Calibri" panose="020F0502020204030204"/>
                <a:cs typeface="Calibri" panose="020F0502020204030204"/>
              </a:rPr>
              <a:t>struck</a:t>
            </a:r>
            <a:endParaRPr sz="2000">
              <a:latin typeface="Calibri" panose="020F0502020204030204"/>
              <a:cs typeface="Calibri" panose="020F0502020204030204"/>
            </a:endParaRPr>
          </a:p>
        </p:txBody>
      </p:sp>
      <p:sp>
        <p:nvSpPr>
          <p:cNvPr id="14" name="object 14"/>
          <p:cNvSpPr/>
          <p:nvPr/>
        </p:nvSpPr>
        <p:spPr>
          <a:xfrm>
            <a:off x="4386454" y="2764536"/>
            <a:ext cx="342265" cy="527685"/>
          </a:xfrm>
          <a:custGeom>
            <a:avLst/>
            <a:gdLst/>
            <a:ahLst/>
            <a:cxnLst/>
            <a:rect l="l" t="t" r="r" b="b"/>
            <a:pathLst>
              <a:path w="342264" h="527685">
                <a:moveTo>
                  <a:pt x="342265" y="0"/>
                </a:moveTo>
                <a:lnTo>
                  <a:pt x="259842" y="21336"/>
                </a:lnTo>
                <a:lnTo>
                  <a:pt x="280670" y="45250"/>
                </a:lnTo>
                <a:lnTo>
                  <a:pt x="0" y="289687"/>
                </a:lnTo>
                <a:lnTo>
                  <a:pt x="4622" y="295021"/>
                </a:lnTo>
                <a:lnTo>
                  <a:pt x="635" y="300863"/>
                </a:lnTo>
                <a:lnTo>
                  <a:pt x="275856" y="489826"/>
                </a:lnTo>
                <a:lnTo>
                  <a:pt x="257937" y="516001"/>
                </a:lnTo>
                <a:lnTo>
                  <a:pt x="342265" y="527685"/>
                </a:lnTo>
                <a:lnTo>
                  <a:pt x="325247" y="496951"/>
                </a:lnTo>
                <a:lnTo>
                  <a:pt x="300990" y="453136"/>
                </a:lnTo>
                <a:lnTo>
                  <a:pt x="283032" y="479361"/>
                </a:lnTo>
                <a:lnTo>
                  <a:pt x="13804" y="294614"/>
                </a:lnTo>
                <a:lnTo>
                  <a:pt x="289013" y="54813"/>
                </a:lnTo>
                <a:lnTo>
                  <a:pt x="309880" y="78740"/>
                </a:lnTo>
                <a:lnTo>
                  <a:pt x="327063" y="36957"/>
                </a:lnTo>
                <a:lnTo>
                  <a:pt x="342265" y="0"/>
                </a:lnTo>
                <a:close/>
              </a:path>
            </a:pathLst>
          </a:custGeom>
          <a:solidFill>
            <a:srgbClr val="000000"/>
          </a:solidFill>
        </p:spPr>
        <p:txBody>
          <a:bodyPr wrap="square" lIns="0" tIns="0" rIns="0" bIns="0" rtlCol="0"/>
          <a:lstStyle/>
          <a:p>
            <a:endParaRPr/>
          </a:p>
        </p:txBody>
      </p:sp>
      <p:sp>
        <p:nvSpPr>
          <p:cNvPr id="15" name="object 15"/>
          <p:cNvSpPr/>
          <p:nvPr/>
        </p:nvSpPr>
        <p:spPr>
          <a:xfrm>
            <a:off x="4386708" y="4648200"/>
            <a:ext cx="342265" cy="527050"/>
          </a:xfrm>
          <a:custGeom>
            <a:avLst/>
            <a:gdLst/>
            <a:ahLst/>
            <a:cxnLst/>
            <a:rect l="l" t="t" r="r" b="b"/>
            <a:pathLst>
              <a:path w="342264" h="527050">
                <a:moveTo>
                  <a:pt x="342011" y="0"/>
                </a:moveTo>
                <a:lnTo>
                  <a:pt x="258572" y="17526"/>
                </a:lnTo>
                <a:lnTo>
                  <a:pt x="278333" y="42443"/>
                </a:lnTo>
                <a:lnTo>
                  <a:pt x="0" y="263271"/>
                </a:lnTo>
                <a:lnTo>
                  <a:pt x="3937" y="268224"/>
                </a:lnTo>
                <a:lnTo>
                  <a:pt x="127" y="273304"/>
                </a:lnTo>
                <a:lnTo>
                  <a:pt x="277596" y="485330"/>
                </a:lnTo>
                <a:lnTo>
                  <a:pt x="258318" y="510540"/>
                </a:lnTo>
                <a:lnTo>
                  <a:pt x="342011" y="526542"/>
                </a:lnTo>
                <a:lnTo>
                  <a:pt x="325577" y="493014"/>
                </a:lnTo>
                <a:lnTo>
                  <a:pt x="304546" y="450088"/>
                </a:lnTo>
                <a:lnTo>
                  <a:pt x="285292" y="475259"/>
                </a:lnTo>
                <a:lnTo>
                  <a:pt x="14249" y="268122"/>
                </a:lnTo>
                <a:lnTo>
                  <a:pt x="286207" y="52349"/>
                </a:lnTo>
                <a:lnTo>
                  <a:pt x="305943" y="77216"/>
                </a:lnTo>
                <a:lnTo>
                  <a:pt x="325869" y="34544"/>
                </a:lnTo>
                <a:lnTo>
                  <a:pt x="342011" y="0"/>
                </a:lnTo>
                <a:close/>
              </a:path>
            </a:pathLst>
          </a:custGeom>
          <a:solidFill>
            <a:srgbClr val="000000"/>
          </a:solidFill>
        </p:spPr>
        <p:txBody>
          <a:bodyPr wrap="square" lIns="0" tIns="0" rIns="0" bIns="0" rtlCol="0"/>
          <a:lstStyle/>
          <a:p>
            <a:endParaRPr/>
          </a:p>
        </p:txBody>
      </p:sp>
      <p:sp>
        <p:nvSpPr>
          <p:cNvPr id="16" name="object 16"/>
          <p:cNvSpPr txBox="1"/>
          <p:nvPr/>
        </p:nvSpPr>
        <p:spPr>
          <a:xfrm>
            <a:off x="1524001" y="4038601"/>
            <a:ext cx="1167765" cy="337913"/>
          </a:xfrm>
          <a:prstGeom prst="rect">
            <a:avLst/>
          </a:prstGeom>
          <a:ln w="9143">
            <a:solidFill>
              <a:srgbClr val="000000"/>
            </a:solidFill>
          </a:ln>
        </p:spPr>
        <p:txBody>
          <a:bodyPr vert="horz" wrap="square" lIns="0" tIns="29845" rIns="0" bIns="0" rtlCol="0">
            <a:spAutoFit/>
          </a:bodyPr>
          <a:lstStyle/>
          <a:p>
            <a:pPr marL="131445">
              <a:spcBef>
                <a:spcPts val="235"/>
              </a:spcBef>
            </a:pPr>
            <a:r>
              <a:rPr sz="2000" i="1" spc="-5" dirty="0">
                <a:latin typeface="Calibri" panose="020F0502020204030204"/>
                <a:cs typeface="Calibri" panose="020F0502020204030204"/>
              </a:rPr>
              <a:t>&lt;START&gt;</a:t>
            </a:r>
            <a:endParaRPr sz="2000">
              <a:latin typeface="Calibri" panose="020F0502020204030204"/>
              <a:cs typeface="Calibri" panose="020F0502020204030204"/>
            </a:endParaRPr>
          </a:p>
        </p:txBody>
      </p:sp>
      <p:sp>
        <p:nvSpPr>
          <p:cNvPr id="17" name="object 17"/>
          <p:cNvSpPr txBox="1"/>
          <p:nvPr/>
        </p:nvSpPr>
        <p:spPr>
          <a:xfrm>
            <a:off x="2308859" y="3107436"/>
            <a:ext cx="571500" cy="337913"/>
          </a:xfrm>
          <a:prstGeom prst="rect">
            <a:avLst/>
          </a:prstGeom>
          <a:ln w="9143">
            <a:solidFill>
              <a:srgbClr val="000000"/>
            </a:solidFill>
          </a:ln>
        </p:spPr>
        <p:txBody>
          <a:bodyPr vert="horz" wrap="square" lIns="0" tIns="29845" rIns="0" bIns="0" rtlCol="0">
            <a:spAutoFit/>
          </a:bodyPr>
          <a:lstStyle/>
          <a:p>
            <a:pPr marL="158750">
              <a:spcBef>
                <a:spcPts val="235"/>
              </a:spcBef>
            </a:pPr>
            <a:r>
              <a:rPr sz="2000" i="1" dirty="0">
                <a:latin typeface="Calibri" panose="020F0502020204030204"/>
                <a:cs typeface="Calibri" panose="020F0502020204030204"/>
              </a:rPr>
              <a:t>he</a:t>
            </a:r>
            <a:endParaRPr sz="2000">
              <a:latin typeface="Calibri" panose="020F0502020204030204"/>
              <a:cs typeface="Calibri" panose="020F0502020204030204"/>
            </a:endParaRPr>
          </a:p>
        </p:txBody>
      </p:sp>
      <p:sp>
        <p:nvSpPr>
          <p:cNvPr id="18" name="object 18"/>
          <p:cNvSpPr txBox="1"/>
          <p:nvPr/>
        </p:nvSpPr>
        <p:spPr>
          <a:xfrm>
            <a:off x="2308859" y="4971289"/>
            <a:ext cx="571500" cy="337271"/>
          </a:xfrm>
          <a:prstGeom prst="rect">
            <a:avLst/>
          </a:prstGeom>
          <a:ln w="9143">
            <a:solidFill>
              <a:srgbClr val="000000"/>
            </a:solidFill>
          </a:ln>
        </p:spPr>
        <p:txBody>
          <a:bodyPr vert="horz" wrap="square" lIns="0" tIns="29209" rIns="0" bIns="0" rtlCol="0">
            <a:spAutoFit/>
          </a:bodyPr>
          <a:lstStyle/>
          <a:p>
            <a:pPr algn="ctr">
              <a:spcBef>
                <a:spcPts val="230"/>
              </a:spcBef>
            </a:pPr>
            <a:r>
              <a:rPr sz="2000" i="1" dirty="0">
                <a:latin typeface="Calibri" panose="020F0502020204030204"/>
                <a:cs typeface="Calibri" panose="020F0502020204030204"/>
              </a:rPr>
              <a:t>I</a:t>
            </a:r>
            <a:endParaRPr sz="2000">
              <a:latin typeface="Calibri" panose="020F0502020204030204"/>
              <a:cs typeface="Calibri" panose="020F0502020204030204"/>
            </a:endParaRPr>
          </a:p>
        </p:txBody>
      </p:sp>
      <p:sp>
        <p:nvSpPr>
          <p:cNvPr id="19" name="object 19"/>
          <p:cNvSpPr/>
          <p:nvPr/>
        </p:nvSpPr>
        <p:spPr>
          <a:xfrm>
            <a:off x="2103158" y="3543300"/>
            <a:ext cx="491490" cy="500380"/>
          </a:xfrm>
          <a:custGeom>
            <a:avLst/>
            <a:gdLst/>
            <a:ahLst/>
            <a:cxnLst/>
            <a:rect l="l" t="t" r="r" b="b"/>
            <a:pathLst>
              <a:path w="491490" h="500379">
                <a:moveTo>
                  <a:pt x="433491" y="49928"/>
                </a:moveTo>
                <a:lnTo>
                  <a:pt x="0" y="491236"/>
                </a:lnTo>
                <a:lnTo>
                  <a:pt x="9067" y="500125"/>
                </a:lnTo>
                <a:lnTo>
                  <a:pt x="442556" y="58822"/>
                </a:lnTo>
                <a:lnTo>
                  <a:pt x="433491" y="49928"/>
                </a:lnTo>
                <a:close/>
              </a:path>
              <a:path w="491490" h="500379">
                <a:moveTo>
                  <a:pt x="478171" y="40894"/>
                </a:moveTo>
                <a:lnTo>
                  <a:pt x="442366" y="40894"/>
                </a:lnTo>
                <a:lnTo>
                  <a:pt x="451434" y="49784"/>
                </a:lnTo>
                <a:lnTo>
                  <a:pt x="442556" y="58822"/>
                </a:lnTo>
                <a:lnTo>
                  <a:pt x="465188" y="81025"/>
                </a:lnTo>
                <a:lnTo>
                  <a:pt x="478171" y="40894"/>
                </a:lnTo>
                <a:close/>
              </a:path>
              <a:path w="491490" h="500379">
                <a:moveTo>
                  <a:pt x="442366" y="40894"/>
                </a:moveTo>
                <a:lnTo>
                  <a:pt x="433491" y="49928"/>
                </a:lnTo>
                <a:lnTo>
                  <a:pt x="442556" y="58822"/>
                </a:lnTo>
                <a:lnTo>
                  <a:pt x="451434" y="49784"/>
                </a:lnTo>
                <a:lnTo>
                  <a:pt x="442366" y="40894"/>
                </a:lnTo>
                <a:close/>
              </a:path>
              <a:path w="491490" h="500379">
                <a:moveTo>
                  <a:pt x="491401" y="0"/>
                </a:moveTo>
                <a:lnTo>
                  <a:pt x="410819" y="27686"/>
                </a:lnTo>
                <a:lnTo>
                  <a:pt x="433491" y="49928"/>
                </a:lnTo>
                <a:lnTo>
                  <a:pt x="442366" y="40894"/>
                </a:lnTo>
                <a:lnTo>
                  <a:pt x="478171" y="40894"/>
                </a:lnTo>
                <a:lnTo>
                  <a:pt x="491401" y="0"/>
                </a:lnTo>
                <a:close/>
              </a:path>
            </a:pathLst>
          </a:custGeom>
          <a:solidFill>
            <a:srgbClr val="000000"/>
          </a:solidFill>
        </p:spPr>
        <p:txBody>
          <a:bodyPr wrap="square" lIns="0" tIns="0" rIns="0" bIns="0" rtlCol="0"/>
          <a:lstStyle/>
          <a:p>
            <a:endParaRPr/>
          </a:p>
        </p:txBody>
      </p:sp>
      <p:sp>
        <p:nvSpPr>
          <p:cNvPr id="20" name="object 20"/>
          <p:cNvSpPr/>
          <p:nvPr/>
        </p:nvSpPr>
        <p:spPr>
          <a:xfrm>
            <a:off x="2103158" y="4470020"/>
            <a:ext cx="491490" cy="501015"/>
          </a:xfrm>
          <a:custGeom>
            <a:avLst/>
            <a:gdLst/>
            <a:ahLst/>
            <a:cxnLst/>
            <a:rect l="l" t="t" r="r" b="b"/>
            <a:pathLst>
              <a:path w="491490" h="501014">
                <a:moveTo>
                  <a:pt x="433458" y="450760"/>
                </a:moveTo>
                <a:lnTo>
                  <a:pt x="410832" y="472947"/>
                </a:lnTo>
                <a:lnTo>
                  <a:pt x="491401" y="500760"/>
                </a:lnTo>
                <a:lnTo>
                  <a:pt x="478211" y="459866"/>
                </a:lnTo>
                <a:lnTo>
                  <a:pt x="442391" y="459866"/>
                </a:lnTo>
                <a:lnTo>
                  <a:pt x="433458" y="450760"/>
                </a:lnTo>
                <a:close/>
              </a:path>
              <a:path w="491490" h="501014">
                <a:moveTo>
                  <a:pt x="442525" y="441869"/>
                </a:moveTo>
                <a:lnTo>
                  <a:pt x="433458" y="450760"/>
                </a:lnTo>
                <a:lnTo>
                  <a:pt x="442391" y="459866"/>
                </a:lnTo>
                <a:lnTo>
                  <a:pt x="451459" y="450976"/>
                </a:lnTo>
                <a:lnTo>
                  <a:pt x="442525" y="441869"/>
                </a:lnTo>
                <a:close/>
              </a:path>
              <a:path w="491490" h="501014">
                <a:moveTo>
                  <a:pt x="465226" y="419607"/>
                </a:moveTo>
                <a:lnTo>
                  <a:pt x="442525" y="441869"/>
                </a:lnTo>
                <a:lnTo>
                  <a:pt x="451459" y="450976"/>
                </a:lnTo>
                <a:lnTo>
                  <a:pt x="442391" y="459866"/>
                </a:lnTo>
                <a:lnTo>
                  <a:pt x="478211" y="459866"/>
                </a:lnTo>
                <a:lnTo>
                  <a:pt x="465226" y="419607"/>
                </a:lnTo>
                <a:close/>
              </a:path>
              <a:path w="491490" h="501014">
                <a:moveTo>
                  <a:pt x="9067" y="0"/>
                </a:moveTo>
                <a:lnTo>
                  <a:pt x="0" y="8889"/>
                </a:lnTo>
                <a:lnTo>
                  <a:pt x="433458" y="450760"/>
                </a:lnTo>
                <a:lnTo>
                  <a:pt x="442525" y="441869"/>
                </a:lnTo>
                <a:lnTo>
                  <a:pt x="9067" y="0"/>
                </a:lnTo>
                <a:close/>
              </a:path>
            </a:pathLst>
          </a:custGeom>
          <a:solidFill>
            <a:srgbClr val="000000"/>
          </a:solidFill>
        </p:spPr>
        <p:txBody>
          <a:bodyPr wrap="square" lIns="0" tIns="0" rIns="0" bIns="0" rtlCol="0"/>
          <a:lstStyle/>
          <a:p>
            <a:endParaRPr/>
          </a:p>
        </p:txBody>
      </p:sp>
      <p:sp>
        <p:nvSpPr>
          <p:cNvPr id="22" name="object 22"/>
          <p:cNvSpPr txBox="1"/>
          <p:nvPr/>
        </p:nvSpPr>
        <p:spPr>
          <a:xfrm>
            <a:off x="2384857" y="2785617"/>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-0.7</a:t>
            </a:r>
            <a:endParaRPr>
              <a:latin typeface="Calibri" panose="020F0502020204030204"/>
              <a:cs typeface="Calibri" panose="020F0502020204030204"/>
            </a:endParaRPr>
          </a:p>
        </p:txBody>
      </p:sp>
      <p:sp>
        <p:nvSpPr>
          <p:cNvPr id="23" name="object 23"/>
          <p:cNvSpPr txBox="1"/>
          <p:nvPr/>
        </p:nvSpPr>
        <p:spPr>
          <a:xfrm>
            <a:off x="2384857" y="5439562"/>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-0.9</a:t>
            </a:r>
            <a:endParaRPr>
              <a:latin typeface="Calibri" panose="020F0502020204030204"/>
              <a:cs typeface="Calibri" panose="020F0502020204030204"/>
            </a:endParaRPr>
          </a:p>
        </p:txBody>
      </p:sp>
      <p:sp>
        <p:nvSpPr>
          <p:cNvPr id="24" name="object 24"/>
          <p:cNvSpPr txBox="1"/>
          <p:nvPr/>
        </p:nvSpPr>
        <p:spPr>
          <a:xfrm>
            <a:off x="3626612" y="4340479"/>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-1.6</a:t>
            </a:r>
            <a:endParaRPr>
              <a:latin typeface="Calibri" panose="020F0502020204030204"/>
              <a:cs typeface="Calibri" panose="020F0502020204030204"/>
            </a:endParaRPr>
          </a:p>
        </p:txBody>
      </p:sp>
      <p:sp>
        <p:nvSpPr>
          <p:cNvPr id="25" name="object 25"/>
          <p:cNvSpPr txBox="1"/>
          <p:nvPr/>
        </p:nvSpPr>
        <p:spPr>
          <a:xfrm>
            <a:off x="3626612" y="5683708"/>
            <a:ext cx="385445" cy="300355"/>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-1.8</a:t>
            </a:r>
            <a:endParaRPr>
              <a:latin typeface="Calibri" panose="020F0502020204030204"/>
              <a:cs typeface="Calibri" panose="020F0502020204030204"/>
            </a:endParaRPr>
          </a:p>
        </p:txBody>
      </p:sp>
      <p:sp>
        <p:nvSpPr>
          <p:cNvPr id="26" name="object 26"/>
          <p:cNvSpPr txBox="1"/>
          <p:nvPr/>
        </p:nvSpPr>
        <p:spPr>
          <a:xfrm>
            <a:off x="3626612" y="2481198"/>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-1.7</a:t>
            </a:r>
            <a:endParaRPr>
              <a:latin typeface="Calibri" panose="020F0502020204030204"/>
              <a:cs typeface="Calibri" panose="020F0502020204030204"/>
            </a:endParaRPr>
          </a:p>
        </p:txBody>
      </p:sp>
      <p:sp>
        <p:nvSpPr>
          <p:cNvPr id="27" name="object 27"/>
          <p:cNvSpPr txBox="1"/>
          <p:nvPr/>
        </p:nvSpPr>
        <p:spPr>
          <a:xfrm>
            <a:off x="3626612" y="3800602"/>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-2.9</a:t>
            </a:r>
            <a:endParaRPr>
              <a:latin typeface="Calibri" panose="020F0502020204030204"/>
              <a:cs typeface="Calibri" panose="020F0502020204030204"/>
            </a:endParaRPr>
          </a:p>
        </p:txBody>
      </p:sp>
      <p:sp>
        <p:nvSpPr>
          <p:cNvPr id="28" name="object 28"/>
          <p:cNvSpPr txBox="1"/>
          <p:nvPr/>
        </p:nvSpPr>
        <p:spPr>
          <a:xfrm>
            <a:off x="5056378" y="3508375"/>
            <a:ext cx="3813810" cy="299720"/>
          </a:xfrm>
          <a:prstGeom prst="rect">
            <a:avLst/>
          </a:prstGeom>
        </p:spPr>
        <p:txBody>
          <a:bodyPr vert="horz" wrap="square" lIns="0" tIns="12700" rIns="0" bIns="0" rtlCol="0">
            <a:spAutoFit/>
          </a:bodyPr>
          <a:lstStyle/>
          <a:p>
            <a:pPr marL="38100">
              <a:spcBef>
                <a:spcPts val="100"/>
              </a:spcBef>
            </a:pPr>
            <a:r>
              <a:rPr sz="2700" baseline="-5000" dirty="0">
                <a:solidFill>
                  <a:srgbClr val="4285F4"/>
                </a:solidFill>
                <a:latin typeface="Calibri" panose="020F0502020204030204"/>
                <a:cs typeface="Calibri" panose="020F0502020204030204"/>
              </a:rPr>
              <a:t>-2.5</a:t>
            </a:r>
            <a:r>
              <a:rPr sz="2700" spc="412" baseline="-5000" dirty="0">
                <a:solidFill>
                  <a:srgbClr val="4285F4"/>
                </a:solidFill>
                <a:latin typeface="Calibri" panose="020F0502020204030204"/>
                <a:cs typeface="Calibri" panose="020F0502020204030204"/>
              </a:rPr>
              <a:t> </a:t>
            </a:r>
            <a:r>
              <a:rPr dirty="0">
                <a:solidFill>
                  <a:srgbClr val="4285F4"/>
                </a:solidFill>
                <a:latin typeface="Calibri" panose="020F0502020204030204"/>
                <a:cs typeface="Calibri" panose="020F0502020204030204"/>
              </a:rPr>
              <a:t>=</a:t>
            </a:r>
            <a:r>
              <a:rPr spc="-10" dirty="0">
                <a:solidFill>
                  <a:srgbClr val="4285F4"/>
                </a:solidFill>
                <a:latin typeface="Calibri" panose="020F0502020204030204"/>
                <a:cs typeface="Calibri" panose="020F0502020204030204"/>
              </a:rPr>
              <a:t> </a:t>
            </a:r>
            <a:r>
              <a:rPr dirty="0">
                <a:solidFill>
                  <a:srgbClr val="4285F4"/>
                </a:solidFill>
                <a:latin typeface="Calibri" panose="020F0502020204030204"/>
                <a:cs typeface="Calibri" panose="020F0502020204030204"/>
              </a:rPr>
              <a:t>log</a:t>
            </a:r>
            <a:r>
              <a:rPr spc="10" dirty="0">
                <a:solidFill>
                  <a:srgbClr val="4285F4"/>
                </a:solidFill>
                <a:latin typeface="Calibri" panose="020F0502020204030204"/>
                <a:cs typeface="Calibri" panose="020F0502020204030204"/>
              </a:rPr>
              <a:t> </a:t>
            </a:r>
            <a:r>
              <a:rPr spc="-20" dirty="0">
                <a:solidFill>
                  <a:srgbClr val="4285F4"/>
                </a:solidFill>
                <a:latin typeface="Calibri" panose="020F0502020204030204"/>
                <a:cs typeface="Calibri" panose="020F0502020204030204"/>
              </a:rPr>
              <a:t>P</a:t>
            </a:r>
            <a:r>
              <a:rPr spc="-30" baseline="-21000" dirty="0">
                <a:solidFill>
                  <a:srgbClr val="4285F4"/>
                </a:solidFill>
                <a:latin typeface="Calibri" panose="020F0502020204030204"/>
                <a:cs typeface="Calibri" panose="020F0502020204030204"/>
              </a:rPr>
              <a:t>LM</a:t>
            </a:r>
            <a:r>
              <a:rPr spc="-20" dirty="0">
                <a:solidFill>
                  <a:srgbClr val="4285F4"/>
                </a:solidFill>
                <a:latin typeface="Calibri" panose="020F0502020204030204"/>
                <a:cs typeface="Calibri" panose="020F0502020204030204"/>
              </a:rPr>
              <a:t>(</a:t>
            </a:r>
            <a:r>
              <a:rPr i="1" spc="-20" dirty="0">
                <a:solidFill>
                  <a:srgbClr val="4285F4"/>
                </a:solidFill>
                <a:latin typeface="Calibri" panose="020F0502020204030204"/>
                <a:cs typeface="Calibri" panose="020F0502020204030204"/>
              </a:rPr>
              <a:t>me</a:t>
            </a:r>
            <a:r>
              <a:rPr spc="-20" dirty="0">
                <a:solidFill>
                  <a:srgbClr val="4285F4"/>
                </a:solidFill>
                <a:latin typeface="Calibri" panose="020F0502020204030204"/>
                <a:cs typeface="Calibri" panose="020F0502020204030204"/>
              </a:rPr>
              <a:t>|</a:t>
            </a:r>
            <a:r>
              <a:rPr i="1" spc="-20" dirty="0">
                <a:solidFill>
                  <a:srgbClr val="4285F4"/>
                </a:solidFill>
                <a:latin typeface="Calibri" panose="020F0502020204030204"/>
                <a:cs typeface="Calibri" panose="020F0502020204030204"/>
              </a:rPr>
              <a:t>&lt;START&gt;</a:t>
            </a:r>
            <a:r>
              <a:rPr i="1" spc="-10" dirty="0">
                <a:solidFill>
                  <a:srgbClr val="4285F4"/>
                </a:solidFill>
                <a:latin typeface="Calibri" panose="020F0502020204030204"/>
                <a:cs typeface="Calibri" panose="020F0502020204030204"/>
              </a:rPr>
              <a:t> </a:t>
            </a:r>
            <a:r>
              <a:rPr i="1" spc="-5" dirty="0">
                <a:solidFill>
                  <a:srgbClr val="4285F4"/>
                </a:solidFill>
                <a:latin typeface="Calibri" panose="020F0502020204030204"/>
                <a:cs typeface="Calibri" panose="020F0502020204030204"/>
              </a:rPr>
              <a:t>he</a:t>
            </a:r>
            <a:r>
              <a:rPr i="1" spc="5" dirty="0">
                <a:solidFill>
                  <a:srgbClr val="4285F4"/>
                </a:solidFill>
                <a:latin typeface="Calibri" panose="020F0502020204030204"/>
                <a:cs typeface="Calibri" panose="020F0502020204030204"/>
              </a:rPr>
              <a:t> </a:t>
            </a:r>
            <a:r>
              <a:rPr i="1" spc="-5" dirty="0">
                <a:solidFill>
                  <a:srgbClr val="4285F4"/>
                </a:solidFill>
                <a:latin typeface="Calibri" panose="020F0502020204030204"/>
                <a:cs typeface="Calibri" panose="020F0502020204030204"/>
              </a:rPr>
              <a:t>hit</a:t>
            </a:r>
            <a:r>
              <a:rPr spc="-5" dirty="0">
                <a:solidFill>
                  <a:srgbClr val="4285F4"/>
                </a:solidFill>
                <a:latin typeface="Calibri" panose="020F0502020204030204"/>
                <a:cs typeface="Calibri" panose="020F0502020204030204"/>
              </a:rPr>
              <a:t>) </a:t>
            </a:r>
            <a:r>
              <a:rPr dirty="0">
                <a:solidFill>
                  <a:srgbClr val="4285F4"/>
                </a:solidFill>
                <a:latin typeface="Calibri" panose="020F0502020204030204"/>
                <a:cs typeface="Calibri" panose="020F0502020204030204"/>
              </a:rPr>
              <a:t>+</a:t>
            </a:r>
            <a:r>
              <a:rPr spc="10" dirty="0">
                <a:solidFill>
                  <a:srgbClr val="4285F4"/>
                </a:solidFill>
                <a:latin typeface="Calibri" panose="020F0502020204030204"/>
                <a:cs typeface="Calibri" panose="020F0502020204030204"/>
              </a:rPr>
              <a:t> </a:t>
            </a:r>
            <a:r>
              <a:rPr dirty="0">
                <a:solidFill>
                  <a:srgbClr val="4285F4"/>
                </a:solidFill>
                <a:latin typeface="Calibri" panose="020F0502020204030204"/>
                <a:cs typeface="Calibri" panose="020F0502020204030204"/>
              </a:rPr>
              <a:t>-1.7</a:t>
            </a:r>
            <a:endParaRPr>
              <a:latin typeface="Calibri" panose="020F0502020204030204"/>
              <a:cs typeface="Calibri" panose="020F0502020204030204"/>
            </a:endParaRPr>
          </a:p>
        </p:txBody>
      </p:sp>
      <p:sp>
        <p:nvSpPr>
          <p:cNvPr id="29" name="object 29"/>
          <p:cNvSpPr txBox="1"/>
          <p:nvPr/>
        </p:nvSpPr>
        <p:spPr>
          <a:xfrm>
            <a:off x="5056378" y="2184272"/>
            <a:ext cx="3639820" cy="299720"/>
          </a:xfrm>
          <a:prstGeom prst="rect">
            <a:avLst/>
          </a:prstGeom>
        </p:spPr>
        <p:txBody>
          <a:bodyPr vert="horz" wrap="square" lIns="0" tIns="12700" rIns="0" bIns="0" rtlCol="0">
            <a:spAutoFit/>
          </a:bodyPr>
          <a:lstStyle/>
          <a:p>
            <a:pPr marL="38100">
              <a:spcBef>
                <a:spcPts val="100"/>
              </a:spcBef>
            </a:pPr>
            <a:r>
              <a:rPr dirty="0">
                <a:solidFill>
                  <a:srgbClr val="4285F4"/>
                </a:solidFill>
                <a:latin typeface="Calibri" panose="020F0502020204030204"/>
                <a:cs typeface="Calibri" panose="020F0502020204030204"/>
              </a:rPr>
              <a:t>-2.8</a:t>
            </a:r>
            <a:r>
              <a:rPr spc="270" dirty="0">
                <a:solidFill>
                  <a:srgbClr val="4285F4"/>
                </a:solidFill>
                <a:latin typeface="Calibri" panose="020F0502020204030204"/>
                <a:cs typeface="Calibri" panose="020F0502020204030204"/>
              </a:rPr>
              <a:t> </a:t>
            </a:r>
            <a:r>
              <a:rPr sz="2700" baseline="3000" dirty="0">
                <a:solidFill>
                  <a:srgbClr val="4285F4"/>
                </a:solidFill>
                <a:latin typeface="Calibri" panose="020F0502020204030204"/>
                <a:cs typeface="Calibri" panose="020F0502020204030204"/>
              </a:rPr>
              <a:t>=</a:t>
            </a:r>
            <a:r>
              <a:rPr sz="2700" spc="-15" baseline="3000" dirty="0">
                <a:solidFill>
                  <a:srgbClr val="4285F4"/>
                </a:solidFill>
                <a:latin typeface="Calibri" panose="020F0502020204030204"/>
                <a:cs typeface="Calibri" panose="020F0502020204030204"/>
              </a:rPr>
              <a:t> </a:t>
            </a:r>
            <a:r>
              <a:rPr sz="2700" baseline="3000" dirty="0">
                <a:solidFill>
                  <a:srgbClr val="4285F4"/>
                </a:solidFill>
                <a:latin typeface="Calibri" panose="020F0502020204030204"/>
                <a:cs typeface="Calibri" panose="020F0502020204030204"/>
              </a:rPr>
              <a:t>log</a:t>
            </a:r>
            <a:r>
              <a:rPr sz="2700" spc="7" baseline="3000" dirty="0">
                <a:solidFill>
                  <a:srgbClr val="4285F4"/>
                </a:solidFill>
                <a:latin typeface="Calibri" panose="020F0502020204030204"/>
                <a:cs typeface="Calibri" panose="020F0502020204030204"/>
              </a:rPr>
              <a:t> </a:t>
            </a:r>
            <a:r>
              <a:rPr sz="2700" spc="-30" baseline="3000" dirty="0">
                <a:solidFill>
                  <a:srgbClr val="4285F4"/>
                </a:solidFill>
                <a:latin typeface="Calibri" panose="020F0502020204030204"/>
                <a:cs typeface="Calibri" panose="020F0502020204030204"/>
              </a:rPr>
              <a:t>P</a:t>
            </a:r>
            <a:r>
              <a:rPr spc="-30" baseline="-16000" dirty="0">
                <a:solidFill>
                  <a:srgbClr val="4285F4"/>
                </a:solidFill>
                <a:latin typeface="Calibri" panose="020F0502020204030204"/>
                <a:cs typeface="Calibri" panose="020F0502020204030204"/>
              </a:rPr>
              <a:t>LM</a:t>
            </a:r>
            <a:r>
              <a:rPr sz="2700" spc="-30" baseline="3000" dirty="0">
                <a:solidFill>
                  <a:srgbClr val="4285F4"/>
                </a:solidFill>
                <a:latin typeface="Calibri" panose="020F0502020204030204"/>
                <a:cs typeface="Calibri" panose="020F0502020204030204"/>
              </a:rPr>
              <a:t>(</a:t>
            </a:r>
            <a:r>
              <a:rPr sz="2700" i="1" spc="-30" baseline="3000" dirty="0">
                <a:solidFill>
                  <a:srgbClr val="4285F4"/>
                </a:solidFill>
                <a:latin typeface="Calibri" panose="020F0502020204030204"/>
                <a:cs typeface="Calibri" panose="020F0502020204030204"/>
              </a:rPr>
              <a:t>a</a:t>
            </a:r>
            <a:r>
              <a:rPr sz="2700" spc="-30" baseline="3000" dirty="0">
                <a:solidFill>
                  <a:srgbClr val="4285F4"/>
                </a:solidFill>
                <a:latin typeface="Calibri" panose="020F0502020204030204"/>
                <a:cs typeface="Calibri" panose="020F0502020204030204"/>
              </a:rPr>
              <a:t>|</a:t>
            </a:r>
            <a:r>
              <a:rPr sz="2700" i="1" spc="-30" baseline="3000" dirty="0">
                <a:solidFill>
                  <a:srgbClr val="4285F4"/>
                </a:solidFill>
                <a:latin typeface="Calibri" panose="020F0502020204030204"/>
                <a:cs typeface="Calibri" panose="020F0502020204030204"/>
              </a:rPr>
              <a:t>&lt;START&gt;</a:t>
            </a:r>
            <a:r>
              <a:rPr sz="2700" i="1" spc="-22" baseline="3000" dirty="0">
                <a:solidFill>
                  <a:srgbClr val="4285F4"/>
                </a:solidFill>
                <a:latin typeface="Calibri" panose="020F0502020204030204"/>
                <a:cs typeface="Calibri" panose="020F0502020204030204"/>
              </a:rPr>
              <a:t> </a:t>
            </a:r>
            <a:r>
              <a:rPr sz="2700" i="1" spc="-7" baseline="3000" dirty="0">
                <a:solidFill>
                  <a:srgbClr val="4285F4"/>
                </a:solidFill>
                <a:latin typeface="Calibri" panose="020F0502020204030204"/>
                <a:cs typeface="Calibri" panose="020F0502020204030204"/>
              </a:rPr>
              <a:t>he</a:t>
            </a:r>
            <a:r>
              <a:rPr sz="2700" i="1" baseline="3000" dirty="0">
                <a:solidFill>
                  <a:srgbClr val="4285F4"/>
                </a:solidFill>
                <a:latin typeface="Calibri" panose="020F0502020204030204"/>
                <a:cs typeface="Calibri" panose="020F0502020204030204"/>
              </a:rPr>
              <a:t> </a:t>
            </a:r>
            <a:r>
              <a:rPr sz="2700" i="1" spc="-7" baseline="3000" dirty="0">
                <a:solidFill>
                  <a:srgbClr val="4285F4"/>
                </a:solidFill>
                <a:latin typeface="Calibri" panose="020F0502020204030204"/>
                <a:cs typeface="Calibri" panose="020F0502020204030204"/>
              </a:rPr>
              <a:t>hit</a:t>
            </a:r>
            <a:r>
              <a:rPr sz="2700" spc="-7" baseline="3000" dirty="0">
                <a:solidFill>
                  <a:srgbClr val="4285F4"/>
                </a:solidFill>
                <a:latin typeface="Calibri" panose="020F0502020204030204"/>
                <a:cs typeface="Calibri" panose="020F0502020204030204"/>
              </a:rPr>
              <a:t>)</a:t>
            </a:r>
            <a:r>
              <a:rPr sz="2700" spc="7" baseline="3000" dirty="0">
                <a:solidFill>
                  <a:srgbClr val="4285F4"/>
                </a:solidFill>
                <a:latin typeface="Calibri" panose="020F0502020204030204"/>
                <a:cs typeface="Calibri" panose="020F0502020204030204"/>
              </a:rPr>
              <a:t> </a:t>
            </a:r>
            <a:r>
              <a:rPr sz="2700" baseline="3000" dirty="0">
                <a:solidFill>
                  <a:srgbClr val="4285F4"/>
                </a:solidFill>
                <a:latin typeface="Calibri" panose="020F0502020204030204"/>
                <a:cs typeface="Calibri" panose="020F0502020204030204"/>
              </a:rPr>
              <a:t>+</a:t>
            </a:r>
            <a:r>
              <a:rPr sz="2700" spc="-7" baseline="3000" dirty="0">
                <a:solidFill>
                  <a:srgbClr val="4285F4"/>
                </a:solidFill>
                <a:latin typeface="Calibri" panose="020F0502020204030204"/>
                <a:cs typeface="Calibri" panose="020F0502020204030204"/>
              </a:rPr>
              <a:t> </a:t>
            </a:r>
            <a:r>
              <a:rPr sz="2700" baseline="3000" dirty="0">
                <a:solidFill>
                  <a:srgbClr val="4285F4"/>
                </a:solidFill>
                <a:latin typeface="Calibri" panose="020F0502020204030204"/>
                <a:cs typeface="Calibri" panose="020F0502020204030204"/>
              </a:rPr>
              <a:t>-1.7</a:t>
            </a:r>
            <a:endParaRPr sz="2700" baseline="3000">
              <a:latin typeface="Calibri" panose="020F0502020204030204"/>
              <a:cs typeface="Calibri" panose="020F0502020204030204"/>
            </a:endParaRPr>
          </a:p>
        </p:txBody>
      </p:sp>
      <p:sp>
        <p:nvSpPr>
          <p:cNvPr id="30" name="object 30"/>
          <p:cNvSpPr txBox="1"/>
          <p:nvPr/>
        </p:nvSpPr>
        <p:spPr>
          <a:xfrm>
            <a:off x="5056379" y="5406949"/>
            <a:ext cx="4024629" cy="300355"/>
          </a:xfrm>
          <a:prstGeom prst="rect">
            <a:avLst/>
          </a:prstGeom>
        </p:spPr>
        <p:txBody>
          <a:bodyPr vert="horz" wrap="square" lIns="0" tIns="12700" rIns="0" bIns="0" rtlCol="0">
            <a:spAutoFit/>
          </a:bodyPr>
          <a:lstStyle/>
          <a:p>
            <a:pPr marL="38100">
              <a:spcBef>
                <a:spcPts val="100"/>
              </a:spcBef>
            </a:pPr>
            <a:r>
              <a:rPr dirty="0">
                <a:solidFill>
                  <a:srgbClr val="4285F4"/>
                </a:solidFill>
                <a:latin typeface="Calibri" panose="020F0502020204030204"/>
                <a:cs typeface="Calibri" panose="020F0502020204030204"/>
              </a:rPr>
              <a:t>-3.8</a:t>
            </a:r>
            <a:r>
              <a:rPr spc="210" dirty="0">
                <a:solidFill>
                  <a:srgbClr val="4285F4"/>
                </a:solidFill>
                <a:latin typeface="Calibri" panose="020F0502020204030204"/>
                <a:cs typeface="Calibri" panose="020F0502020204030204"/>
              </a:rPr>
              <a:t> </a:t>
            </a:r>
            <a:r>
              <a:rPr dirty="0">
                <a:solidFill>
                  <a:srgbClr val="4285F4"/>
                </a:solidFill>
                <a:latin typeface="Calibri" panose="020F0502020204030204"/>
                <a:cs typeface="Calibri" panose="020F0502020204030204"/>
              </a:rPr>
              <a:t>=</a:t>
            </a:r>
            <a:r>
              <a:rPr spc="5" dirty="0">
                <a:solidFill>
                  <a:srgbClr val="4285F4"/>
                </a:solidFill>
                <a:latin typeface="Calibri" panose="020F0502020204030204"/>
                <a:cs typeface="Calibri" panose="020F0502020204030204"/>
              </a:rPr>
              <a:t> </a:t>
            </a:r>
            <a:r>
              <a:rPr dirty="0">
                <a:solidFill>
                  <a:srgbClr val="4285F4"/>
                </a:solidFill>
                <a:latin typeface="Calibri" panose="020F0502020204030204"/>
                <a:cs typeface="Calibri" panose="020F0502020204030204"/>
              </a:rPr>
              <a:t>log</a:t>
            </a:r>
            <a:r>
              <a:rPr spc="10" dirty="0">
                <a:solidFill>
                  <a:srgbClr val="4285F4"/>
                </a:solidFill>
                <a:latin typeface="Calibri" panose="020F0502020204030204"/>
                <a:cs typeface="Calibri" panose="020F0502020204030204"/>
              </a:rPr>
              <a:t> </a:t>
            </a:r>
            <a:r>
              <a:rPr spc="-20" dirty="0">
                <a:solidFill>
                  <a:srgbClr val="4285F4"/>
                </a:solidFill>
                <a:latin typeface="Calibri" panose="020F0502020204030204"/>
                <a:cs typeface="Calibri" panose="020F0502020204030204"/>
              </a:rPr>
              <a:t>P</a:t>
            </a:r>
            <a:r>
              <a:rPr spc="-30" baseline="-21000" dirty="0">
                <a:solidFill>
                  <a:srgbClr val="4285F4"/>
                </a:solidFill>
                <a:latin typeface="Calibri" panose="020F0502020204030204"/>
                <a:cs typeface="Calibri" panose="020F0502020204030204"/>
              </a:rPr>
              <a:t>LM</a:t>
            </a:r>
            <a:r>
              <a:rPr spc="-20" dirty="0">
                <a:solidFill>
                  <a:srgbClr val="4285F4"/>
                </a:solidFill>
                <a:latin typeface="Calibri" panose="020F0502020204030204"/>
                <a:cs typeface="Calibri" panose="020F0502020204030204"/>
              </a:rPr>
              <a:t>(</a:t>
            </a:r>
            <a:r>
              <a:rPr i="1" spc="-20" dirty="0">
                <a:solidFill>
                  <a:srgbClr val="4285F4"/>
                </a:solidFill>
                <a:latin typeface="Calibri" panose="020F0502020204030204"/>
                <a:cs typeface="Calibri" panose="020F0502020204030204"/>
              </a:rPr>
              <a:t>struck</a:t>
            </a:r>
            <a:r>
              <a:rPr spc="-20" dirty="0">
                <a:solidFill>
                  <a:srgbClr val="4285F4"/>
                </a:solidFill>
                <a:latin typeface="Calibri" panose="020F0502020204030204"/>
                <a:cs typeface="Calibri" panose="020F0502020204030204"/>
              </a:rPr>
              <a:t>|</a:t>
            </a:r>
            <a:r>
              <a:rPr i="1" spc="-20" dirty="0">
                <a:solidFill>
                  <a:srgbClr val="4285F4"/>
                </a:solidFill>
                <a:latin typeface="Calibri" panose="020F0502020204030204"/>
                <a:cs typeface="Calibri" panose="020F0502020204030204"/>
              </a:rPr>
              <a:t>&lt;START&gt;</a:t>
            </a:r>
            <a:r>
              <a:rPr i="1" spc="10" dirty="0">
                <a:solidFill>
                  <a:srgbClr val="4285F4"/>
                </a:solidFill>
                <a:latin typeface="Calibri" panose="020F0502020204030204"/>
                <a:cs typeface="Calibri" panose="020F0502020204030204"/>
              </a:rPr>
              <a:t> </a:t>
            </a:r>
            <a:r>
              <a:rPr i="1" dirty="0">
                <a:solidFill>
                  <a:srgbClr val="4285F4"/>
                </a:solidFill>
                <a:latin typeface="Calibri" panose="020F0502020204030204"/>
                <a:cs typeface="Calibri" panose="020F0502020204030204"/>
              </a:rPr>
              <a:t>I </a:t>
            </a:r>
            <a:r>
              <a:rPr i="1" spc="-5" dirty="0">
                <a:solidFill>
                  <a:srgbClr val="4285F4"/>
                </a:solidFill>
                <a:latin typeface="Calibri" panose="020F0502020204030204"/>
                <a:cs typeface="Calibri" panose="020F0502020204030204"/>
              </a:rPr>
              <a:t>was</a:t>
            </a:r>
            <a:r>
              <a:rPr spc="-5" dirty="0">
                <a:solidFill>
                  <a:srgbClr val="4285F4"/>
                </a:solidFill>
                <a:latin typeface="Calibri" panose="020F0502020204030204"/>
                <a:cs typeface="Calibri" panose="020F0502020204030204"/>
              </a:rPr>
              <a:t>)</a:t>
            </a:r>
            <a:r>
              <a:rPr spc="20" dirty="0">
                <a:solidFill>
                  <a:srgbClr val="4285F4"/>
                </a:solidFill>
                <a:latin typeface="Calibri" panose="020F0502020204030204"/>
                <a:cs typeface="Calibri" panose="020F0502020204030204"/>
              </a:rPr>
              <a:t> </a:t>
            </a:r>
            <a:r>
              <a:rPr dirty="0">
                <a:solidFill>
                  <a:srgbClr val="4285F4"/>
                </a:solidFill>
                <a:latin typeface="Calibri" panose="020F0502020204030204"/>
                <a:cs typeface="Calibri" panose="020F0502020204030204"/>
              </a:rPr>
              <a:t>+ -1.6</a:t>
            </a:r>
            <a:endParaRPr>
              <a:latin typeface="Calibri" panose="020F0502020204030204"/>
              <a:cs typeface="Calibri" panose="020F0502020204030204"/>
            </a:endParaRPr>
          </a:p>
        </p:txBody>
      </p:sp>
      <p:sp>
        <p:nvSpPr>
          <p:cNvPr id="31" name="object 31"/>
          <p:cNvSpPr txBox="1"/>
          <p:nvPr/>
        </p:nvSpPr>
        <p:spPr>
          <a:xfrm>
            <a:off x="5056378" y="4079494"/>
            <a:ext cx="3722370" cy="299720"/>
          </a:xfrm>
          <a:prstGeom prst="rect">
            <a:avLst/>
          </a:prstGeom>
        </p:spPr>
        <p:txBody>
          <a:bodyPr vert="horz" wrap="square" lIns="0" tIns="12700" rIns="0" bIns="0" rtlCol="0">
            <a:spAutoFit/>
          </a:bodyPr>
          <a:lstStyle/>
          <a:p>
            <a:pPr marL="38100">
              <a:spcBef>
                <a:spcPts val="100"/>
              </a:spcBef>
            </a:pPr>
            <a:r>
              <a:rPr dirty="0">
                <a:solidFill>
                  <a:srgbClr val="4285F4"/>
                </a:solidFill>
                <a:latin typeface="Calibri" panose="020F0502020204030204"/>
                <a:cs typeface="Calibri" panose="020F0502020204030204"/>
              </a:rPr>
              <a:t>-2.9</a:t>
            </a:r>
            <a:r>
              <a:rPr spc="275" dirty="0">
                <a:solidFill>
                  <a:srgbClr val="4285F4"/>
                </a:solidFill>
                <a:latin typeface="Calibri" panose="020F0502020204030204"/>
                <a:cs typeface="Calibri" panose="020F0502020204030204"/>
              </a:rPr>
              <a:t> </a:t>
            </a:r>
            <a:r>
              <a:rPr sz="2700" baseline="2000" dirty="0">
                <a:solidFill>
                  <a:srgbClr val="4285F4"/>
                </a:solidFill>
                <a:latin typeface="Calibri" panose="020F0502020204030204"/>
                <a:cs typeface="Calibri" panose="020F0502020204030204"/>
              </a:rPr>
              <a:t>=</a:t>
            </a:r>
            <a:r>
              <a:rPr sz="2700" spc="-15" baseline="2000" dirty="0">
                <a:solidFill>
                  <a:srgbClr val="4285F4"/>
                </a:solidFill>
                <a:latin typeface="Calibri" panose="020F0502020204030204"/>
                <a:cs typeface="Calibri" panose="020F0502020204030204"/>
              </a:rPr>
              <a:t> </a:t>
            </a:r>
            <a:r>
              <a:rPr sz="2700" baseline="2000" dirty="0">
                <a:solidFill>
                  <a:srgbClr val="4285F4"/>
                </a:solidFill>
                <a:latin typeface="Calibri" panose="020F0502020204030204"/>
                <a:cs typeface="Calibri" panose="020F0502020204030204"/>
              </a:rPr>
              <a:t>log</a:t>
            </a:r>
            <a:r>
              <a:rPr sz="2700" spc="15" baseline="2000" dirty="0">
                <a:solidFill>
                  <a:srgbClr val="4285F4"/>
                </a:solidFill>
                <a:latin typeface="Calibri" panose="020F0502020204030204"/>
                <a:cs typeface="Calibri" panose="020F0502020204030204"/>
              </a:rPr>
              <a:t> </a:t>
            </a:r>
            <a:r>
              <a:rPr sz="2700" spc="-30" baseline="2000" dirty="0">
                <a:solidFill>
                  <a:srgbClr val="4285F4"/>
                </a:solidFill>
                <a:latin typeface="Calibri" panose="020F0502020204030204"/>
                <a:cs typeface="Calibri" panose="020F0502020204030204"/>
              </a:rPr>
              <a:t>P</a:t>
            </a:r>
            <a:r>
              <a:rPr spc="-30" baseline="-19000" dirty="0">
                <a:solidFill>
                  <a:srgbClr val="4285F4"/>
                </a:solidFill>
                <a:latin typeface="Calibri" panose="020F0502020204030204"/>
                <a:cs typeface="Calibri" panose="020F0502020204030204"/>
              </a:rPr>
              <a:t>LM</a:t>
            </a:r>
            <a:r>
              <a:rPr sz="2700" spc="-30" baseline="2000" dirty="0">
                <a:solidFill>
                  <a:srgbClr val="4285F4"/>
                </a:solidFill>
                <a:latin typeface="Calibri" panose="020F0502020204030204"/>
                <a:cs typeface="Calibri" panose="020F0502020204030204"/>
              </a:rPr>
              <a:t>(</a:t>
            </a:r>
            <a:r>
              <a:rPr sz="2700" i="1" spc="-30" baseline="2000" dirty="0">
                <a:solidFill>
                  <a:srgbClr val="4285F4"/>
                </a:solidFill>
                <a:latin typeface="Calibri" panose="020F0502020204030204"/>
                <a:cs typeface="Calibri" panose="020F0502020204030204"/>
              </a:rPr>
              <a:t>hit</a:t>
            </a:r>
            <a:r>
              <a:rPr sz="2700" spc="-30" baseline="2000" dirty="0">
                <a:solidFill>
                  <a:srgbClr val="4285F4"/>
                </a:solidFill>
                <a:latin typeface="Calibri" panose="020F0502020204030204"/>
                <a:cs typeface="Calibri" panose="020F0502020204030204"/>
              </a:rPr>
              <a:t>|</a:t>
            </a:r>
            <a:r>
              <a:rPr sz="2700" i="1" spc="-30" baseline="2000" dirty="0">
                <a:solidFill>
                  <a:srgbClr val="4285F4"/>
                </a:solidFill>
                <a:latin typeface="Calibri" panose="020F0502020204030204"/>
                <a:cs typeface="Calibri" panose="020F0502020204030204"/>
              </a:rPr>
              <a:t>&lt;START&gt;</a:t>
            </a:r>
            <a:r>
              <a:rPr sz="2700" i="1" spc="-7" baseline="2000" dirty="0">
                <a:solidFill>
                  <a:srgbClr val="4285F4"/>
                </a:solidFill>
                <a:latin typeface="Calibri" panose="020F0502020204030204"/>
                <a:cs typeface="Calibri" panose="020F0502020204030204"/>
              </a:rPr>
              <a:t> </a:t>
            </a:r>
            <a:r>
              <a:rPr sz="2700" i="1" baseline="2000" dirty="0">
                <a:solidFill>
                  <a:srgbClr val="4285F4"/>
                </a:solidFill>
                <a:latin typeface="Calibri" panose="020F0502020204030204"/>
                <a:cs typeface="Calibri" panose="020F0502020204030204"/>
              </a:rPr>
              <a:t>I</a:t>
            </a:r>
            <a:r>
              <a:rPr sz="2700" i="1" spc="-7" baseline="2000" dirty="0">
                <a:solidFill>
                  <a:srgbClr val="4285F4"/>
                </a:solidFill>
                <a:latin typeface="Calibri" panose="020F0502020204030204"/>
                <a:cs typeface="Calibri" panose="020F0502020204030204"/>
              </a:rPr>
              <a:t> was</a:t>
            </a:r>
            <a:r>
              <a:rPr sz="2700" spc="-7" baseline="2000" dirty="0">
                <a:solidFill>
                  <a:srgbClr val="4285F4"/>
                </a:solidFill>
                <a:latin typeface="Calibri" panose="020F0502020204030204"/>
                <a:cs typeface="Calibri" panose="020F0502020204030204"/>
              </a:rPr>
              <a:t>)</a:t>
            </a:r>
            <a:r>
              <a:rPr sz="2700" spc="15" baseline="2000" dirty="0">
                <a:solidFill>
                  <a:srgbClr val="4285F4"/>
                </a:solidFill>
                <a:latin typeface="Calibri" panose="020F0502020204030204"/>
                <a:cs typeface="Calibri" panose="020F0502020204030204"/>
              </a:rPr>
              <a:t> </a:t>
            </a:r>
            <a:r>
              <a:rPr sz="2700" baseline="2000" dirty="0">
                <a:solidFill>
                  <a:srgbClr val="4285F4"/>
                </a:solidFill>
                <a:latin typeface="Calibri" panose="020F0502020204030204"/>
                <a:cs typeface="Calibri" panose="020F0502020204030204"/>
              </a:rPr>
              <a:t>+ -1.6</a:t>
            </a:r>
            <a:endParaRPr sz="2700" baseline="2000">
              <a:latin typeface="Calibri" panose="020F0502020204030204"/>
              <a:cs typeface="Calibri" panose="020F0502020204030204"/>
            </a:endParaRPr>
          </a:p>
        </p:txBody>
      </p:sp>
      <p:sp>
        <p:nvSpPr>
          <p:cNvPr id="33" name="object 33"/>
          <p:cNvSpPr txBox="1"/>
          <p:nvPr/>
        </p:nvSpPr>
        <p:spPr>
          <a:xfrm>
            <a:off x="3446780" y="6083300"/>
            <a:ext cx="4318000" cy="584835"/>
          </a:xfrm>
          <a:prstGeom prst="rect">
            <a:avLst/>
          </a:prstGeom>
          <a:ln w="19811">
            <a:solidFill>
              <a:srgbClr val="BA56BD"/>
            </a:solidFill>
          </a:ln>
        </p:spPr>
        <p:txBody>
          <a:bodyPr vert="horz" wrap="square" lIns="0" tIns="31115" rIns="0" bIns="0" rtlCol="0">
            <a:spAutoFit/>
          </a:bodyPr>
          <a:lstStyle/>
          <a:p>
            <a:pPr marR="48260" algn="ctr">
              <a:spcBef>
                <a:spcPts val="245"/>
              </a:spcBef>
            </a:pPr>
            <a:r>
              <a:rPr spc="-10" dirty="0">
                <a:solidFill>
                  <a:srgbClr val="BA56BD"/>
                </a:solidFill>
                <a:cs typeface="Calibri" panose="020F0502020204030204"/>
              </a:rPr>
              <a:t>For</a:t>
            </a:r>
            <a:r>
              <a:rPr spc="-20" dirty="0">
                <a:solidFill>
                  <a:srgbClr val="BA56BD"/>
                </a:solidFill>
                <a:cs typeface="Calibri" panose="020F0502020204030204"/>
              </a:rPr>
              <a:t> </a:t>
            </a:r>
            <a:r>
              <a:rPr dirty="0">
                <a:solidFill>
                  <a:srgbClr val="BA56BD"/>
                </a:solidFill>
                <a:cs typeface="Calibri" panose="020F0502020204030204"/>
              </a:rPr>
              <a:t>each</a:t>
            </a:r>
            <a:r>
              <a:rPr spc="5" dirty="0">
                <a:solidFill>
                  <a:srgbClr val="BA56BD"/>
                </a:solidFill>
                <a:cs typeface="Calibri" panose="020F0502020204030204"/>
              </a:rPr>
              <a:t> </a:t>
            </a:r>
            <a:r>
              <a:rPr spc="-5" dirty="0">
                <a:solidFill>
                  <a:srgbClr val="BA56BD"/>
                </a:solidFill>
                <a:cs typeface="Calibri" panose="020F0502020204030204"/>
              </a:rPr>
              <a:t>of</a:t>
            </a:r>
            <a:r>
              <a:rPr spc="5" dirty="0">
                <a:solidFill>
                  <a:srgbClr val="BA56BD"/>
                </a:solidFill>
                <a:cs typeface="Calibri" panose="020F0502020204030204"/>
              </a:rPr>
              <a:t> </a:t>
            </a:r>
            <a:r>
              <a:rPr dirty="0">
                <a:solidFill>
                  <a:srgbClr val="BA56BD"/>
                </a:solidFill>
                <a:cs typeface="Calibri" panose="020F0502020204030204"/>
              </a:rPr>
              <a:t>the </a:t>
            </a:r>
            <a:r>
              <a:rPr i="1" dirty="0">
                <a:solidFill>
                  <a:srgbClr val="BA56BD"/>
                </a:solidFill>
                <a:cs typeface="Calibri" panose="020F0502020204030204"/>
              </a:rPr>
              <a:t>k</a:t>
            </a:r>
            <a:r>
              <a:rPr i="1" spc="-10" dirty="0">
                <a:solidFill>
                  <a:srgbClr val="BA56BD"/>
                </a:solidFill>
                <a:cs typeface="Calibri" panose="020F0502020204030204"/>
              </a:rPr>
              <a:t> </a:t>
            </a:r>
            <a:r>
              <a:rPr spc="-5" dirty="0">
                <a:solidFill>
                  <a:srgbClr val="BA56BD"/>
                </a:solidFill>
                <a:cs typeface="Calibri" panose="020F0502020204030204"/>
              </a:rPr>
              <a:t>hypotheses,</a:t>
            </a:r>
            <a:r>
              <a:rPr spc="-15" dirty="0">
                <a:solidFill>
                  <a:srgbClr val="BA56BD"/>
                </a:solidFill>
                <a:cs typeface="Calibri" panose="020F0502020204030204"/>
              </a:rPr>
              <a:t> </a:t>
            </a:r>
            <a:r>
              <a:rPr spc="-5" dirty="0">
                <a:solidFill>
                  <a:srgbClr val="BA56BD"/>
                </a:solidFill>
                <a:cs typeface="Calibri" panose="020F0502020204030204"/>
              </a:rPr>
              <a:t>find</a:t>
            </a:r>
            <a:endParaRPr>
              <a:cs typeface="Calibri" panose="020F0502020204030204"/>
            </a:endParaRPr>
          </a:p>
          <a:p>
            <a:pPr marL="1905" algn="ctr"/>
            <a:r>
              <a:rPr spc="-10" dirty="0">
                <a:solidFill>
                  <a:srgbClr val="BA56BD"/>
                </a:solidFill>
                <a:cs typeface="Calibri" panose="020F0502020204030204"/>
              </a:rPr>
              <a:t>top</a:t>
            </a:r>
            <a:r>
              <a:rPr spc="-5" dirty="0">
                <a:solidFill>
                  <a:srgbClr val="BA56BD"/>
                </a:solidFill>
                <a:cs typeface="Calibri" panose="020F0502020204030204"/>
              </a:rPr>
              <a:t> </a:t>
            </a:r>
            <a:r>
              <a:rPr i="1" dirty="0">
                <a:solidFill>
                  <a:srgbClr val="BA56BD"/>
                </a:solidFill>
                <a:cs typeface="Calibri" panose="020F0502020204030204"/>
              </a:rPr>
              <a:t>k</a:t>
            </a:r>
            <a:r>
              <a:rPr i="1" spc="-10" dirty="0">
                <a:solidFill>
                  <a:srgbClr val="BA56BD"/>
                </a:solidFill>
                <a:cs typeface="Calibri" panose="020F0502020204030204"/>
              </a:rPr>
              <a:t> </a:t>
            </a:r>
            <a:r>
              <a:rPr spc="-10" dirty="0">
                <a:solidFill>
                  <a:srgbClr val="BA56BD"/>
                </a:solidFill>
                <a:cs typeface="Calibri" panose="020F0502020204030204"/>
              </a:rPr>
              <a:t>next</a:t>
            </a:r>
            <a:r>
              <a:rPr spc="10" dirty="0">
                <a:solidFill>
                  <a:srgbClr val="BA56BD"/>
                </a:solidFill>
                <a:cs typeface="Calibri" panose="020F0502020204030204"/>
              </a:rPr>
              <a:t> </a:t>
            </a:r>
            <a:r>
              <a:rPr spc="-10" dirty="0">
                <a:solidFill>
                  <a:srgbClr val="BA56BD"/>
                </a:solidFill>
                <a:cs typeface="Calibri" panose="020F0502020204030204"/>
              </a:rPr>
              <a:t>words</a:t>
            </a:r>
            <a:r>
              <a:rPr dirty="0">
                <a:solidFill>
                  <a:srgbClr val="BA56BD"/>
                </a:solidFill>
                <a:cs typeface="Calibri" panose="020F0502020204030204"/>
              </a:rPr>
              <a:t> and </a:t>
            </a:r>
            <a:r>
              <a:rPr spc="-10" dirty="0">
                <a:solidFill>
                  <a:srgbClr val="BA56BD"/>
                </a:solidFill>
                <a:cs typeface="Calibri" panose="020F0502020204030204"/>
              </a:rPr>
              <a:t>calculate</a:t>
            </a:r>
            <a:r>
              <a:rPr spc="20" dirty="0">
                <a:solidFill>
                  <a:srgbClr val="BA56BD"/>
                </a:solidFill>
                <a:cs typeface="Calibri" panose="020F0502020204030204"/>
              </a:rPr>
              <a:t> </a:t>
            </a:r>
            <a:r>
              <a:rPr spc="-10" dirty="0">
                <a:solidFill>
                  <a:srgbClr val="BA56BD"/>
                </a:solidFill>
                <a:cs typeface="Calibri" panose="020F0502020204030204"/>
              </a:rPr>
              <a:t>scores</a:t>
            </a:r>
            <a:endParaRPr>
              <a:cs typeface="Calibri" panose="020F0502020204030204"/>
            </a:endParaRPr>
          </a:p>
        </p:txBody>
      </p:sp>
      <p:grpSp>
        <p:nvGrpSpPr>
          <p:cNvPr id="38" name="Group 37"/>
          <p:cNvGrpSpPr/>
          <p:nvPr/>
        </p:nvGrpSpPr>
        <p:grpSpPr>
          <a:xfrm>
            <a:off x="1875934" y="646192"/>
            <a:ext cx="8356238" cy="736600"/>
            <a:chOff x="1875934" y="646192"/>
            <a:chExt cx="8356238" cy="736600"/>
          </a:xfrm>
        </p:grpSpPr>
        <p:sp>
          <p:nvSpPr>
            <p:cNvPr id="39" name="object 3"/>
            <p:cNvSpPr txBox="1"/>
            <p:nvPr/>
          </p:nvSpPr>
          <p:spPr>
            <a:xfrm>
              <a:off x="1875934" y="840487"/>
              <a:ext cx="3557126" cy="321242"/>
            </a:xfrm>
            <a:prstGeom prst="rect">
              <a:avLst/>
            </a:prstGeom>
          </p:spPr>
          <p:txBody>
            <a:bodyPr vert="horz" wrap="square" lIns="0" tIns="13335" rIns="0" bIns="0" rtlCol="0">
              <a:spAutoFit/>
            </a:bodyPr>
            <a:lstStyle/>
            <a:p>
              <a:pPr marL="12700">
                <a:spcBef>
                  <a:spcPts val="105"/>
                </a:spcBef>
              </a:pPr>
              <a:r>
                <a:rPr sz="2000" b="1" dirty="0">
                  <a:cs typeface="Calibri" panose="020F0502020204030204"/>
                </a:rPr>
                <a:t>Beam</a:t>
              </a:r>
              <a:r>
                <a:rPr sz="2000" b="1" spc="-10" dirty="0">
                  <a:cs typeface="Calibri" panose="020F0502020204030204"/>
                </a:rPr>
                <a:t> </a:t>
              </a:r>
              <a:r>
                <a:rPr sz="2000" b="1" spc="-5" dirty="0">
                  <a:cs typeface="Calibri" panose="020F0502020204030204"/>
                </a:rPr>
                <a:t>size</a:t>
              </a:r>
              <a:r>
                <a:rPr sz="2000" b="1" dirty="0">
                  <a:cs typeface="Calibri" panose="020F0502020204030204"/>
                </a:rPr>
                <a:t> =</a:t>
              </a:r>
              <a:r>
                <a:rPr sz="2000" b="1" spc="-15" dirty="0">
                  <a:cs typeface="Calibri" panose="020F0502020204030204"/>
                </a:rPr>
                <a:t> </a:t>
              </a:r>
              <a:r>
                <a:rPr sz="2000" b="1" dirty="0">
                  <a:cs typeface="Calibri" panose="020F0502020204030204"/>
                </a:rPr>
                <a:t>k</a:t>
              </a:r>
              <a:r>
                <a:rPr sz="2000" b="1" spc="-10" dirty="0">
                  <a:cs typeface="Calibri" panose="020F0502020204030204"/>
                </a:rPr>
                <a:t> </a:t>
              </a:r>
              <a:r>
                <a:rPr sz="2000" b="1" dirty="0">
                  <a:cs typeface="Calibri" panose="020F0502020204030204"/>
                </a:rPr>
                <a:t>=</a:t>
              </a:r>
              <a:r>
                <a:rPr sz="2000" b="1" spc="-5" dirty="0">
                  <a:cs typeface="Calibri" panose="020F0502020204030204"/>
                </a:rPr>
                <a:t> </a:t>
              </a:r>
              <a:r>
                <a:rPr sz="2000" b="1" dirty="0">
                  <a:cs typeface="Calibri" panose="020F0502020204030204"/>
                </a:rPr>
                <a:t>2</a:t>
              </a:r>
              <a:r>
                <a:rPr sz="2000" dirty="0">
                  <a:cs typeface="Calibri" panose="020F0502020204030204"/>
                </a:rPr>
                <a:t>.</a:t>
              </a:r>
              <a:r>
                <a:rPr sz="2000" spc="-25" dirty="0">
                  <a:cs typeface="Calibri" panose="020F0502020204030204"/>
                </a:rPr>
                <a:t> </a:t>
              </a:r>
              <a:r>
                <a:rPr sz="2000" dirty="0">
                  <a:solidFill>
                    <a:srgbClr val="4285F4"/>
                  </a:solidFill>
                  <a:cs typeface="Calibri" panose="020F0502020204030204"/>
                </a:rPr>
                <a:t>Blue</a:t>
              </a:r>
              <a:r>
                <a:rPr sz="2000" spc="-10" dirty="0">
                  <a:solidFill>
                    <a:srgbClr val="4285F4"/>
                  </a:solidFill>
                  <a:cs typeface="Calibri" panose="020F0502020204030204"/>
                </a:rPr>
                <a:t> </a:t>
              </a:r>
              <a:r>
                <a:rPr sz="2000" dirty="0">
                  <a:solidFill>
                    <a:srgbClr val="4285F4"/>
                  </a:solidFill>
                  <a:cs typeface="Calibri" panose="020F0502020204030204"/>
                </a:rPr>
                <a:t>numbers</a:t>
              </a:r>
              <a:r>
                <a:rPr sz="2000" spc="-5" dirty="0">
                  <a:solidFill>
                    <a:srgbClr val="4285F4"/>
                  </a:solidFill>
                  <a:cs typeface="Calibri" panose="020F0502020204030204"/>
                </a:rPr>
                <a:t> </a:t>
              </a:r>
              <a:r>
                <a:rPr sz="2000" dirty="0">
                  <a:solidFill>
                    <a:srgbClr val="4285F4"/>
                  </a:solidFill>
                  <a:cs typeface="Calibri" panose="020F0502020204030204"/>
                </a:rPr>
                <a:t>=</a:t>
              </a:r>
              <a:endParaRPr sz="2000" dirty="0">
                <a:cs typeface="Calibri" panose="020F0502020204030204"/>
              </a:endParaRPr>
            </a:p>
          </p:txBody>
        </p:sp>
        <p:pic>
          <p:nvPicPr>
            <p:cNvPr id="40" name="object 50"/>
            <p:cNvPicPr/>
            <p:nvPr/>
          </p:nvPicPr>
          <p:blipFill>
            <a:blip r:embed="rId2" cstate="print"/>
            <a:stretch>
              <a:fillRect/>
            </a:stretch>
          </p:blipFill>
          <p:spPr>
            <a:xfrm>
              <a:off x="5415822" y="646192"/>
              <a:ext cx="4816350" cy="736600"/>
            </a:xfrm>
            <a:prstGeom prst="rect">
              <a:avLst/>
            </a:prstGeom>
          </p:spPr>
        </p:pic>
      </p:gr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3273551" y="2842260"/>
            <a:ext cx="1117600" cy="337912"/>
          </a:xfrm>
          <a:prstGeom prst="rect">
            <a:avLst/>
          </a:prstGeom>
          <a:ln w="9144">
            <a:solidFill>
              <a:srgbClr val="000000"/>
            </a:solidFill>
          </a:ln>
        </p:spPr>
        <p:txBody>
          <a:bodyPr vert="horz" wrap="square" lIns="0" tIns="29844" rIns="0" bIns="0" rtlCol="0">
            <a:spAutoFit/>
          </a:bodyPr>
          <a:lstStyle/>
          <a:p>
            <a:pPr algn="ctr">
              <a:spcBef>
                <a:spcPts val="235"/>
              </a:spcBef>
            </a:pPr>
            <a:r>
              <a:rPr sz="2000" i="1" spc="-5" dirty="0">
                <a:latin typeface="Calibri" panose="020F0502020204030204"/>
                <a:cs typeface="Calibri" panose="020F0502020204030204"/>
              </a:rPr>
              <a:t>hit</a:t>
            </a:r>
            <a:endParaRPr sz="2000">
              <a:latin typeface="Calibri" panose="020F0502020204030204"/>
              <a:cs typeface="Calibri" panose="020F0502020204030204"/>
            </a:endParaRPr>
          </a:p>
        </p:txBody>
      </p:sp>
      <p:sp>
        <p:nvSpPr>
          <p:cNvPr id="5" name="object 5"/>
          <p:cNvSpPr txBox="1"/>
          <p:nvPr/>
        </p:nvSpPr>
        <p:spPr>
          <a:xfrm>
            <a:off x="3273551" y="3368040"/>
            <a:ext cx="1117600" cy="338554"/>
          </a:xfrm>
          <a:prstGeom prst="rect">
            <a:avLst/>
          </a:prstGeom>
          <a:ln w="9144">
            <a:solidFill>
              <a:srgbClr val="000000"/>
            </a:solidFill>
          </a:ln>
        </p:spPr>
        <p:txBody>
          <a:bodyPr vert="horz" wrap="square" lIns="0" tIns="30480" rIns="0" bIns="0" rtlCol="0">
            <a:spAutoFit/>
          </a:bodyPr>
          <a:lstStyle/>
          <a:p>
            <a:pPr marL="247015">
              <a:spcBef>
                <a:spcPts val="240"/>
              </a:spcBef>
            </a:pPr>
            <a:r>
              <a:rPr sz="2000" i="1" spc="-5" dirty="0">
                <a:latin typeface="Calibri" panose="020F0502020204030204"/>
                <a:cs typeface="Calibri" panose="020F0502020204030204"/>
              </a:rPr>
              <a:t>struck</a:t>
            </a:r>
            <a:endParaRPr sz="2000">
              <a:latin typeface="Calibri" panose="020F0502020204030204"/>
              <a:cs typeface="Calibri" panose="020F0502020204030204"/>
            </a:endParaRPr>
          </a:p>
        </p:txBody>
      </p:sp>
      <p:sp>
        <p:nvSpPr>
          <p:cNvPr id="6" name="object 6"/>
          <p:cNvSpPr txBox="1"/>
          <p:nvPr/>
        </p:nvSpPr>
        <p:spPr>
          <a:xfrm>
            <a:off x="3273551" y="4698491"/>
            <a:ext cx="1117600" cy="338554"/>
          </a:xfrm>
          <a:prstGeom prst="rect">
            <a:avLst/>
          </a:prstGeom>
          <a:ln w="9144">
            <a:solidFill>
              <a:srgbClr val="000000"/>
            </a:solidFill>
          </a:ln>
        </p:spPr>
        <p:txBody>
          <a:bodyPr vert="horz" wrap="square" lIns="0" tIns="30480" rIns="0" bIns="0" rtlCol="0">
            <a:spAutoFit/>
          </a:bodyPr>
          <a:lstStyle/>
          <a:p>
            <a:pPr marL="352425">
              <a:spcBef>
                <a:spcPts val="240"/>
              </a:spcBef>
            </a:pPr>
            <a:r>
              <a:rPr sz="2000" i="1" dirty="0">
                <a:latin typeface="Calibri" panose="020F0502020204030204"/>
                <a:cs typeface="Calibri" panose="020F0502020204030204"/>
              </a:rPr>
              <a:t>was</a:t>
            </a:r>
            <a:endParaRPr sz="2000">
              <a:latin typeface="Calibri" panose="020F0502020204030204"/>
              <a:cs typeface="Calibri" panose="020F0502020204030204"/>
            </a:endParaRPr>
          </a:p>
        </p:txBody>
      </p:sp>
      <p:sp>
        <p:nvSpPr>
          <p:cNvPr id="7" name="object 7"/>
          <p:cNvSpPr txBox="1"/>
          <p:nvPr/>
        </p:nvSpPr>
        <p:spPr>
          <a:xfrm>
            <a:off x="3273551" y="5224272"/>
            <a:ext cx="1117600" cy="339195"/>
          </a:xfrm>
          <a:prstGeom prst="rect">
            <a:avLst/>
          </a:prstGeom>
          <a:ln w="9144">
            <a:solidFill>
              <a:srgbClr val="000000"/>
            </a:solidFill>
          </a:ln>
        </p:spPr>
        <p:txBody>
          <a:bodyPr vert="horz" wrap="square" lIns="0" tIns="31115" rIns="0" bIns="0" rtlCol="0">
            <a:spAutoFit/>
          </a:bodyPr>
          <a:lstStyle/>
          <a:p>
            <a:pPr algn="ctr">
              <a:spcBef>
                <a:spcPts val="245"/>
              </a:spcBef>
            </a:pPr>
            <a:r>
              <a:rPr sz="2000" i="1" spc="-5" dirty="0">
                <a:latin typeface="Calibri" panose="020F0502020204030204"/>
                <a:cs typeface="Calibri" panose="020F0502020204030204"/>
              </a:rPr>
              <a:t>got</a:t>
            </a:r>
            <a:endParaRPr sz="2000">
              <a:latin typeface="Calibri" panose="020F0502020204030204"/>
              <a:cs typeface="Calibri" panose="020F0502020204030204"/>
            </a:endParaRPr>
          </a:p>
        </p:txBody>
      </p:sp>
      <p:sp>
        <p:nvSpPr>
          <p:cNvPr id="8" name="object 8"/>
          <p:cNvSpPr/>
          <p:nvPr/>
        </p:nvSpPr>
        <p:spPr>
          <a:xfrm>
            <a:off x="2876804" y="3060192"/>
            <a:ext cx="397510" cy="526415"/>
          </a:xfrm>
          <a:custGeom>
            <a:avLst/>
            <a:gdLst/>
            <a:ahLst/>
            <a:cxnLst/>
            <a:rect l="l" t="t" r="r" b="b"/>
            <a:pathLst>
              <a:path w="397510" h="526414">
                <a:moveTo>
                  <a:pt x="397383" y="0"/>
                </a:moveTo>
                <a:lnTo>
                  <a:pt x="312801" y="11049"/>
                </a:lnTo>
                <a:lnTo>
                  <a:pt x="330568" y="37338"/>
                </a:lnTo>
                <a:lnTo>
                  <a:pt x="0" y="260223"/>
                </a:lnTo>
                <a:lnTo>
                  <a:pt x="3441" y="265341"/>
                </a:lnTo>
                <a:lnTo>
                  <a:pt x="0" y="270510"/>
                </a:lnTo>
                <a:lnTo>
                  <a:pt x="330288" y="489445"/>
                </a:lnTo>
                <a:lnTo>
                  <a:pt x="312801" y="515874"/>
                </a:lnTo>
                <a:lnTo>
                  <a:pt x="397383" y="526161"/>
                </a:lnTo>
                <a:lnTo>
                  <a:pt x="380238" y="496443"/>
                </a:lnTo>
                <a:lnTo>
                  <a:pt x="354838" y="452374"/>
                </a:lnTo>
                <a:lnTo>
                  <a:pt x="337337" y="478815"/>
                </a:lnTo>
                <a:lnTo>
                  <a:pt x="15278" y="265264"/>
                </a:lnTo>
                <a:lnTo>
                  <a:pt x="337693" y="47879"/>
                </a:lnTo>
                <a:lnTo>
                  <a:pt x="355473" y="74168"/>
                </a:lnTo>
                <a:lnTo>
                  <a:pt x="380301" y="30226"/>
                </a:lnTo>
                <a:lnTo>
                  <a:pt x="397383" y="0"/>
                </a:lnTo>
                <a:close/>
              </a:path>
            </a:pathLst>
          </a:custGeom>
          <a:solidFill>
            <a:srgbClr val="000000"/>
          </a:solidFill>
        </p:spPr>
        <p:txBody>
          <a:bodyPr wrap="square" lIns="0" tIns="0" rIns="0" bIns="0" rtlCol="0"/>
          <a:lstStyle/>
          <a:p>
            <a:endParaRPr/>
          </a:p>
        </p:txBody>
      </p:sp>
      <p:sp>
        <p:nvSpPr>
          <p:cNvPr id="9" name="object 9"/>
          <p:cNvSpPr/>
          <p:nvPr/>
        </p:nvSpPr>
        <p:spPr>
          <a:xfrm>
            <a:off x="2876804" y="4916423"/>
            <a:ext cx="397510" cy="527050"/>
          </a:xfrm>
          <a:custGeom>
            <a:avLst/>
            <a:gdLst/>
            <a:ahLst/>
            <a:cxnLst/>
            <a:rect l="l" t="t" r="r" b="b"/>
            <a:pathLst>
              <a:path w="397510" h="527050">
                <a:moveTo>
                  <a:pt x="397383" y="0"/>
                </a:moveTo>
                <a:lnTo>
                  <a:pt x="312928" y="11938"/>
                </a:lnTo>
                <a:lnTo>
                  <a:pt x="331038" y="38100"/>
                </a:lnTo>
                <a:lnTo>
                  <a:pt x="0" y="267081"/>
                </a:lnTo>
                <a:lnTo>
                  <a:pt x="3721" y="272542"/>
                </a:lnTo>
                <a:lnTo>
                  <a:pt x="127" y="278142"/>
                </a:lnTo>
                <a:lnTo>
                  <a:pt x="329869" y="491121"/>
                </a:lnTo>
                <a:lnTo>
                  <a:pt x="312674" y="517779"/>
                </a:lnTo>
                <a:lnTo>
                  <a:pt x="397383" y="527050"/>
                </a:lnTo>
                <a:lnTo>
                  <a:pt x="380136" y="497967"/>
                </a:lnTo>
                <a:lnTo>
                  <a:pt x="353949" y="453771"/>
                </a:lnTo>
                <a:lnTo>
                  <a:pt x="336778" y="480402"/>
                </a:lnTo>
                <a:lnTo>
                  <a:pt x="14541" y="272351"/>
                </a:lnTo>
                <a:lnTo>
                  <a:pt x="338251" y="48526"/>
                </a:lnTo>
                <a:lnTo>
                  <a:pt x="356362" y="74676"/>
                </a:lnTo>
                <a:lnTo>
                  <a:pt x="380428" y="30861"/>
                </a:lnTo>
                <a:lnTo>
                  <a:pt x="397383" y="0"/>
                </a:lnTo>
                <a:close/>
              </a:path>
            </a:pathLst>
          </a:custGeom>
          <a:solidFill>
            <a:srgbClr val="000000"/>
          </a:solidFill>
        </p:spPr>
        <p:txBody>
          <a:bodyPr wrap="square" lIns="0" tIns="0" rIns="0" bIns="0" rtlCol="0"/>
          <a:lstStyle/>
          <a:p>
            <a:endParaRPr/>
          </a:p>
        </p:txBody>
      </p:sp>
      <p:sp>
        <p:nvSpPr>
          <p:cNvPr id="10" name="object 10"/>
          <p:cNvSpPr txBox="1"/>
          <p:nvPr/>
        </p:nvSpPr>
        <p:spPr>
          <a:xfrm>
            <a:off x="4728972" y="2546604"/>
            <a:ext cx="1117600" cy="338554"/>
          </a:xfrm>
          <a:prstGeom prst="rect">
            <a:avLst/>
          </a:prstGeom>
          <a:ln w="9144">
            <a:solidFill>
              <a:srgbClr val="000000"/>
            </a:solidFill>
          </a:ln>
        </p:spPr>
        <p:txBody>
          <a:bodyPr vert="horz" wrap="square" lIns="0" tIns="30480" rIns="0" bIns="0" rtlCol="0">
            <a:spAutoFit/>
          </a:bodyPr>
          <a:lstStyle/>
          <a:p>
            <a:pPr algn="ctr">
              <a:spcBef>
                <a:spcPts val="240"/>
              </a:spcBef>
            </a:pPr>
            <a:r>
              <a:rPr sz="2000" i="1" dirty="0">
                <a:solidFill>
                  <a:srgbClr val="00AF50"/>
                </a:solidFill>
                <a:latin typeface="Calibri" panose="020F0502020204030204"/>
                <a:cs typeface="Calibri" panose="020F0502020204030204"/>
              </a:rPr>
              <a:t>a</a:t>
            </a:r>
            <a:endParaRPr sz="2000">
              <a:latin typeface="Calibri" panose="020F0502020204030204"/>
              <a:cs typeface="Calibri" panose="020F0502020204030204"/>
            </a:endParaRPr>
          </a:p>
        </p:txBody>
      </p:sp>
      <p:sp>
        <p:nvSpPr>
          <p:cNvPr id="11" name="object 11"/>
          <p:cNvSpPr txBox="1"/>
          <p:nvPr/>
        </p:nvSpPr>
        <p:spPr>
          <a:xfrm>
            <a:off x="4728972" y="3073908"/>
            <a:ext cx="1117600" cy="337913"/>
          </a:xfrm>
          <a:prstGeom prst="rect">
            <a:avLst/>
          </a:prstGeom>
          <a:ln w="9144">
            <a:solidFill>
              <a:srgbClr val="000000"/>
            </a:solidFill>
          </a:ln>
        </p:spPr>
        <p:txBody>
          <a:bodyPr vert="horz" wrap="square" lIns="0" tIns="29845" rIns="0" bIns="0" rtlCol="0">
            <a:spAutoFit/>
          </a:bodyPr>
          <a:lstStyle/>
          <a:p>
            <a:pPr algn="ctr">
              <a:spcBef>
                <a:spcPts val="235"/>
              </a:spcBef>
            </a:pPr>
            <a:r>
              <a:rPr sz="2000" i="1" spc="-5" dirty="0">
                <a:solidFill>
                  <a:srgbClr val="00AF50"/>
                </a:solidFill>
                <a:latin typeface="Calibri" panose="020F0502020204030204"/>
                <a:cs typeface="Calibri" panose="020F0502020204030204"/>
              </a:rPr>
              <a:t>me</a:t>
            </a:r>
            <a:endParaRPr sz="2000">
              <a:latin typeface="Calibri" panose="020F0502020204030204"/>
              <a:cs typeface="Calibri" panose="020F0502020204030204"/>
            </a:endParaRPr>
          </a:p>
        </p:txBody>
      </p:sp>
      <p:sp>
        <p:nvSpPr>
          <p:cNvPr id="12" name="object 12"/>
          <p:cNvSpPr txBox="1"/>
          <p:nvPr/>
        </p:nvSpPr>
        <p:spPr>
          <a:xfrm>
            <a:off x="4728972" y="4430268"/>
            <a:ext cx="1117600" cy="337913"/>
          </a:xfrm>
          <a:prstGeom prst="rect">
            <a:avLst/>
          </a:prstGeom>
          <a:ln w="9144">
            <a:solidFill>
              <a:srgbClr val="000000"/>
            </a:solidFill>
          </a:ln>
        </p:spPr>
        <p:txBody>
          <a:bodyPr vert="horz" wrap="square" lIns="0" tIns="29845" rIns="0" bIns="0" rtlCol="0">
            <a:spAutoFit/>
          </a:bodyPr>
          <a:lstStyle/>
          <a:p>
            <a:pPr algn="ctr">
              <a:spcBef>
                <a:spcPts val="235"/>
              </a:spcBef>
            </a:pPr>
            <a:r>
              <a:rPr sz="2000" i="1" spc="-5" dirty="0">
                <a:latin typeface="Calibri" panose="020F0502020204030204"/>
                <a:cs typeface="Calibri" panose="020F0502020204030204"/>
              </a:rPr>
              <a:t>hit</a:t>
            </a:r>
            <a:endParaRPr sz="2000">
              <a:latin typeface="Calibri" panose="020F0502020204030204"/>
              <a:cs typeface="Calibri" panose="020F0502020204030204"/>
            </a:endParaRPr>
          </a:p>
        </p:txBody>
      </p:sp>
      <p:sp>
        <p:nvSpPr>
          <p:cNvPr id="13" name="object 13"/>
          <p:cNvSpPr txBox="1"/>
          <p:nvPr/>
        </p:nvSpPr>
        <p:spPr>
          <a:xfrm>
            <a:off x="4728972" y="4956048"/>
            <a:ext cx="1117600" cy="339195"/>
          </a:xfrm>
          <a:prstGeom prst="rect">
            <a:avLst/>
          </a:prstGeom>
          <a:ln w="9144">
            <a:solidFill>
              <a:srgbClr val="000000"/>
            </a:solidFill>
          </a:ln>
        </p:spPr>
        <p:txBody>
          <a:bodyPr vert="horz" wrap="square" lIns="0" tIns="31115" rIns="0" bIns="0" rtlCol="0">
            <a:spAutoFit/>
          </a:bodyPr>
          <a:lstStyle/>
          <a:p>
            <a:pPr marL="247015">
              <a:spcBef>
                <a:spcPts val="245"/>
              </a:spcBef>
            </a:pPr>
            <a:r>
              <a:rPr sz="2000" i="1" spc="-5" dirty="0">
                <a:latin typeface="Calibri" panose="020F0502020204030204"/>
                <a:cs typeface="Calibri" panose="020F0502020204030204"/>
              </a:rPr>
              <a:t>struck</a:t>
            </a:r>
            <a:endParaRPr sz="2000">
              <a:latin typeface="Calibri" panose="020F0502020204030204"/>
              <a:cs typeface="Calibri" panose="020F0502020204030204"/>
            </a:endParaRPr>
          </a:p>
        </p:txBody>
      </p:sp>
      <p:sp>
        <p:nvSpPr>
          <p:cNvPr id="14" name="object 14"/>
          <p:cNvSpPr/>
          <p:nvPr/>
        </p:nvSpPr>
        <p:spPr>
          <a:xfrm>
            <a:off x="4386454" y="2764536"/>
            <a:ext cx="342265" cy="527685"/>
          </a:xfrm>
          <a:custGeom>
            <a:avLst/>
            <a:gdLst/>
            <a:ahLst/>
            <a:cxnLst/>
            <a:rect l="l" t="t" r="r" b="b"/>
            <a:pathLst>
              <a:path w="342264" h="527685">
                <a:moveTo>
                  <a:pt x="342265" y="0"/>
                </a:moveTo>
                <a:lnTo>
                  <a:pt x="259842" y="21336"/>
                </a:lnTo>
                <a:lnTo>
                  <a:pt x="280670" y="45250"/>
                </a:lnTo>
                <a:lnTo>
                  <a:pt x="0" y="289687"/>
                </a:lnTo>
                <a:lnTo>
                  <a:pt x="4622" y="295021"/>
                </a:lnTo>
                <a:lnTo>
                  <a:pt x="635" y="300863"/>
                </a:lnTo>
                <a:lnTo>
                  <a:pt x="275856" y="489826"/>
                </a:lnTo>
                <a:lnTo>
                  <a:pt x="257937" y="516001"/>
                </a:lnTo>
                <a:lnTo>
                  <a:pt x="342265" y="527685"/>
                </a:lnTo>
                <a:lnTo>
                  <a:pt x="325247" y="496951"/>
                </a:lnTo>
                <a:lnTo>
                  <a:pt x="300990" y="453136"/>
                </a:lnTo>
                <a:lnTo>
                  <a:pt x="283032" y="479361"/>
                </a:lnTo>
                <a:lnTo>
                  <a:pt x="13804" y="294614"/>
                </a:lnTo>
                <a:lnTo>
                  <a:pt x="289013" y="54813"/>
                </a:lnTo>
                <a:lnTo>
                  <a:pt x="309880" y="78740"/>
                </a:lnTo>
                <a:lnTo>
                  <a:pt x="327063" y="36957"/>
                </a:lnTo>
                <a:lnTo>
                  <a:pt x="342265" y="0"/>
                </a:lnTo>
                <a:close/>
              </a:path>
            </a:pathLst>
          </a:custGeom>
          <a:solidFill>
            <a:srgbClr val="000000"/>
          </a:solidFill>
        </p:spPr>
        <p:txBody>
          <a:bodyPr wrap="square" lIns="0" tIns="0" rIns="0" bIns="0" rtlCol="0"/>
          <a:lstStyle/>
          <a:p>
            <a:endParaRPr/>
          </a:p>
        </p:txBody>
      </p:sp>
      <p:sp>
        <p:nvSpPr>
          <p:cNvPr id="15" name="object 15"/>
          <p:cNvSpPr/>
          <p:nvPr/>
        </p:nvSpPr>
        <p:spPr>
          <a:xfrm>
            <a:off x="4386708" y="4648200"/>
            <a:ext cx="342265" cy="527050"/>
          </a:xfrm>
          <a:custGeom>
            <a:avLst/>
            <a:gdLst/>
            <a:ahLst/>
            <a:cxnLst/>
            <a:rect l="l" t="t" r="r" b="b"/>
            <a:pathLst>
              <a:path w="342264" h="527050">
                <a:moveTo>
                  <a:pt x="342011" y="0"/>
                </a:moveTo>
                <a:lnTo>
                  <a:pt x="258572" y="17526"/>
                </a:lnTo>
                <a:lnTo>
                  <a:pt x="278333" y="42443"/>
                </a:lnTo>
                <a:lnTo>
                  <a:pt x="0" y="263271"/>
                </a:lnTo>
                <a:lnTo>
                  <a:pt x="3937" y="268224"/>
                </a:lnTo>
                <a:lnTo>
                  <a:pt x="127" y="273304"/>
                </a:lnTo>
                <a:lnTo>
                  <a:pt x="277596" y="485330"/>
                </a:lnTo>
                <a:lnTo>
                  <a:pt x="258318" y="510540"/>
                </a:lnTo>
                <a:lnTo>
                  <a:pt x="342011" y="526542"/>
                </a:lnTo>
                <a:lnTo>
                  <a:pt x="325577" y="493014"/>
                </a:lnTo>
                <a:lnTo>
                  <a:pt x="304546" y="450088"/>
                </a:lnTo>
                <a:lnTo>
                  <a:pt x="285292" y="475259"/>
                </a:lnTo>
                <a:lnTo>
                  <a:pt x="14249" y="268122"/>
                </a:lnTo>
                <a:lnTo>
                  <a:pt x="286207" y="52349"/>
                </a:lnTo>
                <a:lnTo>
                  <a:pt x="305943" y="77216"/>
                </a:lnTo>
                <a:lnTo>
                  <a:pt x="325869" y="34544"/>
                </a:lnTo>
                <a:lnTo>
                  <a:pt x="342011" y="0"/>
                </a:lnTo>
                <a:close/>
              </a:path>
            </a:pathLst>
          </a:custGeom>
          <a:solidFill>
            <a:srgbClr val="000000"/>
          </a:solidFill>
        </p:spPr>
        <p:txBody>
          <a:bodyPr wrap="square" lIns="0" tIns="0" rIns="0" bIns="0" rtlCol="0"/>
          <a:lstStyle/>
          <a:p>
            <a:endParaRPr/>
          </a:p>
        </p:txBody>
      </p:sp>
      <p:sp>
        <p:nvSpPr>
          <p:cNvPr id="16" name="object 16"/>
          <p:cNvSpPr txBox="1"/>
          <p:nvPr/>
        </p:nvSpPr>
        <p:spPr>
          <a:xfrm>
            <a:off x="1524001" y="4038601"/>
            <a:ext cx="1167765" cy="337913"/>
          </a:xfrm>
          <a:prstGeom prst="rect">
            <a:avLst/>
          </a:prstGeom>
          <a:ln w="9143">
            <a:solidFill>
              <a:srgbClr val="000000"/>
            </a:solidFill>
          </a:ln>
        </p:spPr>
        <p:txBody>
          <a:bodyPr vert="horz" wrap="square" lIns="0" tIns="29845" rIns="0" bIns="0" rtlCol="0">
            <a:spAutoFit/>
          </a:bodyPr>
          <a:lstStyle/>
          <a:p>
            <a:pPr marL="131445">
              <a:spcBef>
                <a:spcPts val="235"/>
              </a:spcBef>
            </a:pPr>
            <a:r>
              <a:rPr sz="2000" i="1" spc="-5" dirty="0">
                <a:latin typeface="Calibri" panose="020F0502020204030204"/>
                <a:cs typeface="Calibri" panose="020F0502020204030204"/>
              </a:rPr>
              <a:t>&lt;START&gt;</a:t>
            </a:r>
            <a:endParaRPr sz="2000">
              <a:latin typeface="Calibri" panose="020F0502020204030204"/>
              <a:cs typeface="Calibri" panose="020F0502020204030204"/>
            </a:endParaRPr>
          </a:p>
        </p:txBody>
      </p:sp>
      <p:sp>
        <p:nvSpPr>
          <p:cNvPr id="17" name="object 17"/>
          <p:cNvSpPr txBox="1"/>
          <p:nvPr/>
        </p:nvSpPr>
        <p:spPr>
          <a:xfrm>
            <a:off x="2308859" y="3107436"/>
            <a:ext cx="571500" cy="337913"/>
          </a:xfrm>
          <a:prstGeom prst="rect">
            <a:avLst/>
          </a:prstGeom>
          <a:ln w="9143">
            <a:solidFill>
              <a:srgbClr val="000000"/>
            </a:solidFill>
          </a:ln>
        </p:spPr>
        <p:txBody>
          <a:bodyPr vert="horz" wrap="square" lIns="0" tIns="29845" rIns="0" bIns="0" rtlCol="0">
            <a:spAutoFit/>
          </a:bodyPr>
          <a:lstStyle/>
          <a:p>
            <a:pPr marL="158750">
              <a:spcBef>
                <a:spcPts val="235"/>
              </a:spcBef>
            </a:pPr>
            <a:r>
              <a:rPr sz="2000" i="1" dirty="0">
                <a:latin typeface="Calibri" panose="020F0502020204030204"/>
                <a:cs typeface="Calibri" panose="020F0502020204030204"/>
              </a:rPr>
              <a:t>he</a:t>
            </a:r>
            <a:endParaRPr sz="2000">
              <a:latin typeface="Calibri" panose="020F0502020204030204"/>
              <a:cs typeface="Calibri" panose="020F0502020204030204"/>
            </a:endParaRPr>
          </a:p>
        </p:txBody>
      </p:sp>
      <p:sp>
        <p:nvSpPr>
          <p:cNvPr id="18" name="object 18"/>
          <p:cNvSpPr txBox="1"/>
          <p:nvPr/>
        </p:nvSpPr>
        <p:spPr>
          <a:xfrm>
            <a:off x="2308859" y="4971289"/>
            <a:ext cx="571500" cy="337271"/>
          </a:xfrm>
          <a:prstGeom prst="rect">
            <a:avLst/>
          </a:prstGeom>
          <a:ln w="9143">
            <a:solidFill>
              <a:srgbClr val="000000"/>
            </a:solidFill>
          </a:ln>
        </p:spPr>
        <p:txBody>
          <a:bodyPr vert="horz" wrap="square" lIns="0" tIns="29209" rIns="0" bIns="0" rtlCol="0">
            <a:spAutoFit/>
          </a:bodyPr>
          <a:lstStyle/>
          <a:p>
            <a:pPr algn="ctr">
              <a:spcBef>
                <a:spcPts val="230"/>
              </a:spcBef>
            </a:pPr>
            <a:r>
              <a:rPr sz="2000" i="1" dirty="0">
                <a:latin typeface="Calibri" panose="020F0502020204030204"/>
                <a:cs typeface="Calibri" panose="020F0502020204030204"/>
              </a:rPr>
              <a:t>I</a:t>
            </a:r>
            <a:endParaRPr sz="2000">
              <a:latin typeface="Calibri" panose="020F0502020204030204"/>
              <a:cs typeface="Calibri" panose="020F0502020204030204"/>
            </a:endParaRPr>
          </a:p>
        </p:txBody>
      </p:sp>
      <p:sp>
        <p:nvSpPr>
          <p:cNvPr id="19" name="object 19"/>
          <p:cNvSpPr/>
          <p:nvPr/>
        </p:nvSpPr>
        <p:spPr>
          <a:xfrm>
            <a:off x="2103158" y="3543300"/>
            <a:ext cx="491490" cy="500380"/>
          </a:xfrm>
          <a:custGeom>
            <a:avLst/>
            <a:gdLst/>
            <a:ahLst/>
            <a:cxnLst/>
            <a:rect l="l" t="t" r="r" b="b"/>
            <a:pathLst>
              <a:path w="491490" h="500379">
                <a:moveTo>
                  <a:pt x="433491" y="49928"/>
                </a:moveTo>
                <a:lnTo>
                  <a:pt x="0" y="491236"/>
                </a:lnTo>
                <a:lnTo>
                  <a:pt x="9067" y="500125"/>
                </a:lnTo>
                <a:lnTo>
                  <a:pt x="442556" y="58822"/>
                </a:lnTo>
                <a:lnTo>
                  <a:pt x="433491" y="49928"/>
                </a:lnTo>
                <a:close/>
              </a:path>
              <a:path w="491490" h="500379">
                <a:moveTo>
                  <a:pt x="478171" y="40894"/>
                </a:moveTo>
                <a:lnTo>
                  <a:pt x="442366" y="40894"/>
                </a:lnTo>
                <a:lnTo>
                  <a:pt x="451434" y="49784"/>
                </a:lnTo>
                <a:lnTo>
                  <a:pt x="442556" y="58822"/>
                </a:lnTo>
                <a:lnTo>
                  <a:pt x="465188" y="81025"/>
                </a:lnTo>
                <a:lnTo>
                  <a:pt x="478171" y="40894"/>
                </a:lnTo>
                <a:close/>
              </a:path>
              <a:path w="491490" h="500379">
                <a:moveTo>
                  <a:pt x="442366" y="40894"/>
                </a:moveTo>
                <a:lnTo>
                  <a:pt x="433491" y="49928"/>
                </a:lnTo>
                <a:lnTo>
                  <a:pt x="442556" y="58822"/>
                </a:lnTo>
                <a:lnTo>
                  <a:pt x="451434" y="49784"/>
                </a:lnTo>
                <a:lnTo>
                  <a:pt x="442366" y="40894"/>
                </a:lnTo>
                <a:close/>
              </a:path>
              <a:path w="491490" h="500379">
                <a:moveTo>
                  <a:pt x="491401" y="0"/>
                </a:moveTo>
                <a:lnTo>
                  <a:pt x="410819" y="27686"/>
                </a:lnTo>
                <a:lnTo>
                  <a:pt x="433491" y="49928"/>
                </a:lnTo>
                <a:lnTo>
                  <a:pt x="442366" y="40894"/>
                </a:lnTo>
                <a:lnTo>
                  <a:pt x="478171" y="40894"/>
                </a:lnTo>
                <a:lnTo>
                  <a:pt x="491401" y="0"/>
                </a:lnTo>
                <a:close/>
              </a:path>
            </a:pathLst>
          </a:custGeom>
          <a:solidFill>
            <a:srgbClr val="000000"/>
          </a:solidFill>
        </p:spPr>
        <p:txBody>
          <a:bodyPr wrap="square" lIns="0" tIns="0" rIns="0" bIns="0" rtlCol="0"/>
          <a:lstStyle/>
          <a:p>
            <a:endParaRPr/>
          </a:p>
        </p:txBody>
      </p:sp>
      <p:sp>
        <p:nvSpPr>
          <p:cNvPr id="20" name="object 20"/>
          <p:cNvSpPr/>
          <p:nvPr/>
        </p:nvSpPr>
        <p:spPr>
          <a:xfrm>
            <a:off x="2103158" y="4470020"/>
            <a:ext cx="491490" cy="501015"/>
          </a:xfrm>
          <a:custGeom>
            <a:avLst/>
            <a:gdLst/>
            <a:ahLst/>
            <a:cxnLst/>
            <a:rect l="l" t="t" r="r" b="b"/>
            <a:pathLst>
              <a:path w="491490" h="501014">
                <a:moveTo>
                  <a:pt x="433458" y="450760"/>
                </a:moveTo>
                <a:lnTo>
                  <a:pt x="410832" y="472947"/>
                </a:lnTo>
                <a:lnTo>
                  <a:pt x="491401" y="500760"/>
                </a:lnTo>
                <a:lnTo>
                  <a:pt x="478211" y="459866"/>
                </a:lnTo>
                <a:lnTo>
                  <a:pt x="442391" y="459866"/>
                </a:lnTo>
                <a:lnTo>
                  <a:pt x="433458" y="450760"/>
                </a:lnTo>
                <a:close/>
              </a:path>
              <a:path w="491490" h="501014">
                <a:moveTo>
                  <a:pt x="442525" y="441869"/>
                </a:moveTo>
                <a:lnTo>
                  <a:pt x="433458" y="450760"/>
                </a:lnTo>
                <a:lnTo>
                  <a:pt x="442391" y="459866"/>
                </a:lnTo>
                <a:lnTo>
                  <a:pt x="451459" y="450976"/>
                </a:lnTo>
                <a:lnTo>
                  <a:pt x="442525" y="441869"/>
                </a:lnTo>
                <a:close/>
              </a:path>
              <a:path w="491490" h="501014">
                <a:moveTo>
                  <a:pt x="465226" y="419607"/>
                </a:moveTo>
                <a:lnTo>
                  <a:pt x="442525" y="441869"/>
                </a:lnTo>
                <a:lnTo>
                  <a:pt x="451459" y="450976"/>
                </a:lnTo>
                <a:lnTo>
                  <a:pt x="442391" y="459866"/>
                </a:lnTo>
                <a:lnTo>
                  <a:pt x="478211" y="459866"/>
                </a:lnTo>
                <a:lnTo>
                  <a:pt x="465226" y="419607"/>
                </a:lnTo>
                <a:close/>
              </a:path>
              <a:path w="491490" h="501014">
                <a:moveTo>
                  <a:pt x="9067" y="0"/>
                </a:moveTo>
                <a:lnTo>
                  <a:pt x="0" y="8889"/>
                </a:lnTo>
                <a:lnTo>
                  <a:pt x="433458" y="450760"/>
                </a:lnTo>
                <a:lnTo>
                  <a:pt x="442525" y="441869"/>
                </a:lnTo>
                <a:lnTo>
                  <a:pt x="9067" y="0"/>
                </a:lnTo>
                <a:close/>
              </a:path>
            </a:pathLst>
          </a:custGeom>
          <a:solidFill>
            <a:srgbClr val="000000"/>
          </a:solidFill>
        </p:spPr>
        <p:txBody>
          <a:bodyPr wrap="square" lIns="0" tIns="0" rIns="0" bIns="0" rtlCol="0"/>
          <a:lstStyle/>
          <a:p>
            <a:endParaRPr/>
          </a:p>
        </p:txBody>
      </p:sp>
      <p:sp>
        <p:nvSpPr>
          <p:cNvPr id="22" name="object 22"/>
          <p:cNvSpPr txBox="1"/>
          <p:nvPr/>
        </p:nvSpPr>
        <p:spPr>
          <a:xfrm>
            <a:off x="2384857" y="2785617"/>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-0.7</a:t>
            </a:r>
            <a:endParaRPr>
              <a:latin typeface="Calibri" panose="020F0502020204030204"/>
              <a:cs typeface="Calibri" panose="020F0502020204030204"/>
            </a:endParaRPr>
          </a:p>
        </p:txBody>
      </p:sp>
      <p:sp>
        <p:nvSpPr>
          <p:cNvPr id="23" name="object 23"/>
          <p:cNvSpPr txBox="1"/>
          <p:nvPr/>
        </p:nvSpPr>
        <p:spPr>
          <a:xfrm>
            <a:off x="2384857" y="5439562"/>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-0.9</a:t>
            </a:r>
            <a:endParaRPr>
              <a:latin typeface="Calibri" panose="020F0502020204030204"/>
              <a:cs typeface="Calibri" panose="020F0502020204030204"/>
            </a:endParaRPr>
          </a:p>
        </p:txBody>
      </p:sp>
      <p:sp>
        <p:nvSpPr>
          <p:cNvPr id="24" name="object 24"/>
          <p:cNvSpPr txBox="1"/>
          <p:nvPr/>
        </p:nvSpPr>
        <p:spPr>
          <a:xfrm>
            <a:off x="3626612" y="4340479"/>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-1.6</a:t>
            </a:r>
            <a:endParaRPr>
              <a:latin typeface="Calibri" panose="020F0502020204030204"/>
              <a:cs typeface="Calibri" panose="020F0502020204030204"/>
            </a:endParaRPr>
          </a:p>
        </p:txBody>
      </p:sp>
      <p:sp>
        <p:nvSpPr>
          <p:cNvPr id="25" name="object 25"/>
          <p:cNvSpPr txBox="1"/>
          <p:nvPr/>
        </p:nvSpPr>
        <p:spPr>
          <a:xfrm>
            <a:off x="3626612" y="5683708"/>
            <a:ext cx="385445" cy="300355"/>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-1.8</a:t>
            </a:r>
            <a:endParaRPr>
              <a:latin typeface="Calibri" panose="020F0502020204030204"/>
              <a:cs typeface="Calibri" panose="020F0502020204030204"/>
            </a:endParaRPr>
          </a:p>
        </p:txBody>
      </p:sp>
      <p:sp>
        <p:nvSpPr>
          <p:cNvPr id="26" name="object 26"/>
          <p:cNvSpPr txBox="1"/>
          <p:nvPr/>
        </p:nvSpPr>
        <p:spPr>
          <a:xfrm>
            <a:off x="3626612" y="2481198"/>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-1.7</a:t>
            </a:r>
            <a:endParaRPr>
              <a:latin typeface="Calibri" panose="020F0502020204030204"/>
              <a:cs typeface="Calibri" panose="020F0502020204030204"/>
            </a:endParaRPr>
          </a:p>
        </p:txBody>
      </p:sp>
      <p:sp>
        <p:nvSpPr>
          <p:cNvPr id="27" name="object 27"/>
          <p:cNvSpPr txBox="1"/>
          <p:nvPr/>
        </p:nvSpPr>
        <p:spPr>
          <a:xfrm>
            <a:off x="3626612" y="3800602"/>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-2.9</a:t>
            </a:r>
            <a:endParaRPr>
              <a:latin typeface="Calibri" panose="020F0502020204030204"/>
              <a:cs typeface="Calibri" panose="020F0502020204030204"/>
            </a:endParaRPr>
          </a:p>
        </p:txBody>
      </p:sp>
      <p:sp>
        <p:nvSpPr>
          <p:cNvPr id="28" name="object 28"/>
          <p:cNvSpPr txBox="1"/>
          <p:nvPr/>
        </p:nvSpPr>
        <p:spPr>
          <a:xfrm>
            <a:off x="5081779" y="3525392"/>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-2.5</a:t>
            </a:r>
            <a:endParaRPr>
              <a:latin typeface="Calibri" panose="020F0502020204030204"/>
              <a:cs typeface="Calibri" panose="020F0502020204030204"/>
            </a:endParaRPr>
          </a:p>
        </p:txBody>
      </p:sp>
      <p:sp>
        <p:nvSpPr>
          <p:cNvPr id="29" name="object 29"/>
          <p:cNvSpPr txBox="1"/>
          <p:nvPr/>
        </p:nvSpPr>
        <p:spPr>
          <a:xfrm>
            <a:off x="5081779" y="2184272"/>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-2.8</a:t>
            </a:r>
            <a:endParaRPr>
              <a:latin typeface="Calibri" panose="020F0502020204030204"/>
              <a:cs typeface="Calibri" panose="020F0502020204030204"/>
            </a:endParaRPr>
          </a:p>
        </p:txBody>
      </p:sp>
      <p:sp>
        <p:nvSpPr>
          <p:cNvPr id="30" name="object 30"/>
          <p:cNvSpPr txBox="1"/>
          <p:nvPr/>
        </p:nvSpPr>
        <p:spPr>
          <a:xfrm>
            <a:off x="5081779" y="5406949"/>
            <a:ext cx="385445" cy="300355"/>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-3.8</a:t>
            </a:r>
            <a:endParaRPr>
              <a:latin typeface="Calibri" panose="020F0502020204030204"/>
              <a:cs typeface="Calibri" panose="020F0502020204030204"/>
            </a:endParaRPr>
          </a:p>
        </p:txBody>
      </p:sp>
      <p:sp>
        <p:nvSpPr>
          <p:cNvPr id="31" name="object 31"/>
          <p:cNvSpPr txBox="1"/>
          <p:nvPr/>
        </p:nvSpPr>
        <p:spPr>
          <a:xfrm>
            <a:off x="5081779" y="4079494"/>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-2.9</a:t>
            </a:r>
            <a:endParaRPr>
              <a:latin typeface="Calibri" panose="020F0502020204030204"/>
              <a:cs typeface="Calibri" panose="020F0502020204030204"/>
            </a:endParaRPr>
          </a:p>
        </p:txBody>
      </p:sp>
      <p:sp>
        <p:nvSpPr>
          <p:cNvPr id="33" name="object 33"/>
          <p:cNvSpPr txBox="1"/>
          <p:nvPr/>
        </p:nvSpPr>
        <p:spPr>
          <a:xfrm>
            <a:off x="3832225" y="6083300"/>
            <a:ext cx="3696335" cy="584835"/>
          </a:xfrm>
          <a:prstGeom prst="rect">
            <a:avLst/>
          </a:prstGeom>
          <a:ln w="19811">
            <a:solidFill>
              <a:srgbClr val="BA56BD"/>
            </a:solidFill>
          </a:ln>
        </p:spPr>
        <p:txBody>
          <a:bodyPr vert="horz" wrap="square" lIns="0" tIns="31115" rIns="0" bIns="0" rtlCol="0">
            <a:spAutoFit/>
          </a:bodyPr>
          <a:lstStyle/>
          <a:p>
            <a:pPr algn="ctr">
              <a:spcBef>
                <a:spcPts val="245"/>
              </a:spcBef>
            </a:pPr>
            <a:r>
              <a:rPr spc="-5" dirty="0">
                <a:solidFill>
                  <a:srgbClr val="BA56BD"/>
                </a:solidFill>
                <a:cs typeface="Calibri" panose="020F0502020204030204"/>
              </a:rPr>
              <a:t>Of</a:t>
            </a:r>
            <a:r>
              <a:rPr spc="-10" dirty="0">
                <a:solidFill>
                  <a:srgbClr val="BA56BD"/>
                </a:solidFill>
                <a:cs typeface="Calibri" panose="020F0502020204030204"/>
              </a:rPr>
              <a:t> </a:t>
            </a:r>
            <a:r>
              <a:rPr spc="-5" dirty="0">
                <a:solidFill>
                  <a:srgbClr val="BA56BD"/>
                </a:solidFill>
                <a:cs typeface="Calibri" panose="020F0502020204030204"/>
              </a:rPr>
              <a:t>these </a:t>
            </a:r>
            <a:r>
              <a:rPr i="1" spc="-5" dirty="0">
                <a:solidFill>
                  <a:srgbClr val="BA56BD"/>
                </a:solidFill>
                <a:cs typeface="Calibri" panose="020F0502020204030204"/>
              </a:rPr>
              <a:t>k</a:t>
            </a:r>
            <a:r>
              <a:rPr spc="-7" baseline="25000" dirty="0">
                <a:solidFill>
                  <a:srgbClr val="BA56BD"/>
                </a:solidFill>
                <a:cs typeface="Calibri" panose="020F0502020204030204"/>
              </a:rPr>
              <a:t>2</a:t>
            </a:r>
            <a:r>
              <a:rPr spc="195" baseline="25000" dirty="0">
                <a:solidFill>
                  <a:srgbClr val="BA56BD"/>
                </a:solidFill>
                <a:cs typeface="Calibri" panose="020F0502020204030204"/>
              </a:rPr>
              <a:t> </a:t>
            </a:r>
            <a:r>
              <a:rPr spc="-5" dirty="0">
                <a:solidFill>
                  <a:srgbClr val="BA56BD"/>
                </a:solidFill>
                <a:cs typeface="Calibri" panose="020F0502020204030204"/>
              </a:rPr>
              <a:t>hypotheses,</a:t>
            </a:r>
            <a:endParaRPr>
              <a:cs typeface="Calibri" panose="020F0502020204030204"/>
            </a:endParaRPr>
          </a:p>
          <a:p>
            <a:pPr algn="ctr">
              <a:lnSpc>
                <a:spcPct val="100000"/>
              </a:lnSpc>
            </a:pPr>
            <a:r>
              <a:rPr spc="-10" dirty="0">
                <a:solidFill>
                  <a:srgbClr val="BA56BD"/>
                </a:solidFill>
                <a:cs typeface="Calibri" panose="020F0502020204030204"/>
              </a:rPr>
              <a:t>just </a:t>
            </a:r>
            <a:r>
              <a:rPr spc="-15" dirty="0">
                <a:solidFill>
                  <a:srgbClr val="BA56BD"/>
                </a:solidFill>
                <a:cs typeface="Calibri" panose="020F0502020204030204"/>
              </a:rPr>
              <a:t>keep</a:t>
            </a:r>
            <a:r>
              <a:rPr spc="-5" dirty="0">
                <a:solidFill>
                  <a:srgbClr val="BA56BD"/>
                </a:solidFill>
                <a:cs typeface="Calibri" panose="020F0502020204030204"/>
              </a:rPr>
              <a:t> </a:t>
            </a:r>
            <a:r>
              <a:rPr i="1" dirty="0">
                <a:solidFill>
                  <a:srgbClr val="BA56BD"/>
                </a:solidFill>
                <a:cs typeface="Calibri" panose="020F0502020204030204"/>
              </a:rPr>
              <a:t>k</a:t>
            </a:r>
            <a:r>
              <a:rPr i="1" spc="-10" dirty="0">
                <a:solidFill>
                  <a:srgbClr val="BA56BD"/>
                </a:solidFill>
                <a:cs typeface="Calibri" panose="020F0502020204030204"/>
              </a:rPr>
              <a:t> </a:t>
            </a:r>
            <a:r>
              <a:rPr spc="-5" dirty="0">
                <a:solidFill>
                  <a:srgbClr val="BA56BD"/>
                </a:solidFill>
                <a:cs typeface="Calibri" panose="020F0502020204030204"/>
              </a:rPr>
              <a:t>with</a:t>
            </a:r>
            <a:r>
              <a:rPr spc="5" dirty="0">
                <a:solidFill>
                  <a:srgbClr val="BA56BD"/>
                </a:solidFill>
                <a:cs typeface="Calibri" panose="020F0502020204030204"/>
              </a:rPr>
              <a:t> </a:t>
            </a:r>
            <a:r>
              <a:rPr spc="-10" dirty="0">
                <a:solidFill>
                  <a:srgbClr val="BA56BD"/>
                </a:solidFill>
                <a:cs typeface="Calibri" panose="020F0502020204030204"/>
              </a:rPr>
              <a:t>highest</a:t>
            </a:r>
            <a:r>
              <a:rPr spc="-5" dirty="0">
                <a:solidFill>
                  <a:srgbClr val="BA56BD"/>
                </a:solidFill>
                <a:cs typeface="Calibri" panose="020F0502020204030204"/>
              </a:rPr>
              <a:t> </a:t>
            </a:r>
            <a:r>
              <a:rPr spc="-10" dirty="0">
                <a:solidFill>
                  <a:srgbClr val="BA56BD"/>
                </a:solidFill>
                <a:cs typeface="Calibri" panose="020F0502020204030204"/>
              </a:rPr>
              <a:t>scores</a:t>
            </a:r>
            <a:endParaRPr>
              <a:cs typeface="Calibri" panose="020F0502020204030204"/>
            </a:endParaRPr>
          </a:p>
        </p:txBody>
      </p:sp>
      <p:grpSp>
        <p:nvGrpSpPr>
          <p:cNvPr id="35" name="Group 34"/>
          <p:cNvGrpSpPr/>
          <p:nvPr/>
        </p:nvGrpSpPr>
        <p:grpSpPr>
          <a:xfrm>
            <a:off x="1875934" y="646192"/>
            <a:ext cx="8356238" cy="736600"/>
            <a:chOff x="1875934" y="646192"/>
            <a:chExt cx="8356238" cy="736600"/>
          </a:xfrm>
        </p:grpSpPr>
        <p:sp>
          <p:nvSpPr>
            <p:cNvPr id="36" name="object 3"/>
            <p:cNvSpPr txBox="1"/>
            <p:nvPr/>
          </p:nvSpPr>
          <p:spPr>
            <a:xfrm>
              <a:off x="1875934" y="840487"/>
              <a:ext cx="3557126" cy="321242"/>
            </a:xfrm>
            <a:prstGeom prst="rect">
              <a:avLst/>
            </a:prstGeom>
          </p:spPr>
          <p:txBody>
            <a:bodyPr vert="horz" wrap="square" lIns="0" tIns="13335" rIns="0" bIns="0" rtlCol="0">
              <a:spAutoFit/>
            </a:bodyPr>
            <a:lstStyle/>
            <a:p>
              <a:pPr marL="12700">
                <a:spcBef>
                  <a:spcPts val="105"/>
                </a:spcBef>
              </a:pPr>
              <a:r>
                <a:rPr sz="2000" b="1" dirty="0">
                  <a:cs typeface="Calibri" panose="020F0502020204030204"/>
                </a:rPr>
                <a:t>Beam</a:t>
              </a:r>
              <a:r>
                <a:rPr sz="2000" b="1" spc="-10" dirty="0">
                  <a:cs typeface="Calibri" panose="020F0502020204030204"/>
                </a:rPr>
                <a:t> </a:t>
              </a:r>
              <a:r>
                <a:rPr sz="2000" b="1" spc="-5" dirty="0">
                  <a:cs typeface="Calibri" panose="020F0502020204030204"/>
                </a:rPr>
                <a:t>size</a:t>
              </a:r>
              <a:r>
                <a:rPr sz="2000" b="1" dirty="0">
                  <a:cs typeface="Calibri" panose="020F0502020204030204"/>
                </a:rPr>
                <a:t> =</a:t>
              </a:r>
              <a:r>
                <a:rPr sz="2000" b="1" spc="-15" dirty="0">
                  <a:cs typeface="Calibri" panose="020F0502020204030204"/>
                </a:rPr>
                <a:t> </a:t>
              </a:r>
              <a:r>
                <a:rPr sz="2000" b="1" dirty="0">
                  <a:cs typeface="Calibri" panose="020F0502020204030204"/>
                </a:rPr>
                <a:t>k</a:t>
              </a:r>
              <a:r>
                <a:rPr sz="2000" b="1" spc="-10" dirty="0">
                  <a:cs typeface="Calibri" panose="020F0502020204030204"/>
                </a:rPr>
                <a:t> </a:t>
              </a:r>
              <a:r>
                <a:rPr sz="2000" b="1" dirty="0">
                  <a:cs typeface="Calibri" panose="020F0502020204030204"/>
                </a:rPr>
                <a:t>=</a:t>
              </a:r>
              <a:r>
                <a:rPr sz="2000" b="1" spc="-5" dirty="0">
                  <a:cs typeface="Calibri" panose="020F0502020204030204"/>
                </a:rPr>
                <a:t> </a:t>
              </a:r>
              <a:r>
                <a:rPr sz="2000" b="1" dirty="0">
                  <a:cs typeface="Calibri" panose="020F0502020204030204"/>
                </a:rPr>
                <a:t>2</a:t>
              </a:r>
              <a:r>
                <a:rPr sz="2000" dirty="0">
                  <a:cs typeface="Calibri" panose="020F0502020204030204"/>
                </a:rPr>
                <a:t>.</a:t>
              </a:r>
              <a:r>
                <a:rPr sz="2000" spc="-25" dirty="0">
                  <a:cs typeface="Calibri" panose="020F0502020204030204"/>
                </a:rPr>
                <a:t> </a:t>
              </a:r>
              <a:r>
                <a:rPr sz="2000" dirty="0">
                  <a:solidFill>
                    <a:srgbClr val="4285F4"/>
                  </a:solidFill>
                  <a:cs typeface="Calibri" panose="020F0502020204030204"/>
                </a:rPr>
                <a:t>Blue</a:t>
              </a:r>
              <a:r>
                <a:rPr sz="2000" spc="-10" dirty="0">
                  <a:solidFill>
                    <a:srgbClr val="4285F4"/>
                  </a:solidFill>
                  <a:cs typeface="Calibri" panose="020F0502020204030204"/>
                </a:rPr>
                <a:t> </a:t>
              </a:r>
              <a:r>
                <a:rPr sz="2000" dirty="0">
                  <a:solidFill>
                    <a:srgbClr val="4285F4"/>
                  </a:solidFill>
                  <a:cs typeface="Calibri" panose="020F0502020204030204"/>
                </a:rPr>
                <a:t>numbers</a:t>
              </a:r>
              <a:r>
                <a:rPr sz="2000" spc="-5" dirty="0">
                  <a:solidFill>
                    <a:srgbClr val="4285F4"/>
                  </a:solidFill>
                  <a:cs typeface="Calibri" panose="020F0502020204030204"/>
                </a:rPr>
                <a:t> </a:t>
              </a:r>
              <a:r>
                <a:rPr sz="2000" dirty="0">
                  <a:solidFill>
                    <a:srgbClr val="4285F4"/>
                  </a:solidFill>
                  <a:cs typeface="Calibri" panose="020F0502020204030204"/>
                </a:rPr>
                <a:t>=</a:t>
              </a:r>
              <a:endParaRPr sz="2000" dirty="0">
                <a:cs typeface="Calibri" panose="020F0502020204030204"/>
              </a:endParaRPr>
            </a:p>
          </p:txBody>
        </p:sp>
        <p:pic>
          <p:nvPicPr>
            <p:cNvPr id="37" name="object 50"/>
            <p:cNvPicPr/>
            <p:nvPr/>
          </p:nvPicPr>
          <p:blipFill>
            <a:blip r:embed="rId2" cstate="print"/>
            <a:stretch>
              <a:fillRect/>
            </a:stretch>
          </p:blipFill>
          <p:spPr>
            <a:xfrm>
              <a:off x="5415822" y="646192"/>
              <a:ext cx="4816350" cy="736600"/>
            </a:xfrm>
            <a:prstGeom prst="rect">
              <a:avLst/>
            </a:prstGeom>
          </p:spPr>
        </p:pic>
      </p:gr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273551" y="2842260"/>
            <a:ext cx="1117600" cy="337912"/>
          </a:xfrm>
          <a:prstGeom prst="rect">
            <a:avLst/>
          </a:prstGeom>
          <a:ln w="9144">
            <a:solidFill>
              <a:srgbClr val="000000"/>
            </a:solidFill>
          </a:ln>
        </p:spPr>
        <p:txBody>
          <a:bodyPr vert="horz" wrap="square" lIns="0" tIns="29844" rIns="0" bIns="0" rtlCol="0">
            <a:spAutoFit/>
          </a:bodyPr>
          <a:lstStyle/>
          <a:p>
            <a:pPr algn="ctr">
              <a:spcBef>
                <a:spcPts val="235"/>
              </a:spcBef>
            </a:pPr>
            <a:r>
              <a:rPr sz="2000" i="1" spc="-5" dirty="0">
                <a:latin typeface="Calibri" panose="020F0502020204030204"/>
                <a:cs typeface="Calibri" panose="020F0502020204030204"/>
              </a:rPr>
              <a:t>hit</a:t>
            </a:r>
            <a:endParaRPr sz="2000">
              <a:latin typeface="Calibri" panose="020F0502020204030204"/>
              <a:cs typeface="Calibri" panose="020F0502020204030204"/>
            </a:endParaRPr>
          </a:p>
        </p:txBody>
      </p:sp>
      <p:sp>
        <p:nvSpPr>
          <p:cNvPr id="4" name="object 4"/>
          <p:cNvSpPr txBox="1"/>
          <p:nvPr/>
        </p:nvSpPr>
        <p:spPr>
          <a:xfrm>
            <a:off x="3273551" y="3368040"/>
            <a:ext cx="1117600" cy="338554"/>
          </a:xfrm>
          <a:prstGeom prst="rect">
            <a:avLst/>
          </a:prstGeom>
          <a:ln w="9144">
            <a:solidFill>
              <a:srgbClr val="000000"/>
            </a:solidFill>
          </a:ln>
        </p:spPr>
        <p:txBody>
          <a:bodyPr vert="horz" wrap="square" lIns="0" tIns="30480" rIns="0" bIns="0" rtlCol="0">
            <a:spAutoFit/>
          </a:bodyPr>
          <a:lstStyle/>
          <a:p>
            <a:pPr marL="247015">
              <a:spcBef>
                <a:spcPts val="240"/>
              </a:spcBef>
            </a:pPr>
            <a:r>
              <a:rPr sz="2000" i="1" spc="-5" dirty="0">
                <a:latin typeface="Calibri" panose="020F0502020204030204"/>
                <a:cs typeface="Calibri" panose="020F0502020204030204"/>
              </a:rPr>
              <a:t>struck</a:t>
            </a:r>
            <a:endParaRPr sz="2000">
              <a:latin typeface="Calibri" panose="020F0502020204030204"/>
              <a:cs typeface="Calibri" panose="020F0502020204030204"/>
            </a:endParaRPr>
          </a:p>
        </p:txBody>
      </p:sp>
      <p:sp>
        <p:nvSpPr>
          <p:cNvPr id="5" name="object 5"/>
          <p:cNvSpPr txBox="1"/>
          <p:nvPr/>
        </p:nvSpPr>
        <p:spPr>
          <a:xfrm>
            <a:off x="3273551" y="4698491"/>
            <a:ext cx="1117600" cy="338554"/>
          </a:xfrm>
          <a:prstGeom prst="rect">
            <a:avLst/>
          </a:prstGeom>
          <a:ln w="9144">
            <a:solidFill>
              <a:srgbClr val="000000"/>
            </a:solidFill>
          </a:ln>
        </p:spPr>
        <p:txBody>
          <a:bodyPr vert="horz" wrap="square" lIns="0" tIns="30480" rIns="0" bIns="0" rtlCol="0">
            <a:spAutoFit/>
          </a:bodyPr>
          <a:lstStyle/>
          <a:p>
            <a:pPr marL="352425">
              <a:spcBef>
                <a:spcPts val="240"/>
              </a:spcBef>
            </a:pPr>
            <a:r>
              <a:rPr sz="2000" i="1" dirty="0">
                <a:latin typeface="Calibri" panose="020F0502020204030204"/>
                <a:cs typeface="Calibri" panose="020F0502020204030204"/>
              </a:rPr>
              <a:t>was</a:t>
            </a:r>
            <a:endParaRPr sz="2000">
              <a:latin typeface="Calibri" panose="020F0502020204030204"/>
              <a:cs typeface="Calibri" panose="020F0502020204030204"/>
            </a:endParaRPr>
          </a:p>
        </p:txBody>
      </p:sp>
      <p:sp>
        <p:nvSpPr>
          <p:cNvPr id="6" name="object 6"/>
          <p:cNvSpPr txBox="1"/>
          <p:nvPr/>
        </p:nvSpPr>
        <p:spPr>
          <a:xfrm>
            <a:off x="3273551" y="5224272"/>
            <a:ext cx="1117600" cy="339195"/>
          </a:xfrm>
          <a:prstGeom prst="rect">
            <a:avLst/>
          </a:prstGeom>
          <a:ln w="9144">
            <a:solidFill>
              <a:srgbClr val="000000"/>
            </a:solidFill>
          </a:ln>
        </p:spPr>
        <p:txBody>
          <a:bodyPr vert="horz" wrap="square" lIns="0" tIns="31115" rIns="0" bIns="0" rtlCol="0">
            <a:spAutoFit/>
          </a:bodyPr>
          <a:lstStyle/>
          <a:p>
            <a:pPr algn="ctr">
              <a:spcBef>
                <a:spcPts val="245"/>
              </a:spcBef>
            </a:pPr>
            <a:r>
              <a:rPr sz="2000" i="1" spc="-5" dirty="0">
                <a:latin typeface="Calibri" panose="020F0502020204030204"/>
                <a:cs typeface="Calibri" panose="020F0502020204030204"/>
              </a:rPr>
              <a:t>got</a:t>
            </a:r>
            <a:endParaRPr sz="2000">
              <a:latin typeface="Calibri" panose="020F0502020204030204"/>
              <a:cs typeface="Calibri" panose="020F0502020204030204"/>
            </a:endParaRPr>
          </a:p>
        </p:txBody>
      </p:sp>
      <p:sp>
        <p:nvSpPr>
          <p:cNvPr id="7" name="object 7"/>
          <p:cNvSpPr/>
          <p:nvPr/>
        </p:nvSpPr>
        <p:spPr>
          <a:xfrm>
            <a:off x="2876804" y="3060192"/>
            <a:ext cx="397510" cy="526415"/>
          </a:xfrm>
          <a:custGeom>
            <a:avLst/>
            <a:gdLst/>
            <a:ahLst/>
            <a:cxnLst/>
            <a:rect l="l" t="t" r="r" b="b"/>
            <a:pathLst>
              <a:path w="397510" h="526414">
                <a:moveTo>
                  <a:pt x="397383" y="0"/>
                </a:moveTo>
                <a:lnTo>
                  <a:pt x="312801" y="11049"/>
                </a:lnTo>
                <a:lnTo>
                  <a:pt x="330568" y="37338"/>
                </a:lnTo>
                <a:lnTo>
                  <a:pt x="0" y="260223"/>
                </a:lnTo>
                <a:lnTo>
                  <a:pt x="3441" y="265341"/>
                </a:lnTo>
                <a:lnTo>
                  <a:pt x="0" y="270510"/>
                </a:lnTo>
                <a:lnTo>
                  <a:pt x="330288" y="489445"/>
                </a:lnTo>
                <a:lnTo>
                  <a:pt x="312801" y="515874"/>
                </a:lnTo>
                <a:lnTo>
                  <a:pt x="397383" y="526161"/>
                </a:lnTo>
                <a:lnTo>
                  <a:pt x="380238" y="496443"/>
                </a:lnTo>
                <a:lnTo>
                  <a:pt x="354838" y="452374"/>
                </a:lnTo>
                <a:lnTo>
                  <a:pt x="337337" y="478815"/>
                </a:lnTo>
                <a:lnTo>
                  <a:pt x="15278" y="265264"/>
                </a:lnTo>
                <a:lnTo>
                  <a:pt x="337693" y="47879"/>
                </a:lnTo>
                <a:lnTo>
                  <a:pt x="355473" y="74168"/>
                </a:lnTo>
                <a:lnTo>
                  <a:pt x="380301" y="30226"/>
                </a:lnTo>
                <a:lnTo>
                  <a:pt x="397383" y="0"/>
                </a:lnTo>
                <a:close/>
              </a:path>
            </a:pathLst>
          </a:custGeom>
          <a:solidFill>
            <a:srgbClr val="000000"/>
          </a:solidFill>
        </p:spPr>
        <p:txBody>
          <a:bodyPr wrap="square" lIns="0" tIns="0" rIns="0" bIns="0" rtlCol="0"/>
          <a:lstStyle/>
          <a:p>
            <a:endParaRPr/>
          </a:p>
        </p:txBody>
      </p:sp>
      <p:sp>
        <p:nvSpPr>
          <p:cNvPr id="8" name="object 8"/>
          <p:cNvSpPr/>
          <p:nvPr/>
        </p:nvSpPr>
        <p:spPr>
          <a:xfrm>
            <a:off x="2876804" y="4916423"/>
            <a:ext cx="397510" cy="527050"/>
          </a:xfrm>
          <a:custGeom>
            <a:avLst/>
            <a:gdLst/>
            <a:ahLst/>
            <a:cxnLst/>
            <a:rect l="l" t="t" r="r" b="b"/>
            <a:pathLst>
              <a:path w="397510" h="527050">
                <a:moveTo>
                  <a:pt x="397383" y="0"/>
                </a:moveTo>
                <a:lnTo>
                  <a:pt x="312928" y="11938"/>
                </a:lnTo>
                <a:lnTo>
                  <a:pt x="331038" y="38100"/>
                </a:lnTo>
                <a:lnTo>
                  <a:pt x="0" y="267081"/>
                </a:lnTo>
                <a:lnTo>
                  <a:pt x="3721" y="272542"/>
                </a:lnTo>
                <a:lnTo>
                  <a:pt x="127" y="278142"/>
                </a:lnTo>
                <a:lnTo>
                  <a:pt x="329869" y="491121"/>
                </a:lnTo>
                <a:lnTo>
                  <a:pt x="312674" y="517779"/>
                </a:lnTo>
                <a:lnTo>
                  <a:pt x="397383" y="527050"/>
                </a:lnTo>
                <a:lnTo>
                  <a:pt x="380136" y="497967"/>
                </a:lnTo>
                <a:lnTo>
                  <a:pt x="353949" y="453771"/>
                </a:lnTo>
                <a:lnTo>
                  <a:pt x="336778" y="480402"/>
                </a:lnTo>
                <a:lnTo>
                  <a:pt x="14541" y="272351"/>
                </a:lnTo>
                <a:lnTo>
                  <a:pt x="338251" y="48526"/>
                </a:lnTo>
                <a:lnTo>
                  <a:pt x="356362" y="74676"/>
                </a:lnTo>
                <a:lnTo>
                  <a:pt x="380428" y="30861"/>
                </a:lnTo>
                <a:lnTo>
                  <a:pt x="397383" y="0"/>
                </a:lnTo>
                <a:close/>
              </a:path>
            </a:pathLst>
          </a:custGeom>
          <a:solidFill>
            <a:srgbClr val="000000"/>
          </a:solidFill>
        </p:spPr>
        <p:txBody>
          <a:bodyPr wrap="square" lIns="0" tIns="0" rIns="0" bIns="0" rtlCol="0"/>
          <a:lstStyle/>
          <a:p>
            <a:endParaRPr/>
          </a:p>
        </p:txBody>
      </p:sp>
      <p:sp>
        <p:nvSpPr>
          <p:cNvPr id="9" name="object 9"/>
          <p:cNvSpPr txBox="1"/>
          <p:nvPr/>
        </p:nvSpPr>
        <p:spPr>
          <a:xfrm>
            <a:off x="4728972" y="2546604"/>
            <a:ext cx="1117600" cy="338554"/>
          </a:xfrm>
          <a:prstGeom prst="rect">
            <a:avLst/>
          </a:prstGeom>
          <a:ln w="9144">
            <a:solidFill>
              <a:srgbClr val="000000"/>
            </a:solidFill>
          </a:ln>
        </p:spPr>
        <p:txBody>
          <a:bodyPr vert="horz" wrap="square" lIns="0" tIns="30480" rIns="0" bIns="0" rtlCol="0">
            <a:spAutoFit/>
          </a:bodyPr>
          <a:lstStyle/>
          <a:p>
            <a:pPr algn="ctr">
              <a:spcBef>
                <a:spcPts val="240"/>
              </a:spcBef>
            </a:pPr>
            <a:r>
              <a:rPr sz="2000" i="1" dirty="0">
                <a:solidFill>
                  <a:srgbClr val="00AF50"/>
                </a:solidFill>
                <a:latin typeface="Calibri" panose="020F0502020204030204"/>
                <a:cs typeface="Calibri" panose="020F0502020204030204"/>
              </a:rPr>
              <a:t>a</a:t>
            </a:r>
            <a:endParaRPr sz="2000">
              <a:latin typeface="Calibri" panose="020F0502020204030204"/>
              <a:cs typeface="Calibri" panose="020F0502020204030204"/>
            </a:endParaRPr>
          </a:p>
        </p:txBody>
      </p:sp>
      <p:sp>
        <p:nvSpPr>
          <p:cNvPr id="10" name="object 10"/>
          <p:cNvSpPr txBox="1"/>
          <p:nvPr/>
        </p:nvSpPr>
        <p:spPr>
          <a:xfrm>
            <a:off x="4728972" y="3073908"/>
            <a:ext cx="1117600" cy="337913"/>
          </a:xfrm>
          <a:prstGeom prst="rect">
            <a:avLst/>
          </a:prstGeom>
          <a:ln w="9144">
            <a:solidFill>
              <a:srgbClr val="000000"/>
            </a:solidFill>
          </a:ln>
        </p:spPr>
        <p:txBody>
          <a:bodyPr vert="horz" wrap="square" lIns="0" tIns="29845" rIns="0" bIns="0" rtlCol="0">
            <a:spAutoFit/>
          </a:bodyPr>
          <a:lstStyle/>
          <a:p>
            <a:pPr algn="ctr">
              <a:spcBef>
                <a:spcPts val="235"/>
              </a:spcBef>
            </a:pPr>
            <a:r>
              <a:rPr sz="2000" i="1" spc="-5" dirty="0">
                <a:solidFill>
                  <a:srgbClr val="00AF50"/>
                </a:solidFill>
                <a:latin typeface="Calibri" panose="020F0502020204030204"/>
                <a:cs typeface="Calibri" panose="020F0502020204030204"/>
              </a:rPr>
              <a:t>me</a:t>
            </a:r>
            <a:endParaRPr sz="2000">
              <a:latin typeface="Calibri" panose="020F0502020204030204"/>
              <a:cs typeface="Calibri" panose="020F0502020204030204"/>
            </a:endParaRPr>
          </a:p>
        </p:txBody>
      </p:sp>
      <p:sp>
        <p:nvSpPr>
          <p:cNvPr id="11" name="object 11"/>
          <p:cNvSpPr txBox="1"/>
          <p:nvPr/>
        </p:nvSpPr>
        <p:spPr>
          <a:xfrm>
            <a:off x="4728972" y="4430268"/>
            <a:ext cx="1117600" cy="337913"/>
          </a:xfrm>
          <a:prstGeom prst="rect">
            <a:avLst/>
          </a:prstGeom>
          <a:ln w="9144">
            <a:solidFill>
              <a:srgbClr val="000000"/>
            </a:solidFill>
          </a:ln>
        </p:spPr>
        <p:txBody>
          <a:bodyPr vert="horz" wrap="square" lIns="0" tIns="29845" rIns="0" bIns="0" rtlCol="0">
            <a:spAutoFit/>
          </a:bodyPr>
          <a:lstStyle/>
          <a:p>
            <a:pPr algn="ctr">
              <a:spcBef>
                <a:spcPts val="235"/>
              </a:spcBef>
            </a:pPr>
            <a:r>
              <a:rPr sz="2000" i="1" spc="-5" dirty="0">
                <a:latin typeface="Calibri" panose="020F0502020204030204"/>
                <a:cs typeface="Calibri" panose="020F0502020204030204"/>
              </a:rPr>
              <a:t>hit</a:t>
            </a:r>
            <a:endParaRPr sz="2000">
              <a:latin typeface="Calibri" panose="020F0502020204030204"/>
              <a:cs typeface="Calibri" panose="020F0502020204030204"/>
            </a:endParaRPr>
          </a:p>
        </p:txBody>
      </p:sp>
      <p:sp>
        <p:nvSpPr>
          <p:cNvPr id="12" name="object 12"/>
          <p:cNvSpPr txBox="1"/>
          <p:nvPr/>
        </p:nvSpPr>
        <p:spPr>
          <a:xfrm>
            <a:off x="4728972" y="4956048"/>
            <a:ext cx="1117600" cy="339195"/>
          </a:xfrm>
          <a:prstGeom prst="rect">
            <a:avLst/>
          </a:prstGeom>
          <a:ln w="9144">
            <a:solidFill>
              <a:srgbClr val="000000"/>
            </a:solidFill>
          </a:ln>
        </p:spPr>
        <p:txBody>
          <a:bodyPr vert="horz" wrap="square" lIns="0" tIns="31115" rIns="0" bIns="0" rtlCol="0">
            <a:spAutoFit/>
          </a:bodyPr>
          <a:lstStyle/>
          <a:p>
            <a:pPr marL="247015">
              <a:spcBef>
                <a:spcPts val="245"/>
              </a:spcBef>
            </a:pPr>
            <a:r>
              <a:rPr sz="2000" i="1" spc="-5" dirty="0">
                <a:latin typeface="Calibri" panose="020F0502020204030204"/>
                <a:cs typeface="Calibri" panose="020F0502020204030204"/>
              </a:rPr>
              <a:t>struck</a:t>
            </a:r>
            <a:endParaRPr sz="2000">
              <a:latin typeface="Calibri" panose="020F0502020204030204"/>
              <a:cs typeface="Calibri" panose="020F0502020204030204"/>
            </a:endParaRPr>
          </a:p>
        </p:txBody>
      </p:sp>
      <p:sp>
        <p:nvSpPr>
          <p:cNvPr id="13" name="object 13"/>
          <p:cNvSpPr/>
          <p:nvPr/>
        </p:nvSpPr>
        <p:spPr>
          <a:xfrm>
            <a:off x="4386454" y="2764536"/>
            <a:ext cx="342265" cy="527685"/>
          </a:xfrm>
          <a:custGeom>
            <a:avLst/>
            <a:gdLst/>
            <a:ahLst/>
            <a:cxnLst/>
            <a:rect l="l" t="t" r="r" b="b"/>
            <a:pathLst>
              <a:path w="342264" h="527685">
                <a:moveTo>
                  <a:pt x="342265" y="0"/>
                </a:moveTo>
                <a:lnTo>
                  <a:pt x="259842" y="21336"/>
                </a:lnTo>
                <a:lnTo>
                  <a:pt x="280670" y="45250"/>
                </a:lnTo>
                <a:lnTo>
                  <a:pt x="0" y="289687"/>
                </a:lnTo>
                <a:lnTo>
                  <a:pt x="4622" y="295021"/>
                </a:lnTo>
                <a:lnTo>
                  <a:pt x="635" y="300863"/>
                </a:lnTo>
                <a:lnTo>
                  <a:pt x="275856" y="489826"/>
                </a:lnTo>
                <a:lnTo>
                  <a:pt x="257937" y="516001"/>
                </a:lnTo>
                <a:lnTo>
                  <a:pt x="342265" y="527685"/>
                </a:lnTo>
                <a:lnTo>
                  <a:pt x="325247" y="496951"/>
                </a:lnTo>
                <a:lnTo>
                  <a:pt x="300990" y="453136"/>
                </a:lnTo>
                <a:lnTo>
                  <a:pt x="283032" y="479361"/>
                </a:lnTo>
                <a:lnTo>
                  <a:pt x="13804" y="294614"/>
                </a:lnTo>
                <a:lnTo>
                  <a:pt x="289013" y="54813"/>
                </a:lnTo>
                <a:lnTo>
                  <a:pt x="309880" y="78740"/>
                </a:lnTo>
                <a:lnTo>
                  <a:pt x="327063" y="36957"/>
                </a:lnTo>
                <a:lnTo>
                  <a:pt x="342265" y="0"/>
                </a:lnTo>
                <a:close/>
              </a:path>
            </a:pathLst>
          </a:custGeom>
          <a:solidFill>
            <a:srgbClr val="000000"/>
          </a:solidFill>
        </p:spPr>
        <p:txBody>
          <a:bodyPr wrap="square" lIns="0" tIns="0" rIns="0" bIns="0" rtlCol="0"/>
          <a:lstStyle/>
          <a:p>
            <a:endParaRPr/>
          </a:p>
        </p:txBody>
      </p:sp>
      <p:sp>
        <p:nvSpPr>
          <p:cNvPr id="14" name="object 14"/>
          <p:cNvSpPr/>
          <p:nvPr/>
        </p:nvSpPr>
        <p:spPr>
          <a:xfrm>
            <a:off x="4386708" y="4648200"/>
            <a:ext cx="342265" cy="527050"/>
          </a:xfrm>
          <a:custGeom>
            <a:avLst/>
            <a:gdLst/>
            <a:ahLst/>
            <a:cxnLst/>
            <a:rect l="l" t="t" r="r" b="b"/>
            <a:pathLst>
              <a:path w="342264" h="527050">
                <a:moveTo>
                  <a:pt x="342011" y="0"/>
                </a:moveTo>
                <a:lnTo>
                  <a:pt x="258572" y="17526"/>
                </a:lnTo>
                <a:lnTo>
                  <a:pt x="278333" y="42443"/>
                </a:lnTo>
                <a:lnTo>
                  <a:pt x="0" y="263271"/>
                </a:lnTo>
                <a:lnTo>
                  <a:pt x="3937" y="268224"/>
                </a:lnTo>
                <a:lnTo>
                  <a:pt x="127" y="273304"/>
                </a:lnTo>
                <a:lnTo>
                  <a:pt x="277596" y="485330"/>
                </a:lnTo>
                <a:lnTo>
                  <a:pt x="258318" y="510540"/>
                </a:lnTo>
                <a:lnTo>
                  <a:pt x="342011" y="526542"/>
                </a:lnTo>
                <a:lnTo>
                  <a:pt x="325577" y="493014"/>
                </a:lnTo>
                <a:lnTo>
                  <a:pt x="304546" y="450088"/>
                </a:lnTo>
                <a:lnTo>
                  <a:pt x="285292" y="475259"/>
                </a:lnTo>
                <a:lnTo>
                  <a:pt x="14249" y="268122"/>
                </a:lnTo>
                <a:lnTo>
                  <a:pt x="286207" y="52349"/>
                </a:lnTo>
                <a:lnTo>
                  <a:pt x="305943" y="77216"/>
                </a:lnTo>
                <a:lnTo>
                  <a:pt x="325869" y="34544"/>
                </a:lnTo>
                <a:lnTo>
                  <a:pt x="342011" y="0"/>
                </a:lnTo>
                <a:close/>
              </a:path>
            </a:pathLst>
          </a:custGeom>
          <a:solidFill>
            <a:srgbClr val="000000"/>
          </a:solidFill>
        </p:spPr>
        <p:txBody>
          <a:bodyPr wrap="square" lIns="0" tIns="0" rIns="0" bIns="0" rtlCol="0"/>
          <a:lstStyle/>
          <a:p>
            <a:endParaRPr/>
          </a:p>
        </p:txBody>
      </p:sp>
      <p:sp>
        <p:nvSpPr>
          <p:cNvPr id="15" name="object 15"/>
          <p:cNvSpPr txBox="1"/>
          <p:nvPr/>
        </p:nvSpPr>
        <p:spPr>
          <a:xfrm>
            <a:off x="6256020" y="1816608"/>
            <a:ext cx="1117600" cy="337913"/>
          </a:xfrm>
          <a:prstGeom prst="rect">
            <a:avLst/>
          </a:prstGeom>
          <a:ln w="9144">
            <a:solidFill>
              <a:srgbClr val="000000"/>
            </a:solidFill>
          </a:ln>
        </p:spPr>
        <p:txBody>
          <a:bodyPr vert="horz" wrap="square" lIns="0" tIns="29845" rIns="0" bIns="0" rtlCol="0">
            <a:spAutoFit/>
          </a:bodyPr>
          <a:lstStyle/>
          <a:p>
            <a:pPr marL="365125">
              <a:spcBef>
                <a:spcPts val="235"/>
              </a:spcBef>
            </a:pPr>
            <a:r>
              <a:rPr sz="2000" i="1" dirty="0">
                <a:latin typeface="Calibri" panose="020F0502020204030204"/>
                <a:cs typeface="Calibri" panose="020F0502020204030204"/>
              </a:rPr>
              <a:t>tart</a:t>
            </a:r>
            <a:endParaRPr sz="2000">
              <a:latin typeface="Calibri" panose="020F0502020204030204"/>
              <a:cs typeface="Calibri" panose="020F0502020204030204"/>
            </a:endParaRPr>
          </a:p>
        </p:txBody>
      </p:sp>
      <p:sp>
        <p:nvSpPr>
          <p:cNvPr id="16" name="object 16"/>
          <p:cNvSpPr txBox="1"/>
          <p:nvPr/>
        </p:nvSpPr>
        <p:spPr>
          <a:xfrm>
            <a:off x="6256020" y="2343912"/>
            <a:ext cx="1117600" cy="337271"/>
          </a:xfrm>
          <a:prstGeom prst="rect">
            <a:avLst/>
          </a:prstGeom>
          <a:ln w="9144">
            <a:solidFill>
              <a:srgbClr val="000000"/>
            </a:solidFill>
          </a:ln>
        </p:spPr>
        <p:txBody>
          <a:bodyPr vert="horz" wrap="square" lIns="0" tIns="29209" rIns="0" bIns="0" rtlCol="0">
            <a:spAutoFit/>
          </a:bodyPr>
          <a:lstStyle/>
          <a:p>
            <a:pPr marL="1270" algn="ctr">
              <a:spcBef>
                <a:spcPts val="230"/>
              </a:spcBef>
            </a:pPr>
            <a:r>
              <a:rPr sz="2000" i="1" spc="-5" dirty="0">
                <a:latin typeface="Calibri" panose="020F0502020204030204"/>
                <a:cs typeface="Calibri" panose="020F0502020204030204"/>
              </a:rPr>
              <a:t>pie</a:t>
            </a:r>
            <a:endParaRPr sz="2000">
              <a:latin typeface="Calibri" panose="020F0502020204030204"/>
              <a:cs typeface="Calibri" panose="020F0502020204030204"/>
            </a:endParaRPr>
          </a:p>
        </p:txBody>
      </p:sp>
      <p:sp>
        <p:nvSpPr>
          <p:cNvPr id="17" name="object 17"/>
          <p:cNvSpPr txBox="1"/>
          <p:nvPr/>
        </p:nvSpPr>
        <p:spPr>
          <a:xfrm>
            <a:off x="6256020" y="3512820"/>
            <a:ext cx="1117600" cy="337912"/>
          </a:xfrm>
          <a:prstGeom prst="rect">
            <a:avLst/>
          </a:prstGeom>
          <a:ln w="9144">
            <a:solidFill>
              <a:srgbClr val="000000"/>
            </a:solidFill>
          </a:ln>
        </p:spPr>
        <p:txBody>
          <a:bodyPr vert="horz" wrap="square" lIns="0" tIns="29844" rIns="0" bIns="0" rtlCol="0">
            <a:spAutoFit/>
          </a:bodyPr>
          <a:lstStyle/>
          <a:p>
            <a:pPr marL="332105">
              <a:spcBef>
                <a:spcPts val="235"/>
              </a:spcBef>
            </a:pPr>
            <a:r>
              <a:rPr sz="2000" i="1" spc="-5" dirty="0">
                <a:latin typeface="Calibri" panose="020F0502020204030204"/>
                <a:cs typeface="Calibri" panose="020F0502020204030204"/>
              </a:rPr>
              <a:t>with</a:t>
            </a:r>
            <a:endParaRPr sz="2000">
              <a:latin typeface="Calibri" panose="020F0502020204030204"/>
              <a:cs typeface="Calibri" panose="020F0502020204030204"/>
            </a:endParaRPr>
          </a:p>
        </p:txBody>
      </p:sp>
      <p:sp>
        <p:nvSpPr>
          <p:cNvPr id="18" name="object 18"/>
          <p:cNvSpPr txBox="1"/>
          <p:nvPr/>
        </p:nvSpPr>
        <p:spPr>
          <a:xfrm>
            <a:off x="6256020" y="4038601"/>
            <a:ext cx="1117600" cy="337913"/>
          </a:xfrm>
          <a:prstGeom prst="rect">
            <a:avLst/>
          </a:prstGeom>
          <a:ln w="9144">
            <a:solidFill>
              <a:srgbClr val="000000"/>
            </a:solidFill>
          </a:ln>
        </p:spPr>
        <p:txBody>
          <a:bodyPr vert="horz" wrap="square" lIns="0" tIns="29845" rIns="0" bIns="0" rtlCol="0">
            <a:spAutoFit/>
          </a:bodyPr>
          <a:lstStyle/>
          <a:p>
            <a:pPr marL="1270" algn="ctr">
              <a:spcBef>
                <a:spcPts val="235"/>
              </a:spcBef>
            </a:pPr>
            <a:r>
              <a:rPr sz="2000" i="1" dirty="0">
                <a:latin typeface="Calibri" panose="020F0502020204030204"/>
                <a:cs typeface="Calibri" panose="020F0502020204030204"/>
              </a:rPr>
              <a:t>on</a:t>
            </a:r>
            <a:endParaRPr sz="2000">
              <a:latin typeface="Calibri" panose="020F0502020204030204"/>
              <a:cs typeface="Calibri" panose="020F0502020204030204"/>
            </a:endParaRPr>
          </a:p>
        </p:txBody>
      </p:sp>
      <p:sp>
        <p:nvSpPr>
          <p:cNvPr id="19" name="object 19"/>
          <p:cNvSpPr/>
          <p:nvPr/>
        </p:nvSpPr>
        <p:spPr>
          <a:xfrm>
            <a:off x="5840223" y="3287521"/>
            <a:ext cx="422275" cy="969644"/>
          </a:xfrm>
          <a:custGeom>
            <a:avLst/>
            <a:gdLst/>
            <a:ahLst/>
            <a:cxnLst/>
            <a:rect l="l" t="t" r="r" b="b"/>
            <a:pathLst>
              <a:path w="422275" h="969645">
                <a:moveTo>
                  <a:pt x="422021" y="884174"/>
                </a:moveTo>
                <a:lnTo>
                  <a:pt x="392785" y="896620"/>
                </a:lnTo>
                <a:lnTo>
                  <a:pt x="25704" y="34709"/>
                </a:lnTo>
                <a:lnTo>
                  <a:pt x="360121" y="391426"/>
                </a:lnTo>
                <a:lnTo>
                  <a:pt x="336931" y="413131"/>
                </a:lnTo>
                <a:lnTo>
                  <a:pt x="416814" y="442722"/>
                </a:lnTo>
                <a:lnTo>
                  <a:pt x="404317" y="400685"/>
                </a:lnTo>
                <a:lnTo>
                  <a:pt x="392557" y="361061"/>
                </a:lnTo>
                <a:lnTo>
                  <a:pt x="369366" y="382765"/>
                </a:lnTo>
                <a:lnTo>
                  <a:pt x="10414" y="0"/>
                </a:lnTo>
                <a:lnTo>
                  <a:pt x="5842" y="4318"/>
                </a:lnTo>
                <a:lnTo>
                  <a:pt x="0" y="6858"/>
                </a:lnTo>
                <a:lnTo>
                  <a:pt x="381101" y="901598"/>
                </a:lnTo>
                <a:lnTo>
                  <a:pt x="351917" y="914019"/>
                </a:lnTo>
                <a:lnTo>
                  <a:pt x="416814" y="969137"/>
                </a:lnTo>
                <a:lnTo>
                  <a:pt x="420230" y="913257"/>
                </a:lnTo>
                <a:lnTo>
                  <a:pt x="422021" y="884174"/>
                </a:lnTo>
                <a:close/>
              </a:path>
            </a:pathLst>
          </a:custGeom>
          <a:solidFill>
            <a:srgbClr val="000000"/>
          </a:solidFill>
        </p:spPr>
        <p:txBody>
          <a:bodyPr wrap="square" lIns="0" tIns="0" rIns="0" bIns="0" rtlCol="0"/>
          <a:lstStyle/>
          <a:p>
            <a:endParaRPr/>
          </a:p>
        </p:txBody>
      </p:sp>
      <p:sp>
        <p:nvSpPr>
          <p:cNvPr id="20" name="object 20"/>
          <p:cNvSpPr/>
          <p:nvPr/>
        </p:nvSpPr>
        <p:spPr>
          <a:xfrm>
            <a:off x="5840477" y="2034539"/>
            <a:ext cx="416559" cy="736600"/>
          </a:xfrm>
          <a:custGeom>
            <a:avLst/>
            <a:gdLst/>
            <a:ahLst/>
            <a:cxnLst/>
            <a:rect l="l" t="t" r="r" b="b"/>
            <a:pathLst>
              <a:path w="416560" h="736600">
                <a:moveTo>
                  <a:pt x="416560" y="0"/>
                </a:moveTo>
                <a:lnTo>
                  <a:pt x="346075" y="47752"/>
                </a:lnTo>
                <a:lnTo>
                  <a:pt x="373722" y="63309"/>
                </a:lnTo>
                <a:lnTo>
                  <a:pt x="0" y="726948"/>
                </a:lnTo>
                <a:lnTo>
                  <a:pt x="5067" y="729830"/>
                </a:lnTo>
                <a:lnTo>
                  <a:pt x="8382" y="736600"/>
                </a:lnTo>
                <a:lnTo>
                  <a:pt x="351205" y="566851"/>
                </a:lnTo>
                <a:lnTo>
                  <a:pt x="365252" y="595249"/>
                </a:lnTo>
                <a:lnTo>
                  <a:pt x="399580" y="549783"/>
                </a:lnTo>
                <a:lnTo>
                  <a:pt x="416560" y="527304"/>
                </a:lnTo>
                <a:lnTo>
                  <a:pt x="331470" y="526923"/>
                </a:lnTo>
                <a:lnTo>
                  <a:pt x="345541" y="555396"/>
                </a:lnTo>
                <a:lnTo>
                  <a:pt x="20751" y="716280"/>
                </a:lnTo>
                <a:lnTo>
                  <a:pt x="384784" y="69519"/>
                </a:lnTo>
                <a:lnTo>
                  <a:pt x="412496" y="85090"/>
                </a:lnTo>
                <a:lnTo>
                  <a:pt x="414058" y="52197"/>
                </a:lnTo>
                <a:lnTo>
                  <a:pt x="416560" y="0"/>
                </a:lnTo>
                <a:close/>
              </a:path>
            </a:pathLst>
          </a:custGeom>
          <a:solidFill>
            <a:srgbClr val="000000"/>
          </a:solidFill>
        </p:spPr>
        <p:txBody>
          <a:bodyPr wrap="square" lIns="0" tIns="0" rIns="0" bIns="0" rtlCol="0"/>
          <a:lstStyle/>
          <a:p>
            <a:endParaRPr/>
          </a:p>
        </p:txBody>
      </p:sp>
      <p:sp>
        <p:nvSpPr>
          <p:cNvPr id="21" name="object 21"/>
          <p:cNvSpPr txBox="1"/>
          <p:nvPr/>
        </p:nvSpPr>
        <p:spPr>
          <a:xfrm>
            <a:off x="1524001" y="4038601"/>
            <a:ext cx="1167765" cy="337913"/>
          </a:xfrm>
          <a:prstGeom prst="rect">
            <a:avLst/>
          </a:prstGeom>
          <a:ln w="9143">
            <a:solidFill>
              <a:srgbClr val="000000"/>
            </a:solidFill>
          </a:ln>
        </p:spPr>
        <p:txBody>
          <a:bodyPr vert="horz" wrap="square" lIns="0" tIns="29845" rIns="0" bIns="0" rtlCol="0">
            <a:spAutoFit/>
          </a:bodyPr>
          <a:lstStyle/>
          <a:p>
            <a:pPr marL="131445">
              <a:spcBef>
                <a:spcPts val="235"/>
              </a:spcBef>
            </a:pPr>
            <a:r>
              <a:rPr sz="2000" i="1" spc="-5" dirty="0">
                <a:latin typeface="Calibri" panose="020F0502020204030204"/>
                <a:cs typeface="Calibri" panose="020F0502020204030204"/>
              </a:rPr>
              <a:t>&lt;START&gt;</a:t>
            </a:r>
            <a:endParaRPr sz="2000">
              <a:latin typeface="Calibri" panose="020F0502020204030204"/>
              <a:cs typeface="Calibri" panose="020F0502020204030204"/>
            </a:endParaRPr>
          </a:p>
        </p:txBody>
      </p:sp>
      <p:sp>
        <p:nvSpPr>
          <p:cNvPr id="22" name="object 22"/>
          <p:cNvSpPr txBox="1"/>
          <p:nvPr/>
        </p:nvSpPr>
        <p:spPr>
          <a:xfrm>
            <a:off x="2308859" y="3107436"/>
            <a:ext cx="571500" cy="337913"/>
          </a:xfrm>
          <a:prstGeom prst="rect">
            <a:avLst/>
          </a:prstGeom>
          <a:ln w="9143">
            <a:solidFill>
              <a:srgbClr val="000000"/>
            </a:solidFill>
          </a:ln>
        </p:spPr>
        <p:txBody>
          <a:bodyPr vert="horz" wrap="square" lIns="0" tIns="29845" rIns="0" bIns="0" rtlCol="0">
            <a:spAutoFit/>
          </a:bodyPr>
          <a:lstStyle/>
          <a:p>
            <a:pPr marL="158750">
              <a:spcBef>
                <a:spcPts val="235"/>
              </a:spcBef>
            </a:pPr>
            <a:r>
              <a:rPr sz="2000" i="1" dirty="0">
                <a:latin typeface="Calibri" panose="020F0502020204030204"/>
                <a:cs typeface="Calibri" panose="020F0502020204030204"/>
              </a:rPr>
              <a:t>he</a:t>
            </a:r>
            <a:endParaRPr sz="2000">
              <a:latin typeface="Calibri" panose="020F0502020204030204"/>
              <a:cs typeface="Calibri" panose="020F0502020204030204"/>
            </a:endParaRPr>
          </a:p>
        </p:txBody>
      </p:sp>
      <p:sp>
        <p:nvSpPr>
          <p:cNvPr id="23" name="object 23"/>
          <p:cNvSpPr txBox="1"/>
          <p:nvPr/>
        </p:nvSpPr>
        <p:spPr>
          <a:xfrm>
            <a:off x="2308859" y="4971289"/>
            <a:ext cx="571500" cy="337271"/>
          </a:xfrm>
          <a:prstGeom prst="rect">
            <a:avLst/>
          </a:prstGeom>
          <a:ln w="9143">
            <a:solidFill>
              <a:srgbClr val="000000"/>
            </a:solidFill>
          </a:ln>
        </p:spPr>
        <p:txBody>
          <a:bodyPr vert="horz" wrap="square" lIns="0" tIns="29209" rIns="0" bIns="0" rtlCol="0">
            <a:spAutoFit/>
          </a:bodyPr>
          <a:lstStyle/>
          <a:p>
            <a:pPr algn="ctr">
              <a:spcBef>
                <a:spcPts val="230"/>
              </a:spcBef>
            </a:pPr>
            <a:r>
              <a:rPr sz="2000" i="1" dirty="0">
                <a:latin typeface="Calibri" panose="020F0502020204030204"/>
                <a:cs typeface="Calibri" panose="020F0502020204030204"/>
              </a:rPr>
              <a:t>I</a:t>
            </a:r>
            <a:endParaRPr sz="2000">
              <a:latin typeface="Calibri" panose="020F0502020204030204"/>
              <a:cs typeface="Calibri" panose="020F0502020204030204"/>
            </a:endParaRPr>
          </a:p>
        </p:txBody>
      </p:sp>
      <p:sp>
        <p:nvSpPr>
          <p:cNvPr id="24" name="object 24"/>
          <p:cNvSpPr/>
          <p:nvPr/>
        </p:nvSpPr>
        <p:spPr>
          <a:xfrm>
            <a:off x="2103158" y="3543300"/>
            <a:ext cx="491490" cy="500380"/>
          </a:xfrm>
          <a:custGeom>
            <a:avLst/>
            <a:gdLst/>
            <a:ahLst/>
            <a:cxnLst/>
            <a:rect l="l" t="t" r="r" b="b"/>
            <a:pathLst>
              <a:path w="491490" h="500379">
                <a:moveTo>
                  <a:pt x="433491" y="49928"/>
                </a:moveTo>
                <a:lnTo>
                  <a:pt x="0" y="491236"/>
                </a:lnTo>
                <a:lnTo>
                  <a:pt x="9067" y="500125"/>
                </a:lnTo>
                <a:lnTo>
                  <a:pt x="442556" y="58822"/>
                </a:lnTo>
                <a:lnTo>
                  <a:pt x="433491" y="49928"/>
                </a:lnTo>
                <a:close/>
              </a:path>
              <a:path w="491490" h="500379">
                <a:moveTo>
                  <a:pt x="478171" y="40894"/>
                </a:moveTo>
                <a:lnTo>
                  <a:pt x="442366" y="40894"/>
                </a:lnTo>
                <a:lnTo>
                  <a:pt x="451434" y="49784"/>
                </a:lnTo>
                <a:lnTo>
                  <a:pt x="442556" y="58822"/>
                </a:lnTo>
                <a:lnTo>
                  <a:pt x="465188" y="81025"/>
                </a:lnTo>
                <a:lnTo>
                  <a:pt x="478171" y="40894"/>
                </a:lnTo>
                <a:close/>
              </a:path>
              <a:path w="491490" h="500379">
                <a:moveTo>
                  <a:pt x="442366" y="40894"/>
                </a:moveTo>
                <a:lnTo>
                  <a:pt x="433491" y="49928"/>
                </a:lnTo>
                <a:lnTo>
                  <a:pt x="442556" y="58822"/>
                </a:lnTo>
                <a:lnTo>
                  <a:pt x="451434" y="49784"/>
                </a:lnTo>
                <a:lnTo>
                  <a:pt x="442366" y="40894"/>
                </a:lnTo>
                <a:close/>
              </a:path>
              <a:path w="491490" h="500379">
                <a:moveTo>
                  <a:pt x="491401" y="0"/>
                </a:moveTo>
                <a:lnTo>
                  <a:pt x="410819" y="27686"/>
                </a:lnTo>
                <a:lnTo>
                  <a:pt x="433491" y="49928"/>
                </a:lnTo>
                <a:lnTo>
                  <a:pt x="442366" y="40894"/>
                </a:lnTo>
                <a:lnTo>
                  <a:pt x="478171" y="40894"/>
                </a:lnTo>
                <a:lnTo>
                  <a:pt x="491401" y="0"/>
                </a:lnTo>
                <a:close/>
              </a:path>
            </a:pathLst>
          </a:custGeom>
          <a:solidFill>
            <a:srgbClr val="000000"/>
          </a:solidFill>
        </p:spPr>
        <p:txBody>
          <a:bodyPr wrap="square" lIns="0" tIns="0" rIns="0" bIns="0" rtlCol="0"/>
          <a:lstStyle/>
          <a:p>
            <a:endParaRPr/>
          </a:p>
        </p:txBody>
      </p:sp>
      <p:sp>
        <p:nvSpPr>
          <p:cNvPr id="25" name="object 25"/>
          <p:cNvSpPr/>
          <p:nvPr/>
        </p:nvSpPr>
        <p:spPr>
          <a:xfrm>
            <a:off x="2103158" y="4470020"/>
            <a:ext cx="491490" cy="501015"/>
          </a:xfrm>
          <a:custGeom>
            <a:avLst/>
            <a:gdLst/>
            <a:ahLst/>
            <a:cxnLst/>
            <a:rect l="l" t="t" r="r" b="b"/>
            <a:pathLst>
              <a:path w="491490" h="501014">
                <a:moveTo>
                  <a:pt x="433458" y="450760"/>
                </a:moveTo>
                <a:lnTo>
                  <a:pt x="410832" y="472947"/>
                </a:lnTo>
                <a:lnTo>
                  <a:pt x="491401" y="500760"/>
                </a:lnTo>
                <a:lnTo>
                  <a:pt x="478211" y="459866"/>
                </a:lnTo>
                <a:lnTo>
                  <a:pt x="442391" y="459866"/>
                </a:lnTo>
                <a:lnTo>
                  <a:pt x="433458" y="450760"/>
                </a:lnTo>
                <a:close/>
              </a:path>
              <a:path w="491490" h="501014">
                <a:moveTo>
                  <a:pt x="442525" y="441869"/>
                </a:moveTo>
                <a:lnTo>
                  <a:pt x="433458" y="450760"/>
                </a:lnTo>
                <a:lnTo>
                  <a:pt x="442391" y="459866"/>
                </a:lnTo>
                <a:lnTo>
                  <a:pt x="451459" y="450976"/>
                </a:lnTo>
                <a:lnTo>
                  <a:pt x="442525" y="441869"/>
                </a:lnTo>
                <a:close/>
              </a:path>
              <a:path w="491490" h="501014">
                <a:moveTo>
                  <a:pt x="465226" y="419607"/>
                </a:moveTo>
                <a:lnTo>
                  <a:pt x="442525" y="441869"/>
                </a:lnTo>
                <a:lnTo>
                  <a:pt x="451459" y="450976"/>
                </a:lnTo>
                <a:lnTo>
                  <a:pt x="442391" y="459866"/>
                </a:lnTo>
                <a:lnTo>
                  <a:pt x="478211" y="459866"/>
                </a:lnTo>
                <a:lnTo>
                  <a:pt x="465226" y="419607"/>
                </a:lnTo>
                <a:close/>
              </a:path>
              <a:path w="491490" h="501014">
                <a:moveTo>
                  <a:pt x="9067" y="0"/>
                </a:moveTo>
                <a:lnTo>
                  <a:pt x="0" y="8889"/>
                </a:lnTo>
                <a:lnTo>
                  <a:pt x="433458" y="450760"/>
                </a:lnTo>
                <a:lnTo>
                  <a:pt x="442525" y="441869"/>
                </a:lnTo>
                <a:lnTo>
                  <a:pt x="9067" y="0"/>
                </a:lnTo>
                <a:close/>
              </a:path>
            </a:pathLst>
          </a:custGeom>
          <a:solidFill>
            <a:srgbClr val="000000"/>
          </a:solidFill>
        </p:spPr>
        <p:txBody>
          <a:bodyPr wrap="square" lIns="0" tIns="0" rIns="0" bIns="0" rtlCol="0"/>
          <a:lstStyle/>
          <a:p>
            <a:endParaRPr/>
          </a:p>
        </p:txBody>
      </p:sp>
      <p:sp>
        <p:nvSpPr>
          <p:cNvPr id="27" name="object 27"/>
          <p:cNvSpPr txBox="1"/>
          <p:nvPr/>
        </p:nvSpPr>
        <p:spPr>
          <a:xfrm>
            <a:off x="2384857" y="2785617"/>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-0.7</a:t>
            </a:r>
            <a:endParaRPr>
              <a:latin typeface="Calibri" panose="020F0502020204030204"/>
              <a:cs typeface="Calibri" panose="020F0502020204030204"/>
            </a:endParaRPr>
          </a:p>
        </p:txBody>
      </p:sp>
      <p:sp>
        <p:nvSpPr>
          <p:cNvPr id="28" name="object 28"/>
          <p:cNvSpPr txBox="1"/>
          <p:nvPr/>
        </p:nvSpPr>
        <p:spPr>
          <a:xfrm>
            <a:off x="2384857" y="5439562"/>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-0.9</a:t>
            </a:r>
            <a:endParaRPr>
              <a:latin typeface="Calibri" panose="020F0502020204030204"/>
              <a:cs typeface="Calibri" panose="020F0502020204030204"/>
            </a:endParaRPr>
          </a:p>
        </p:txBody>
      </p:sp>
      <p:sp>
        <p:nvSpPr>
          <p:cNvPr id="29" name="object 29"/>
          <p:cNvSpPr txBox="1"/>
          <p:nvPr/>
        </p:nvSpPr>
        <p:spPr>
          <a:xfrm>
            <a:off x="3626612" y="4340479"/>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-1.6</a:t>
            </a:r>
            <a:endParaRPr>
              <a:latin typeface="Calibri" panose="020F0502020204030204"/>
              <a:cs typeface="Calibri" panose="020F0502020204030204"/>
            </a:endParaRPr>
          </a:p>
        </p:txBody>
      </p:sp>
      <p:sp>
        <p:nvSpPr>
          <p:cNvPr id="30" name="object 30"/>
          <p:cNvSpPr txBox="1"/>
          <p:nvPr/>
        </p:nvSpPr>
        <p:spPr>
          <a:xfrm>
            <a:off x="3626612" y="5683708"/>
            <a:ext cx="385445" cy="300355"/>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-1.8</a:t>
            </a:r>
            <a:endParaRPr>
              <a:latin typeface="Calibri" panose="020F0502020204030204"/>
              <a:cs typeface="Calibri" panose="020F0502020204030204"/>
            </a:endParaRPr>
          </a:p>
        </p:txBody>
      </p:sp>
      <p:sp>
        <p:nvSpPr>
          <p:cNvPr id="31" name="object 31"/>
          <p:cNvSpPr txBox="1"/>
          <p:nvPr/>
        </p:nvSpPr>
        <p:spPr>
          <a:xfrm>
            <a:off x="3626612" y="2481198"/>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-1.7</a:t>
            </a:r>
            <a:endParaRPr>
              <a:latin typeface="Calibri" panose="020F0502020204030204"/>
              <a:cs typeface="Calibri" panose="020F0502020204030204"/>
            </a:endParaRPr>
          </a:p>
        </p:txBody>
      </p:sp>
      <p:sp>
        <p:nvSpPr>
          <p:cNvPr id="32" name="object 32"/>
          <p:cNvSpPr txBox="1"/>
          <p:nvPr/>
        </p:nvSpPr>
        <p:spPr>
          <a:xfrm>
            <a:off x="3626612" y="3800602"/>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-2.9</a:t>
            </a:r>
            <a:endParaRPr>
              <a:latin typeface="Calibri" panose="020F0502020204030204"/>
              <a:cs typeface="Calibri" panose="020F0502020204030204"/>
            </a:endParaRPr>
          </a:p>
        </p:txBody>
      </p:sp>
      <p:sp>
        <p:nvSpPr>
          <p:cNvPr id="33" name="object 33"/>
          <p:cNvSpPr txBox="1"/>
          <p:nvPr/>
        </p:nvSpPr>
        <p:spPr>
          <a:xfrm>
            <a:off x="5081779" y="3525392"/>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-2.5</a:t>
            </a:r>
            <a:endParaRPr>
              <a:latin typeface="Calibri" panose="020F0502020204030204"/>
              <a:cs typeface="Calibri" panose="020F0502020204030204"/>
            </a:endParaRPr>
          </a:p>
        </p:txBody>
      </p:sp>
      <p:sp>
        <p:nvSpPr>
          <p:cNvPr id="34" name="object 34"/>
          <p:cNvSpPr txBox="1"/>
          <p:nvPr/>
        </p:nvSpPr>
        <p:spPr>
          <a:xfrm>
            <a:off x="5081779" y="2184272"/>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-2.8</a:t>
            </a:r>
            <a:endParaRPr>
              <a:latin typeface="Calibri" panose="020F0502020204030204"/>
              <a:cs typeface="Calibri" panose="020F0502020204030204"/>
            </a:endParaRPr>
          </a:p>
        </p:txBody>
      </p:sp>
      <p:sp>
        <p:nvSpPr>
          <p:cNvPr id="35" name="object 35"/>
          <p:cNvSpPr txBox="1"/>
          <p:nvPr/>
        </p:nvSpPr>
        <p:spPr>
          <a:xfrm>
            <a:off x="5081779" y="5406949"/>
            <a:ext cx="385445" cy="300355"/>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-3.8</a:t>
            </a:r>
            <a:endParaRPr>
              <a:latin typeface="Calibri" panose="020F0502020204030204"/>
              <a:cs typeface="Calibri" panose="020F0502020204030204"/>
            </a:endParaRPr>
          </a:p>
        </p:txBody>
      </p:sp>
      <p:sp>
        <p:nvSpPr>
          <p:cNvPr id="36" name="object 36"/>
          <p:cNvSpPr txBox="1"/>
          <p:nvPr/>
        </p:nvSpPr>
        <p:spPr>
          <a:xfrm>
            <a:off x="5081779" y="4079494"/>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-2.9</a:t>
            </a:r>
            <a:endParaRPr>
              <a:latin typeface="Calibri" panose="020F0502020204030204"/>
              <a:cs typeface="Calibri" panose="020F0502020204030204"/>
            </a:endParaRPr>
          </a:p>
        </p:txBody>
      </p:sp>
      <p:sp>
        <p:nvSpPr>
          <p:cNvPr id="39" name="object 39"/>
          <p:cNvSpPr txBox="1"/>
          <p:nvPr/>
        </p:nvSpPr>
        <p:spPr>
          <a:xfrm>
            <a:off x="6609716" y="4482210"/>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-3.5</a:t>
            </a:r>
            <a:endParaRPr>
              <a:latin typeface="Calibri" panose="020F0502020204030204"/>
              <a:cs typeface="Calibri" panose="020F0502020204030204"/>
            </a:endParaRPr>
          </a:p>
        </p:txBody>
      </p:sp>
      <p:sp>
        <p:nvSpPr>
          <p:cNvPr id="40" name="object 40"/>
          <p:cNvSpPr txBox="1"/>
          <p:nvPr/>
        </p:nvSpPr>
        <p:spPr>
          <a:xfrm>
            <a:off x="6609716" y="3208146"/>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-3.3</a:t>
            </a:r>
            <a:endParaRPr>
              <a:latin typeface="Calibri" panose="020F0502020204030204"/>
              <a:cs typeface="Calibri" panose="020F0502020204030204"/>
            </a:endParaRPr>
          </a:p>
        </p:txBody>
      </p:sp>
      <p:sp>
        <p:nvSpPr>
          <p:cNvPr id="41" name="object 41"/>
          <p:cNvSpPr txBox="1"/>
          <p:nvPr/>
        </p:nvSpPr>
        <p:spPr>
          <a:xfrm>
            <a:off x="6609715" y="2762200"/>
            <a:ext cx="386080" cy="300355"/>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-3.4</a:t>
            </a:r>
            <a:endParaRPr>
              <a:latin typeface="Calibri" panose="020F0502020204030204"/>
              <a:cs typeface="Calibri" panose="020F0502020204030204"/>
            </a:endParaRPr>
          </a:p>
        </p:txBody>
      </p:sp>
      <p:sp>
        <p:nvSpPr>
          <p:cNvPr id="42" name="object 42"/>
          <p:cNvSpPr txBox="1"/>
          <p:nvPr/>
        </p:nvSpPr>
        <p:spPr>
          <a:xfrm>
            <a:off x="5113655" y="6083300"/>
            <a:ext cx="4157980" cy="584835"/>
          </a:xfrm>
          <a:prstGeom prst="rect">
            <a:avLst/>
          </a:prstGeom>
          <a:ln w="19811">
            <a:solidFill>
              <a:srgbClr val="BA56BD"/>
            </a:solidFill>
          </a:ln>
        </p:spPr>
        <p:txBody>
          <a:bodyPr vert="horz" wrap="square" lIns="0" tIns="31115" rIns="0" bIns="0" rtlCol="0">
            <a:spAutoFit/>
          </a:bodyPr>
          <a:lstStyle/>
          <a:p>
            <a:pPr marR="45720" algn="ctr">
              <a:spcBef>
                <a:spcPts val="245"/>
              </a:spcBef>
            </a:pPr>
            <a:r>
              <a:rPr spc="-10" dirty="0">
                <a:solidFill>
                  <a:srgbClr val="BA56BD"/>
                </a:solidFill>
                <a:cs typeface="Calibri" panose="020F0502020204030204"/>
              </a:rPr>
              <a:t>For</a:t>
            </a:r>
            <a:r>
              <a:rPr spc="-20" dirty="0">
                <a:solidFill>
                  <a:srgbClr val="BA56BD"/>
                </a:solidFill>
                <a:cs typeface="Calibri" panose="020F0502020204030204"/>
              </a:rPr>
              <a:t> </a:t>
            </a:r>
            <a:r>
              <a:rPr dirty="0">
                <a:solidFill>
                  <a:srgbClr val="BA56BD"/>
                </a:solidFill>
                <a:cs typeface="Calibri" panose="020F0502020204030204"/>
              </a:rPr>
              <a:t>each</a:t>
            </a:r>
            <a:r>
              <a:rPr spc="5" dirty="0">
                <a:solidFill>
                  <a:srgbClr val="BA56BD"/>
                </a:solidFill>
                <a:cs typeface="Calibri" panose="020F0502020204030204"/>
              </a:rPr>
              <a:t> </a:t>
            </a:r>
            <a:r>
              <a:rPr spc="-5" dirty="0">
                <a:solidFill>
                  <a:srgbClr val="BA56BD"/>
                </a:solidFill>
                <a:cs typeface="Calibri" panose="020F0502020204030204"/>
              </a:rPr>
              <a:t>of</a:t>
            </a:r>
            <a:r>
              <a:rPr dirty="0">
                <a:solidFill>
                  <a:srgbClr val="BA56BD"/>
                </a:solidFill>
                <a:cs typeface="Calibri" panose="020F0502020204030204"/>
              </a:rPr>
              <a:t> the</a:t>
            </a:r>
            <a:r>
              <a:rPr spc="-5" dirty="0">
                <a:solidFill>
                  <a:srgbClr val="BA56BD"/>
                </a:solidFill>
                <a:cs typeface="Calibri" panose="020F0502020204030204"/>
              </a:rPr>
              <a:t> </a:t>
            </a:r>
            <a:r>
              <a:rPr i="1" dirty="0">
                <a:solidFill>
                  <a:srgbClr val="BA56BD"/>
                </a:solidFill>
                <a:cs typeface="Calibri" panose="020F0502020204030204"/>
              </a:rPr>
              <a:t>k</a:t>
            </a:r>
            <a:r>
              <a:rPr i="1" spc="-15" dirty="0">
                <a:solidFill>
                  <a:srgbClr val="BA56BD"/>
                </a:solidFill>
                <a:cs typeface="Calibri" panose="020F0502020204030204"/>
              </a:rPr>
              <a:t> </a:t>
            </a:r>
            <a:r>
              <a:rPr spc="-5" dirty="0">
                <a:solidFill>
                  <a:srgbClr val="BA56BD"/>
                </a:solidFill>
                <a:cs typeface="Calibri" panose="020F0502020204030204"/>
              </a:rPr>
              <a:t>hypotheses,</a:t>
            </a:r>
            <a:r>
              <a:rPr spc="-15" dirty="0">
                <a:solidFill>
                  <a:srgbClr val="BA56BD"/>
                </a:solidFill>
                <a:cs typeface="Calibri" panose="020F0502020204030204"/>
              </a:rPr>
              <a:t> </a:t>
            </a:r>
            <a:r>
              <a:rPr spc="-5" dirty="0">
                <a:solidFill>
                  <a:srgbClr val="BA56BD"/>
                </a:solidFill>
                <a:cs typeface="Calibri" panose="020F0502020204030204"/>
              </a:rPr>
              <a:t>find</a:t>
            </a:r>
            <a:endParaRPr>
              <a:cs typeface="Calibri" panose="020F0502020204030204"/>
            </a:endParaRPr>
          </a:p>
          <a:p>
            <a:pPr algn="ctr">
              <a:lnSpc>
                <a:spcPct val="100000"/>
              </a:lnSpc>
            </a:pPr>
            <a:r>
              <a:rPr spc="-10" dirty="0">
                <a:solidFill>
                  <a:srgbClr val="BA56BD"/>
                </a:solidFill>
                <a:cs typeface="Calibri" panose="020F0502020204030204"/>
              </a:rPr>
              <a:t>top </a:t>
            </a:r>
            <a:r>
              <a:rPr i="1" dirty="0">
                <a:solidFill>
                  <a:srgbClr val="BA56BD"/>
                </a:solidFill>
                <a:cs typeface="Calibri" panose="020F0502020204030204"/>
              </a:rPr>
              <a:t>k</a:t>
            </a:r>
            <a:r>
              <a:rPr i="1" spc="-10" dirty="0">
                <a:solidFill>
                  <a:srgbClr val="BA56BD"/>
                </a:solidFill>
                <a:cs typeface="Calibri" panose="020F0502020204030204"/>
              </a:rPr>
              <a:t> </a:t>
            </a:r>
            <a:r>
              <a:rPr spc="-10" dirty="0">
                <a:solidFill>
                  <a:srgbClr val="BA56BD"/>
                </a:solidFill>
                <a:cs typeface="Calibri" panose="020F0502020204030204"/>
              </a:rPr>
              <a:t>next</a:t>
            </a:r>
            <a:r>
              <a:rPr dirty="0">
                <a:solidFill>
                  <a:srgbClr val="BA56BD"/>
                </a:solidFill>
                <a:cs typeface="Calibri" panose="020F0502020204030204"/>
              </a:rPr>
              <a:t> </a:t>
            </a:r>
            <a:r>
              <a:rPr spc="-15" dirty="0">
                <a:solidFill>
                  <a:srgbClr val="BA56BD"/>
                </a:solidFill>
                <a:cs typeface="Calibri" panose="020F0502020204030204"/>
              </a:rPr>
              <a:t>words</a:t>
            </a:r>
            <a:r>
              <a:rPr spc="-5" dirty="0">
                <a:solidFill>
                  <a:srgbClr val="BA56BD"/>
                </a:solidFill>
                <a:cs typeface="Calibri" panose="020F0502020204030204"/>
              </a:rPr>
              <a:t> </a:t>
            </a:r>
            <a:r>
              <a:rPr dirty="0">
                <a:solidFill>
                  <a:srgbClr val="BA56BD"/>
                </a:solidFill>
                <a:cs typeface="Calibri" panose="020F0502020204030204"/>
              </a:rPr>
              <a:t>and</a:t>
            </a:r>
            <a:r>
              <a:rPr spc="-10" dirty="0">
                <a:solidFill>
                  <a:srgbClr val="BA56BD"/>
                </a:solidFill>
                <a:cs typeface="Calibri" panose="020F0502020204030204"/>
              </a:rPr>
              <a:t> calculate</a:t>
            </a:r>
            <a:r>
              <a:rPr spc="15" dirty="0">
                <a:solidFill>
                  <a:srgbClr val="BA56BD"/>
                </a:solidFill>
                <a:cs typeface="Calibri" panose="020F0502020204030204"/>
              </a:rPr>
              <a:t> </a:t>
            </a:r>
            <a:r>
              <a:rPr spc="-10" dirty="0">
                <a:solidFill>
                  <a:srgbClr val="BA56BD"/>
                </a:solidFill>
                <a:cs typeface="Calibri" panose="020F0502020204030204"/>
              </a:rPr>
              <a:t>scores</a:t>
            </a:r>
            <a:endParaRPr>
              <a:cs typeface="Calibri" panose="020F0502020204030204"/>
            </a:endParaRPr>
          </a:p>
        </p:txBody>
      </p:sp>
      <p:grpSp>
        <p:nvGrpSpPr>
          <p:cNvPr id="44" name="Group 43"/>
          <p:cNvGrpSpPr/>
          <p:nvPr/>
        </p:nvGrpSpPr>
        <p:grpSpPr>
          <a:xfrm>
            <a:off x="1875934" y="646192"/>
            <a:ext cx="8356238" cy="736600"/>
            <a:chOff x="1875934" y="646192"/>
            <a:chExt cx="8356238" cy="736600"/>
          </a:xfrm>
        </p:grpSpPr>
        <p:sp>
          <p:nvSpPr>
            <p:cNvPr id="45" name="object 3"/>
            <p:cNvSpPr txBox="1"/>
            <p:nvPr/>
          </p:nvSpPr>
          <p:spPr>
            <a:xfrm>
              <a:off x="1875934" y="840487"/>
              <a:ext cx="3557126" cy="321242"/>
            </a:xfrm>
            <a:prstGeom prst="rect">
              <a:avLst/>
            </a:prstGeom>
          </p:spPr>
          <p:txBody>
            <a:bodyPr vert="horz" wrap="square" lIns="0" tIns="13335" rIns="0" bIns="0" rtlCol="0">
              <a:spAutoFit/>
            </a:bodyPr>
            <a:lstStyle/>
            <a:p>
              <a:pPr marL="12700">
                <a:spcBef>
                  <a:spcPts val="105"/>
                </a:spcBef>
              </a:pPr>
              <a:r>
                <a:rPr sz="2000" b="1" dirty="0">
                  <a:cs typeface="Calibri" panose="020F0502020204030204"/>
                </a:rPr>
                <a:t>Beam</a:t>
              </a:r>
              <a:r>
                <a:rPr sz="2000" b="1" spc="-10" dirty="0">
                  <a:cs typeface="Calibri" panose="020F0502020204030204"/>
                </a:rPr>
                <a:t> </a:t>
              </a:r>
              <a:r>
                <a:rPr sz="2000" b="1" spc="-5" dirty="0">
                  <a:cs typeface="Calibri" panose="020F0502020204030204"/>
                </a:rPr>
                <a:t>size</a:t>
              </a:r>
              <a:r>
                <a:rPr sz="2000" b="1" dirty="0">
                  <a:cs typeface="Calibri" panose="020F0502020204030204"/>
                </a:rPr>
                <a:t> =</a:t>
              </a:r>
              <a:r>
                <a:rPr sz="2000" b="1" spc="-15" dirty="0">
                  <a:cs typeface="Calibri" panose="020F0502020204030204"/>
                </a:rPr>
                <a:t> </a:t>
              </a:r>
              <a:r>
                <a:rPr sz="2000" b="1" dirty="0">
                  <a:cs typeface="Calibri" panose="020F0502020204030204"/>
                </a:rPr>
                <a:t>k</a:t>
              </a:r>
              <a:r>
                <a:rPr sz="2000" b="1" spc="-10" dirty="0">
                  <a:cs typeface="Calibri" panose="020F0502020204030204"/>
                </a:rPr>
                <a:t> </a:t>
              </a:r>
              <a:r>
                <a:rPr sz="2000" b="1" dirty="0">
                  <a:cs typeface="Calibri" panose="020F0502020204030204"/>
                </a:rPr>
                <a:t>=</a:t>
              </a:r>
              <a:r>
                <a:rPr sz="2000" b="1" spc="-5" dirty="0">
                  <a:cs typeface="Calibri" panose="020F0502020204030204"/>
                </a:rPr>
                <a:t> </a:t>
              </a:r>
              <a:r>
                <a:rPr sz="2000" b="1" dirty="0">
                  <a:cs typeface="Calibri" panose="020F0502020204030204"/>
                </a:rPr>
                <a:t>2</a:t>
              </a:r>
              <a:r>
                <a:rPr sz="2000" dirty="0">
                  <a:cs typeface="Calibri" panose="020F0502020204030204"/>
                </a:rPr>
                <a:t>.</a:t>
              </a:r>
              <a:r>
                <a:rPr sz="2000" spc="-25" dirty="0">
                  <a:cs typeface="Calibri" panose="020F0502020204030204"/>
                </a:rPr>
                <a:t> </a:t>
              </a:r>
              <a:r>
                <a:rPr sz="2000" dirty="0">
                  <a:solidFill>
                    <a:srgbClr val="4285F4"/>
                  </a:solidFill>
                  <a:cs typeface="Calibri" panose="020F0502020204030204"/>
                </a:rPr>
                <a:t>Blue</a:t>
              </a:r>
              <a:r>
                <a:rPr sz="2000" spc="-10" dirty="0">
                  <a:solidFill>
                    <a:srgbClr val="4285F4"/>
                  </a:solidFill>
                  <a:cs typeface="Calibri" panose="020F0502020204030204"/>
                </a:rPr>
                <a:t> </a:t>
              </a:r>
              <a:r>
                <a:rPr sz="2000" dirty="0">
                  <a:solidFill>
                    <a:srgbClr val="4285F4"/>
                  </a:solidFill>
                  <a:cs typeface="Calibri" panose="020F0502020204030204"/>
                </a:rPr>
                <a:t>numbers</a:t>
              </a:r>
              <a:r>
                <a:rPr sz="2000" spc="-5" dirty="0">
                  <a:solidFill>
                    <a:srgbClr val="4285F4"/>
                  </a:solidFill>
                  <a:cs typeface="Calibri" panose="020F0502020204030204"/>
                </a:rPr>
                <a:t> </a:t>
              </a:r>
              <a:r>
                <a:rPr sz="2000" dirty="0">
                  <a:solidFill>
                    <a:srgbClr val="4285F4"/>
                  </a:solidFill>
                  <a:cs typeface="Calibri" panose="020F0502020204030204"/>
                </a:rPr>
                <a:t>=</a:t>
              </a:r>
              <a:endParaRPr sz="2000" dirty="0">
                <a:cs typeface="Calibri" panose="020F0502020204030204"/>
              </a:endParaRPr>
            </a:p>
          </p:txBody>
        </p:sp>
        <p:pic>
          <p:nvPicPr>
            <p:cNvPr id="46" name="object 50"/>
            <p:cNvPicPr/>
            <p:nvPr/>
          </p:nvPicPr>
          <p:blipFill>
            <a:blip r:embed="rId2" cstate="print"/>
            <a:stretch>
              <a:fillRect/>
            </a:stretch>
          </p:blipFill>
          <p:spPr>
            <a:xfrm>
              <a:off x="5415822" y="646192"/>
              <a:ext cx="4816350" cy="736600"/>
            </a:xfrm>
            <a:prstGeom prst="rect">
              <a:avLst/>
            </a:prstGeom>
          </p:spPr>
        </p:pic>
      </p:gr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273551" y="2842260"/>
            <a:ext cx="1117600" cy="337912"/>
          </a:xfrm>
          <a:prstGeom prst="rect">
            <a:avLst/>
          </a:prstGeom>
          <a:ln w="9144">
            <a:solidFill>
              <a:srgbClr val="000000"/>
            </a:solidFill>
          </a:ln>
        </p:spPr>
        <p:txBody>
          <a:bodyPr vert="horz" wrap="square" lIns="0" tIns="29844" rIns="0" bIns="0" rtlCol="0">
            <a:spAutoFit/>
          </a:bodyPr>
          <a:lstStyle/>
          <a:p>
            <a:pPr algn="ctr">
              <a:spcBef>
                <a:spcPts val="235"/>
              </a:spcBef>
            </a:pPr>
            <a:r>
              <a:rPr sz="2000" i="1" spc="-5" dirty="0">
                <a:latin typeface="Calibri" panose="020F0502020204030204"/>
                <a:cs typeface="Calibri" panose="020F0502020204030204"/>
              </a:rPr>
              <a:t>hit</a:t>
            </a:r>
            <a:endParaRPr sz="2000">
              <a:latin typeface="Calibri" panose="020F0502020204030204"/>
              <a:cs typeface="Calibri" panose="020F0502020204030204"/>
            </a:endParaRPr>
          </a:p>
        </p:txBody>
      </p:sp>
      <p:sp>
        <p:nvSpPr>
          <p:cNvPr id="4" name="object 4"/>
          <p:cNvSpPr txBox="1"/>
          <p:nvPr/>
        </p:nvSpPr>
        <p:spPr>
          <a:xfrm>
            <a:off x="3273551" y="3368040"/>
            <a:ext cx="1117600" cy="338554"/>
          </a:xfrm>
          <a:prstGeom prst="rect">
            <a:avLst/>
          </a:prstGeom>
          <a:ln w="9144">
            <a:solidFill>
              <a:srgbClr val="000000"/>
            </a:solidFill>
          </a:ln>
        </p:spPr>
        <p:txBody>
          <a:bodyPr vert="horz" wrap="square" lIns="0" tIns="30480" rIns="0" bIns="0" rtlCol="0">
            <a:spAutoFit/>
          </a:bodyPr>
          <a:lstStyle/>
          <a:p>
            <a:pPr marL="247015">
              <a:spcBef>
                <a:spcPts val="240"/>
              </a:spcBef>
            </a:pPr>
            <a:r>
              <a:rPr sz="2000" i="1" spc="-5" dirty="0">
                <a:latin typeface="Calibri" panose="020F0502020204030204"/>
                <a:cs typeface="Calibri" panose="020F0502020204030204"/>
              </a:rPr>
              <a:t>struck</a:t>
            </a:r>
            <a:endParaRPr sz="2000">
              <a:latin typeface="Calibri" panose="020F0502020204030204"/>
              <a:cs typeface="Calibri" panose="020F0502020204030204"/>
            </a:endParaRPr>
          </a:p>
        </p:txBody>
      </p:sp>
      <p:sp>
        <p:nvSpPr>
          <p:cNvPr id="5" name="object 5"/>
          <p:cNvSpPr txBox="1"/>
          <p:nvPr/>
        </p:nvSpPr>
        <p:spPr>
          <a:xfrm>
            <a:off x="3273551" y="4698491"/>
            <a:ext cx="1117600" cy="338554"/>
          </a:xfrm>
          <a:prstGeom prst="rect">
            <a:avLst/>
          </a:prstGeom>
          <a:ln w="9144">
            <a:solidFill>
              <a:srgbClr val="000000"/>
            </a:solidFill>
          </a:ln>
        </p:spPr>
        <p:txBody>
          <a:bodyPr vert="horz" wrap="square" lIns="0" tIns="30480" rIns="0" bIns="0" rtlCol="0">
            <a:spAutoFit/>
          </a:bodyPr>
          <a:lstStyle/>
          <a:p>
            <a:pPr marL="352425">
              <a:spcBef>
                <a:spcPts val="240"/>
              </a:spcBef>
            </a:pPr>
            <a:r>
              <a:rPr sz="2000" i="1" dirty="0">
                <a:latin typeface="Calibri" panose="020F0502020204030204"/>
                <a:cs typeface="Calibri" panose="020F0502020204030204"/>
              </a:rPr>
              <a:t>was</a:t>
            </a:r>
            <a:endParaRPr sz="2000">
              <a:latin typeface="Calibri" panose="020F0502020204030204"/>
              <a:cs typeface="Calibri" panose="020F0502020204030204"/>
            </a:endParaRPr>
          </a:p>
        </p:txBody>
      </p:sp>
      <p:sp>
        <p:nvSpPr>
          <p:cNvPr id="6" name="object 6"/>
          <p:cNvSpPr txBox="1"/>
          <p:nvPr/>
        </p:nvSpPr>
        <p:spPr>
          <a:xfrm>
            <a:off x="3273551" y="5224272"/>
            <a:ext cx="1117600" cy="339195"/>
          </a:xfrm>
          <a:prstGeom prst="rect">
            <a:avLst/>
          </a:prstGeom>
          <a:ln w="9144">
            <a:solidFill>
              <a:srgbClr val="000000"/>
            </a:solidFill>
          </a:ln>
        </p:spPr>
        <p:txBody>
          <a:bodyPr vert="horz" wrap="square" lIns="0" tIns="31115" rIns="0" bIns="0" rtlCol="0">
            <a:spAutoFit/>
          </a:bodyPr>
          <a:lstStyle/>
          <a:p>
            <a:pPr algn="ctr">
              <a:spcBef>
                <a:spcPts val="245"/>
              </a:spcBef>
            </a:pPr>
            <a:r>
              <a:rPr sz="2000" i="1" spc="-5" dirty="0">
                <a:latin typeface="Calibri" panose="020F0502020204030204"/>
                <a:cs typeface="Calibri" panose="020F0502020204030204"/>
              </a:rPr>
              <a:t>got</a:t>
            </a:r>
            <a:endParaRPr sz="2000">
              <a:latin typeface="Calibri" panose="020F0502020204030204"/>
              <a:cs typeface="Calibri" panose="020F0502020204030204"/>
            </a:endParaRPr>
          </a:p>
        </p:txBody>
      </p:sp>
      <p:sp>
        <p:nvSpPr>
          <p:cNvPr id="7" name="object 7"/>
          <p:cNvSpPr/>
          <p:nvPr/>
        </p:nvSpPr>
        <p:spPr>
          <a:xfrm>
            <a:off x="2876804" y="3060192"/>
            <a:ext cx="397510" cy="526415"/>
          </a:xfrm>
          <a:custGeom>
            <a:avLst/>
            <a:gdLst/>
            <a:ahLst/>
            <a:cxnLst/>
            <a:rect l="l" t="t" r="r" b="b"/>
            <a:pathLst>
              <a:path w="397510" h="526414">
                <a:moveTo>
                  <a:pt x="397383" y="0"/>
                </a:moveTo>
                <a:lnTo>
                  <a:pt x="312801" y="11049"/>
                </a:lnTo>
                <a:lnTo>
                  <a:pt x="330568" y="37338"/>
                </a:lnTo>
                <a:lnTo>
                  <a:pt x="0" y="260223"/>
                </a:lnTo>
                <a:lnTo>
                  <a:pt x="3441" y="265341"/>
                </a:lnTo>
                <a:lnTo>
                  <a:pt x="0" y="270510"/>
                </a:lnTo>
                <a:lnTo>
                  <a:pt x="330288" y="489445"/>
                </a:lnTo>
                <a:lnTo>
                  <a:pt x="312801" y="515874"/>
                </a:lnTo>
                <a:lnTo>
                  <a:pt x="397383" y="526161"/>
                </a:lnTo>
                <a:lnTo>
                  <a:pt x="380238" y="496443"/>
                </a:lnTo>
                <a:lnTo>
                  <a:pt x="354838" y="452374"/>
                </a:lnTo>
                <a:lnTo>
                  <a:pt x="337337" y="478815"/>
                </a:lnTo>
                <a:lnTo>
                  <a:pt x="15278" y="265264"/>
                </a:lnTo>
                <a:lnTo>
                  <a:pt x="337693" y="47879"/>
                </a:lnTo>
                <a:lnTo>
                  <a:pt x="355473" y="74168"/>
                </a:lnTo>
                <a:lnTo>
                  <a:pt x="380301" y="30226"/>
                </a:lnTo>
                <a:lnTo>
                  <a:pt x="397383" y="0"/>
                </a:lnTo>
                <a:close/>
              </a:path>
            </a:pathLst>
          </a:custGeom>
          <a:solidFill>
            <a:srgbClr val="000000"/>
          </a:solidFill>
        </p:spPr>
        <p:txBody>
          <a:bodyPr wrap="square" lIns="0" tIns="0" rIns="0" bIns="0" rtlCol="0"/>
          <a:lstStyle/>
          <a:p>
            <a:endParaRPr/>
          </a:p>
        </p:txBody>
      </p:sp>
      <p:sp>
        <p:nvSpPr>
          <p:cNvPr id="8" name="object 8"/>
          <p:cNvSpPr/>
          <p:nvPr/>
        </p:nvSpPr>
        <p:spPr>
          <a:xfrm>
            <a:off x="2876804" y="4916423"/>
            <a:ext cx="397510" cy="527050"/>
          </a:xfrm>
          <a:custGeom>
            <a:avLst/>
            <a:gdLst/>
            <a:ahLst/>
            <a:cxnLst/>
            <a:rect l="l" t="t" r="r" b="b"/>
            <a:pathLst>
              <a:path w="397510" h="527050">
                <a:moveTo>
                  <a:pt x="397383" y="0"/>
                </a:moveTo>
                <a:lnTo>
                  <a:pt x="312928" y="11938"/>
                </a:lnTo>
                <a:lnTo>
                  <a:pt x="331038" y="38100"/>
                </a:lnTo>
                <a:lnTo>
                  <a:pt x="0" y="267081"/>
                </a:lnTo>
                <a:lnTo>
                  <a:pt x="3721" y="272542"/>
                </a:lnTo>
                <a:lnTo>
                  <a:pt x="127" y="278142"/>
                </a:lnTo>
                <a:lnTo>
                  <a:pt x="329869" y="491121"/>
                </a:lnTo>
                <a:lnTo>
                  <a:pt x="312674" y="517779"/>
                </a:lnTo>
                <a:lnTo>
                  <a:pt x="397383" y="527050"/>
                </a:lnTo>
                <a:lnTo>
                  <a:pt x="380136" y="497967"/>
                </a:lnTo>
                <a:lnTo>
                  <a:pt x="353949" y="453771"/>
                </a:lnTo>
                <a:lnTo>
                  <a:pt x="336778" y="480402"/>
                </a:lnTo>
                <a:lnTo>
                  <a:pt x="14541" y="272351"/>
                </a:lnTo>
                <a:lnTo>
                  <a:pt x="338251" y="48526"/>
                </a:lnTo>
                <a:lnTo>
                  <a:pt x="356362" y="74676"/>
                </a:lnTo>
                <a:lnTo>
                  <a:pt x="380428" y="30861"/>
                </a:lnTo>
                <a:lnTo>
                  <a:pt x="397383" y="0"/>
                </a:lnTo>
                <a:close/>
              </a:path>
            </a:pathLst>
          </a:custGeom>
          <a:solidFill>
            <a:srgbClr val="000000"/>
          </a:solidFill>
        </p:spPr>
        <p:txBody>
          <a:bodyPr wrap="square" lIns="0" tIns="0" rIns="0" bIns="0" rtlCol="0"/>
          <a:lstStyle/>
          <a:p>
            <a:endParaRPr/>
          </a:p>
        </p:txBody>
      </p:sp>
      <p:sp>
        <p:nvSpPr>
          <p:cNvPr id="9" name="object 9"/>
          <p:cNvSpPr txBox="1"/>
          <p:nvPr/>
        </p:nvSpPr>
        <p:spPr>
          <a:xfrm>
            <a:off x="4728972" y="2546604"/>
            <a:ext cx="1117600" cy="338554"/>
          </a:xfrm>
          <a:prstGeom prst="rect">
            <a:avLst/>
          </a:prstGeom>
          <a:ln w="9144">
            <a:solidFill>
              <a:srgbClr val="000000"/>
            </a:solidFill>
          </a:ln>
        </p:spPr>
        <p:txBody>
          <a:bodyPr vert="horz" wrap="square" lIns="0" tIns="30480" rIns="0" bIns="0" rtlCol="0">
            <a:spAutoFit/>
          </a:bodyPr>
          <a:lstStyle/>
          <a:p>
            <a:pPr algn="ctr">
              <a:spcBef>
                <a:spcPts val="240"/>
              </a:spcBef>
            </a:pPr>
            <a:r>
              <a:rPr sz="2000" i="1" dirty="0">
                <a:latin typeface="Calibri" panose="020F0502020204030204"/>
                <a:cs typeface="Calibri" panose="020F0502020204030204"/>
              </a:rPr>
              <a:t>a</a:t>
            </a:r>
            <a:endParaRPr sz="2000">
              <a:latin typeface="Calibri" panose="020F0502020204030204"/>
              <a:cs typeface="Calibri" panose="020F0502020204030204"/>
            </a:endParaRPr>
          </a:p>
        </p:txBody>
      </p:sp>
      <p:sp>
        <p:nvSpPr>
          <p:cNvPr id="10" name="object 10"/>
          <p:cNvSpPr txBox="1"/>
          <p:nvPr/>
        </p:nvSpPr>
        <p:spPr>
          <a:xfrm>
            <a:off x="4728972" y="3073908"/>
            <a:ext cx="1117600" cy="337913"/>
          </a:xfrm>
          <a:prstGeom prst="rect">
            <a:avLst/>
          </a:prstGeom>
          <a:ln w="9144">
            <a:solidFill>
              <a:srgbClr val="000000"/>
            </a:solidFill>
          </a:ln>
        </p:spPr>
        <p:txBody>
          <a:bodyPr vert="horz" wrap="square" lIns="0" tIns="29845" rIns="0" bIns="0" rtlCol="0">
            <a:spAutoFit/>
          </a:bodyPr>
          <a:lstStyle/>
          <a:p>
            <a:pPr algn="ctr">
              <a:spcBef>
                <a:spcPts val="235"/>
              </a:spcBef>
            </a:pPr>
            <a:r>
              <a:rPr sz="2000" i="1" spc="-5" dirty="0">
                <a:latin typeface="Calibri" panose="020F0502020204030204"/>
                <a:cs typeface="Calibri" panose="020F0502020204030204"/>
              </a:rPr>
              <a:t>me</a:t>
            </a:r>
            <a:endParaRPr sz="2000">
              <a:latin typeface="Calibri" panose="020F0502020204030204"/>
              <a:cs typeface="Calibri" panose="020F0502020204030204"/>
            </a:endParaRPr>
          </a:p>
        </p:txBody>
      </p:sp>
      <p:sp>
        <p:nvSpPr>
          <p:cNvPr id="11" name="object 11"/>
          <p:cNvSpPr txBox="1"/>
          <p:nvPr/>
        </p:nvSpPr>
        <p:spPr>
          <a:xfrm>
            <a:off x="4728972" y="4430268"/>
            <a:ext cx="1117600" cy="337913"/>
          </a:xfrm>
          <a:prstGeom prst="rect">
            <a:avLst/>
          </a:prstGeom>
          <a:ln w="9144">
            <a:solidFill>
              <a:srgbClr val="000000"/>
            </a:solidFill>
          </a:ln>
        </p:spPr>
        <p:txBody>
          <a:bodyPr vert="horz" wrap="square" lIns="0" tIns="29845" rIns="0" bIns="0" rtlCol="0">
            <a:spAutoFit/>
          </a:bodyPr>
          <a:lstStyle/>
          <a:p>
            <a:pPr algn="ctr">
              <a:spcBef>
                <a:spcPts val="235"/>
              </a:spcBef>
            </a:pPr>
            <a:r>
              <a:rPr sz="2000" i="1" spc="-5" dirty="0">
                <a:latin typeface="Calibri" panose="020F0502020204030204"/>
                <a:cs typeface="Calibri" panose="020F0502020204030204"/>
              </a:rPr>
              <a:t>hit</a:t>
            </a:r>
            <a:endParaRPr sz="2000">
              <a:latin typeface="Calibri" panose="020F0502020204030204"/>
              <a:cs typeface="Calibri" panose="020F0502020204030204"/>
            </a:endParaRPr>
          </a:p>
        </p:txBody>
      </p:sp>
      <p:sp>
        <p:nvSpPr>
          <p:cNvPr id="12" name="object 12"/>
          <p:cNvSpPr txBox="1"/>
          <p:nvPr/>
        </p:nvSpPr>
        <p:spPr>
          <a:xfrm>
            <a:off x="4728972" y="4956048"/>
            <a:ext cx="1117600" cy="339195"/>
          </a:xfrm>
          <a:prstGeom prst="rect">
            <a:avLst/>
          </a:prstGeom>
          <a:ln w="9144">
            <a:solidFill>
              <a:srgbClr val="000000"/>
            </a:solidFill>
          </a:ln>
        </p:spPr>
        <p:txBody>
          <a:bodyPr vert="horz" wrap="square" lIns="0" tIns="31115" rIns="0" bIns="0" rtlCol="0">
            <a:spAutoFit/>
          </a:bodyPr>
          <a:lstStyle/>
          <a:p>
            <a:pPr marL="247015">
              <a:spcBef>
                <a:spcPts val="245"/>
              </a:spcBef>
            </a:pPr>
            <a:r>
              <a:rPr sz="2000" i="1" spc="-5" dirty="0">
                <a:latin typeface="Calibri" panose="020F0502020204030204"/>
                <a:cs typeface="Calibri" panose="020F0502020204030204"/>
              </a:rPr>
              <a:t>struck</a:t>
            </a:r>
            <a:endParaRPr sz="2000">
              <a:latin typeface="Calibri" panose="020F0502020204030204"/>
              <a:cs typeface="Calibri" panose="020F0502020204030204"/>
            </a:endParaRPr>
          </a:p>
        </p:txBody>
      </p:sp>
      <p:sp>
        <p:nvSpPr>
          <p:cNvPr id="13" name="object 13"/>
          <p:cNvSpPr/>
          <p:nvPr/>
        </p:nvSpPr>
        <p:spPr>
          <a:xfrm>
            <a:off x="4386454" y="2764536"/>
            <a:ext cx="342265" cy="527685"/>
          </a:xfrm>
          <a:custGeom>
            <a:avLst/>
            <a:gdLst/>
            <a:ahLst/>
            <a:cxnLst/>
            <a:rect l="l" t="t" r="r" b="b"/>
            <a:pathLst>
              <a:path w="342264" h="527685">
                <a:moveTo>
                  <a:pt x="342265" y="0"/>
                </a:moveTo>
                <a:lnTo>
                  <a:pt x="259842" y="21336"/>
                </a:lnTo>
                <a:lnTo>
                  <a:pt x="280670" y="45250"/>
                </a:lnTo>
                <a:lnTo>
                  <a:pt x="0" y="289687"/>
                </a:lnTo>
                <a:lnTo>
                  <a:pt x="4622" y="295021"/>
                </a:lnTo>
                <a:lnTo>
                  <a:pt x="635" y="300863"/>
                </a:lnTo>
                <a:lnTo>
                  <a:pt x="275856" y="489826"/>
                </a:lnTo>
                <a:lnTo>
                  <a:pt x="257937" y="516001"/>
                </a:lnTo>
                <a:lnTo>
                  <a:pt x="342265" y="527685"/>
                </a:lnTo>
                <a:lnTo>
                  <a:pt x="325247" y="496951"/>
                </a:lnTo>
                <a:lnTo>
                  <a:pt x="300990" y="453136"/>
                </a:lnTo>
                <a:lnTo>
                  <a:pt x="283032" y="479361"/>
                </a:lnTo>
                <a:lnTo>
                  <a:pt x="13804" y="294614"/>
                </a:lnTo>
                <a:lnTo>
                  <a:pt x="289013" y="54813"/>
                </a:lnTo>
                <a:lnTo>
                  <a:pt x="309880" y="78740"/>
                </a:lnTo>
                <a:lnTo>
                  <a:pt x="327063" y="36957"/>
                </a:lnTo>
                <a:lnTo>
                  <a:pt x="342265" y="0"/>
                </a:lnTo>
                <a:close/>
              </a:path>
            </a:pathLst>
          </a:custGeom>
          <a:solidFill>
            <a:srgbClr val="000000"/>
          </a:solidFill>
        </p:spPr>
        <p:txBody>
          <a:bodyPr wrap="square" lIns="0" tIns="0" rIns="0" bIns="0" rtlCol="0"/>
          <a:lstStyle/>
          <a:p>
            <a:endParaRPr/>
          </a:p>
        </p:txBody>
      </p:sp>
      <p:sp>
        <p:nvSpPr>
          <p:cNvPr id="14" name="object 14"/>
          <p:cNvSpPr/>
          <p:nvPr/>
        </p:nvSpPr>
        <p:spPr>
          <a:xfrm>
            <a:off x="4386708" y="4648200"/>
            <a:ext cx="342265" cy="527050"/>
          </a:xfrm>
          <a:custGeom>
            <a:avLst/>
            <a:gdLst/>
            <a:ahLst/>
            <a:cxnLst/>
            <a:rect l="l" t="t" r="r" b="b"/>
            <a:pathLst>
              <a:path w="342264" h="527050">
                <a:moveTo>
                  <a:pt x="342011" y="0"/>
                </a:moveTo>
                <a:lnTo>
                  <a:pt x="258572" y="17526"/>
                </a:lnTo>
                <a:lnTo>
                  <a:pt x="278333" y="42443"/>
                </a:lnTo>
                <a:lnTo>
                  <a:pt x="0" y="263271"/>
                </a:lnTo>
                <a:lnTo>
                  <a:pt x="3937" y="268224"/>
                </a:lnTo>
                <a:lnTo>
                  <a:pt x="127" y="273304"/>
                </a:lnTo>
                <a:lnTo>
                  <a:pt x="277596" y="485330"/>
                </a:lnTo>
                <a:lnTo>
                  <a:pt x="258318" y="510540"/>
                </a:lnTo>
                <a:lnTo>
                  <a:pt x="342011" y="526542"/>
                </a:lnTo>
                <a:lnTo>
                  <a:pt x="325577" y="493014"/>
                </a:lnTo>
                <a:lnTo>
                  <a:pt x="304546" y="450088"/>
                </a:lnTo>
                <a:lnTo>
                  <a:pt x="285292" y="475259"/>
                </a:lnTo>
                <a:lnTo>
                  <a:pt x="14249" y="268122"/>
                </a:lnTo>
                <a:lnTo>
                  <a:pt x="286207" y="52349"/>
                </a:lnTo>
                <a:lnTo>
                  <a:pt x="305943" y="77216"/>
                </a:lnTo>
                <a:lnTo>
                  <a:pt x="325869" y="34544"/>
                </a:lnTo>
                <a:lnTo>
                  <a:pt x="342011" y="0"/>
                </a:lnTo>
                <a:close/>
              </a:path>
            </a:pathLst>
          </a:custGeom>
          <a:solidFill>
            <a:srgbClr val="000000"/>
          </a:solidFill>
        </p:spPr>
        <p:txBody>
          <a:bodyPr wrap="square" lIns="0" tIns="0" rIns="0" bIns="0" rtlCol="0"/>
          <a:lstStyle/>
          <a:p>
            <a:endParaRPr/>
          </a:p>
        </p:txBody>
      </p:sp>
      <p:sp>
        <p:nvSpPr>
          <p:cNvPr id="15" name="object 15"/>
          <p:cNvSpPr txBox="1"/>
          <p:nvPr/>
        </p:nvSpPr>
        <p:spPr>
          <a:xfrm>
            <a:off x="6256020" y="1816608"/>
            <a:ext cx="1117600" cy="337913"/>
          </a:xfrm>
          <a:prstGeom prst="rect">
            <a:avLst/>
          </a:prstGeom>
          <a:ln w="9144">
            <a:solidFill>
              <a:srgbClr val="000000"/>
            </a:solidFill>
          </a:ln>
        </p:spPr>
        <p:txBody>
          <a:bodyPr vert="horz" wrap="square" lIns="0" tIns="29845" rIns="0" bIns="0" rtlCol="0">
            <a:spAutoFit/>
          </a:bodyPr>
          <a:lstStyle/>
          <a:p>
            <a:pPr marL="365125">
              <a:spcBef>
                <a:spcPts val="235"/>
              </a:spcBef>
            </a:pPr>
            <a:r>
              <a:rPr sz="2000" i="1" dirty="0">
                <a:latin typeface="Calibri" panose="020F0502020204030204"/>
                <a:cs typeface="Calibri" panose="020F0502020204030204"/>
              </a:rPr>
              <a:t>tart</a:t>
            </a:r>
            <a:endParaRPr sz="2000">
              <a:latin typeface="Calibri" panose="020F0502020204030204"/>
              <a:cs typeface="Calibri" panose="020F0502020204030204"/>
            </a:endParaRPr>
          </a:p>
        </p:txBody>
      </p:sp>
      <p:sp>
        <p:nvSpPr>
          <p:cNvPr id="16" name="object 16"/>
          <p:cNvSpPr txBox="1"/>
          <p:nvPr/>
        </p:nvSpPr>
        <p:spPr>
          <a:xfrm>
            <a:off x="6256020" y="2343912"/>
            <a:ext cx="1117600" cy="337271"/>
          </a:xfrm>
          <a:prstGeom prst="rect">
            <a:avLst/>
          </a:prstGeom>
          <a:ln w="9144">
            <a:solidFill>
              <a:srgbClr val="000000"/>
            </a:solidFill>
          </a:ln>
        </p:spPr>
        <p:txBody>
          <a:bodyPr vert="horz" wrap="square" lIns="0" tIns="29209" rIns="0" bIns="0" rtlCol="0">
            <a:spAutoFit/>
          </a:bodyPr>
          <a:lstStyle/>
          <a:p>
            <a:pPr marL="1270" algn="ctr">
              <a:spcBef>
                <a:spcPts val="230"/>
              </a:spcBef>
            </a:pPr>
            <a:r>
              <a:rPr sz="2000" i="1" spc="-5" dirty="0">
                <a:solidFill>
                  <a:srgbClr val="00AF50"/>
                </a:solidFill>
                <a:latin typeface="Calibri" panose="020F0502020204030204"/>
                <a:cs typeface="Calibri" panose="020F0502020204030204"/>
              </a:rPr>
              <a:t>pie</a:t>
            </a:r>
            <a:endParaRPr sz="2000">
              <a:latin typeface="Calibri" panose="020F0502020204030204"/>
              <a:cs typeface="Calibri" panose="020F0502020204030204"/>
            </a:endParaRPr>
          </a:p>
        </p:txBody>
      </p:sp>
      <p:sp>
        <p:nvSpPr>
          <p:cNvPr id="17" name="object 17"/>
          <p:cNvSpPr txBox="1"/>
          <p:nvPr/>
        </p:nvSpPr>
        <p:spPr>
          <a:xfrm>
            <a:off x="6256020" y="3512820"/>
            <a:ext cx="1117600" cy="337912"/>
          </a:xfrm>
          <a:prstGeom prst="rect">
            <a:avLst/>
          </a:prstGeom>
          <a:ln w="9144">
            <a:solidFill>
              <a:srgbClr val="000000"/>
            </a:solidFill>
          </a:ln>
        </p:spPr>
        <p:txBody>
          <a:bodyPr vert="horz" wrap="square" lIns="0" tIns="29844" rIns="0" bIns="0" rtlCol="0">
            <a:spAutoFit/>
          </a:bodyPr>
          <a:lstStyle/>
          <a:p>
            <a:pPr marL="332105">
              <a:spcBef>
                <a:spcPts val="235"/>
              </a:spcBef>
            </a:pPr>
            <a:r>
              <a:rPr sz="2000" i="1" spc="-5" dirty="0">
                <a:solidFill>
                  <a:srgbClr val="00AF50"/>
                </a:solidFill>
                <a:latin typeface="Calibri" panose="020F0502020204030204"/>
                <a:cs typeface="Calibri" panose="020F0502020204030204"/>
              </a:rPr>
              <a:t>with</a:t>
            </a:r>
            <a:endParaRPr sz="2000">
              <a:latin typeface="Calibri" panose="020F0502020204030204"/>
              <a:cs typeface="Calibri" panose="020F0502020204030204"/>
            </a:endParaRPr>
          </a:p>
        </p:txBody>
      </p:sp>
      <p:sp>
        <p:nvSpPr>
          <p:cNvPr id="18" name="object 18"/>
          <p:cNvSpPr txBox="1"/>
          <p:nvPr/>
        </p:nvSpPr>
        <p:spPr>
          <a:xfrm>
            <a:off x="6256020" y="4038601"/>
            <a:ext cx="1117600" cy="337913"/>
          </a:xfrm>
          <a:prstGeom prst="rect">
            <a:avLst/>
          </a:prstGeom>
          <a:ln w="9144">
            <a:solidFill>
              <a:srgbClr val="000000"/>
            </a:solidFill>
          </a:ln>
        </p:spPr>
        <p:txBody>
          <a:bodyPr vert="horz" wrap="square" lIns="0" tIns="29845" rIns="0" bIns="0" rtlCol="0">
            <a:spAutoFit/>
          </a:bodyPr>
          <a:lstStyle/>
          <a:p>
            <a:pPr marL="1270" algn="ctr">
              <a:spcBef>
                <a:spcPts val="235"/>
              </a:spcBef>
            </a:pPr>
            <a:r>
              <a:rPr sz="2000" i="1" dirty="0">
                <a:latin typeface="Calibri" panose="020F0502020204030204"/>
                <a:cs typeface="Calibri" panose="020F0502020204030204"/>
              </a:rPr>
              <a:t>on</a:t>
            </a:r>
            <a:endParaRPr sz="2000">
              <a:latin typeface="Calibri" panose="020F0502020204030204"/>
              <a:cs typeface="Calibri" panose="020F0502020204030204"/>
            </a:endParaRPr>
          </a:p>
        </p:txBody>
      </p:sp>
      <p:sp>
        <p:nvSpPr>
          <p:cNvPr id="19" name="object 19"/>
          <p:cNvSpPr/>
          <p:nvPr/>
        </p:nvSpPr>
        <p:spPr>
          <a:xfrm>
            <a:off x="5840223" y="3287521"/>
            <a:ext cx="422275" cy="969644"/>
          </a:xfrm>
          <a:custGeom>
            <a:avLst/>
            <a:gdLst/>
            <a:ahLst/>
            <a:cxnLst/>
            <a:rect l="l" t="t" r="r" b="b"/>
            <a:pathLst>
              <a:path w="422275" h="969645">
                <a:moveTo>
                  <a:pt x="422021" y="884174"/>
                </a:moveTo>
                <a:lnTo>
                  <a:pt x="392785" y="896620"/>
                </a:lnTo>
                <a:lnTo>
                  <a:pt x="25704" y="34709"/>
                </a:lnTo>
                <a:lnTo>
                  <a:pt x="360121" y="391426"/>
                </a:lnTo>
                <a:lnTo>
                  <a:pt x="336931" y="413131"/>
                </a:lnTo>
                <a:lnTo>
                  <a:pt x="416814" y="442722"/>
                </a:lnTo>
                <a:lnTo>
                  <a:pt x="404317" y="400685"/>
                </a:lnTo>
                <a:lnTo>
                  <a:pt x="392557" y="361061"/>
                </a:lnTo>
                <a:lnTo>
                  <a:pt x="369366" y="382765"/>
                </a:lnTo>
                <a:lnTo>
                  <a:pt x="10414" y="0"/>
                </a:lnTo>
                <a:lnTo>
                  <a:pt x="5842" y="4318"/>
                </a:lnTo>
                <a:lnTo>
                  <a:pt x="0" y="6858"/>
                </a:lnTo>
                <a:lnTo>
                  <a:pt x="381101" y="901598"/>
                </a:lnTo>
                <a:lnTo>
                  <a:pt x="351917" y="914019"/>
                </a:lnTo>
                <a:lnTo>
                  <a:pt x="416814" y="969137"/>
                </a:lnTo>
                <a:lnTo>
                  <a:pt x="420230" y="913257"/>
                </a:lnTo>
                <a:lnTo>
                  <a:pt x="422021" y="884174"/>
                </a:lnTo>
                <a:close/>
              </a:path>
            </a:pathLst>
          </a:custGeom>
          <a:solidFill>
            <a:srgbClr val="000000"/>
          </a:solidFill>
        </p:spPr>
        <p:txBody>
          <a:bodyPr wrap="square" lIns="0" tIns="0" rIns="0" bIns="0" rtlCol="0"/>
          <a:lstStyle/>
          <a:p>
            <a:endParaRPr/>
          </a:p>
        </p:txBody>
      </p:sp>
      <p:sp>
        <p:nvSpPr>
          <p:cNvPr id="20" name="object 20"/>
          <p:cNvSpPr/>
          <p:nvPr/>
        </p:nvSpPr>
        <p:spPr>
          <a:xfrm>
            <a:off x="5840477" y="2034539"/>
            <a:ext cx="416559" cy="736600"/>
          </a:xfrm>
          <a:custGeom>
            <a:avLst/>
            <a:gdLst/>
            <a:ahLst/>
            <a:cxnLst/>
            <a:rect l="l" t="t" r="r" b="b"/>
            <a:pathLst>
              <a:path w="416560" h="736600">
                <a:moveTo>
                  <a:pt x="416560" y="0"/>
                </a:moveTo>
                <a:lnTo>
                  <a:pt x="346075" y="47752"/>
                </a:lnTo>
                <a:lnTo>
                  <a:pt x="373722" y="63309"/>
                </a:lnTo>
                <a:lnTo>
                  <a:pt x="0" y="726948"/>
                </a:lnTo>
                <a:lnTo>
                  <a:pt x="5067" y="729830"/>
                </a:lnTo>
                <a:lnTo>
                  <a:pt x="8382" y="736600"/>
                </a:lnTo>
                <a:lnTo>
                  <a:pt x="351205" y="566851"/>
                </a:lnTo>
                <a:lnTo>
                  <a:pt x="365252" y="595249"/>
                </a:lnTo>
                <a:lnTo>
                  <a:pt x="399580" y="549783"/>
                </a:lnTo>
                <a:lnTo>
                  <a:pt x="416560" y="527304"/>
                </a:lnTo>
                <a:lnTo>
                  <a:pt x="331470" y="526923"/>
                </a:lnTo>
                <a:lnTo>
                  <a:pt x="345541" y="555396"/>
                </a:lnTo>
                <a:lnTo>
                  <a:pt x="20751" y="716280"/>
                </a:lnTo>
                <a:lnTo>
                  <a:pt x="384784" y="69519"/>
                </a:lnTo>
                <a:lnTo>
                  <a:pt x="412496" y="85090"/>
                </a:lnTo>
                <a:lnTo>
                  <a:pt x="414058" y="52197"/>
                </a:lnTo>
                <a:lnTo>
                  <a:pt x="416560" y="0"/>
                </a:lnTo>
                <a:close/>
              </a:path>
            </a:pathLst>
          </a:custGeom>
          <a:solidFill>
            <a:srgbClr val="000000"/>
          </a:solidFill>
        </p:spPr>
        <p:txBody>
          <a:bodyPr wrap="square" lIns="0" tIns="0" rIns="0" bIns="0" rtlCol="0"/>
          <a:lstStyle/>
          <a:p>
            <a:endParaRPr/>
          </a:p>
        </p:txBody>
      </p:sp>
      <p:sp>
        <p:nvSpPr>
          <p:cNvPr id="21" name="object 21"/>
          <p:cNvSpPr txBox="1"/>
          <p:nvPr/>
        </p:nvSpPr>
        <p:spPr>
          <a:xfrm>
            <a:off x="1524001" y="4038601"/>
            <a:ext cx="1167765" cy="337913"/>
          </a:xfrm>
          <a:prstGeom prst="rect">
            <a:avLst/>
          </a:prstGeom>
          <a:ln w="9143">
            <a:solidFill>
              <a:srgbClr val="000000"/>
            </a:solidFill>
          </a:ln>
        </p:spPr>
        <p:txBody>
          <a:bodyPr vert="horz" wrap="square" lIns="0" tIns="29845" rIns="0" bIns="0" rtlCol="0">
            <a:spAutoFit/>
          </a:bodyPr>
          <a:lstStyle/>
          <a:p>
            <a:pPr marL="131445">
              <a:spcBef>
                <a:spcPts val="235"/>
              </a:spcBef>
            </a:pPr>
            <a:r>
              <a:rPr sz="2000" i="1" spc="-5" dirty="0">
                <a:latin typeface="Calibri" panose="020F0502020204030204"/>
                <a:cs typeface="Calibri" panose="020F0502020204030204"/>
              </a:rPr>
              <a:t>&lt;START&gt;</a:t>
            </a:r>
            <a:endParaRPr sz="2000">
              <a:latin typeface="Calibri" panose="020F0502020204030204"/>
              <a:cs typeface="Calibri" panose="020F0502020204030204"/>
            </a:endParaRPr>
          </a:p>
        </p:txBody>
      </p:sp>
      <p:sp>
        <p:nvSpPr>
          <p:cNvPr id="22" name="object 22"/>
          <p:cNvSpPr txBox="1"/>
          <p:nvPr/>
        </p:nvSpPr>
        <p:spPr>
          <a:xfrm>
            <a:off x="2308859" y="3107436"/>
            <a:ext cx="571500" cy="337913"/>
          </a:xfrm>
          <a:prstGeom prst="rect">
            <a:avLst/>
          </a:prstGeom>
          <a:ln w="9143">
            <a:solidFill>
              <a:srgbClr val="000000"/>
            </a:solidFill>
          </a:ln>
        </p:spPr>
        <p:txBody>
          <a:bodyPr vert="horz" wrap="square" lIns="0" tIns="29845" rIns="0" bIns="0" rtlCol="0">
            <a:spAutoFit/>
          </a:bodyPr>
          <a:lstStyle/>
          <a:p>
            <a:pPr marL="158750">
              <a:spcBef>
                <a:spcPts val="235"/>
              </a:spcBef>
            </a:pPr>
            <a:r>
              <a:rPr sz="2000" i="1" dirty="0">
                <a:latin typeface="Calibri" panose="020F0502020204030204"/>
                <a:cs typeface="Calibri" panose="020F0502020204030204"/>
              </a:rPr>
              <a:t>he</a:t>
            </a:r>
            <a:endParaRPr sz="2000">
              <a:latin typeface="Calibri" panose="020F0502020204030204"/>
              <a:cs typeface="Calibri" panose="020F0502020204030204"/>
            </a:endParaRPr>
          </a:p>
        </p:txBody>
      </p:sp>
      <p:sp>
        <p:nvSpPr>
          <p:cNvPr id="23" name="object 23"/>
          <p:cNvSpPr txBox="1"/>
          <p:nvPr/>
        </p:nvSpPr>
        <p:spPr>
          <a:xfrm>
            <a:off x="2308859" y="4971289"/>
            <a:ext cx="571500" cy="337271"/>
          </a:xfrm>
          <a:prstGeom prst="rect">
            <a:avLst/>
          </a:prstGeom>
          <a:ln w="9143">
            <a:solidFill>
              <a:srgbClr val="000000"/>
            </a:solidFill>
          </a:ln>
        </p:spPr>
        <p:txBody>
          <a:bodyPr vert="horz" wrap="square" lIns="0" tIns="29209" rIns="0" bIns="0" rtlCol="0">
            <a:spAutoFit/>
          </a:bodyPr>
          <a:lstStyle/>
          <a:p>
            <a:pPr algn="ctr">
              <a:spcBef>
                <a:spcPts val="230"/>
              </a:spcBef>
            </a:pPr>
            <a:r>
              <a:rPr sz="2000" i="1" dirty="0">
                <a:latin typeface="Calibri" panose="020F0502020204030204"/>
                <a:cs typeface="Calibri" panose="020F0502020204030204"/>
              </a:rPr>
              <a:t>I</a:t>
            </a:r>
            <a:endParaRPr sz="2000">
              <a:latin typeface="Calibri" panose="020F0502020204030204"/>
              <a:cs typeface="Calibri" panose="020F0502020204030204"/>
            </a:endParaRPr>
          </a:p>
        </p:txBody>
      </p:sp>
      <p:sp>
        <p:nvSpPr>
          <p:cNvPr id="24" name="object 24"/>
          <p:cNvSpPr/>
          <p:nvPr/>
        </p:nvSpPr>
        <p:spPr>
          <a:xfrm>
            <a:off x="2103158" y="3543300"/>
            <a:ext cx="491490" cy="500380"/>
          </a:xfrm>
          <a:custGeom>
            <a:avLst/>
            <a:gdLst/>
            <a:ahLst/>
            <a:cxnLst/>
            <a:rect l="l" t="t" r="r" b="b"/>
            <a:pathLst>
              <a:path w="491490" h="500379">
                <a:moveTo>
                  <a:pt x="433491" y="49928"/>
                </a:moveTo>
                <a:lnTo>
                  <a:pt x="0" y="491236"/>
                </a:lnTo>
                <a:lnTo>
                  <a:pt x="9067" y="500125"/>
                </a:lnTo>
                <a:lnTo>
                  <a:pt x="442556" y="58822"/>
                </a:lnTo>
                <a:lnTo>
                  <a:pt x="433491" y="49928"/>
                </a:lnTo>
                <a:close/>
              </a:path>
              <a:path w="491490" h="500379">
                <a:moveTo>
                  <a:pt x="478171" y="40894"/>
                </a:moveTo>
                <a:lnTo>
                  <a:pt x="442366" y="40894"/>
                </a:lnTo>
                <a:lnTo>
                  <a:pt x="451434" y="49784"/>
                </a:lnTo>
                <a:lnTo>
                  <a:pt x="442556" y="58822"/>
                </a:lnTo>
                <a:lnTo>
                  <a:pt x="465188" y="81025"/>
                </a:lnTo>
                <a:lnTo>
                  <a:pt x="478171" y="40894"/>
                </a:lnTo>
                <a:close/>
              </a:path>
              <a:path w="491490" h="500379">
                <a:moveTo>
                  <a:pt x="442366" y="40894"/>
                </a:moveTo>
                <a:lnTo>
                  <a:pt x="433491" y="49928"/>
                </a:lnTo>
                <a:lnTo>
                  <a:pt x="442556" y="58822"/>
                </a:lnTo>
                <a:lnTo>
                  <a:pt x="451434" y="49784"/>
                </a:lnTo>
                <a:lnTo>
                  <a:pt x="442366" y="40894"/>
                </a:lnTo>
                <a:close/>
              </a:path>
              <a:path w="491490" h="500379">
                <a:moveTo>
                  <a:pt x="491401" y="0"/>
                </a:moveTo>
                <a:lnTo>
                  <a:pt x="410819" y="27686"/>
                </a:lnTo>
                <a:lnTo>
                  <a:pt x="433491" y="49928"/>
                </a:lnTo>
                <a:lnTo>
                  <a:pt x="442366" y="40894"/>
                </a:lnTo>
                <a:lnTo>
                  <a:pt x="478171" y="40894"/>
                </a:lnTo>
                <a:lnTo>
                  <a:pt x="491401" y="0"/>
                </a:lnTo>
                <a:close/>
              </a:path>
            </a:pathLst>
          </a:custGeom>
          <a:solidFill>
            <a:srgbClr val="000000"/>
          </a:solidFill>
        </p:spPr>
        <p:txBody>
          <a:bodyPr wrap="square" lIns="0" tIns="0" rIns="0" bIns="0" rtlCol="0"/>
          <a:lstStyle/>
          <a:p>
            <a:endParaRPr/>
          </a:p>
        </p:txBody>
      </p:sp>
      <p:sp>
        <p:nvSpPr>
          <p:cNvPr id="25" name="object 25"/>
          <p:cNvSpPr/>
          <p:nvPr/>
        </p:nvSpPr>
        <p:spPr>
          <a:xfrm>
            <a:off x="2103158" y="4470020"/>
            <a:ext cx="491490" cy="501015"/>
          </a:xfrm>
          <a:custGeom>
            <a:avLst/>
            <a:gdLst/>
            <a:ahLst/>
            <a:cxnLst/>
            <a:rect l="l" t="t" r="r" b="b"/>
            <a:pathLst>
              <a:path w="491490" h="501014">
                <a:moveTo>
                  <a:pt x="433458" y="450760"/>
                </a:moveTo>
                <a:lnTo>
                  <a:pt x="410832" y="472947"/>
                </a:lnTo>
                <a:lnTo>
                  <a:pt x="491401" y="500760"/>
                </a:lnTo>
                <a:lnTo>
                  <a:pt x="478211" y="459866"/>
                </a:lnTo>
                <a:lnTo>
                  <a:pt x="442391" y="459866"/>
                </a:lnTo>
                <a:lnTo>
                  <a:pt x="433458" y="450760"/>
                </a:lnTo>
                <a:close/>
              </a:path>
              <a:path w="491490" h="501014">
                <a:moveTo>
                  <a:pt x="442525" y="441869"/>
                </a:moveTo>
                <a:lnTo>
                  <a:pt x="433458" y="450760"/>
                </a:lnTo>
                <a:lnTo>
                  <a:pt x="442391" y="459866"/>
                </a:lnTo>
                <a:lnTo>
                  <a:pt x="451459" y="450976"/>
                </a:lnTo>
                <a:lnTo>
                  <a:pt x="442525" y="441869"/>
                </a:lnTo>
                <a:close/>
              </a:path>
              <a:path w="491490" h="501014">
                <a:moveTo>
                  <a:pt x="465226" y="419607"/>
                </a:moveTo>
                <a:lnTo>
                  <a:pt x="442525" y="441869"/>
                </a:lnTo>
                <a:lnTo>
                  <a:pt x="451459" y="450976"/>
                </a:lnTo>
                <a:lnTo>
                  <a:pt x="442391" y="459866"/>
                </a:lnTo>
                <a:lnTo>
                  <a:pt x="478211" y="459866"/>
                </a:lnTo>
                <a:lnTo>
                  <a:pt x="465226" y="419607"/>
                </a:lnTo>
                <a:close/>
              </a:path>
              <a:path w="491490" h="501014">
                <a:moveTo>
                  <a:pt x="9067" y="0"/>
                </a:moveTo>
                <a:lnTo>
                  <a:pt x="0" y="8889"/>
                </a:lnTo>
                <a:lnTo>
                  <a:pt x="433458" y="450760"/>
                </a:lnTo>
                <a:lnTo>
                  <a:pt x="442525" y="441869"/>
                </a:lnTo>
                <a:lnTo>
                  <a:pt x="9067" y="0"/>
                </a:lnTo>
                <a:close/>
              </a:path>
            </a:pathLst>
          </a:custGeom>
          <a:solidFill>
            <a:srgbClr val="000000"/>
          </a:solidFill>
        </p:spPr>
        <p:txBody>
          <a:bodyPr wrap="square" lIns="0" tIns="0" rIns="0" bIns="0" rtlCol="0"/>
          <a:lstStyle/>
          <a:p>
            <a:endParaRPr/>
          </a:p>
        </p:txBody>
      </p:sp>
      <p:sp>
        <p:nvSpPr>
          <p:cNvPr id="27" name="object 27"/>
          <p:cNvSpPr txBox="1"/>
          <p:nvPr/>
        </p:nvSpPr>
        <p:spPr>
          <a:xfrm>
            <a:off x="2384857" y="2785617"/>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-0.7</a:t>
            </a:r>
            <a:endParaRPr>
              <a:latin typeface="Calibri" panose="020F0502020204030204"/>
              <a:cs typeface="Calibri" panose="020F0502020204030204"/>
            </a:endParaRPr>
          </a:p>
        </p:txBody>
      </p:sp>
      <p:sp>
        <p:nvSpPr>
          <p:cNvPr id="28" name="object 28"/>
          <p:cNvSpPr txBox="1"/>
          <p:nvPr/>
        </p:nvSpPr>
        <p:spPr>
          <a:xfrm>
            <a:off x="2384857" y="5439562"/>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-0.9</a:t>
            </a:r>
            <a:endParaRPr>
              <a:latin typeface="Calibri" panose="020F0502020204030204"/>
              <a:cs typeface="Calibri" panose="020F0502020204030204"/>
            </a:endParaRPr>
          </a:p>
        </p:txBody>
      </p:sp>
      <p:sp>
        <p:nvSpPr>
          <p:cNvPr id="29" name="object 29"/>
          <p:cNvSpPr txBox="1"/>
          <p:nvPr/>
        </p:nvSpPr>
        <p:spPr>
          <a:xfrm>
            <a:off x="3626612" y="4340479"/>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-1.6</a:t>
            </a:r>
            <a:endParaRPr>
              <a:latin typeface="Calibri" panose="020F0502020204030204"/>
              <a:cs typeface="Calibri" panose="020F0502020204030204"/>
            </a:endParaRPr>
          </a:p>
        </p:txBody>
      </p:sp>
      <p:sp>
        <p:nvSpPr>
          <p:cNvPr id="30" name="object 30"/>
          <p:cNvSpPr txBox="1"/>
          <p:nvPr/>
        </p:nvSpPr>
        <p:spPr>
          <a:xfrm>
            <a:off x="3626612" y="5683708"/>
            <a:ext cx="385445" cy="300355"/>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-1.8</a:t>
            </a:r>
            <a:endParaRPr>
              <a:latin typeface="Calibri" panose="020F0502020204030204"/>
              <a:cs typeface="Calibri" panose="020F0502020204030204"/>
            </a:endParaRPr>
          </a:p>
        </p:txBody>
      </p:sp>
      <p:sp>
        <p:nvSpPr>
          <p:cNvPr id="31" name="object 31"/>
          <p:cNvSpPr txBox="1"/>
          <p:nvPr/>
        </p:nvSpPr>
        <p:spPr>
          <a:xfrm>
            <a:off x="3626612" y="2481198"/>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-1.7</a:t>
            </a:r>
            <a:endParaRPr>
              <a:latin typeface="Calibri" panose="020F0502020204030204"/>
              <a:cs typeface="Calibri" panose="020F0502020204030204"/>
            </a:endParaRPr>
          </a:p>
        </p:txBody>
      </p:sp>
      <p:sp>
        <p:nvSpPr>
          <p:cNvPr id="32" name="object 32"/>
          <p:cNvSpPr txBox="1"/>
          <p:nvPr/>
        </p:nvSpPr>
        <p:spPr>
          <a:xfrm>
            <a:off x="3626612" y="3800602"/>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-2.9</a:t>
            </a:r>
            <a:endParaRPr>
              <a:latin typeface="Calibri" panose="020F0502020204030204"/>
              <a:cs typeface="Calibri" panose="020F0502020204030204"/>
            </a:endParaRPr>
          </a:p>
        </p:txBody>
      </p:sp>
      <p:sp>
        <p:nvSpPr>
          <p:cNvPr id="33" name="object 33"/>
          <p:cNvSpPr txBox="1"/>
          <p:nvPr/>
        </p:nvSpPr>
        <p:spPr>
          <a:xfrm>
            <a:off x="5081779" y="3525392"/>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-2.5</a:t>
            </a:r>
            <a:endParaRPr>
              <a:latin typeface="Calibri" panose="020F0502020204030204"/>
              <a:cs typeface="Calibri" panose="020F0502020204030204"/>
            </a:endParaRPr>
          </a:p>
        </p:txBody>
      </p:sp>
      <p:sp>
        <p:nvSpPr>
          <p:cNvPr id="34" name="object 34"/>
          <p:cNvSpPr txBox="1"/>
          <p:nvPr/>
        </p:nvSpPr>
        <p:spPr>
          <a:xfrm>
            <a:off x="5081779" y="2184272"/>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-2.8</a:t>
            </a:r>
            <a:endParaRPr>
              <a:latin typeface="Calibri" panose="020F0502020204030204"/>
              <a:cs typeface="Calibri" panose="020F0502020204030204"/>
            </a:endParaRPr>
          </a:p>
        </p:txBody>
      </p:sp>
      <p:sp>
        <p:nvSpPr>
          <p:cNvPr id="35" name="object 35"/>
          <p:cNvSpPr txBox="1"/>
          <p:nvPr/>
        </p:nvSpPr>
        <p:spPr>
          <a:xfrm>
            <a:off x="5081779" y="5406949"/>
            <a:ext cx="385445" cy="300355"/>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-3.8</a:t>
            </a:r>
            <a:endParaRPr>
              <a:latin typeface="Calibri" panose="020F0502020204030204"/>
              <a:cs typeface="Calibri" panose="020F0502020204030204"/>
            </a:endParaRPr>
          </a:p>
        </p:txBody>
      </p:sp>
      <p:sp>
        <p:nvSpPr>
          <p:cNvPr id="36" name="object 36"/>
          <p:cNvSpPr txBox="1"/>
          <p:nvPr/>
        </p:nvSpPr>
        <p:spPr>
          <a:xfrm>
            <a:off x="5081779" y="4079494"/>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-2.9</a:t>
            </a:r>
            <a:endParaRPr>
              <a:latin typeface="Calibri" panose="020F0502020204030204"/>
              <a:cs typeface="Calibri" panose="020F0502020204030204"/>
            </a:endParaRPr>
          </a:p>
        </p:txBody>
      </p:sp>
      <p:sp>
        <p:nvSpPr>
          <p:cNvPr id="39" name="object 39"/>
          <p:cNvSpPr txBox="1"/>
          <p:nvPr/>
        </p:nvSpPr>
        <p:spPr>
          <a:xfrm>
            <a:off x="6609716" y="4482210"/>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-3.5</a:t>
            </a:r>
            <a:endParaRPr>
              <a:latin typeface="Calibri" panose="020F0502020204030204"/>
              <a:cs typeface="Calibri" panose="020F0502020204030204"/>
            </a:endParaRPr>
          </a:p>
        </p:txBody>
      </p:sp>
      <p:sp>
        <p:nvSpPr>
          <p:cNvPr id="40" name="object 40"/>
          <p:cNvSpPr txBox="1"/>
          <p:nvPr/>
        </p:nvSpPr>
        <p:spPr>
          <a:xfrm>
            <a:off x="6609716" y="3208146"/>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-3.3</a:t>
            </a:r>
            <a:endParaRPr>
              <a:latin typeface="Calibri" panose="020F0502020204030204"/>
              <a:cs typeface="Calibri" panose="020F0502020204030204"/>
            </a:endParaRPr>
          </a:p>
        </p:txBody>
      </p:sp>
      <p:sp>
        <p:nvSpPr>
          <p:cNvPr id="41" name="object 41"/>
          <p:cNvSpPr txBox="1"/>
          <p:nvPr/>
        </p:nvSpPr>
        <p:spPr>
          <a:xfrm>
            <a:off x="6609715" y="2762200"/>
            <a:ext cx="386080" cy="300355"/>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-3.4</a:t>
            </a:r>
            <a:endParaRPr>
              <a:latin typeface="Calibri" panose="020F0502020204030204"/>
              <a:cs typeface="Calibri" panose="020F0502020204030204"/>
            </a:endParaRPr>
          </a:p>
        </p:txBody>
      </p:sp>
      <p:sp>
        <p:nvSpPr>
          <p:cNvPr id="42" name="object 42"/>
          <p:cNvSpPr txBox="1"/>
          <p:nvPr/>
        </p:nvSpPr>
        <p:spPr>
          <a:xfrm>
            <a:off x="5298440" y="6083300"/>
            <a:ext cx="3838575" cy="584835"/>
          </a:xfrm>
          <a:prstGeom prst="rect">
            <a:avLst/>
          </a:prstGeom>
          <a:ln w="19811">
            <a:solidFill>
              <a:srgbClr val="BA56BD"/>
            </a:solidFill>
          </a:ln>
        </p:spPr>
        <p:txBody>
          <a:bodyPr vert="horz" wrap="square" lIns="0" tIns="31115" rIns="0" bIns="0" rtlCol="0">
            <a:spAutoFit/>
          </a:bodyPr>
          <a:lstStyle/>
          <a:p>
            <a:pPr marL="635" algn="ctr">
              <a:spcBef>
                <a:spcPts val="245"/>
              </a:spcBef>
            </a:pPr>
            <a:r>
              <a:rPr spc="-5" dirty="0">
                <a:solidFill>
                  <a:srgbClr val="BA56BD"/>
                </a:solidFill>
                <a:cs typeface="Calibri" panose="020F0502020204030204"/>
              </a:rPr>
              <a:t>Of</a:t>
            </a:r>
            <a:r>
              <a:rPr spc="-10" dirty="0">
                <a:solidFill>
                  <a:srgbClr val="BA56BD"/>
                </a:solidFill>
                <a:cs typeface="Calibri" panose="020F0502020204030204"/>
              </a:rPr>
              <a:t> </a:t>
            </a:r>
            <a:r>
              <a:rPr spc="-5" dirty="0">
                <a:solidFill>
                  <a:srgbClr val="BA56BD"/>
                </a:solidFill>
                <a:cs typeface="Calibri" panose="020F0502020204030204"/>
              </a:rPr>
              <a:t>these </a:t>
            </a:r>
            <a:r>
              <a:rPr i="1" spc="-5" dirty="0">
                <a:solidFill>
                  <a:srgbClr val="BA56BD"/>
                </a:solidFill>
                <a:cs typeface="Calibri" panose="020F0502020204030204"/>
              </a:rPr>
              <a:t>k</a:t>
            </a:r>
            <a:r>
              <a:rPr spc="-7" baseline="25000" dirty="0">
                <a:solidFill>
                  <a:srgbClr val="BA56BD"/>
                </a:solidFill>
                <a:cs typeface="Calibri" panose="020F0502020204030204"/>
              </a:rPr>
              <a:t>2</a:t>
            </a:r>
            <a:r>
              <a:rPr spc="195" baseline="25000" dirty="0">
                <a:solidFill>
                  <a:srgbClr val="BA56BD"/>
                </a:solidFill>
                <a:cs typeface="Calibri" panose="020F0502020204030204"/>
              </a:rPr>
              <a:t> </a:t>
            </a:r>
            <a:r>
              <a:rPr spc="-5" dirty="0">
                <a:solidFill>
                  <a:srgbClr val="BA56BD"/>
                </a:solidFill>
                <a:cs typeface="Calibri" panose="020F0502020204030204"/>
              </a:rPr>
              <a:t>hypotheses,</a:t>
            </a:r>
            <a:endParaRPr>
              <a:cs typeface="Calibri" panose="020F0502020204030204"/>
            </a:endParaRPr>
          </a:p>
          <a:p>
            <a:pPr algn="ctr">
              <a:lnSpc>
                <a:spcPct val="100000"/>
              </a:lnSpc>
            </a:pPr>
            <a:r>
              <a:rPr spc="-10" dirty="0">
                <a:solidFill>
                  <a:srgbClr val="BA56BD"/>
                </a:solidFill>
                <a:cs typeface="Calibri" panose="020F0502020204030204"/>
              </a:rPr>
              <a:t>just </a:t>
            </a:r>
            <a:r>
              <a:rPr spc="-15" dirty="0">
                <a:solidFill>
                  <a:srgbClr val="BA56BD"/>
                </a:solidFill>
                <a:cs typeface="Calibri" panose="020F0502020204030204"/>
              </a:rPr>
              <a:t>keep</a:t>
            </a:r>
            <a:r>
              <a:rPr spc="-5" dirty="0">
                <a:solidFill>
                  <a:srgbClr val="BA56BD"/>
                </a:solidFill>
                <a:cs typeface="Calibri" panose="020F0502020204030204"/>
              </a:rPr>
              <a:t> </a:t>
            </a:r>
            <a:r>
              <a:rPr i="1" dirty="0">
                <a:solidFill>
                  <a:srgbClr val="BA56BD"/>
                </a:solidFill>
                <a:cs typeface="Calibri" panose="020F0502020204030204"/>
              </a:rPr>
              <a:t>k</a:t>
            </a:r>
            <a:r>
              <a:rPr i="1" spc="-10" dirty="0">
                <a:solidFill>
                  <a:srgbClr val="BA56BD"/>
                </a:solidFill>
                <a:cs typeface="Calibri" panose="020F0502020204030204"/>
              </a:rPr>
              <a:t> </a:t>
            </a:r>
            <a:r>
              <a:rPr spc="-5" dirty="0">
                <a:solidFill>
                  <a:srgbClr val="BA56BD"/>
                </a:solidFill>
                <a:cs typeface="Calibri" panose="020F0502020204030204"/>
              </a:rPr>
              <a:t>with</a:t>
            </a:r>
            <a:r>
              <a:rPr spc="5" dirty="0">
                <a:solidFill>
                  <a:srgbClr val="BA56BD"/>
                </a:solidFill>
                <a:cs typeface="Calibri" panose="020F0502020204030204"/>
              </a:rPr>
              <a:t> </a:t>
            </a:r>
            <a:r>
              <a:rPr spc="-10" dirty="0">
                <a:solidFill>
                  <a:srgbClr val="BA56BD"/>
                </a:solidFill>
                <a:cs typeface="Calibri" panose="020F0502020204030204"/>
              </a:rPr>
              <a:t>highest</a:t>
            </a:r>
            <a:r>
              <a:rPr spc="-5" dirty="0">
                <a:solidFill>
                  <a:srgbClr val="BA56BD"/>
                </a:solidFill>
                <a:cs typeface="Calibri" panose="020F0502020204030204"/>
              </a:rPr>
              <a:t> </a:t>
            </a:r>
            <a:r>
              <a:rPr spc="-10" dirty="0">
                <a:solidFill>
                  <a:srgbClr val="BA56BD"/>
                </a:solidFill>
                <a:cs typeface="Calibri" panose="020F0502020204030204"/>
              </a:rPr>
              <a:t>scores</a:t>
            </a:r>
            <a:endParaRPr>
              <a:cs typeface="Calibri" panose="020F0502020204030204"/>
            </a:endParaRPr>
          </a:p>
        </p:txBody>
      </p:sp>
      <p:grpSp>
        <p:nvGrpSpPr>
          <p:cNvPr id="44" name="Group 43"/>
          <p:cNvGrpSpPr/>
          <p:nvPr/>
        </p:nvGrpSpPr>
        <p:grpSpPr>
          <a:xfrm>
            <a:off x="1875934" y="646192"/>
            <a:ext cx="8356238" cy="736600"/>
            <a:chOff x="1875934" y="646192"/>
            <a:chExt cx="8356238" cy="736600"/>
          </a:xfrm>
        </p:grpSpPr>
        <p:sp>
          <p:nvSpPr>
            <p:cNvPr id="45" name="object 3"/>
            <p:cNvSpPr txBox="1"/>
            <p:nvPr/>
          </p:nvSpPr>
          <p:spPr>
            <a:xfrm>
              <a:off x="1875934" y="840487"/>
              <a:ext cx="3557126" cy="321242"/>
            </a:xfrm>
            <a:prstGeom prst="rect">
              <a:avLst/>
            </a:prstGeom>
          </p:spPr>
          <p:txBody>
            <a:bodyPr vert="horz" wrap="square" lIns="0" tIns="13335" rIns="0" bIns="0" rtlCol="0">
              <a:spAutoFit/>
            </a:bodyPr>
            <a:lstStyle/>
            <a:p>
              <a:pPr marL="12700">
                <a:spcBef>
                  <a:spcPts val="105"/>
                </a:spcBef>
              </a:pPr>
              <a:r>
                <a:rPr sz="2000" b="1" dirty="0">
                  <a:cs typeface="Calibri" panose="020F0502020204030204"/>
                </a:rPr>
                <a:t>Beam</a:t>
              </a:r>
              <a:r>
                <a:rPr sz="2000" b="1" spc="-10" dirty="0">
                  <a:cs typeface="Calibri" panose="020F0502020204030204"/>
                </a:rPr>
                <a:t> </a:t>
              </a:r>
              <a:r>
                <a:rPr sz="2000" b="1" spc="-5" dirty="0">
                  <a:cs typeface="Calibri" panose="020F0502020204030204"/>
                </a:rPr>
                <a:t>size</a:t>
              </a:r>
              <a:r>
                <a:rPr sz="2000" b="1" dirty="0">
                  <a:cs typeface="Calibri" panose="020F0502020204030204"/>
                </a:rPr>
                <a:t> =</a:t>
              </a:r>
              <a:r>
                <a:rPr sz="2000" b="1" spc="-15" dirty="0">
                  <a:cs typeface="Calibri" panose="020F0502020204030204"/>
                </a:rPr>
                <a:t> </a:t>
              </a:r>
              <a:r>
                <a:rPr sz="2000" b="1" dirty="0">
                  <a:cs typeface="Calibri" panose="020F0502020204030204"/>
                </a:rPr>
                <a:t>k</a:t>
              </a:r>
              <a:r>
                <a:rPr sz="2000" b="1" spc="-10" dirty="0">
                  <a:cs typeface="Calibri" panose="020F0502020204030204"/>
                </a:rPr>
                <a:t> </a:t>
              </a:r>
              <a:r>
                <a:rPr sz="2000" b="1" dirty="0">
                  <a:cs typeface="Calibri" panose="020F0502020204030204"/>
                </a:rPr>
                <a:t>=</a:t>
              </a:r>
              <a:r>
                <a:rPr sz="2000" b="1" spc="-5" dirty="0">
                  <a:cs typeface="Calibri" panose="020F0502020204030204"/>
                </a:rPr>
                <a:t> </a:t>
              </a:r>
              <a:r>
                <a:rPr sz="2000" b="1" dirty="0">
                  <a:cs typeface="Calibri" panose="020F0502020204030204"/>
                </a:rPr>
                <a:t>2</a:t>
              </a:r>
              <a:r>
                <a:rPr sz="2000" dirty="0">
                  <a:cs typeface="Calibri" panose="020F0502020204030204"/>
                </a:rPr>
                <a:t>.</a:t>
              </a:r>
              <a:r>
                <a:rPr sz="2000" spc="-25" dirty="0">
                  <a:cs typeface="Calibri" panose="020F0502020204030204"/>
                </a:rPr>
                <a:t> </a:t>
              </a:r>
              <a:r>
                <a:rPr sz="2000" dirty="0">
                  <a:solidFill>
                    <a:srgbClr val="4285F4"/>
                  </a:solidFill>
                  <a:cs typeface="Calibri" panose="020F0502020204030204"/>
                </a:rPr>
                <a:t>Blue</a:t>
              </a:r>
              <a:r>
                <a:rPr sz="2000" spc="-10" dirty="0">
                  <a:solidFill>
                    <a:srgbClr val="4285F4"/>
                  </a:solidFill>
                  <a:cs typeface="Calibri" panose="020F0502020204030204"/>
                </a:rPr>
                <a:t> </a:t>
              </a:r>
              <a:r>
                <a:rPr sz="2000" dirty="0">
                  <a:solidFill>
                    <a:srgbClr val="4285F4"/>
                  </a:solidFill>
                  <a:cs typeface="Calibri" panose="020F0502020204030204"/>
                </a:rPr>
                <a:t>numbers</a:t>
              </a:r>
              <a:r>
                <a:rPr sz="2000" spc="-5" dirty="0">
                  <a:solidFill>
                    <a:srgbClr val="4285F4"/>
                  </a:solidFill>
                  <a:cs typeface="Calibri" panose="020F0502020204030204"/>
                </a:rPr>
                <a:t> </a:t>
              </a:r>
              <a:r>
                <a:rPr sz="2000" dirty="0">
                  <a:solidFill>
                    <a:srgbClr val="4285F4"/>
                  </a:solidFill>
                  <a:cs typeface="Calibri" panose="020F0502020204030204"/>
                </a:rPr>
                <a:t>=</a:t>
              </a:r>
              <a:endParaRPr sz="2000" dirty="0">
                <a:cs typeface="Calibri" panose="020F0502020204030204"/>
              </a:endParaRPr>
            </a:p>
          </p:txBody>
        </p:sp>
        <p:pic>
          <p:nvPicPr>
            <p:cNvPr id="46" name="object 50"/>
            <p:cNvPicPr/>
            <p:nvPr/>
          </p:nvPicPr>
          <p:blipFill>
            <a:blip r:embed="rId2" cstate="print"/>
            <a:stretch>
              <a:fillRect/>
            </a:stretch>
          </p:blipFill>
          <p:spPr>
            <a:xfrm>
              <a:off x="5415822" y="646192"/>
              <a:ext cx="4816350" cy="736600"/>
            </a:xfrm>
            <a:prstGeom prst="rect">
              <a:avLst/>
            </a:prstGeom>
          </p:spPr>
        </p:pic>
      </p:gr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3273551" y="2842260"/>
            <a:ext cx="1117600" cy="337912"/>
          </a:xfrm>
          <a:prstGeom prst="rect">
            <a:avLst/>
          </a:prstGeom>
          <a:ln w="9144">
            <a:solidFill>
              <a:srgbClr val="000000"/>
            </a:solidFill>
          </a:ln>
        </p:spPr>
        <p:txBody>
          <a:bodyPr vert="horz" wrap="square" lIns="0" tIns="29844" rIns="0" bIns="0" rtlCol="0">
            <a:spAutoFit/>
          </a:bodyPr>
          <a:lstStyle/>
          <a:p>
            <a:pPr algn="ctr">
              <a:spcBef>
                <a:spcPts val="235"/>
              </a:spcBef>
            </a:pPr>
            <a:r>
              <a:rPr sz="2000" i="1" spc="-5" dirty="0">
                <a:latin typeface="Calibri" panose="020F0502020204030204"/>
                <a:cs typeface="Calibri" panose="020F0502020204030204"/>
              </a:rPr>
              <a:t>hit</a:t>
            </a:r>
            <a:endParaRPr sz="2000">
              <a:latin typeface="Calibri" panose="020F0502020204030204"/>
              <a:cs typeface="Calibri" panose="020F0502020204030204"/>
            </a:endParaRPr>
          </a:p>
        </p:txBody>
      </p:sp>
      <p:sp>
        <p:nvSpPr>
          <p:cNvPr id="5" name="object 5"/>
          <p:cNvSpPr txBox="1"/>
          <p:nvPr/>
        </p:nvSpPr>
        <p:spPr>
          <a:xfrm>
            <a:off x="3273551" y="3368040"/>
            <a:ext cx="1117600" cy="338554"/>
          </a:xfrm>
          <a:prstGeom prst="rect">
            <a:avLst/>
          </a:prstGeom>
          <a:ln w="9144">
            <a:solidFill>
              <a:srgbClr val="000000"/>
            </a:solidFill>
          </a:ln>
        </p:spPr>
        <p:txBody>
          <a:bodyPr vert="horz" wrap="square" lIns="0" tIns="30480" rIns="0" bIns="0" rtlCol="0">
            <a:spAutoFit/>
          </a:bodyPr>
          <a:lstStyle/>
          <a:p>
            <a:pPr marL="247015">
              <a:spcBef>
                <a:spcPts val="240"/>
              </a:spcBef>
            </a:pPr>
            <a:r>
              <a:rPr sz="2000" i="1" spc="-5" dirty="0">
                <a:latin typeface="Calibri" panose="020F0502020204030204"/>
                <a:cs typeface="Calibri" panose="020F0502020204030204"/>
              </a:rPr>
              <a:t>struck</a:t>
            </a:r>
            <a:endParaRPr sz="2000">
              <a:latin typeface="Calibri" panose="020F0502020204030204"/>
              <a:cs typeface="Calibri" panose="020F0502020204030204"/>
            </a:endParaRPr>
          </a:p>
        </p:txBody>
      </p:sp>
      <p:sp>
        <p:nvSpPr>
          <p:cNvPr id="6" name="object 6"/>
          <p:cNvSpPr txBox="1"/>
          <p:nvPr/>
        </p:nvSpPr>
        <p:spPr>
          <a:xfrm>
            <a:off x="3273551" y="4698491"/>
            <a:ext cx="1117600" cy="338554"/>
          </a:xfrm>
          <a:prstGeom prst="rect">
            <a:avLst/>
          </a:prstGeom>
          <a:ln w="9144">
            <a:solidFill>
              <a:srgbClr val="000000"/>
            </a:solidFill>
          </a:ln>
        </p:spPr>
        <p:txBody>
          <a:bodyPr vert="horz" wrap="square" lIns="0" tIns="30480" rIns="0" bIns="0" rtlCol="0">
            <a:spAutoFit/>
          </a:bodyPr>
          <a:lstStyle/>
          <a:p>
            <a:pPr marL="352425">
              <a:spcBef>
                <a:spcPts val="240"/>
              </a:spcBef>
            </a:pPr>
            <a:r>
              <a:rPr sz="2000" i="1" dirty="0">
                <a:latin typeface="Calibri" panose="020F0502020204030204"/>
                <a:cs typeface="Calibri" panose="020F0502020204030204"/>
              </a:rPr>
              <a:t>was</a:t>
            </a:r>
            <a:endParaRPr sz="2000">
              <a:latin typeface="Calibri" panose="020F0502020204030204"/>
              <a:cs typeface="Calibri" panose="020F0502020204030204"/>
            </a:endParaRPr>
          </a:p>
        </p:txBody>
      </p:sp>
      <p:sp>
        <p:nvSpPr>
          <p:cNvPr id="7" name="object 7"/>
          <p:cNvSpPr txBox="1"/>
          <p:nvPr/>
        </p:nvSpPr>
        <p:spPr>
          <a:xfrm>
            <a:off x="3273551" y="5224272"/>
            <a:ext cx="1117600" cy="339195"/>
          </a:xfrm>
          <a:prstGeom prst="rect">
            <a:avLst/>
          </a:prstGeom>
          <a:ln w="9144">
            <a:solidFill>
              <a:srgbClr val="000000"/>
            </a:solidFill>
          </a:ln>
        </p:spPr>
        <p:txBody>
          <a:bodyPr vert="horz" wrap="square" lIns="0" tIns="31115" rIns="0" bIns="0" rtlCol="0">
            <a:spAutoFit/>
          </a:bodyPr>
          <a:lstStyle/>
          <a:p>
            <a:pPr algn="ctr">
              <a:spcBef>
                <a:spcPts val="245"/>
              </a:spcBef>
            </a:pPr>
            <a:r>
              <a:rPr sz="2000" i="1" spc="-5" dirty="0">
                <a:latin typeface="Calibri" panose="020F0502020204030204"/>
                <a:cs typeface="Calibri" panose="020F0502020204030204"/>
              </a:rPr>
              <a:t>got</a:t>
            </a:r>
            <a:endParaRPr sz="2000">
              <a:latin typeface="Calibri" panose="020F0502020204030204"/>
              <a:cs typeface="Calibri" panose="020F0502020204030204"/>
            </a:endParaRPr>
          </a:p>
        </p:txBody>
      </p:sp>
      <p:sp>
        <p:nvSpPr>
          <p:cNvPr id="8" name="object 8"/>
          <p:cNvSpPr/>
          <p:nvPr/>
        </p:nvSpPr>
        <p:spPr>
          <a:xfrm>
            <a:off x="2876804" y="3060192"/>
            <a:ext cx="397510" cy="526415"/>
          </a:xfrm>
          <a:custGeom>
            <a:avLst/>
            <a:gdLst/>
            <a:ahLst/>
            <a:cxnLst/>
            <a:rect l="l" t="t" r="r" b="b"/>
            <a:pathLst>
              <a:path w="397510" h="526414">
                <a:moveTo>
                  <a:pt x="397383" y="0"/>
                </a:moveTo>
                <a:lnTo>
                  <a:pt x="312801" y="11049"/>
                </a:lnTo>
                <a:lnTo>
                  <a:pt x="330568" y="37338"/>
                </a:lnTo>
                <a:lnTo>
                  <a:pt x="0" y="260223"/>
                </a:lnTo>
                <a:lnTo>
                  <a:pt x="3441" y="265341"/>
                </a:lnTo>
                <a:lnTo>
                  <a:pt x="0" y="270510"/>
                </a:lnTo>
                <a:lnTo>
                  <a:pt x="330288" y="489445"/>
                </a:lnTo>
                <a:lnTo>
                  <a:pt x="312801" y="515874"/>
                </a:lnTo>
                <a:lnTo>
                  <a:pt x="397383" y="526161"/>
                </a:lnTo>
                <a:lnTo>
                  <a:pt x="380238" y="496443"/>
                </a:lnTo>
                <a:lnTo>
                  <a:pt x="354838" y="452374"/>
                </a:lnTo>
                <a:lnTo>
                  <a:pt x="337337" y="478815"/>
                </a:lnTo>
                <a:lnTo>
                  <a:pt x="15278" y="265264"/>
                </a:lnTo>
                <a:lnTo>
                  <a:pt x="337693" y="47879"/>
                </a:lnTo>
                <a:lnTo>
                  <a:pt x="355473" y="74168"/>
                </a:lnTo>
                <a:lnTo>
                  <a:pt x="380301" y="30226"/>
                </a:lnTo>
                <a:lnTo>
                  <a:pt x="397383" y="0"/>
                </a:lnTo>
                <a:close/>
              </a:path>
            </a:pathLst>
          </a:custGeom>
          <a:solidFill>
            <a:srgbClr val="000000"/>
          </a:solidFill>
        </p:spPr>
        <p:txBody>
          <a:bodyPr wrap="square" lIns="0" tIns="0" rIns="0" bIns="0" rtlCol="0"/>
          <a:lstStyle/>
          <a:p>
            <a:endParaRPr/>
          </a:p>
        </p:txBody>
      </p:sp>
      <p:sp>
        <p:nvSpPr>
          <p:cNvPr id="9" name="object 9"/>
          <p:cNvSpPr/>
          <p:nvPr/>
        </p:nvSpPr>
        <p:spPr>
          <a:xfrm>
            <a:off x="2876804" y="4916423"/>
            <a:ext cx="397510" cy="527050"/>
          </a:xfrm>
          <a:custGeom>
            <a:avLst/>
            <a:gdLst/>
            <a:ahLst/>
            <a:cxnLst/>
            <a:rect l="l" t="t" r="r" b="b"/>
            <a:pathLst>
              <a:path w="397510" h="527050">
                <a:moveTo>
                  <a:pt x="397383" y="0"/>
                </a:moveTo>
                <a:lnTo>
                  <a:pt x="312928" y="11938"/>
                </a:lnTo>
                <a:lnTo>
                  <a:pt x="331038" y="38100"/>
                </a:lnTo>
                <a:lnTo>
                  <a:pt x="0" y="267081"/>
                </a:lnTo>
                <a:lnTo>
                  <a:pt x="3721" y="272542"/>
                </a:lnTo>
                <a:lnTo>
                  <a:pt x="127" y="278142"/>
                </a:lnTo>
                <a:lnTo>
                  <a:pt x="329869" y="491121"/>
                </a:lnTo>
                <a:lnTo>
                  <a:pt x="312674" y="517779"/>
                </a:lnTo>
                <a:lnTo>
                  <a:pt x="397383" y="527050"/>
                </a:lnTo>
                <a:lnTo>
                  <a:pt x="380136" y="497967"/>
                </a:lnTo>
                <a:lnTo>
                  <a:pt x="353949" y="453771"/>
                </a:lnTo>
                <a:lnTo>
                  <a:pt x="336778" y="480402"/>
                </a:lnTo>
                <a:lnTo>
                  <a:pt x="14541" y="272351"/>
                </a:lnTo>
                <a:lnTo>
                  <a:pt x="338251" y="48526"/>
                </a:lnTo>
                <a:lnTo>
                  <a:pt x="356362" y="74676"/>
                </a:lnTo>
                <a:lnTo>
                  <a:pt x="380428" y="30861"/>
                </a:lnTo>
                <a:lnTo>
                  <a:pt x="397383" y="0"/>
                </a:lnTo>
                <a:close/>
              </a:path>
            </a:pathLst>
          </a:custGeom>
          <a:solidFill>
            <a:srgbClr val="000000"/>
          </a:solidFill>
        </p:spPr>
        <p:txBody>
          <a:bodyPr wrap="square" lIns="0" tIns="0" rIns="0" bIns="0" rtlCol="0"/>
          <a:lstStyle/>
          <a:p>
            <a:endParaRPr/>
          </a:p>
        </p:txBody>
      </p:sp>
      <p:sp>
        <p:nvSpPr>
          <p:cNvPr id="10" name="object 10"/>
          <p:cNvSpPr txBox="1"/>
          <p:nvPr/>
        </p:nvSpPr>
        <p:spPr>
          <a:xfrm>
            <a:off x="4728972" y="2546604"/>
            <a:ext cx="1117600" cy="338554"/>
          </a:xfrm>
          <a:prstGeom prst="rect">
            <a:avLst/>
          </a:prstGeom>
          <a:ln w="9144">
            <a:solidFill>
              <a:srgbClr val="000000"/>
            </a:solidFill>
          </a:ln>
        </p:spPr>
        <p:txBody>
          <a:bodyPr vert="horz" wrap="square" lIns="0" tIns="30480" rIns="0" bIns="0" rtlCol="0">
            <a:spAutoFit/>
          </a:bodyPr>
          <a:lstStyle/>
          <a:p>
            <a:pPr algn="ctr">
              <a:spcBef>
                <a:spcPts val="240"/>
              </a:spcBef>
            </a:pPr>
            <a:r>
              <a:rPr sz="2000" i="1" dirty="0">
                <a:latin typeface="Calibri" panose="020F0502020204030204"/>
                <a:cs typeface="Calibri" panose="020F0502020204030204"/>
              </a:rPr>
              <a:t>a</a:t>
            </a:r>
            <a:endParaRPr sz="2000">
              <a:latin typeface="Calibri" panose="020F0502020204030204"/>
              <a:cs typeface="Calibri" panose="020F0502020204030204"/>
            </a:endParaRPr>
          </a:p>
        </p:txBody>
      </p:sp>
      <p:sp>
        <p:nvSpPr>
          <p:cNvPr id="11" name="object 11"/>
          <p:cNvSpPr txBox="1"/>
          <p:nvPr/>
        </p:nvSpPr>
        <p:spPr>
          <a:xfrm>
            <a:off x="4728972" y="3073908"/>
            <a:ext cx="1117600" cy="337913"/>
          </a:xfrm>
          <a:prstGeom prst="rect">
            <a:avLst/>
          </a:prstGeom>
          <a:ln w="9144">
            <a:solidFill>
              <a:srgbClr val="000000"/>
            </a:solidFill>
          </a:ln>
        </p:spPr>
        <p:txBody>
          <a:bodyPr vert="horz" wrap="square" lIns="0" tIns="29845" rIns="0" bIns="0" rtlCol="0">
            <a:spAutoFit/>
          </a:bodyPr>
          <a:lstStyle/>
          <a:p>
            <a:pPr algn="ctr">
              <a:spcBef>
                <a:spcPts val="235"/>
              </a:spcBef>
            </a:pPr>
            <a:r>
              <a:rPr sz="2000" i="1" spc="-5" dirty="0">
                <a:latin typeface="Calibri" panose="020F0502020204030204"/>
                <a:cs typeface="Calibri" panose="020F0502020204030204"/>
              </a:rPr>
              <a:t>me</a:t>
            </a:r>
            <a:endParaRPr sz="2000">
              <a:latin typeface="Calibri" panose="020F0502020204030204"/>
              <a:cs typeface="Calibri" panose="020F0502020204030204"/>
            </a:endParaRPr>
          </a:p>
        </p:txBody>
      </p:sp>
      <p:sp>
        <p:nvSpPr>
          <p:cNvPr id="12" name="object 12"/>
          <p:cNvSpPr txBox="1"/>
          <p:nvPr/>
        </p:nvSpPr>
        <p:spPr>
          <a:xfrm>
            <a:off x="4728972" y="4430268"/>
            <a:ext cx="1117600" cy="337913"/>
          </a:xfrm>
          <a:prstGeom prst="rect">
            <a:avLst/>
          </a:prstGeom>
          <a:ln w="9144">
            <a:solidFill>
              <a:srgbClr val="000000"/>
            </a:solidFill>
          </a:ln>
        </p:spPr>
        <p:txBody>
          <a:bodyPr vert="horz" wrap="square" lIns="0" tIns="29845" rIns="0" bIns="0" rtlCol="0">
            <a:spAutoFit/>
          </a:bodyPr>
          <a:lstStyle/>
          <a:p>
            <a:pPr algn="ctr">
              <a:spcBef>
                <a:spcPts val="235"/>
              </a:spcBef>
            </a:pPr>
            <a:r>
              <a:rPr sz="2000" i="1" spc="-5" dirty="0">
                <a:latin typeface="Calibri" panose="020F0502020204030204"/>
                <a:cs typeface="Calibri" panose="020F0502020204030204"/>
              </a:rPr>
              <a:t>hit</a:t>
            </a:r>
            <a:endParaRPr sz="2000">
              <a:latin typeface="Calibri" panose="020F0502020204030204"/>
              <a:cs typeface="Calibri" panose="020F0502020204030204"/>
            </a:endParaRPr>
          </a:p>
        </p:txBody>
      </p:sp>
      <p:sp>
        <p:nvSpPr>
          <p:cNvPr id="13" name="object 13"/>
          <p:cNvSpPr txBox="1"/>
          <p:nvPr/>
        </p:nvSpPr>
        <p:spPr>
          <a:xfrm>
            <a:off x="4728972" y="4956048"/>
            <a:ext cx="1117600" cy="339195"/>
          </a:xfrm>
          <a:prstGeom prst="rect">
            <a:avLst/>
          </a:prstGeom>
          <a:ln w="9144">
            <a:solidFill>
              <a:srgbClr val="000000"/>
            </a:solidFill>
          </a:ln>
        </p:spPr>
        <p:txBody>
          <a:bodyPr vert="horz" wrap="square" lIns="0" tIns="31115" rIns="0" bIns="0" rtlCol="0">
            <a:spAutoFit/>
          </a:bodyPr>
          <a:lstStyle/>
          <a:p>
            <a:pPr marL="247015">
              <a:spcBef>
                <a:spcPts val="245"/>
              </a:spcBef>
            </a:pPr>
            <a:r>
              <a:rPr sz="2000" i="1" spc="-5" dirty="0">
                <a:latin typeface="Calibri" panose="020F0502020204030204"/>
                <a:cs typeface="Calibri" panose="020F0502020204030204"/>
              </a:rPr>
              <a:t>struck</a:t>
            </a:r>
            <a:endParaRPr sz="2000">
              <a:latin typeface="Calibri" panose="020F0502020204030204"/>
              <a:cs typeface="Calibri" panose="020F0502020204030204"/>
            </a:endParaRPr>
          </a:p>
        </p:txBody>
      </p:sp>
      <p:sp>
        <p:nvSpPr>
          <p:cNvPr id="14" name="object 14"/>
          <p:cNvSpPr/>
          <p:nvPr/>
        </p:nvSpPr>
        <p:spPr>
          <a:xfrm>
            <a:off x="4386454" y="2764536"/>
            <a:ext cx="342265" cy="527685"/>
          </a:xfrm>
          <a:custGeom>
            <a:avLst/>
            <a:gdLst/>
            <a:ahLst/>
            <a:cxnLst/>
            <a:rect l="l" t="t" r="r" b="b"/>
            <a:pathLst>
              <a:path w="342264" h="527685">
                <a:moveTo>
                  <a:pt x="342265" y="0"/>
                </a:moveTo>
                <a:lnTo>
                  <a:pt x="259842" y="21336"/>
                </a:lnTo>
                <a:lnTo>
                  <a:pt x="280670" y="45250"/>
                </a:lnTo>
                <a:lnTo>
                  <a:pt x="0" y="289687"/>
                </a:lnTo>
                <a:lnTo>
                  <a:pt x="4622" y="295021"/>
                </a:lnTo>
                <a:lnTo>
                  <a:pt x="635" y="300863"/>
                </a:lnTo>
                <a:lnTo>
                  <a:pt x="275856" y="489826"/>
                </a:lnTo>
                <a:lnTo>
                  <a:pt x="257937" y="516001"/>
                </a:lnTo>
                <a:lnTo>
                  <a:pt x="342265" y="527685"/>
                </a:lnTo>
                <a:lnTo>
                  <a:pt x="325247" y="496951"/>
                </a:lnTo>
                <a:lnTo>
                  <a:pt x="300990" y="453136"/>
                </a:lnTo>
                <a:lnTo>
                  <a:pt x="283032" y="479361"/>
                </a:lnTo>
                <a:lnTo>
                  <a:pt x="13804" y="294614"/>
                </a:lnTo>
                <a:lnTo>
                  <a:pt x="289013" y="54813"/>
                </a:lnTo>
                <a:lnTo>
                  <a:pt x="309880" y="78740"/>
                </a:lnTo>
                <a:lnTo>
                  <a:pt x="327063" y="36957"/>
                </a:lnTo>
                <a:lnTo>
                  <a:pt x="342265" y="0"/>
                </a:lnTo>
                <a:close/>
              </a:path>
            </a:pathLst>
          </a:custGeom>
          <a:solidFill>
            <a:srgbClr val="000000"/>
          </a:solidFill>
        </p:spPr>
        <p:txBody>
          <a:bodyPr wrap="square" lIns="0" tIns="0" rIns="0" bIns="0" rtlCol="0"/>
          <a:lstStyle/>
          <a:p>
            <a:endParaRPr/>
          </a:p>
        </p:txBody>
      </p:sp>
      <p:sp>
        <p:nvSpPr>
          <p:cNvPr id="15" name="object 15"/>
          <p:cNvSpPr/>
          <p:nvPr/>
        </p:nvSpPr>
        <p:spPr>
          <a:xfrm>
            <a:off x="4386708" y="4648200"/>
            <a:ext cx="342265" cy="527050"/>
          </a:xfrm>
          <a:custGeom>
            <a:avLst/>
            <a:gdLst/>
            <a:ahLst/>
            <a:cxnLst/>
            <a:rect l="l" t="t" r="r" b="b"/>
            <a:pathLst>
              <a:path w="342264" h="527050">
                <a:moveTo>
                  <a:pt x="342011" y="0"/>
                </a:moveTo>
                <a:lnTo>
                  <a:pt x="258572" y="17526"/>
                </a:lnTo>
                <a:lnTo>
                  <a:pt x="278333" y="42443"/>
                </a:lnTo>
                <a:lnTo>
                  <a:pt x="0" y="263271"/>
                </a:lnTo>
                <a:lnTo>
                  <a:pt x="3937" y="268224"/>
                </a:lnTo>
                <a:lnTo>
                  <a:pt x="127" y="273304"/>
                </a:lnTo>
                <a:lnTo>
                  <a:pt x="277596" y="485330"/>
                </a:lnTo>
                <a:lnTo>
                  <a:pt x="258318" y="510540"/>
                </a:lnTo>
                <a:lnTo>
                  <a:pt x="342011" y="526542"/>
                </a:lnTo>
                <a:lnTo>
                  <a:pt x="325577" y="493014"/>
                </a:lnTo>
                <a:lnTo>
                  <a:pt x="304546" y="450088"/>
                </a:lnTo>
                <a:lnTo>
                  <a:pt x="285292" y="475259"/>
                </a:lnTo>
                <a:lnTo>
                  <a:pt x="14249" y="268122"/>
                </a:lnTo>
                <a:lnTo>
                  <a:pt x="286207" y="52349"/>
                </a:lnTo>
                <a:lnTo>
                  <a:pt x="305943" y="77216"/>
                </a:lnTo>
                <a:lnTo>
                  <a:pt x="325869" y="34544"/>
                </a:lnTo>
                <a:lnTo>
                  <a:pt x="342011" y="0"/>
                </a:lnTo>
                <a:close/>
              </a:path>
            </a:pathLst>
          </a:custGeom>
          <a:solidFill>
            <a:srgbClr val="000000"/>
          </a:solidFill>
        </p:spPr>
        <p:txBody>
          <a:bodyPr wrap="square" lIns="0" tIns="0" rIns="0" bIns="0" rtlCol="0"/>
          <a:lstStyle/>
          <a:p>
            <a:endParaRPr/>
          </a:p>
        </p:txBody>
      </p:sp>
      <p:sp>
        <p:nvSpPr>
          <p:cNvPr id="16" name="object 16"/>
          <p:cNvSpPr txBox="1"/>
          <p:nvPr/>
        </p:nvSpPr>
        <p:spPr>
          <a:xfrm>
            <a:off x="6256020" y="1816608"/>
            <a:ext cx="1117600" cy="337913"/>
          </a:xfrm>
          <a:prstGeom prst="rect">
            <a:avLst/>
          </a:prstGeom>
          <a:ln w="9144">
            <a:solidFill>
              <a:srgbClr val="000000"/>
            </a:solidFill>
          </a:ln>
        </p:spPr>
        <p:txBody>
          <a:bodyPr vert="horz" wrap="square" lIns="0" tIns="29845" rIns="0" bIns="0" rtlCol="0">
            <a:spAutoFit/>
          </a:bodyPr>
          <a:lstStyle/>
          <a:p>
            <a:pPr marL="365125">
              <a:spcBef>
                <a:spcPts val="235"/>
              </a:spcBef>
            </a:pPr>
            <a:r>
              <a:rPr sz="2000" i="1" dirty="0">
                <a:latin typeface="Calibri" panose="020F0502020204030204"/>
                <a:cs typeface="Calibri" panose="020F0502020204030204"/>
              </a:rPr>
              <a:t>tart</a:t>
            </a:r>
            <a:endParaRPr sz="2000">
              <a:latin typeface="Calibri" panose="020F0502020204030204"/>
              <a:cs typeface="Calibri" panose="020F0502020204030204"/>
            </a:endParaRPr>
          </a:p>
        </p:txBody>
      </p:sp>
      <p:sp>
        <p:nvSpPr>
          <p:cNvPr id="17" name="object 17"/>
          <p:cNvSpPr txBox="1"/>
          <p:nvPr/>
        </p:nvSpPr>
        <p:spPr>
          <a:xfrm>
            <a:off x="6256020" y="2343912"/>
            <a:ext cx="1117600" cy="337271"/>
          </a:xfrm>
          <a:prstGeom prst="rect">
            <a:avLst/>
          </a:prstGeom>
          <a:ln w="9144">
            <a:solidFill>
              <a:srgbClr val="000000"/>
            </a:solidFill>
          </a:ln>
        </p:spPr>
        <p:txBody>
          <a:bodyPr vert="horz" wrap="square" lIns="0" tIns="29209" rIns="0" bIns="0" rtlCol="0">
            <a:spAutoFit/>
          </a:bodyPr>
          <a:lstStyle/>
          <a:p>
            <a:pPr marL="1270" algn="ctr">
              <a:spcBef>
                <a:spcPts val="230"/>
              </a:spcBef>
            </a:pPr>
            <a:r>
              <a:rPr sz="2000" i="1" spc="-5" dirty="0">
                <a:solidFill>
                  <a:srgbClr val="00AF50"/>
                </a:solidFill>
                <a:latin typeface="Calibri" panose="020F0502020204030204"/>
                <a:cs typeface="Calibri" panose="020F0502020204030204"/>
              </a:rPr>
              <a:t>pie</a:t>
            </a:r>
            <a:endParaRPr sz="2000">
              <a:latin typeface="Calibri" panose="020F0502020204030204"/>
              <a:cs typeface="Calibri" panose="020F0502020204030204"/>
            </a:endParaRPr>
          </a:p>
        </p:txBody>
      </p:sp>
      <p:sp>
        <p:nvSpPr>
          <p:cNvPr id="18" name="object 18"/>
          <p:cNvSpPr txBox="1"/>
          <p:nvPr/>
        </p:nvSpPr>
        <p:spPr>
          <a:xfrm>
            <a:off x="6256020" y="3512820"/>
            <a:ext cx="1117600" cy="337912"/>
          </a:xfrm>
          <a:prstGeom prst="rect">
            <a:avLst/>
          </a:prstGeom>
          <a:ln w="9144">
            <a:solidFill>
              <a:srgbClr val="000000"/>
            </a:solidFill>
          </a:ln>
        </p:spPr>
        <p:txBody>
          <a:bodyPr vert="horz" wrap="square" lIns="0" tIns="29844" rIns="0" bIns="0" rtlCol="0">
            <a:spAutoFit/>
          </a:bodyPr>
          <a:lstStyle/>
          <a:p>
            <a:pPr marL="332105">
              <a:spcBef>
                <a:spcPts val="235"/>
              </a:spcBef>
            </a:pPr>
            <a:r>
              <a:rPr sz="2000" i="1" spc="-5" dirty="0">
                <a:solidFill>
                  <a:srgbClr val="00AF50"/>
                </a:solidFill>
                <a:latin typeface="Calibri" panose="020F0502020204030204"/>
                <a:cs typeface="Calibri" panose="020F0502020204030204"/>
              </a:rPr>
              <a:t>with</a:t>
            </a:r>
            <a:endParaRPr sz="2000">
              <a:latin typeface="Calibri" panose="020F0502020204030204"/>
              <a:cs typeface="Calibri" panose="020F0502020204030204"/>
            </a:endParaRPr>
          </a:p>
        </p:txBody>
      </p:sp>
      <p:sp>
        <p:nvSpPr>
          <p:cNvPr id="19" name="object 19"/>
          <p:cNvSpPr txBox="1"/>
          <p:nvPr/>
        </p:nvSpPr>
        <p:spPr>
          <a:xfrm>
            <a:off x="6256020" y="4038601"/>
            <a:ext cx="1117600" cy="337913"/>
          </a:xfrm>
          <a:prstGeom prst="rect">
            <a:avLst/>
          </a:prstGeom>
          <a:ln w="9144">
            <a:solidFill>
              <a:srgbClr val="000000"/>
            </a:solidFill>
          </a:ln>
        </p:spPr>
        <p:txBody>
          <a:bodyPr vert="horz" wrap="square" lIns="0" tIns="29845" rIns="0" bIns="0" rtlCol="0">
            <a:spAutoFit/>
          </a:bodyPr>
          <a:lstStyle/>
          <a:p>
            <a:pPr marL="1270" algn="ctr">
              <a:spcBef>
                <a:spcPts val="235"/>
              </a:spcBef>
            </a:pPr>
            <a:r>
              <a:rPr sz="2000" i="1" dirty="0">
                <a:latin typeface="Calibri" panose="020F0502020204030204"/>
                <a:cs typeface="Calibri" panose="020F0502020204030204"/>
              </a:rPr>
              <a:t>on</a:t>
            </a:r>
            <a:endParaRPr sz="2000">
              <a:latin typeface="Calibri" panose="020F0502020204030204"/>
              <a:cs typeface="Calibri" panose="020F0502020204030204"/>
            </a:endParaRPr>
          </a:p>
        </p:txBody>
      </p:sp>
      <p:sp>
        <p:nvSpPr>
          <p:cNvPr id="20" name="object 20"/>
          <p:cNvSpPr/>
          <p:nvPr/>
        </p:nvSpPr>
        <p:spPr>
          <a:xfrm>
            <a:off x="5840223" y="3287521"/>
            <a:ext cx="422275" cy="969644"/>
          </a:xfrm>
          <a:custGeom>
            <a:avLst/>
            <a:gdLst/>
            <a:ahLst/>
            <a:cxnLst/>
            <a:rect l="l" t="t" r="r" b="b"/>
            <a:pathLst>
              <a:path w="422275" h="969645">
                <a:moveTo>
                  <a:pt x="422021" y="884174"/>
                </a:moveTo>
                <a:lnTo>
                  <a:pt x="392785" y="896620"/>
                </a:lnTo>
                <a:lnTo>
                  <a:pt x="25704" y="34709"/>
                </a:lnTo>
                <a:lnTo>
                  <a:pt x="360121" y="391426"/>
                </a:lnTo>
                <a:lnTo>
                  <a:pt x="336931" y="413131"/>
                </a:lnTo>
                <a:lnTo>
                  <a:pt x="416814" y="442722"/>
                </a:lnTo>
                <a:lnTo>
                  <a:pt x="404317" y="400685"/>
                </a:lnTo>
                <a:lnTo>
                  <a:pt x="392557" y="361061"/>
                </a:lnTo>
                <a:lnTo>
                  <a:pt x="369366" y="382765"/>
                </a:lnTo>
                <a:lnTo>
                  <a:pt x="10414" y="0"/>
                </a:lnTo>
                <a:lnTo>
                  <a:pt x="5842" y="4318"/>
                </a:lnTo>
                <a:lnTo>
                  <a:pt x="0" y="6858"/>
                </a:lnTo>
                <a:lnTo>
                  <a:pt x="381101" y="901598"/>
                </a:lnTo>
                <a:lnTo>
                  <a:pt x="351917" y="914019"/>
                </a:lnTo>
                <a:lnTo>
                  <a:pt x="416814" y="969137"/>
                </a:lnTo>
                <a:lnTo>
                  <a:pt x="420230" y="913257"/>
                </a:lnTo>
                <a:lnTo>
                  <a:pt x="422021" y="884174"/>
                </a:lnTo>
                <a:close/>
              </a:path>
            </a:pathLst>
          </a:custGeom>
          <a:solidFill>
            <a:srgbClr val="000000"/>
          </a:solidFill>
        </p:spPr>
        <p:txBody>
          <a:bodyPr wrap="square" lIns="0" tIns="0" rIns="0" bIns="0" rtlCol="0"/>
          <a:lstStyle/>
          <a:p>
            <a:endParaRPr/>
          </a:p>
        </p:txBody>
      </p:sp>
      <p:sp>
        <p:nvSpPr>
          <p:cNvPr id="21" name="object 21"/>
          <p:cNvSpPr/>
          <p:nvPr/>
        </p:nvSpPr>
        <p:spPr>
          <a:xfrm>
            <a:off x="5840477" y="2034539"/>
            <a:ext cx="416559" cy="736600"/>
          </a:xfrm>
          <a:custGeom>
            <a:avLst/>
            <a:gdLst/>
            <a:ahLst/>
            <a:cxnLst/>
            <a:rect l="l" t="t" r="r" b="b"/>
            <a:pathLst>
              <a:path w="416560" h="736600">
                <a:moveTo>
                  <a:pt x="416560" y="0"/>
                </a:moveTo>
                <a:lnTo>
                  <a:pt x="346075" y="47752"/>
                </a:lnTo>
                <a:lnTo>
                  <a:pt x="373722" y="63309"/>
                </a:lnTo>
                <a:lnTo>
                  <a:pt x="0" y="726948"/>
                </a:lnTo>
                <a:lnTo>
                  <a:pt x="5067" y="729830"/>
                </a:lnTo>
                <a:lnTo>
                  <a:pt x="8382" y="736600"/>
                </a:lnTo>
                <a:lnTo>
                  <a:pt x="351205" y="566851"/>
                </a:lnTo>
                <a:lnTo>
                  <a:pt x="365252" y="595249"/>
                </a:lnTo>
                <a:lnTo>
                  <a:pt x="399580" y="549783"/>
                </a:lnTo>
                <a:lnTo>
                  <a:pt x="416560" y="527304"/>
                </a:lnTo>
                <a:lnTo>
                  <a:pt x="331470" y="526923"/>
                </a:lnTo>
                <a:lnTo>
                  <a:pt x="345541" y="555396"/>
                </a:lnTo>
                <a:lnTo>
                  <a:pt x="20751" y="716280"/>
                </a:lnTo>
                <a:lnTo>
                  <a:pt x="384784" y="69519"/>
                </a:lnTo>
                <a:lnTo>
                  <a:pt x="412496" y="85090"/>
                </a:lnTo>
                <a:lnTo>
                  <a:pt x="414058" y="52197"/>
                </a:lnTo>
                <a:lnTo>
                  <a:pt x="416560" y="0"/>
                </a:lnTo>
                <a:close/>
              </a:path>
            </a:pathLst>
          </a:custGeom>
          <a:solidFill>
            <a:srgbClr val="000000"/>
          </a:solidFill>
        </p:spPr>
        <p:txBody>
          <a:bodyPr wrap="square" lIns="0" tIns="0" rIns="0" bIns="0" rtlCol="0"/>
          <a:lstStyle/>
          <a:p>
            <a:endParaRPr/>
          </a:p>
        </p:txBody>
      </p:sp>
      <p:sp>
        <p:nvSpPr>
          <p:cNvPr id="22" name="object 22"/>
          <p:cNvSpPr txBox="1"/>
          <p:nvPr/>
        </p:nvSpPr>
        <p:spPr>
          <a:xfrm>
            <a:off x="7810500" y="1810511"/>
            <a:ext cx="1117600" cy="338554"/>
          </a:xfrm>
          <a:prstGeom prst="rect">
            <a:avLst/>
          </a:prstGeom>
          <a:ln w="9144">
            <a:solidFill>
              <a:srgbClr val="000000"/>
            </a:solidFill>
          </a:ln>
        </p:spPr>
        <p:txBody>
          <a:bodyPr vert="horz" wrap="square" lIns="0" tIns="30480" rIns="0" bIns="0" rtlCol="0">
            <a:spAutoFit/>
          </a:bodyPr>
          <a:lstStyle/>
          <a:p>
            <a:pPr algn="ctr">
              <a:spcBef>
                <a:spcPts val="240"/>
              </a:spcBef>
            </a:pPr>
            <a:r>
              <a:rPr sz="2000" i="1" spc="-5" dirty="0">
                <a:latin typeface="Calibri" panose="020F0502020204030204"/>
                <a:cs typeface="Calibri" panose="020F0502020204030204"/>
              </a:rPr>
              <a:t>in</a:t>
            </a:r>
            <a:endParaRPr sz="2000">
              <a:latin typeface="Calibri" panose="020F0502020204030204"/>
              <a:cs typeface="Calibri" panose="020F0502020204030204"/>
            </a:endParaRPr>
          </a:p>
        </p:txBody>
      </p:sp>
      <p:sp>
        <p:nvSpPr>
          <p:cNvPr id="23" name="object 23"/>
          <p:cNvSpPr txBox="1"/>
          <p:nvPr/>
        </p:nvSpPr>
        <p:spPr>
          <a:xfrm>
            <a:off x="7810500" y="2337816"/>
            <a:ext cx="1117600" cy="337912"/>
          </a:xfrm>
          <a:prstGeom prst="rect">
            <a:avLst/>
          </a:prstGeom>
          <a:ln w="9144">
            <a:solidFill>
              <a:srgbClr val="000000"/>
            </a:solidFill>
          </a:ln>
        </p:spPr>
        <p:txBody>
          <a:bodyPr vert="horz" wrap="square" lIns="0" tIns="29844" rIns="0" bIns="0" rtlCol="0">
            <a:spAutoFit/>
          </a:bodyPr>
          <a:lstStyle/>
          <a:p>
            <a:pPr marL="331470">
              <a:spcBef>
                <a:spcPts val="235"/>
              </a:spcBef>
            </a:pPr>
            <a:r>
              <a:rPr sz="2000" i="1" spc="-5" dirty="0">
                <a:latin typeface="Calibri" panose="020F0502020204030204"/>
                <a:cs typeface="Calibri" panose="020F0502020204030204"/>
              </a:rPr>
              <a:t>with</a:t>
            </a:r>
            <a:endParaRPr sz="2000">
              <a:latin typeface="Calibri" panose="020F0502020204030204"/>
              <a:cs typeface="Calibri" panose="020F0502020204030204"/>
            </a:endParaRPr>
          </a:p>
        </p:txBody>
      </p:sp>
      <p:sp>
        <p:nvSpPr>
          <p:cNvPr id="24" name="object 24"/>
          <p:cNvSpPr txBox="1"/>
          <p:nvPr/>
        </p:nvSpPr>
        <p:spPr>
          <a:xfrm>
            <a:off x="7810500" y="3512820"/>
            <a:ext cx="1117600" cy="337912"/>
          </a:xfrm>
          <a:prstGeom prst="rect">
            <a:avLst/>
          </a:prstGeom>
          <a:ln w="9144">
            <a:solidFill>
              <a:srgbClr val="000000"/>
            </a:solidFill>
          </a:ln>
        </p:spPr>
        <p:txBody>
          <a:bodyPr vert="horz" wrap="square" lIns="0" tIns="29844" rIns="0" bIns="0" rtlCol="0">
            <a:spAutoFit/>
          </a:bodyPr>
          <a:lstStyle/>
          <a:p>
            <a:pPr marL="635" algn="ctr">
              <a:spcBef>
                <a:spcPts val="235"/>
              </a:spcBef>
            </a:pPr>
            <a:r>
              <a:rPr sz="2000" i="1" dirty="0">
                <a:latin typeface="Calibri" panose="020F0502020204030204"/>
                <a:cs typeface="Calibri" panose="020F0502020204030204"/>
              </a:rPr>
              <a:t>a</a:t>
            </a:r>
            <a:endParaRPr sz="2000">
              <a:latin typeface="Calibri" panose="020F0502020204030204"/>
              <a:cs typeface="Calibri" panose="020F0502020204030204"/>
            </a:endParaRPr>
          </a:p>
        </p:txBody>
      </p:sp>
      <p:sp>
        <p:nvSpPr>
          <p:cNvPr id="25" name="object 25"/>
          <p:cNvSpPr txBox="1"/>
          <p:nvPr/>
        </p:nvSpPr>
        <p:spPr>
          <a:xfrm>
            <a:off x="7810500" y="4038601"/>
            <a:ext cx="1117600" cy="337913"/>
          </a:xfrm>
          <a:prstGeom prst="rect">
            <a:avLst/>
          </a:prstGeom>
          <a:ln w="9144">
            <a:solidFill>
              <a:srgbClr val="000000"/>
            </a:solidFill>
          </a:ln>
        </p:spPr>
        <p:txBody>
          <a:bodyPr vert="horz" wrap="square" lIns="0" tIns="29845" rIns="0" bIns="0" rtlCol="0">
            <a:spAutoFit/>
          </a:bodyPr>
          <a:lstStyle/>
          <a:p>
            <a:pPr marL="366395">
              <a:spcBef>
                <a:spcPts val="235"/>
              </a:spcBef>
            </a:pPr>
            <a:r>
              <a:rPr sz="2000" i="1" spc="-5" dirty="0">
                <a:latin typeface="Calibri" panose="020F0502020204030204"/>
                <a:cs typeface="Calibri" panose="020F0502020204030204"/>
              </a:rPr>
              <a:t>one</a:t>
            </a:r>
            <a:endParaRPr sz="2000">
              <a:latin typeface="Calibri" panose="020F0502020204030204"/>
              <a:cs typeface="Calibri" panose="020F0502020204030204"/>
            </a:endParaRPr>
          </a:p>
        </p:txBody>
      </p:sp>
      <p:sp>
        <p:nvSpPr>
          <p:cNvPr id="26" name="object 26"/>
          <p:cNvSpPr/>
          <p:nvPr/>
        </p:nvSpPr>
        <p:spPr>
          <a:xfrm>
            <a:off x="7368160" y="2028443"/>
            <a:ext cx="441959" cy="566420"/>
          </a:xfrm>
          <a:custGeom>
            <a:avLst/>
            <a:gdLst/>
            <a:ahLst/>
            <a:cxnLst/>
            <a:rect l="l" t="t" r="r" b="b"/>
            <a:pathLst>
              <a:path w="441960" h="566419">
                <a:moveTo>
                  <a:pt x="441833" y="0"/>
                </a:moveTo>
                <a:lnTo>
                  <a:pt x="363982" y="34798"/>
                </a:lnTo>
                <a:lnTo>
                  <a:pt x="388543" y="54927"/>
                </a:lnTo>
                <a:lnTo>
                  <a:pt x="0" y="528701"/>
                </a:lnTo>
                <a:lnTo>
                  <a:pt x="4927" y="532701"/>
                </a:lnTo>
                <a:lnTo>
                  <a:pt x="5080" y="539750"/>
                </a:lnTo>
                <a:lnTo>
                  <a:pt x="365658" y="534720"/>
                </a:lnTo>
                <a:lnTo>
                  <a:pt x="366141" y="566420"/>
                </a:lnTo>
                <a:lnTo>
                  <a:pt x="441833" y="527304"/>
                </a:lnTo>
                <a:lnTo>
                  <a:pt x="430517" y="521843"/>
                </a:lnTo>
                <a:lnTo>
                  <a:pt x="364998" y="490220"/>
                </a:lnTo>
                <a:lnTo>
                  <a:pt x="365467" y="522020"/>
                </a:lnTo>
                <a:lnTo>
                  <a:pt x="17957" y="526872"/>
                </a:lnTo>
                <a:lnTo>
                  <a:pt x="398322" y="62928"/>
                </a:lnTo>
                <a:lnTo>
                  <a:pt x="422910" y="83058"/>
                </a:lnTo>
                <a:lnTo>
                  <a:pt x="431558" y="45085"/>
                </a:lnTo>
                <a:lnTo>
                  <a:pt x="441833" y="0"/>
                </a:lnTo>
                <a:close/>
              </a:path>
            </a:pathLst>
          </a:custGeom>
          <a:solidFill>
            <a:srgbClr val="000000"/>
          </a:solidFill>
        </p:spPr>
        <p:txBody>
          <a:bodyPr wrap="square" lIns="0" tIns="0" rIns="0" bIns="0" rtlCol="0"/>
          <a:lstStyle/>
          <a:p>
            <a:endParaRPr/>
          </a:p>
        </p:txBody>
      </p:sp>
      <p:sp>
        <p:nvSpPr>
          <p:cNvPr id="27" name="object 27"/>
          <p:cNvSpPr/>
          <p:nvPr/>
        </p:nvSpPr>
        <p:spPr>
          <a:xfrm>
            <a:off x="7368287" y="3692651"/>
            <a:ext cx="441959" cy="565150"/>
          </a:xfrm>
          <a:custGeom>
            <a:avLst/>
            <a:gdLst/>
            <a:ahLst/>
            <a:cxnLst/>
            <a:rect l="l" t="t" r="r" b="b"/>
            <a:pathLst>
              <a:path w="441960" h="565150">
                <a:moveTo>
                  <a:pt x="441706" y="38100"/>
                </a:moveTo>
                <a:lnTo>
                  <a:pt x="429006" y="31750"/>
                </a:lnTo>
                <a:lnTo>
                  <a:pt x="365506" y="0"/>
                </a:lnTo>
                <a:lnTo>
                  <a:pt x="365506" y="31750"/>
                </a:lnTo>
                <a:lnTo>
                  <a:pt x="4826" y="31750"/>
                </a:lnTo>
                <a:lnTo>
                  <a:pt x="4826" y="38100"/>
                </a:lnTo>
                <a:lnTo>
                  <a:pt x="0" y="42164"/>
                </a:lnTo>
                <a:lnTo>
                  <a:pt x="388150" y="510070"/>
                </a:lnTo>
                <a:lnTo>
                  <a:pt x="363728" y="530352"/>
                </a:lnTo>
                <a:lnTo>
                  <a:pt x="441706" y="564642"/>
                </a:lnTo>
                <a:lnTo>
                  <a:pt x="431190" y="519811"/>
                </a:lnTo>
                <a:lnTo>
                  <a:pt x="422275" y="481711"/>
                </a:lnTo>
                <a:lnTo>
                  <a:pt x="397929" y="501942"/>
                </a:lnTo>
                <a:lnTo>
                  <a:pt x="18288" y="44450"/>
                </a:lnTo>
                <a:lnTo>
                  <a:pt x="365506" y="44450"/>
                </a:lnTo>
                <a:lnTo>
                  <a:pt x="365506" y="76200"/>
                </a:lnTo>
                <a:lnTo>
                  <a:pt x="429006" y="44450"/>
                </a:lnTo>
                <a:lnTo>
                  <a:pt x="441706" y="38100"/>
                </a:lnTo>
                <a:close/>
              </a:path>
            </a:pathLst>
          </a:custGeom>
          <a:solidFill>
            <a:srgbClr val="000000"/>
          </a:solidFill>
        </p:spPr>
        <p:txBody>
          <a:bodyPr wrap="square" lIns="0" tIns="0" rIns="0" bIns="0" rtlCol="0"/>
          <a:lstStyle/>
          <a:p>
            <a:endParaRPr/>
          </a:p>
        </p:txBody>
      </p:sp>
      <p:sp>
        <p:nvSpPr>
          <p:cNvPr id="28" name="object 28"/>
          <p:cNvSpPr txBox="1"/>
          <p:nvPr/>
        </p:nvSpPr>
        <p:spPr>
          <a:xfrm>
            <a:off x="1524001" y="4038601"/>
            <a:ext cx="1167765" cy="337913"/>
          </a:xfrm>
          <a:prstGeom prst="rect">
            <a:avLst/>
          </a:prstGeom>
          <a:ln w="9143">
            <a:solidFill>
              <a:srgbClr val="000000"/>
            </a:solidFill>
          </a:ln>
        </p:spPr>
        <p:txBody>
          <a:bodyPr vert="horz" wrap="square" lIns="0" tIns="29845" rIns="0" bIns="0" rtlCol="0">
            <a:spAutoFit/>
          </a:bodyPr>
          <a:lstStyle/>
          <a:p>
            <a:pPr marL="131445">
              <a:spcBef>
                <a:spcPts val="235"/>
              </a:spcBef>
            </a:pPr>
            <a:r>
              <a:rPr sz="2000" i="1" spc="-5" dirty="0">
                <a:latin typeface="Calibri" panose="020F0502020204030204"/>
                <a:cs typeface="Calibri" panose="020F0502020204030204"/>
              </a:rPr>
              <a:t>&lt;START&gt;</a:t>
            </a:r>
            <a:endParaRPr sz="2000">
              <a:latin typeface="Calibri" panose="020F0502020204030204"/>
              <a:cs typeface="Calibri" panose="020F0502020204030204"/>
            </a:endParaRPr>
          </a:p>
        </p:txBody>
      </p:sp>
      <p:sp>
        <p:nvSpPr>
          <p:cNvPr id="29" name="object 29"/>
          <p:cNvSpPr txBox="1"/>
          <p:nvPr/>
        </p:nvSpPr>
        <p:spPr>
          <a:xfrm>
            <a:off x="2308859" y="3107436"/>
            <a:ext cx="571500" cy="337913"/>
          </a:xfrm>
          <a:prstGeom prst="rect">
            <a:avLst/>
          </a:prstGeom>
          <a:ln w="9143">
            <a:solidFill>
              <a:srgbClr val="000000"/>
            </a:solidFill>
          </a:ln>
        </p:spPr>
        <p:txBody>
          <a:bodyPr vert="horz" wrap="square" lIns="0" tIns="29845" rIns="0" bIns="0" rtlCol="0">
            <a:spAutoFit/>
          </a:bodyPr>
          <a:lstStyle/>
          <a:p>
            <a:pPr marL="158750">
              <a:spcBef>
                <a:spcPts val="235"/>
              </a:spcBef>
            </a:pPr>
            <a:r>
              <a:rPr sz="2000" i="1" dirty="0">
                <a:latin typeface="Calibri" panose="020F0502020204030204"/>
                <a:cs typeface="Calibri" panose="020F0502020204030204"/>
              </a:rPr>
              <a:t>he</a:t>
            </a:r>
            <a:endParaRPr sz="2000">
              <a:latin typeface="Calibri" panose="020F0502020204030204"/>
              <a:cs typeface="Calibri" panose="020F0502020204030204"/>
            </a:endParaRPr>
          </a:p>
        </p:txBody>
      </p:sp>
      <p:sp>
        <p:nvSpPr>
          <p:cNvPr id="30" name="object 30"/>
          <p:cNvSpPr txBox="1"/>
          <p:nvPr/>
        </p:nvSpPr>
        <p:spPr>
          <a:xfrm>
            <a:off x="2308859" y="4971289"/>
            <a:ext cx="571500" cy="337271"/>
          </a:xfrm>
          <a:prstGeom prst="rect">
            <a:avLst/>
          </a:prstGeom>
          <a:ln w="9143">
            <a:solidFill>
              <a:srgbClr val="000000"/>
            </a:solidFill>
          </a:ln>
        </p:spPr>
        <p:txBody>
          <a:bodyPr vert="horz" wrap="square" lIns="0" tIns="29209" rIns="0" bIns="0" rtlCol="0">
            <a:spAutoFit/>
          </a:bodyPr>
          <a:lstStyle/>
          <a:p>
            <a:pPr algn="ctr">
              <a:spcBef>
                <a:spcPts val="230"/>
              </a:spcBef>
            </a:pPr>
            <a:r>
              <a:rPr sz="2000" i="1" dirty="0">
                <a:latin typeface="Calibri" panose="020F0502020204030204"/>
                <a:cs typeface="Calibri" panose="020F0502020204030204"/>
              </a:rPr>
              <a:t>I</a:t>
            </a:r>
            <a:endParaRPr sz="2000">
              <a:latin typeface="Calibri" panose="020F0502020204030204"/>
              <a:cs typeface="Calibri" panose="020F0502020204030204"/>
            </a:endParaRPr>
          </a:p>
        </p:txBody>
      </p:sp>
      <p:sp>
        <p:nvSpPr>
          <p:cNvPr id="31" name="object 31"/>
          <p:cNvSpPr/>
          <p:nvPr/>
        </p:nvSpPr>
        <p:spPr>
          <a:xfrm>
            <a:off x="2103158" y="3543300"/>
            <a:ext cx="491490" cy="500380"/>
          </a:xfrm>
          <a:custGeom>
            <a:avLst/>
            <a:gdLst/>
            <a:ahLst/>
            <a:cxnLst/>
            <a:rect l="l" t="t" r="r" b="b"/>
            <a:pathLst>
              <a:path w="491490" h="500379">
                <a:moveTo>
                  <a:pt x="433491" y="49928"/>
                </a:moveTo>
                <a:lnTo>
                  <a:pt x="0" y="491236"/>
                </a:lnTo>
                <a:lnTo>
                  <a:pt x="9067" y="500125"/>
                </a:lnTo>
                <a:lnTo>
                  <a:pt x="442556" y="58822"/>
                </a:lnTo>
                <a:lnTo>
                  <a:pt x="433491" y="49928"/>
                </a:lnTo>
                <a:close/>
              </a:path>
              <a:path w="491490" h="500379">
                <a:moveTo>
                  <a:pt x="478171" y="40894"/>
                </a:moveTo>
                <a:lnTo>
                  <a:pt x="442366" y="40894"/>
                </a:lnTo>
                <a:lnTo>
                  <a:pt x="451434" y="49784"/>
                </a:lnTo>
                <a:lnTo>
                  <a:pt x="442556" y="58822"/>
                </a:lnTo>
                <a:lnTo>
                  <a:pt x="465188" y="81025"/>
                </a:lnTo>
                <a:lnTo>
                  <a:pt x="478171" y="40894"/>
                </a:lnTo>
                <a:close/>
              </a:path>
              <a:path w="491490" h="500379">
                <a:moveTo>
                  <a:pt x="442366" y="40894"/>
                </a:moveTo>
                <a:lnTo>
                  <a:pt x="433491" y="49928"/>
                </a:lnTo>
                <a:lnTo>
                  <a:pt x="442556" y="58822"/>
                </a:lnTo>
                <a:lnTo>
                  <a:pt x="451434" y="49784"/>
                </a:lnTo>
                <a:lnTo>
                  <a:pt x="442366" y="40894"/>
                </a:lnTo>
                <a:close/>
              </a:path>
              <a:path w="491490" h="500379">
                <a:moveTo>
                  <a:pt x="491401" y="0"/>
                </a:moveTo>
                <a:lnTo>
                  <a:pt x="410819" y="27686"/>
                </a:lnTo>
                <a:lnTo>
                  <a:pt x="433491" y="49928"/>
                </a:lnTo>
                <a:lnTo>
                  <a:pt x="442366" y="40894"/>
                </a:lnTo>
                <a:lnTo>
                  <a:pt x="478171" y="40894"/>
                </a:lnTo>
                <a:lnTo>
                  <a:pt x="491401" y="0"/>
                </a:lnTo>
                <a:close/>
              </a:path>
            </a:pathLst>
          </a:custGeom>
          <a:solidFill>
            <a:srgbClr val="000000"/>
          </a:solidFill>
        </p:spPr>
        <p:txBody>
          <a:bodyPr wrap="square" lIns="0" tIns="0" rIns="0" bIns="0" rtlCol="0"/>
          <a:lstStyle/>
          <a:p>
            <a:endParaRPr/>
          </a:p>
        </p:txBody>
      </p:sp>
      <p:sp>
        <p:nvSpPr>
          <p:cNvPr id="32" name="object 32"/>
          <p:cNvSpPr/>
          <p:nvPr/>
        </p:nvSpPr>
        <p:spPr>
          <a:xfrm>
            <a:off x="2103158" y="4470020"/>
            <a:ext cx="491490" cy="501015"/>
          </a:xfrm>
          <a:custGeom>
            <a:avLst/>
            <a:gdLst/>
            <a:ahLst/>
            <a:cxnLst/>
            <a:rect l="l" t="t" r="r" b="b"/>
            <a:pathLst>
              <a:path w="491490" h="501014">
                <a:moveTo>
                  <a:pt x="433458" y="450760"/>
                </a:moveTo>
                <a:lnTo>
                  <a:pt x="410832" y="472947"/>
                </a:lnTo>
                <a:lnTo>
                  <a:pt x="491401" y="500760"/>
                </a:lnTo>
                <a:lnTo>
                  <a:pt x="478211" y="459866"/>
                </a:lnTo>
                <a:lnTo>
                  <a:pt x="442391" y="459866"/>
                </a:lnTo>
                <a:lnTo>
                  <a:pt x="433458" y="450760"/>
                </a:lnTo>
                <a:close/>
              </a:path>
              <a:path w="491490" h="501014">
                <a:moveTo>
                  <a:pt x="442525" y="441869"/>
                </a:moveTo>
                <a:lnTo>
                  <a:pt x="433458" y="450760"/>
                </a:lnTo>
                <a:lnTo>
                  <a:pt x="442391" y="459866"/>
                </a:lnTo>
                <a:lnTo>
                  <a:pt x="451459" y="450976"/>
                </a:lnTo>
                <a:lnTo>
                  <a:pt x="442525" y="441869"/>
                </a:lnTo>
                <a:close/>
              </a:path>
              <a:path w="491490" h="501014">
                <a:moveTo>
                  <a:pt x="465226" y="419607"/>
                </a:moveTo>
                <a:lnTo>
                  <a:pt x="442525" y="441869"/>
                </a:lnTo>
                <a:lnTo>
                  <a:pt x="451459" y="450976"/>
                </a:lnTo>
                <a:lnTo>
                  <a:pt x="442391" y="459866"/>
                </a:lnTo>
                <a:lnTo>
                  <a:pt x="478211" y="459866"/>
                </a:lnTo>
                <a:lnTo>
                  <a:pt x="465226" y="419607"/>
                </a:lnTo>
                <a:close/>
              </a:path>
              <a:path w="491490" h="501014">
                <a:moveTo>
                  <a:pt x="9067" y="0"/>
                </a:moveTo>
                <a:lnTo>
                  <a:pt x="0" y="8889"/>
                </a:lnTo>
                <a:lnTo>
                  <a:pt x="433458" y="450760"/>
                </a:lnTo>
                <a:lnTo>
                  <a:pt x="442525" y="441869"/>
                </a:lnTo>
                <a:lnTo>
                  <a:pt x="9067" y="0"/>
                </a:lnTo>
                <a:close/>
              </a:path>
            </a:pathLst>
          </a:custGeom>
          <a:solidFill>
            <a:srgbClr val="000000"/>
          </a:solidFill>
        </p:spPr>
        <p:txBody>
          <a:bodyPr wrap="square" lIns="0" tIns="0" rIns="0" bIns="0" rtlCol="0"/>
          <a:lstStyle/>
          <a:p>
            <a:endParaRPr/>
          </a:p>
        </p:txBody>
      </p:sp>
      <p:sp>
        <p:nvSpPr>
          <p:cNvPr id="34" name="object 34"/>
          <p:cNvSpPr txBox="1"/>
          <p:nvPr/>
        </p:nvSpPr>
        <p:spPr>
          <a:xfrm>
            <a:off x="2384857" y="2785617"/>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-0.7</a:t>
            </a:r>
            <a:endParaRPr>
              <a:latin typeface="Calibri" panose="020F0502020204030204"/>
              <a:cs typeface="Calibri" panose="020F0502020204030204"/>
            </a:endParaRPr>
          </a:p>
        </p:txBody>
      </p:sp>
      <p:sp>
        <p:nvSpPr>
          <p:cNvPr id="35" name="object 35"/>
          <p:cNvSpPr txBox="1"/>
          <p:nvPr/>
        </p:nvSpPr>
        <p:spPr>
          <a:xfrm>
            <a:off x="2384857" y="5439562"/>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-0.9</a:t>
            </a:r>
            <a:endParaRPr>
              <a:latin typeface="Calibri" panose="020F0502020204030204"/>
              <a:cs typeface="Calibri" panose="020F0502020204030204"/>
            </a:endParaRPr>
          </a:p>
        </p:txBody>
      </p:sp>
      <p:sp>
        <p:nvSpPr>
          <p:cNvPr id="36" name="object 36"/>
          <p:cNvSpPr txBox="1"/>
          <p:nvPr/>
        </p:nvSpPr>
        <p:spPr>
          <a:xfrm>
            <a:off x="3626612" y="4340479"/>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-1.6</a:t>
            </a:r>
            <a:endParaRPr>
              <a:latin typeface="Calibri" panose="020F0502020204030204"/>
              <a:cs typeface="Calibri" panose="020F0502020204030204"/>
            </a:endParaRPr>
          </a:p>
        </p:txBody>
      </p:sp>
      <p:sp>
        <p:nvSpPr>
          <p:cNvPr id="37" name="object 37"/>
          <p:cNvSpPr txBox="1"/>
          <p:nvPr/>
        </p:nvSpPr>
        <p:spPr>
          <a:xfrm>
            <a:off x="3626612" y="5683708"/>
            <a:ext cx="385445" cy="300355"/>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-1.8</a:t>
            </a:r>
            <a:endParaRPr>
              <a:latin typeface="Calibri" panose="020F0502020204030204"/>
              <a:cs typeface="Calibri" panose="020F0502020204030204"/>
            </a:endParaRPr>
          </a:p>
        </p:txBody>
      </p:sp>
      <p:sp>
        <p:nvSpPr>
          <p:cNvPr id="38" name="object 38"/>
          <p:cNvSpPr txBox="1"/>
          <p:nvPr/>
        </p:nvSpPr>
        <p:spPr>
          <a:xfrm>
            <a:off x="3626612" y="2481198"/>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-1.7</a:t>
            </a:r>
            <a:endParaRPr>
              <a:latin typeface="Calibri" panose="020F0502020204030204"/>
              <a:cs typeface="Calibri" panose="020F0502020204030204"/>
            </a:endParaRPr>
          </a:p>
        </p:txBody>
      </p:sp>
      <p:sp>
        <p:nvSpPr>
          <p:cNvPr id="39" name="object 39"/>
          <p:cNvSpPr txBox="1"/>
          <p:nvPr/>
        </p:nvSpPr>
        <p:spPr>
          <a:xfrm>
            <a:off x="3626612" y="3800602"/>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-2.9</a:t>
            </a:r>
            <a:endParaRPr>
              <a:latin typeface="Calibri" panose="020F0502020204030204"/>
              <a:cs typeface="Calibri" panose="020F0502020204030204"/>
            </a:endParaRPr>
          </a:p>
        </p:txBody>
      </p:sp>
      <p:sp>
        <p:nvSpPr>
          <p:cNvPr id="40" name="object 40"/>
          <p:cNvSpPr txBox="1"/>
          <p:nvPr/>
        </p:nvSpPr>
        <p:spPr>
          <a:xfrm>
            <a:off x="5081779" y="3525392"/>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-2.5</a:t>
            </a:r>
            <a:endParaRPr>
              <a:latin typeface="Calibri" panose="020F0502020204030204"/>
              <a:cs typeface="Calibri" panose="020F0502020204030204"/>
            </a:endParaRPr>
          </a:p>
        </p:txBody>
      </p:sp>
      <p:sp>
        <p:nvSpPr>
          <p:cNvPr id="41" name="object 41"/>
          <p:cNvSpPr txBox="1"/>
          <p:nvPr/>
        </p:nvSpPr>
        <p:spPr>
          <a:xfrm>
            <a:off x="5081779" y="2184272"/>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-2.8</a:t>
            </a:r>
            <a:endParaRPr>
              <a:latin typeface="Calibri" panose="020F0502020204030204"/>
              <a:cs typeface="Calibri" panose="020F0502020204030204"/>
            </a:endParaRPr>
          </a:p>
        </p:txBody>
      </p:sp>
      <p:sp>
        <p:nvSpPr>
          <p:cNvPr id="42" name="object 42"/>
          <p:cNvSpPr txBox="1"/>
          <p:nvPr/>
        </p:nvSpPr>
        <p:spPr>
          <a:xfrm>
            <a:off x="5081779" y="5406949"/>
            <a:ext cx="385445" cy="300355"/>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-3.8</a:t>
            </a:r>
            <a:endParaRPr>
              <a:latin typeface="Calibri" panose="020F0502020204030204"/>
              <a:cs typeface="Calibri" panose="020F0502020204030204"/>
            </a:endParaRPr>
          </a:p>
        </p:txBody>
      </p:sp>
      <p:sp>
        <p:nvSpPr>
          <p:cNvPr id="43" name="object 43"/>
          <p:cNvSpPr txBox="1"/>
          <p:nvPr/>
        </p:nvSpPr>
        <p:spPr>
          <a:xfrm>
            <a:off x="5081779" y="4079494"/>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-2.9</a:t>
            </a:r>
            <a:endParaRPr>
              <a:latin typeface="Calibri" panose="020F0502020204030204"/>
              <a:cs typeface="Calibri" panose="020F0502020204030204"/>
            </a:endParaRPr>
          </a:p>
        </p:txBody>
      </p:sp>
      <p:sp>
        <p:nvSpPr>
          <p:cNvPr id="45" name="object 45"/>
          <p:cNvSpPr txBox="1"/>
          <p:nvPr/>
        </p:nvSpPr>
        <p:spPr>
          <a:xfrm>
            <a:off x="6609716" y="4482210"/>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-3.5</a:t>
            </a:r>
            <a:endParaRPr>
              <a:latin typeface="Calibri" panose="020F0502020204030204"/>
              <a:cs typeface="Calibri" panose="020F0502020204030204"/>
            </a:endParaRPr>
          </a:p>
        </p:txBody>
      </p:sp>
      <p:sp>
        <p:nvSpPr>
          <p:cNvPr id="46" name="object 46"/>
          <p:cNvSpPr txBox="1"/>
          <p:nvPr/>
        </p:nvSpPr>
        <p:spPr>
          <a:xfrm>
            <a:off x="6609716" y="3208146"/>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-3.3</a:t>
            </a:r>
            <a:endParaRPr>
              <a:latin typeface="Calibri" panose="020F0502020204030204"/>
              <a:cs typeface="Calibri" panose="020F0502020204030204"/>
            </a:endParaRPr>
          </a:p>
        </p:txBody>
      </p:sp>
      <p:sp>
        <p:nvSpPr>
          <p:cNvPr id="47" name="object 47"/>
          <p:cNvSpPr txBox="1"/>
          <p:nvPr/>
        </p:nvSpPr>
        <p:spPr>
          <a:xfrm>
            <a:off x="6609716" y="1455801"/>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-4.0</a:t>
            </a:r>
            <a:endParaRPr>
              <a:latin typeface="Calibri" panose="020F0502020204030204"/>
              <a:cs typeface="Calibri" panose="020F0502020204030204"/>
            </a:endParaRPr>
          </a:p>
        </p:txBody>
      </p:sp>
      <p:sp>
        <p:nvSpPr>
          <p:cNvPr id="48" name="object 48"/>
          <p:cNvSpPr txBox="1"/>
          <p:nvPr/>
        </p:nvSpPr>
        <p:spPr>
          <a:xfrm>
            <a:off x="6609715" y="2762200"/>
            <a:ext cx="386080" cy="300355"/>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-3.4</a:t>
            </a:r>
            <a:endParaRPr>
              <a:latin typeface="Calibri" panose="020F0502020204030204"/>
              <a:cs typeface="Calibri" panose="020F0502020204030204"/>
            </a:endParaRPr>
          </a:p>
        </p:txBody>
      </p:sp>
      <p:sp>
        <p:nvSpPr>
          <p:cNvPr id="49" name="object 49"/>
          <p:cNvSpPr txBox="1"/>
          <p:nvPr/>
        </p:nvSpPr>
        <p:spPr>
          <a:xfrm>
            <a:off x="8197723" y="3201670"/>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-3.7</a:t>
            </a:r>
            <a:endParaRPr>
              <a:latin typeface="Calibri" panose="020F0502020204030204"/>
              <a:cs typeface="Calibri" panose="020F0502020204030204"/>
            </a:endParaRPr>
          </a:p>
        </p:txBody>
      </p:sp>
      <p:sp>
        <p:nvSpPr>
          <p:cNvPr id="50" name="object 50"/>
          <p:cNvSpPr txBox="1"/>
          <p:nvPr/>
        </p:nvSpPr>
        <p:spPr>
          <a:xfrm>
            <a:off x="8197723" y="4484878"/>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-4.3</a:t>
            </a:r>
            <a:endParaRPr>
              <a:latin typeface="Calibri" panose="020F0502020204030204"/>
              <a:cs typeface="Calibri" panose="020F0502020204030204"/>
            </a:endParaRPr>
          </a:p>
        </p:txBody>
      </p:sp>
      <p:sp>
        <p:nvSpPr>
          <p:cNvPr id="51" name="object 51"/>
          <p:cNvSpPr txBox="1"/>
          <p:nvPr/>
        </p:nvSpPr>
        <p:spPr>
          <a:xfrm>
            <a:off x="8197723" y="2775330"/>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-4.5</a:t>
            </a:r>
            <a:endParaRPr>
              <a:latin typeface="Calibri" panose="020F0502020204030204"/>
              <a:cs typeface="Calibri" panose="020F0502020204030204"/>
            </a:endParaRPr>
          </a:p>
        </p:txBody>
      </p:sp>
      <p:sp>
        <p:nvSpPr>
          <p:cNvPr id="52" name="object 52"/>
          <p:cNvSpPr txBox="1"/>
          <p:nvPr/>
        </p:nvSpPr>
        <p:spPr>
          <a:xfrm>
            <a:off x="8197723" y="1436623"/>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-4.8</a:t>
            </a:r>
            <a:endParaRPr>
              <a:latin typeface="Calibri" panose="020F0502020204030204"/>
              <a:cs typeface="Calibri" panose="020F0502020204030204"/>
            </a:endParaRPr>
          </a:p>
        </p:txBody>
      </p:sp>
      <p:sp>
        <p:nvSpPr>
          <p:cNvPr id="53" name="object 53"/>
          <p:cNvSpPr txBox="1"/>
          <p:nvPr/>
        </p:nvSpPr>
        <p:spPr>
          <a:xfrm>
            <a:off x="6625590" y="6083300"/>
            <a:ext cx="4400550" cy="584835"/>
          </a:xfrm>
          <a:prstGeom prst="rect">
            <a:avLst/>
          </a:prstGeom>
          <a:ln w="19811">
            <a:solidFill>
              <a:srgbClr val="BA56BD"/>
            </a:solidFill>
          </a:ln>
        </p:spPr>
        <p:txBody>
          <a:bodyPr vert="horz" wrap="square" lIns="0" tIns="31115" rIns="0" bIns="0" rtlCol="0">
            <a:spAutoFit/>
          </a:bodyPr>
          <a:lstStyle/>
          <a:p>
            <a:pPr marR="45085" algn="ctr">
              <a:spcBef>
                <a:spcPts val="245"/>
              </a:spcBef>
            </a:pPr>
            <a:r>
              <a:rPr spc="-10" dirty="0">
                <a:solidFill>
                  <a:srgbClr val="BA56BD"/>
                </a:solidFill>
                <a:cs typeface="Calibri" panose="020F0502020204030204"/>
              </a:rPr>
              <a:t>For</a:t>
            </a:r>
            <a:r>
              <a:rPr spc="-20" dirty="0">
                <a:solidFill>
                  <a:srgbClr val="BA56BD"/>
                </a:solidFill>
                <a:cs typeface="Calibri" panose="020F0502020204030204"/>
              </a:rPr>
              <a:t> </a:t>
            </a:r>
            <a:r>
              <a:rPr dirty="0">
                <a:solidFill>
                  <a:srgbClr val="BA56BD"/>
                </a:solidFill>
                <a:cs typeface="Calibri" panose="020F0502020204030204"/>
              </a:rPr>
              <a:t>each</a:t>
            </a:r>
            <a:r>
              <a:rPr spc="5" dirty="0">
                <a:solidFill>
                  <a:srgbClr val="BA56BD"/>
                </a:solidFill>
                <a:cs typeface="Calibri" panose="020F0502020204030204"/>
              </a:rPr>
              <a:t> </a:t>
            </a:r>
            <a:r>
              <a:rPr spc="-5" dirty="0">
                <a:solidFill>
                  <a:srgbClr val="BA56BD"/>
                </a:solidFill>
                <a:cs typeface="Calibri" panose="020F0502020204030204"/>
              </a:rPr>
              <a:t>of</a:t>
            </a:r>
            <a:r>
              <a:rPr spc="5" dirty="0">
                <a:solidFill>
                  <a:srgbClr val="BA56BD"/>
                </a:solidFill>
                <a:cs typeface="Calibri" panose="020F0502020204030204"/>
              </a:rPr>
              <a:t> </a:t>
            </a:r>
            <a:r>
              <a:rPr dirty="0">
                <a:solidFill>
                  <a:srgbClr val="BA56BD"/>
                </a:solidFill>
                <a:cs typeface="Calibri" panose="020F0502020204030204"/>
              </a:rPr>
              <a:t>the </a:t>
            </a:r>
            <a:r>
              <a:rPr i="1" dirty="0">
                <a:solidFill>
                  <a:srgbClr val="BA56BD"/>
                </a:solidFill>
                <a:cs typeface="Calibri" panose="020F0502020204030204"/>
              </a:rPr>
              <a:t>k</a:t>
            </a:r>
            <a:r>
              <a:rPr i="1" spc="-10" dirty="0">
                <a:solidFill>
                  <a:srgbClr val="BA56BD"/>
                </a:solidFill>
                <a:cs typeface="Calibri" panose="020F0502020204030204"/>
              </a:rPr>
              <a:t> </a:t>
            </a:r>
            <a:r>
              <a:rPr spc="-5" dirty="0">
                <a:solidFill>
                  <a:srgbClr val="BA56BD"/>
                </a:solidFill>
                <a:cs typeface="Calibri" panose="020F0502020204030204"/>
              </a:rPr>
              <a:t>hypotheses,</a:t>
            </a:r>
            <a:r>
              <a:rPr spc="-15" dirty="0">
                <a:solidFill>
                  <a:srgbClr val="BA56BD"/>
                </a:solidFill>
                <a:cs typeface="Calibri" panose="020F0502020204030204"/>
              </a:rPr>
              <a:t> </a:t>
            </a:r>
            <a:r>
              <a:rPr spc="-5" dirty="0">
                <a:solidFill>
                  <a:srgbClr val="BA56BD"/>
                </a:solidFill>
                <a:cs typeface="Calibri" panose="020F0502020204030204"/>
              </a:rPr>
              <a:t>find</a:t>
            </a:r>
            <a:endParaRPr>
              <a:cs typeface="Calibri" panose="020F0502020204030204"/>
            </a:endParaRPr>
          </a:p>
          <a:p>
            <a:pPr algn="ctr">
              <a:lnSpc>
                <a:spcPct val="100000"/>
              </a:lnSpc>
            </a:pPr>
            <a:r>
              <a:rPr spc="-10" dirty="0">
                <a:solidFill>
                  <a:srgbClr val="BA56BD"/>
                </a:solidFill>
                <a:cs typeface="Calibri" panose="020F0502020204030204"/>
              </a:rPr>
              <a:t>top </a:t>
            </a:r>
            <a:r>
              <a:rPr i="1" dirty="0">
                <a:solidFill>
                  <a:srgbClr val="BA56BD"/>
                </a:solidFill>
                <a:cs typeface="Calibri" panose="020F0502020204030204"/>
              </a:rPr>
              <a:t>k</a:t>
            </a:r>
            <a:r>
              <a:rPr i="1" spc="-10" dirty="0">
                <a:solidFill>
                  <a:srgbClr val="BA56BD"/>
                </a:solidFill>
                <a:cs typeface="Calibri" panose="020F0502020204030204"/>
              </a:rPr>
              <a:t> </a:t>
            </a:r>
            <a:r>
              <a:rPr spc="-10" dirty="0">
                <a:solidFill>
                  <a:srgbClr val="BA56BD"/>
                </a:solidFill>
                <a:cs typeface="Calibri" panose="020F0502020204030204"/>
              </a:rPr>
              <a:t>next</a:t>
            </a:r>
            <a:r>
              <a:rPr dirty="0">
                <a:solidFill>
                  <a:srgbClr val="BA56BD"/>
                </a:solidFill>
                <a:cs typeface="Calibri" panose="020F0502020204030204"/>
              </a:rPr>
              <a:t> </a:t>
            </a:r>
            <a:r>
              <a:rPr spc="-15" dirty="0">
                <a:solidFill>
                  <a:srgbClr val="BA56BD"/>
                </a:solidFill>
                <a:cs typeface="Calibri" panose="020F0502020204030204"/>
              </a:rPr>
              <a:t>words</a:t>
            </a:r>
            <a:r>
              <a:rPr spc="-5" dirty="0">
                <a:solidFill>
                  <a:srgbClr val="BA56BD"/>
                </a:solidFill>
                <a:cs typeface="Calibri" panose="020F0502020204030204"/>
              </a:rPr>
              <a:t> </a:t>
            </a:r>
            <a:r>
              <a:rPr dirty="0">
                <a:solidFill>
                  <a:srgbClr val="BA56BD"/>
                </a:solidFill>
                <a:cs typeface="Calibri" panose="020F0502020204030204"/>
              </a:rPr>
              <a:t>and</a:t>
            </a:r>
            <a:r>
              <a:rPr spc="-10" dirty="0">
                <a:solidFill>
                  <a:srgbClr val="BA56BD"/>
                </a:solidFill>
                <a:cs typeface="Calibri" panose="020F0502020204030204"/>
              </a:rPr>
              <a:t> calculate</a:t>
            </a:r>
            <a:r>
              <a:rPr spc="15" dirty="0">
                <a:solidFill>
                  <a:srgbClr val="BA56BD"/>
                </a:solidFill>
                <a:cs typeface="Calibri" panose="020F0502020204030204"/>
              </a:rPr>
              <a:t> </a:t>
            </a:r>
            <a:r>
              <a:rPr spc="-10" dirty="0">
                <a:solidFill>
                  <a:srgbClr val="BA56BD"/>
                </a:solidFill>
                <a:cs typeface="Calibri" panose="020F0502020204030204"/>
              </a:rPr>
              <a:t>scores</a:t>
            </a:r>
            <a:endParaRPr>
              <a:cs typeface="Calibri" panose="020F0502020204030204"/>
            </a:endParaRPr>
          </a:p>
        </p:txBody>
      </p:sp>
      <p:grpSp>
        <p:nvGrpSpPr>
          <p:cNvPr id="55" name="Group 54"/>
          <p:cNvGrpSpPr/>
          <p:nvPr/>
        </p:nvGrpSpPr>
        <p:grpSpPr>
          <a:xfrm>
            <a:off x="1875934" y="646192"/>
            <a:ext cx="8356238" cy="736600"/>
            <a:chOff x="1875934" y="646192"/>
            <a:chExt cx="8356238" cy="736600"/>
          </a:xfrm>
        </p:grpSpPr>
        <p:sp>
          <p:nvSpPr>
            <p:cNvPr id="56" name="object 3"/>
            <p:cNvSpPr txBox="1"/>
            <p:nvPr/>
          </p:nvSpPr>
          <p:spPr>
            <a:xfrm>
              <a:off x="1875934" y="840487"/>
              <a:ext cx="3557126" cy="321242"/>
            </a:xfrm>
            <a:prstGeom prst="rect">
              <a:avLst/>
            </a:prstGeom>
          </p:spPr>
          <p:txBody>
            <a:bodyPr vert="horz" wrap="square" lIns="0" tIns="13335" rIns="0" bIns="0" rtlCol="0">
              <a:spAutoFit/>
            </a:bodyPr>
            <a:lstStyle/>
            <a:p>
              <a:pPr marL="12700">
                <a:spcBef>
                  <a:spcPts val="105"/>
                </a:spcBef>
              </a:pPr>
              <a:r>
                <a:rPr sz="2000" b="1" dirty="0">
                  <a:cs typeface="Calibri" panose="020F0502020204030204"/>
                </a:rPr>
                <a:t>Beam</a:t>
              </a:r>
              <a:r>
                <a:rPr sz="2000" b="1" spc="-10" dirty="0">
                  <a:cs typeface="Calibri" panose="020F0502020204030204"/>
                </a:rPr>
                <a:t> </a:t>
              </a:r>
              <a:r>
                <a:rPr sz="2000" b="1" spc="-5" dirty="0">
                  <a:cs typeface="Calibri" panose="020F0502020204030204"/>
                </a:rPr>
                <a:t>size</a:t>
              </a:r>
              <a:r>
                <a:rPr sz="2000" b="1" dirty="0">
                  <a:cs typeface="Calibri" panose="020F0502020204030204"/>
                </a:rPr>
                <a:t> =</a:t>
              </a:r>
              <a:r>
                <a:rPr sz="2000" b="1" spc="-15" dirty="0">
                  <a:cs typeface="Calibri" panose="020F0502020204030204"/>
                </a:rPr>
                <a:t> </a:t>
              </a:r>
              <a:r>
                <a:rPr sz="2000" b="1" dirty="0">
                  <a:cs typeface="Calibri" panose="020F0502020204030204"/>
                </a:rPr>
                <a:t>k</a:t>
              </a:r>
              <a:r>
                <a:rPr sz="2000" b="1" spc="-10" dirty="0">
                  <a:cs typeface="Calibri" panose="020F0502020204030204"/>
                </a:rPr>
                <a:t> </a:t>
              </a:r>
              <a:r>
                <a:rPr sz="2000" b="1" dirty="0">
                  <a:cs typeface="Calibri" panose="020F0502020204030204"/>
                </a:rPr>
                <a:t>=</a:t>
              </a:r>
              <a:r>
                <a:rPr sz="2000" b="1" spc="-5" dirty="0">
                  <a:cs typeface="Calibri" panose="020F0502020204030204"/>
                </a:rPr>
                <a:t> </a:t>
              </a:r>
              <a:r>
                <a:rPr sz="2000" b="1" dirty="0">
                  <a:cs typeface="Calibri" panose="020F0502020204030204"/>
                </a:rPr>
                <a:t>2</a:t>
              </a:r>
              <a:r>
                <a:rPr sz="2000" dirty="0">
                  <a:cs typeface="Calibri" panose="020F0502020204030204"/>
                </a:rPr>
                <a:t>.</a:t>
              </a:r>
              <a:r>
                <a:rPr sz="2000" spc="-25" dirty="0">
                  <a:cs typeface="Calibri" panose="020F0502020204030204"/>
                </a:rPr>
                <a:t> </a:t>
              </a:r>
              <a:r>
                <a:rPr sz="2000" dirty="0">
                  <a:solidFill>
                    <a:srgbClr val="4285F4"/>
                  </a:solidFill>
                  <a:cs typeface="Calibri" panose="020F0502020204030204"/>
                </a:rPr>
                <a:t>Blue</a:t>
              </a:r>
              <a:r>
                <a:rPr sz="2000" spc="-10" dirty="0">
                  <a:solidFill>
                    <a:srgbClr val="4285F4"/>
                  </a:solidFill>
                  <a:cs typeface="Calibri" panose="020F0502020204030204"/>
                </a:rPr>
                <a:t> </a:t>
              </a:r>
              <a:r>
                <a:rPr sz="2000" dirty="0">
                  <a:solidFill>
                    <a:srgbClr val="4285F4"/>
                  </a:solidFill>
                  <a:cs typeface="Calibri" panose="020F0502020204030204"/>
                </a:rPr>
                <a:t>numbers</a:t>
              </a:r>
              <a:r>
                <a:rPr sz="2000" spc="-5" dirty="0">
                  <a:solidFill>
                    <a:srgbClr val="4285F4"/>
                  </a:solidFill>
                  <a:cs typeface="Calibri" panose="020F0502020204030204"/>
                </a:rPr>
                <a:t> </a:t>
              </a:r>
              <a:r>
                <a:rPr sz="2000" dirty="0">
                  <a:solidFill>
                    <a:srgbClr val="4285F4"/>
                  </a:solidFill>
                  <a:cs typeface="Calibri" panose="020F0502020204030204"/>
                </a:rPr>
                <a:t>=</a:t>
              </a:r>
              <a:endParaRPr sz="2000" dirty="0">
                <a:cs typeface="Calibri" panose="020F0502020204030204"/>
              </a:endParaRPr>
            </a:p>
          </p:txBody>
        </p:sp>
        <p:pic>
          <p:nvPicPr>
            <p:cNvPr id="57" name="object 50"/>
            <p:cNvPicPr/>
            <p:nvPr/>
          </p:nvPicPr>
          <p:blipFill>
            <a:blip r:embed="rId2" cstate="print"/>
            <a:stretch>
              <a:fillRect/>
            </a:stretch>
          </p:blipFill>
          <p:spPr>
            <a:xfrm>
              <a:off x="5415822" y="646192"/>
              <a:ext cx="4816350" cy="736600"/>
            </a:xfrm>
            <a:prstGeom prst="rect">
              <a:avLst/>
            </a:prstGeom>
          </p:spPr>
        </p:pic>
      </p:gr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3273551" y="2842260"/>
            <a:ext cx="1117600" cy="337912"/>
          </a:xfrm>
          <a:prstGeom prst="rect">
            <a:avLst/>
          </a:prstGeom>
          <a:ln w="9144">
            <a:solidFill>
              <a:srgbClr val="000000"/>
            </a:solidFill>
          </a:ln>
        </p:spPr>
        <p:txBody>
          <a:bodyPr vert="horz" wrap="square" lIns="0" tIns="29844" rIns="0" bIns="0" rtlCol="0">
            <a:spAutoFit/>
          </a:bodyPr>
          <a:lstStyle/>
          <a:p>
            <a:pPr algn="ctr">
              <a:spcBef>
                <a:spcPts val="235"/>
              </a:spcBef>
            </a:pPr>
            <a:r>
              <a:rPr sz="2000" i="1" spc="-5" dirty="0">
                <a:latin typeface="Calibri" panose="020F0502020204030204"/>
                <a:cs typeface="Calibri" panose="020F0502020204030204"/>
              </a:rPr>
              <a:t>hit</a:t>
            </a:r>
            <a:endParaRPr sz="2000">
              <a:latin typeface="Calibri" panose="020F0502020204030204"/>
              <a:cs typeface="Calibri" panose="020F0502020204030204"/>
            </a:endParaRPr>
          </a:p>
        </p:txBody>
      </p:sp>
      <p:sp>
        <p:nvSpPr>
          <p:cNvPr id="5" name="object 5"/>
          <p:cNvSpPr txBox="1"/>
          <p:nvPr/>
        </p:nvSpPr>
        <p:spPr>
          <a:xfrm>
            <a:off x="3273551" y="3368040"/>
            <a:ext cx="1117600" cy="338554"/>
          </a:xfrm>
          <a:prstGeom prst="rect">
            <a:avLst/>
          </a:prstGeom>
          <a:ln w="9144">
            <a:solidFill>
              <a:srgbClr val="000000"/>
            </a:solidFill>
          </a:ln>
        </p:spPr>
        <p:txBody>
          <a:bodyPr vert="horz" wrap="square" lIns="0" tIns="30480" rIns="0" bIns="0" rtlCol="0">
            <a:spAutoFit/>
          </a:bodyPr>
          <a:lstStyle/>
          <a:p>
            <a:pPr marL="247015">
              <a:spcBef>
                <a:spcPts val="240"/>
              </a:spcBef>
            </a:pPr>
            <a:r>
              <a:rPr sz="2000" i="1" spc="-5" dirty="0">
                <a:latin typeface="Calibri" panose="020F0502020204030204"/>
                <a:cs typeface="Calibri" panose="020F0502020204030204"/>
              </a:rPr>
              <a:t>struck</a:t>
            </a:r>
            <a:endParaRPr sz="2000">
              <a:latin typeface="Calibri" panose="020F0502020204030204"/>
              <a:cs typeface="Calibri" panose="020F0502020204030204"/>
            </a:endParaRPr>
          </a:p>
        </p:txBody>
      </p:sp>
      <p:sp>
        <p:nvSpPr>
          <p:cNvPr id="6" name="object 6"/>
          <p:cNvSpPr txBox="1"/>
          <p:nvPr/>
        </p:nvSpPr>
        <p:spPr>
          <a:xfrm>
            <a:off x="3273551" y="4698491"/>
            <a:ext cx="1117600" cy="338554"/>
          </a:xfrm>
          <a:prstGeom prst="rect">
            <a:avLst/>
          </a:prstGeom>
          <a:ln w="9144">
            <a:solidFill>
              <a:srgbClr val="000000"/>
            </a:solidFill>
          </a:ln>
        </p:spPr>
        <p:txBody>
          <a:bodyPr vert="horz" wrap="square" lIns="0" tIns="30480" rIns="0" bIns="0" rtlCol="0">
            <a:spAutoFit/>
          </a:bodyPr>
          <a:lstStyle/>
          <a:p>
            <a:pPr marL="352425">
              <a:spcBef>
                <a:spcPts val="240"/>
              </a:spcBef>
            </a:pPr>
            <a:r>
              <a:rPr sz="2000" i="1" dirty="0">
                <a:latin typeface="Calibri" panose="020F0502020204030204"/>
                <a:cs typeface="Calibri" panose="020F0502020204030204"/>
              </a:rPr>
              <a:t>was</a:t>
            </a:r>
            <a:endParaRPr sz="2000">
              <a:latin typeface="Calibri" panose="020F0502020204030204"/>
              <a:cs typeface="Calibri" panose="020F0502020204030204"/>
            </a:endParaRPr>
          </a:p>
        </p:txBody>
      </p:sp>
      <p:sp>
        <p:nvSpPr>
          <p:cNvPr id="7" name="object 7"/>
          <p:cNvSpPr txBox="1"/>
          <p:nvPr/>
        </p:nvSpPr>
        <p:spPr>
          <a:xfrm>
            <a:off x="3273551" y="5224272"/>
            <a:ext cx="1117600" cy="339195"/>
          </a:xfrm>
          <a:prstGeom prst="rect">
            <a:avLst/>
          </a:prstGeom>
          <a:ln w="9144">
            <a:solidFill>
              <a:srgbClr val="000000"/>
            </a:solidFill>
          </a:ln>
        </p:spPr>
        <p:txBody>
          <a:bodyPr vert="horz" wrap="square" lIns="0" tIns="31115" rIns="0" bIns="0" rtlCol="0">
            <a:spAutoFit/>
          </a:bodyPr>
          <a:lstStyle/>
          <a:p>
            <a:pPr algn="ctr">
              <a:spcBef>
                <a:spcPts val="245"/>
              </a:spcBef>
            </a:pPr>
            <a:r>
              <a:rPr sz="2000" i="1" spc="-5" dirty="0">
                <a:latin typeface="Calibri" panose="020F0502020204030204"/>
                <a:cs typeface="Calibri" panose="020F0502020204030204"/>
              </a:rPr>
              <a:t>got</a:t>
            </a:r>
            <a:endParaRPr sz="2000">
              <a:latin typeface="Calibri" panose="020F0502020204030204"/>
              <a:cs typeface="Calibri" panose="020F0502020204030204"/>
            </a:endParaRPr>
          </a:p>
        </p:txBody>
      </p:sp>
      <p:sp>
        <p:nvSpPr>
          <p:cNvPr id="8" name="object 8"/>
          <p:cNvSpPr/>
          <p:nvPr/>
        </p:nvSpPr>
        <p:spPr>
          <a:xfrm>
            <a:off x="2876804" y="3060192"/>
            <a:ext cx="397510" cy="526415"/>
          </a:xfrm>
          <a:custGeom>
            <a:avLst/>
            <a:gdLst/>
            <a:ahLst/>
            <a:cxnLst/>
            <a:rect l="l" t="t" r="r" b="b"/>
            <a:pathLst>
              <a:path w="397510" h="526414">
                <a:moveTo>
                  <a:pt x="397383" y="0"/>
                </a:moveTo>
                <a:lnTo>
                  <a:pt x="312801" y="11049"/>
                </a:lnTo>
                <a:lnTo>
                  <a:pt x="330568" y="37338"/>
                </a:lnTo>
                <a:lnTo>
                  <a:pt x="0" y="260223"/>
                </a:lnTo>
                <a:lnTo>
                  <a:pt x="3441" y="265341"/>
                </a:lnTo>
                <a:lnTo>
                  <a:pt x="0" y="270510"/>
                </a:lnTo>
                <a:lnTo>
                  <a:pt x="330288" y="489445"/>
                </a:lnTo>
                <a:lnTo>
                  <a:pt x="312801" y="515874"/>
                </a:lnTo>
                <a:lnTo>
                  <a:pt x="397383" y="526161"/>
                </a:lnTo>
                <a:lnTo>
                  <a:pt x="380238" y="496443"/>
                </a:lnTo>
                <a:lnTo>
                  <a:pt x="354838" y="452374"/>
                </a:lnTo>
                <a:lnTo>
                  <a:pt x="337337" y="478815"/>
                </a:lnTo>
                <a:lnTo>
                  <a:pt x="15278" y="265264"/>
                </a:lnTo>
                <a:lnTo>
                  <a:pt x="337693" y="47879"/>
                </a:lnTo>
                <a:lnTo>
                  <a:pt x="355473" y="74168"/>
                </a:lnTo>
                <a:lnTo>
                  <a:pt x="380301" y="30226"/>
                </a:lnTo>
                <a:lnTo>
                  <a:pt x="397383" y="0"/>
                </a:lnTo>
                <a:close/>
              </a:path>
            </a:pathLst>
          </a:custGeom>
          <a:solidFill>
            <a:srgbClr val="000000"/>
          </a:solidFill>
        </p:spPr>
        <p:txBody>
          <a:bodyPr wrap="square" lIns="0" tIns="0" rIns="0" bIns="0" rtlCol="0"/>
          <a:lstStyle/>
          <a:p>
            <a:endParaRPr/>
          </a:p>
        </p:txBody>
      </p:sp>
      <p:sp>
        <p:nvSpPr>
          <p:cNvPr id="9" name="object 9"/>
          <p:cNvSpPr/>
          <p:nvPr/>
        </p:nvSpPr>
        <p:spPr>
          <a:xfrm>
            <a:off x="2876804" y="4916423"/>
            <a:ext cx="397510" cy="527050"/>
          </a:xfrm>
          <a:custGeom>
            <a:avLst/>
            <a:gdLst/>
            <a:ahLst/>
            <a:cxnLst/>
            <a:rect l="l" t="t" r="r" b="b"/>
            <a:pathLst>
              <a:path w="397510" h="527050">
                <a:moveTo>
                  <a:pt x="397383" y="0"/>
                </a:moveTo>
                <a:lnTo>
                  <a:pt x="312928" y="11938"/>
                </a:lnTo>
                <a:lnTo>
                  <a:pt x="331038" y="38100"/>
                </a:lnTo>
                <a:lnTo>
                  <a:pt x="0" y="267081"/>
                </a:lnTo>
                <a:lnTo>
                  <a:pt x="3721" y="272542"/>
                </a:lnTo>
                <a:lnTo>
                  <a:pt x="127" y="278142"/>
                </a:lnTo>
                <a:lnTo>
                  <a:pt x="329869" y="491121"/>
                </a:lnTo>
                <a:lnTo>
                  <a:pt x="312674" y="517779"/>
                </a:lnTo>
                <a:lnTo>
                  <a:pt x="397383" y="527050"/>
                </a:lnTo>
                <a:lnTo>
                  <a:pt x="380136" y="497967"/>
                </a:lnTo>
                <a:lnTo>
                  <a:pt x="353949" y="453771"/>
                </a:lnTo>
                <a:lnTo>
                  <a:pt x="336778" y="480402"/>
                </a:lnTo>
                <a:lnTo>
                  <a:pt x="14541" y="272351"/>
                </a:lnTo>
                <a:lnTo>
                  <a:pt x="338251" y="48526"/>
                </a:lnTo>
                <a:lnTo>
                  <a:pt x="356362" y="74676"/>
                </a:lnTo>
                <a:lnTo>
                  <a:pt x="380428" y="30861"/>
                </a:lnTo>
                <a:lnTo>
                  <a:pt x="397383" y="0"/>
                </a:lnTo>
                <a:close/>
              </a:path>
            </a:pathLst>
          </a:custGeom>
          <a:solidFill>
            <a:srgbClr val="000000"/>
          </a:solidFill>
        </p:spPr>
        <p:txBody>
          <a:bodyPr wrap="square" lIns="0" tIns="0" rIns="0" bIns="0" rtlCol="0"/>
          <a:lstStyle/>
          <a:p>
            <a:endParaRPr/>
          </a:p>
        </p:txBody>
      </p:sp>
      <p:sp>
        <p:nvSpPr>
          <p:cNvPr id="10" name="object 10"/>
          <p:cNvSpPr txBox="1"/>
          <p:nvPr/>
        </p:nvSpPr>
        <p:spPr>
          <a:xfrm>
            <a:off x="4728972" y="2546604"/>
            <a:ext cx="1117600" cy="338554"/>
          </a:xfrm>
          <a:prstGeom prst="rect">
            <a:avLst/>
          </a:prstGeom>
          <a:ln w="9144">
            <a:solidFill>
              <a:srgbClr val="000000"/>
            </a:solidFill>
          </a:ln>
        </p:spPr>
        <p:txBody>
          <a:bodyPr vert="horz" wrap="square" lIns="0" tIns="30480" rIns="0" bIns="0" rtlCol="0">
            <a:spAutoFit/>
          </a:bodyPr>
          <a:lstStyle/>
          <a:p>
            <a:pPr algn="ctr">
              <a:spcBef>
                <a:spcPts val="240"/>
              </a:spcBef>
            </a:pPr>
            <a:r>
              <a:rPr sz="2000" i="1" dirty="0">
                <a:latin typeface="Calibri" panose="020F0502020204030204"/>
                <a:cs typeface="Calibri" panose="020F0502020204030204"/>
              </a:rPr>
              <a:t>a</a:t>
            </a:r>
            <a:endParaRPr sz="2000">
              <a:latin typeface="Calibri" panose="020F0502020204030204"/>
              <a:cs typeface="Calibri" panose="020F0502020204030204"/>
            </a:endParaRPr>
          </a:p>
        </p:txBody>
      </p:sp>
      <p:sp>
        <p:nvSpPr>
          <p:cNvPr id="11" name="object 11"/>
          <p:cNvSpPr txBox="1"/>
          <p:nvPr/>
        </p:nvSpPr>
        <p:spPr>
          <a:xfrm>
            <a:off x="4728972" y="3073908"/>
            <a:ext cx="1117600" cy="337913"/>
          </a:xfrm>
          <a:prstGeom prst="rect">
            <a:avLst/>
          </a:prstGeom>
          <a:ln w="9144">
            <a:solidFill>
              <a:srgbClr val="000000"/>
            </a:solidFill>
          </a:ln>
        </p:spPr>
        <p:txBody>
          <a:bodyPr vert="horz" wrap="square" lIns="0" tIns="29845" rIns="0" bIns="0" rtlCol="0">
            <a:spAutoFit/>
          </a:bodyPr>
          <a:lstStyle/>
          <a:p>
            <a:pPr algn="ctr">
              <a:spcBef>
                <a:spcPts val="235"/>
              </a:spcBef>
            </a:pPr>
            <a:r>
              <a:rPr sz="2000" i="1" spc="-5" dirty="0">
                <a:latin typeface="Calibri" panose="020F0502020204030204"/>
                <a:cs typeface="Calibri" panose="020F0502020204030204"/>
              </a:rPr>
              <a:t>me</a:t>
            </a:r>
            <a:endParaRPr sz="2000">
              <a:latin typeface="Calibri" panose="020F0502020204030204"/>
              <a:cs typeface="Calibri" panose="020F0502020204030204"/>
            </a:endParaRPr>
          </a:p>
        </p:txBody>
      </p:sp>
      <p:sp>
        <p:nvSpPr>
          <p:cNvPr id="12" name="object 12"/>
          <p:cNvSpPr txBox="1"/>
          <p:nvPr/>
        </p:nvSpPr>
        <p:spPr>
          <a:xfrm>
            <a:off x="4728972" y="4430268"/>
            <a:ext cx="1117600" cy="337913"/>
          </a:xfrm>
          <a:prstGeom prst="rect">
            <a:avLst/>
          </a:prstGeom>
          <a:ln w="9144">
            <a:solidFill>
              <a:srgbClr val="000000"/>
            </a:solidFill>
          </a:ln>
        </p:spPr>
        <p:txBody>
          <a:bodyPr vert="horz" wrap="square" lIns="0" tIns="29845" rIns="0" bIns="0" rtlCol="0">
            <a:spAutoFit/>
          </a:bodyPr>
          <a:lstStyle/>
          <a:p>
            <a:pPr algn="ctr">
              <a:spcBef>
                <a:spcPts val="235"/>
              </a:spcBef>
            </a:pPr>
            <a:r>
              <a:rPr sz="2000" i="1" spc="-5" dirty="0">
                <a:latin typeface="Calibri" panose="020F0502020204030204"/>
                <a:cs typeface="Calibri" panose="020F0502020204030204"/>
              </a:rPr>
              <a:t>hit</a:t>
            </a:r>
            <a:endParaRPr sz="2000">
              <a:latin typeface="Calibri" panose="020F0502020204030204"/>
              <a:cs typeface="Calibri" panose="020F0502020204030204"/>
            </a:endParaRPr>
          </a:p>
        </p:txBody>
      </p:sp>
      <p:sp>
        <p:nvSpPr>
          <p:cNvPr id="13" name="object 13"/>
          <p:cNvSpPr txBox="1"/>
          <p:nvPr/>
        </p:nvSpPr>
        <p:spPr>
          <a:xfrm>
            <a:off x="4728972" y="4956048"/>
            <a:ext cx="1117600" cy="339195"/>
          </a:xfrm>
          <a:prstGeom prst="rect">
            <a:avLst/>
          </a:prstGeom>
          <a:ln w="9144">
            <a:solidFill>
              <a:srgbClr val="000000"/>
            </a:solidFill>
          </a:ln>
        </p:spPr>
        <p:txBody>
          <a:bodyPr vert="horz" wrap="square" lIns="0" tIns="31115" rIns="0" bIns="0" rtlCol="0">
            <a:spAutoFit/>
          </a:bodyPr>
          <a:lstStyle/>
          <a:p>
            <a:pPr marL="247015">
              <a:spcBef>
                <a:spcPts val="245"/>
              </a:spcBef>
            </a:pPr>
            <a:r>
              <a:rPr sz="2000" i="1" spc="-5" dirty="0">
                <a:latin typeface="Calibri" panose="020F0502020204030204"/>
                <a:cs typeface="Calibri" panose="020F0502020204030204"/>
              </a:rPr>
              <a:t>struck</a:t>
            </a:r>
            <a:endParaRPr sz="2000">
              <a:latin typeface="Calibri" panose="020F0502020204030204"/>
              <a:cs typeface="Calibri" panose="020F0502020204030204"/>
            </a:endParaRPr>
          </a:p>
        </p:txBody>
      </p:sp>
      <p:sp>
        <p:nvSpPr>
          <p:cNvPr id="14" name="object 14"/>
          <p:cNvSpPr/>
          <p:nvPr/>
        </p:nvSpPr>
        <p:spPr>
          <a:xfrm>
            <a:off x="4386454" y="2764536"/>
            <a:ext cx="342265" cy="527685"/>
          </a:xfrm>
          <a:custGeom>
            <a:avLst/>
            <a:gdLst/>
            <a:ahLst/>
            <a:cxnLst/>
            <a:rect l="l" t="t" r="r" b="b"/>
            <a:pathLst>
              <a:path w="342264" h="527685">
                <a:moveTo>
                  <a:pt x="342265" y="0"/>
                </a:moveTo>
                <a:lnTo>
                  <a:pt x="259842" y="21336"/>
                </a:lnTo>
                <a:lnTo>
                  <a:pt x="280670" y="45250"/>
                </a:lnTo>
                <a:lnTo>
                  <a:pt x="0" y="289687"/>
                </a:lnTo>
                <a:lnTo>
                  <a:pt x="4622" y="295021"/>
                </a:lnTo>
                <a:lnTo>
                  <a:pt x="635" y="300863"/>
                </a:lnTo>
                <a:lnTo>
                  <a:pt x="275856" y="489826"/>
                </a:lnTo>
                <a:lnTo>
                  <a:pt x="257937" y="516001"/>
                </a:lnTo>
                <a:lnTo>
                  <a:pt x="342265" y="527685"/>
                </a:lnTo>
                <a:lnTo>
                  <a:pt x="325247" y="496951"/>
                </a:lnTo>
                <a:lnTo>
                  <a:pt x="300990" y="453136"/>
                </a:lnTo>
                <a:lnTo>
                  <a:pt x="283032" y="479361"/>
                </a:lnTo>
                <a:lnTo>
                  <a:pt x="13804" y="294614"/>
                </a:lnTo>
                <a:lnTo>
                  <a:pt x="289013" y="54813"/>
                </a:lnTo>
                <a:lnTo>
                  <a:pt x="309880" y="78740"/>
                </a:lnTo>
                <a:lnTo>
                  <a:pt x="327063" y="36957"/>
                </a:lnTo>
                <a:lnTo>
                  <a:pt x="342265" y="0"/>
                </a:lnTo>
                <a:close/>
              </a:path>
            </a:pathLst>
          </a:custGeom>
          <a:solidFill>
            <a:srgbClr val="000000"/>
          </a:solidFill>
        </p:spPr>
        <p:txBody>
          <a:bodyPr wrap="square" lIns="0" tIns="0" rIns="0" bIns="0" rtlCol="0"/>
          <a:lstStyle/>
          <a:p>
            <a:endParaRPr/>
          </a:p>
        </p:txBody>
      </p:sp>
      <p:sp>
        <p:nvSpPr>
          <p:cNvPr id="15" name="object 15"/>
          <p:cNvSpPr/>
          <p:nvPr/>
        </p:nvSpPr>
        <p:spPr>
          <a:xfrm>
            <a:off x="4386708" y="4648200"/>
            <a:ext cx="342265" cy="527050"/>
          </a:xfrm>
          <a:custGeom>
            <a:avLst/>
            <a:gdLst/>
            <a:ahLst/>
            <a:cxnLst/>
            <a:rect l="l" t="t" r="r" b="b"/>
            <a:pathLst>
              <a:path w="342264" h="527050">
                <a:moveTo>
                  <a:pt x="342011" y="0"/>
                </a:moveTo>
                <a:lnTo>
                  <a:pt x="258572" y="17526"/>
                </a:lnTo>
                <a:lnTo>
                  <a:pt x="278333" y="42443"/>
                </a:lnTo>
                <a:lnTo>
                  <a:pt x="0" y="263271"/>
                </a:lnTo>
                <a:lnTo>
                  <a:pt x="3937" y="268224"/>
                </a:lnTo>
                <a:lnTo>
                  <a:pt x="127" y="273304"/>
                </a:lnTo>
                <a:lnTo>
                  <a:pt x="277596" y="485330"/>
                </a:lnTo>
                <a:lnTo>
                  <a:pt x="258318" y="510540"/>
                </a:lnTo>
                <a:lnTo>
                  <a:pt x="342011" y="526542"/>
                </a:lnTo>
                <a:lnTo>
                  <a:pt x="325577" y="493014"/>
                </a:lnTo>
                <a:lnTo>
                  <a:pt x="304546" y="450088"/>
                </a:lnTo>
                <a:lnTo>
                  <a:pt x="285292" y="475259"/>
                </a:lnTo>
                <a:lnTo>
                  <a:pt x="14249" y="268122"/>
                </a:lnTo>
                <a:lnTo>
                  <a:pt x="286207" y="52349"/>
                </a:lnTo>
                <a:lnTo>
                  <a:pt x="305943" y="77216"/>
                </a:lnTo>
                <a:lnTo>
                  <a:pt x="325869" y="34544"/>
                </a:lnTo>
                <a:lnTo>
                  <a:pt x="342011" y="0"/>
                </a:lnTo>
                <a:close/>
              </a:path>
            </a:pathLst>
          </a:custGeom>
          <a:solidFill>
            <a:srgbClr val="000000"/>
          </a:solidFill>
        </p:spPr>
        <p:txBody>
          <a:bodyPr wrap="square" lIns="0" tIns="0" rIns="0" bIns="0" rtlCol="0"/>
          <a:lstStyle/>
          <a:p>
            <a:endParaRPr/>
          </a:p>
        </p:txBody>
      </p:sp>
      <p:sp>
        <p:nvSpPr>
          <p:cNvPr id="16" name="object 16"/>
          <p:cNvSpPr txBox="1"/>
          <p:nvPr/>
        </p:nvSpPr>
        <p:spPr>
          <a:xfrm>
            <a:off x="6256020" y="1816608"/>
            <a:ext cx="1117600" cy="337913"/>
          </a:xfrm>
          <a:prstGeom prst="rect">
            <a:avLst/>
          </a:prstGeom>
          <a:ln w="9144">
            <a:solidFill>
              <a:srgbClr val="000000"/>
            </a:solidFill>
          </a:ln>
        </p:spPr>
        <p:txBody>
          <a:bodyPr vert="horz" wrap="square" lIns="0" tIns="29845" rIns="0" bIns="0" rtlCol="0">
            <a:spAutoFit/>
          </a:bodyPr>
          <a:lstStyle/>
          <a:p>
            <a:pPr marL="365125">
              <a:spcBef>
                <a:spcPts val="235"/>
              </a:spcBef>
            </a:pPr>
            <a:r>
              <a:rPr sz="2000" i="1" dirty="0">
                <a:latin typeface="Calibri" panose="020F0502020204030204"/>
                <a:cs typeface="Calibri" panose="020F0502020204030204"/>
              </a:rPr>
              <a:t>tart</a:t>
            </a:r>
            <a:endParaRPr sz="2000">
              <a:latin typeface="Calibri" panose="020F0502020204030204"/>
              <a:cs typeface="Calibri" panose="020F0502020204030204"/>
            </a:endParaRPr>
          </a:p>
        </p:txBody>
      </p:sp>
      <p:sp>
        <p:nvSpPr>
          <p:cNvPr id="17" name="object 17"/>
          <p:cNvSpPr txBox="1"/>
          <p:nvPr/>
        </p:nvSpPr>
        <p:spPr>
          <a:xfrm>
            <a:off x="6256020" y="2343912"/>
            <a:ext cx="1117600" cy="337271"/>
          </a:xfrm>
          <a:prstGeom prst="rect">
            <a:avLst/>
          </a:prstGeom>
          <a:ln w="9144">
            <a:solidFill>
              <a:srgbClr val="000000"/>
            </a:solidFill>
          </a:ln>
        </p:spPr>
        <p:txBody>
          <a:bodyPr vert="horz" wrap="square" lIns="0" tIns="29209" rIns="0" bIns="0" rtlCol="0">
            <a:spAutoFit/>
          </a:bodyPr>
          <a:lstStyle/>
          <a:p>
            <a:pPr marL="1270" algn="ctr">
              <a:spcBef>
                <a:spcPts val="230"/>
              </a:spcBef>
            </a:pPr>
            <a:r>
              <a:rPr sz="2000" i="1" spc="-5" dirty="0">
                <a:latin typeface="Calibri" panose="020F0502020204030204"/>
                <a:cs typeface="Calibri" panose="020F0502020204030204"/>
              </a:rPr>
              <a:t>pie</a:t>
            </a:r>
            <a:endParaRPr sz="2000">
              <a:latin typeface="Calibri" panose="020F0502020204030204"/>
              <a:cs typeface="Calibri" panose="020F0502020204030204"/>
            </a:endParaRPr>
          </a:p>
        </p:txBody>
      </p:sp>
      <p:sp>
        <p:nvSpPr>
          <p:cNvPr id="18" name="object 18"/>
          <p:cNvSpPr txBox="1"/>
          <p:nvPr/>
        </p:nvSpPr>
        <p:spPr>
          <a:xfrm>
            <a:off x="6256020" y="3512820"/>
            <a:ext cx="1117600" cy="337912"/>
          </a:xfrm>
          <a:prstGeom prst="rect">
            <a:avLst/>
          </a:prstGeom>
          <a:ln w="9144">
            <a:solidFill>
              <a:srgbClr val="000000"/>
            </a:solidFill>
          </a:ln>
        </p:spPr>
        <p:txBody>
          <a:bodyPr vert="horz" wrap="square" lIns="0" tIns="29844" rIns="0" bIns="0" rtlCol="0">
            <a:spAutoFit/>
          </a:bodyPr>
          <a:lstStyle/>
          <a:p>
            <a:pPr marL="332105">
              <a:spcBef>
                <a:spcPts val="235"/>
              </a:spcBef>
            </a:pPr>
            <a:r>
              <a:rPr sz="2000" i="1" spc="-5" dirty="0">
                <a:latin typeface="Calibri" panose="020F0502020204030204"/>
                <a:cs typeface="Calibri" panose="020F0502020204030204"/>
              </a:rPr>
              <a:t>with</a:t>
            </a:r>
            <a:endParaRPr sz="2000">
              <a:latin typeface="Calibri" panose="020F0502020204030204"/>
              <a:cs typeface="Calibri" panose="020F0502020204030204"/>
            </a:endParaRPr>
          </a:p>
        </p:txBody>
      </p:sp>
      <p:sp>
        <p:nvSpPr>
          <p:cNvPr id="19" name="object 19"/>
          <p:cNvSpPr txBox="1"/>
          <p:nvPr/>
        </p:nvSpPr>
        <p:spPr>
          <a:xfrm>
            <a:off x="6256020" y="4038601"/>
            <a:ext cx="1117600" cy="337913"/>
          </a:xfrm>
          <a:prstGeom prst="rect">
            <a:avLst/>
          </a:prstGeom>
          <a:ln w="9144">
            <a:solidFill>
              <a:srgbClr val="000000"/>
            </a:solidFill>
          </a:ln>
        </p:spPr>
        <p:txBody>
          <a:bodyPr vert="horz" wrap="square" lIns="0" tIns="29845" rIns="0" bIns="0" rtlCol="0">
            <a:spAutoFit/>
          </a:bodyPr>
          <a:lstStyle/>
          <a:p>
            <a:pPr marL="1270" algn="ctr">
              <a:spcBef>
                <a:spcPts val="235"/>
              </a:spcBef>
            </a:pPr>
            <a:r>
              <a:rPr sz="2000" i="1" dirty="0">
                <a:latin typeface="Calibri" panose="020F0502020204030204"/>
                <a:cs typeface="Calibri" panose="020F0502020204030204"/>
              </a:rPr>
              <a:t>on</a:t>
            </a:r>
            <a:endParaRPr sz="2000">
              <a:latin typeface="Calibri" panose="020F0502020204030204"/>
              <a:cs typeface="Calibri" panose="020F0502020204030204"/>
            </a:endParaRPr>
          </a:p>
        </p:txBody>
      </p:sp>
      <p:sp>
        <p:nvSpPr>
          <p:cNvPr id="20" name="object 20"/>
          <p:cNvSpPr/>
          <p:nvPr/>
        </p:nvSpPr>
        <p:spPr>
          <a:xfrm>
            <a:off x="5840223" y="3287521"/>
            <a:ext cx="422275" cy="969644"/>
          </a:xfrm>
          <a:custGeom>
            <a:avLst/>
            <a:gdLst/>
            <a:ahLst/>
            <a:cxnLst/>
            <a:rect l="l" t="t" r="r" b="b"/>
            <a:pathLst>
              <a:path w="422275" h="969645">
                <a:moveTo>
                  <a:pt x="422021" y="884174"/>
                </a:moveTo>
                <a:lnTo>
                  <a:pt x="392785" y="896620"/>
                </a:lnTo>
                <a:lnTo>
                  <a:pt x="25704" y="34709"/>
                </a:lnTo>
                <a:lnTo>
                  <a:pt x="360121" y="391426"/>
                </a:lnTo>
                <a:lnTo>
                  <a:pt x="336931" y="413131"/>
                </a:lnTo>
                <a:lnTo>
                  <a:pt x="416814" y="442722"/>
                </a:lnTo>
                <a:lnTo>
                  <a:pt x="404317" y="400685"/>
                </a:lnTo>
                <a:lnTo>
                  <a:pt x="392557" y="361061"/>
                </a:lnTo>
                <a:lnTo>
                  <a:pt x="369366" y="382765"/>
                </a:lnTo>
                <a:lnTo>
                  <a:pt x="10414" y="0"/>
                </a:lnTo>
                <a:lnTo>
                  <a:pt x="5842" y="4318"/>
                </a:lnTo>
                <a:lnTo>
                  <a:pt x="0" y="6858"/>
                </a:lnTo>
                <a:lnTo>
                  <a:pt x="381101" y="901598"/>
                </a:lnTo>
                <a:lnTo>
                  <a:pt x="351917" y="914019"/>
                </a:lnTo>
                <a:lnTo>
                  <a:pt x="416814" y="969137"/>
                </a:lnTo>
                <a:lnTo>
                  <a:pt x="420230" y="913257"/>
                </a:lnTo>
                <a:lnTo>
                  <a:pt x="422021" y="884174"/>
                </a:lnTo>
                <a:close/>
              </a:path>
            </a:pathLst>
          </a:custGeom>
          <a:solidFill>
            <a:srgbClr val="000000"/>
          </a:solidFill>
        </p:spPr>
        <p:txBody>
          <a:bodyPr wrap="square" lIns="0" tIns="0" rIns="0" bIns="0" rtlCol="0"/>
          <a:lstStyle/>
          <a:p>
            <a:endParaRPr/>
          </a:p>
        </p:txBody>
      </p:sp>
      <p:sp>
        <p:nvSpPr>
          <p:cNvPr id="21" name="object 21"/>
          <p:cNvSpPr/>
          <p:nvPr/>
        </p:nvSpPr>
        <p:spPr>
          <a:xfrm>
            <a:off x="5840477" y="2034539"/>
            <a:ext cx="416559" cy="736600"/>
          </a:xfrm>
          <a:custGeom>
            <a:avLst/>
            <a:gdLst/>
            <a:ahLst/>
            <a:cxnLst/>
            <a:rect l="l" t="t" r="r" b="b"/>
            <a:pathLst>
              <a:path w="416560" h="736600">
                <a:moveTo>
                  <a:pt x="416560" y="0"/>
                </a:moveTo>
                <a:lnTo>
                  <a:pt x="346075" y="47752"/>
                </a:lnTo>
                <a:lnTo>
                  <a:pt x="373722" y="63309"/>
                </a:lnTo>
                <a:lnTo>
                  <a:pt x="0" y="726948"/>
                </a:lnTo>
                <a:lnTo>
                  <a:pt x="5067" y="729830"/>
                </a:lnTo>
                <a:lnTo>
                  <a:pt x="8382" y="736600"/>
                </a:lnTo>
                <a:lnTo>
                  <a:pt x="351205" y="566851"/>
                </a:lnTo>
                <a:lnTo>
                  <a:pt x="365252" y="595249"/>
                </a:lnTo>
                <a:lnTo>
                  <a:pt x="399580" y="549783"/>
                </a:lnTo>
                <a:lnTo>
                  <a:pt x="416560" y="527304"/>
                </a:lnTo>
                <a:lnTo>
                  <a:pt x="331470" y="526923"/>
                </a:lnTo>
                <a:lnTo>
                  <a:pt x="345541" y="555396"/>
                </a:lnTo>
                <a:lnTo>
                  <a:pt x="20751" y="716280"/>
                </a:lnTo>
                <a:lnTo>
                  <a:pt x="384784" y="69519"/>
                </a:lnTo>
                <a:lnTo>
                  <a:pt x="412496" y="85090"/>
                </a:lnTo>
                <a:lnTo>
                  <a:pt x="414058" y="52197"/>
                </a:lnTo>
                <a:lnTo>
                  <a:pt x="416560" y="0"/>
                </a:lnTo>
                <a:close/>
              </a:path>
            </a:pathLst>
          </a:custGeom>
          <a:solidFill>
            <a:srgbClr val="000000"/>
          </a:solidFill>
        </p:spPr>
        <p:txBody>
          <a:bodyPr wrap="square" lIns="0" tIns="0" rIns="0" bIns="0" rtlCol="0"/>
          <a:lstStyle/>
          <a:p>
            <a:endParaRPr/>
          </a:p>
        </p:txBody>
      </p:sp>
      <p:sp>
        <p:nvSpPr>
          <p:cNvPr id="22" name="object 22"/>
          <p:cNvSpPr txBox="1"/>
          <p:nvPr/>
        </p:nvSpPr>
        <p:spPr>
          <a:xfrm>
            <a:off x="7810500" y="1810511"/>
            <a:ext cx="1117600" cy="338554"/>
          </a:xfrm>
          <a:prstGeom prst="rect">
            <a:avLst/>
          </a:prstGeom>
          <a:ln w="9144">
            <a:solidFill>
              <a:srgbClr val="000000"/>
            </a:solidFill>
          </a:ln>
        </p:spPr>
        <p:txBody>
          <a:bodyPr vert="horz" wrap="square" lIns="0" tIns="30480" rIns="0" bIns="0" rtlCol="0">
            <a:spAutoFit/>
          </a:bodyPr>
          <a:lstStyle/>
          <a:p>
            <a:pPr algn="ctr">
              <a:spcBef>
                <a:spcPts val="240"/>
              </a:spcBef>
            </a:pPr>
            <a:r>
              <a:rPr sz="2000" i="1" spc="-5" dirty="0">
                <a:latin typeface="Calibri" panose="020F0502020204030204"/>
                <a:cs typeface="Calibri" panose="020F0502020204030204"/>
              </a:rPr>
              <a:t>in</a:t>
            </a:r>
            <a:endParaRPr sz="2000">
              <a:latin typeface="Calibri" panose="020F0502020204030204"/>
              <a:cs typeface="Calibri" panose="020F0502020204030204"/>
            </a:endParaRPr>
          </a:p>
        </p:txBody>
      </p:sp>
      <p:sp>
        <p:nvSpPr>
          <p:cNvPr id="23" name="object 23"/>
          <p:cNvSpPr txBox="1"/>
          <p:nvPr/>
        </p:nvSpPr>
        <p:spPr>
          <a:xfrm>
            <a:off x="7810500" y="2337816"/>
            <a:ext cx="1117600" cy="337912"/>
          </a:xfrm>
          <a:prstGeom prst="rect">
            <a:avLst/>
          </a:prstGeom>
          <a:ln w="9144">
            <a:solidFill>
              <a:srgbClr val="000000"/>
            </a:solidFill>
          </a:ln>
        </p:spPr>
        <p:txBody>
          <a:bodyPr vert="horz" wrap="square" lIns="0" tIns="29844" rIns="0" bIns="0" rtlCol="0">
            <a:spAutoFit/>
          </a:bodyPr>
          <a:lstStyle/>
          <a:p>
            <a:pPr marL="331470">
              <a:spcBef>
                <a:spcPts val="235"/>
              </a:spcBef>
            </a:pPr>
            <a:r>
              <a:rPr sz="2000" i="1" spc="-5" dirty="0">
                <a:latin typeface="Calibri" panose="020F0502020204030204"/>
                <a:cs typeface="Calibri" panose="020F0502020204030204"/>
              </a:rPr>
              <a:t>with</a:t>
            </a:r>
            <a:endParaRPr sz="2000">
              <a:latin typeface="Calibri" panose="020F0502020204030204"/>
              <a:cs typeface="Calibri" panose="020F0502020204030204"/>
            </a:endParaRPr>
          </a:p>
        </p:txBody>
      </p:sp>
      <p:sp>
        <p:nvSpPr>
          <p:cNvPr id="24" name="object 24"/>
          <p:cNvSpPr txBox="1"/>
          <p:nvPr/>
        </p:nvSpPr>
        <p:spPr>
          <a:xfrm>
            <a:off x="7810500" y="3512820"/>
            <a:ext cx="1117600" cy="337912"/>
          </a:xfrm>
          <a:prstGeom prst="rect">
            <a:avLst/>
          </a:prstGeom>
          <a:ln w="9144">
            <a:solidFill>
              <a:srgbClr val="000000"/>
            </a:solidFill>
          </a:ln>
        </p:spPr>
        <p:txBody>
          <a:bodyPr vert="horz" wrap="square" lIns="0" tIns="29844" rIns="0" bIns="0" rtlCol="0">
            <a:spAutoFit/>
          </a:bodyPr>
          <a:lstStyle/>
          <a:p>
            <a:pPr marL="635" algn="ctr">
              <a:spcBef>
                <a:spcPts val="235"/>
              </a:spcBef>
            </a:pPr>
            <a:r>
              <a:rPr sz="2000" i="1" dirty="0">
                <a:solidFill>
                  <a:srgbClr val="00AF50"/>
                </a:solidFill>
                <a:latin typeface="Calibri" panose="020F0502020204030204"/>
                <a:cs typeface="Calibri" panose="020F0502020204030204"/>
              </a:rPr>
              <a:t>a</a:t>
            </a:r>
            <a:endParaRPr sz="2000">
              <a:latin typeface="Calibri" panose="020F0502020204030204"/>
              <a:cs typeface="Calibri" panose="020F0502020204030204"/>
            </a:endParaRPr>
          </a:p>
        </p:txBody>
      </p:sp>
      <p:sp>
        <p:nvSpPr>
          <p:cNvPr id="25" name="object 25"/>
          <p:cNvSpPr txBox="1"/>
          <p:nvPr/>
        </p:nvSpPr>
        <p:spPr>
          <a:xfrm>
            <a:off x="7810500" y="4038601"/>
            <a:ext cx="1117600" cy="337913"/>
          </a:xfrm>
          <a:prstGeom prst="rect">
            <a:avLst/>
          </a:prstGeom>
          <a:ln w="9144">
            <a:solidFill>
              <a:srgbClr val="000000"/>
            </a:solidFill>
          </a:ln>
        </p:spPr>
        <p:txBody>
          <a:bodyPr vert="horz" wrap="square" lIns="0" tIns="29845" rIns="0" bIns="0" rtlCol="0">
            <a:spAutoFit/>
          </a:bodyPr>
          <a:lstStyle/>
          <a:p>
            <a:pPr marL="366395">
              <a:spcBef>
                <a:spcPts val="235"/>
              </a:spcBef>
            </a:pPr>
            <a:r>
              <a:rPr sz="2000" i="1" spc="-5" dirty="0">
                <a:solidFill>
                  <a:srgbClr val="00AF50"/>
                </a:solidFill>
                <a:latin typeface="Calibri" panose="020F0502020204030204"/>
                <a:cs typeface="Calibri" panose="020F0502020204030204"/>
              </a:rPr>
              <a:t>one</a:t>
            </a:r>
            <a:endParaRPr sz="2000">
              <a:latin typeface="Calibri" panose="020F0502020204030204"/>
              <a:cs typeface="Calibri" panose="020F0502020204030204"/>
            </a:endParaRPr>
          </a:p>
        </p:txBody>
      </p:sp>
      <p:sp>
        <p:nvSpPr>
          <p:cNvPr id="26" name="object 26"/>
          <p:cNvSpPr/>
          <p:nvPr/>
        </p:nvSpPr>
        <p:spPr>
          <a:xfrm>
            <a:off x="7368160" y="2028443"/>
            <a:ext cx="441959" cy="566420"/>
          </a:xfrm>
          <a:custGeom>
            <a:avLst/>
            <a:gdLst/>
            <a:ahLst/>
            <a:cxnLst/>
            <a:rect l="l" t="t" r="r" b="b"/>
            <a:pathLst>
              <a:path w="441960" h="566419">
                <a:moveTo>
                  <a:pt x="441833" y="0"/>
                </a:moveTo>
                <a:lnTo>
                  <a:pt x="363982" y="34798"/>
                </a:lnTo>
                <a:lnTo>
                  <a:pt x="388543" y="54927"/>
                </a:lnTo>
                <a:lnTo>
                  <a:pt x="0" y="528701"/>
                </a:lnTo>
                <a:lnTo>
                  <a:pt x="4927" y="532701"/>
                </a:lnTo>
                <a:lnTo>
                  <a:pt x="5080" y="539750"/>
                </a:lnTo>
                <a:lnTo>
                  <a:pt x="365658" y="534720"/>
                </a:lnTo>
                <a:lnTo>
                  <a:pt x="366141" y="566420"/>
                </a:lnTo>
                <a:lnTo>
                  <a:pt x="441833" y="527304"/>
                </a:lnTo>
                <a:lnTo>
                  <a:pt x="430517" y="521843"/>
                </a:lnTo>
                <a:lnTo>
                  <a:pt x="364998" y="490220"/>
                </a:lnTo>
                <a:lnTo>
                  <a:pt x="365467" y="522020"/>
                </a:lnTo>
                <a:lnTo>
                  <a:pt x="17957" y="526872"/>
                </a:lnTo>
                <a:lnTo>
                  <a:pt x="398322" y="62928"/>
                </a:lnTo>
                <a:lnTo>
                  <a:pt x="422910" y="83058"/>
                </a:lnTo>
                <a:lnTo>
                  <a:pt x="431558" y="45085"/>
                </a:lnTo>
                <a:lnTo>
                  <a:pt x="441833" y="0"/>
                </a:lnTo>
                <a:close/>
              </a:path>
            </a:pathLst>
          </a:custGeom>
          <a:solidFill>
            <a:srgbClr val="000000"/>
          </a:solidFill>
        </p:spPr>
        <p:txBody>
          <a:bodyPr wrap="square" lIns="0" tIns="0" rIns="0" bIns="0" rtlCol="0"/>
          <a:lstStyle/>
          <a:p>
            <a:endParaRPr/>
          </a:p>
        </p:txBody>
      </p:sp>
      <p:sp>
        <p:nvSpPr>
          <p:cNvPr id="27" name="object 27"/>
          <p:cNvSpPr/>
          <p:nvPr/>
        </p:nvSpPr>
        <p:spPr>
          <a:xfrm>
            <a:off x="7368287" y="3692651"/>
            <a:ext cx="441959" cy="565150"/>
          </a:xfrm>
          <a:custGeom>
            <a:avLst/>
            <a:gdLst/>
            <a:ahLst/>
            <a:cxnLst/>
            <a:rect l="l" t="t" r="r" b="b"/>
            <a:pathLst>
              <a:path w="441960" h="565150">
                <a:moveTo>
                  <a:pt x="441706" y="38100"/>
                </a:moveTo>
                <a:lnTo>
                  <a:pt x="429006" y="31750"/>
                </a:lnTo>
                <a:lnTo>
                  <a:pt x="365506" y="0"/>
                </a:lnTo>
                <a:lnTo>
                  <a:pt x="365506" y="31750"/>
                </a:lnTo>
                <a:lnTo>
                  <a:pt x="4826" y="31750"/>
                </a:lnTo>
                <a:lnTo>
                  <a:pt x="4826" y="38100"/>
                </a:lnTo>
                <a:lnTo>
                  <a:pt x="0" y="42164"/>
                </a:lnTo>
                <a:lnTo>
                  <a:pt x="388150" y="510070"/>
                </a:lnTo>
                <a:lnTo>
                  <a:pt x="363728" y="530352"/>
                </a:lnTo>
                <a:lnTo>
                  <a:pt x="441706" y="564642"/>
                </a:lnTo>
                <a:lnTo>
                  <a:pt x="431190" y="519811"/>
                </a:lnTo>
                <a:lnTo>
                  <a:pt x="422275" y="481711"/>
                </a:lnTo>
                <a:lnTo>
                  <a:pt x="397929" y="501942"/>
                </a:lnTo>
                <a:lnTo>
                  <a:pt x="18288" y="44450"/>
                </a:lnTo>
                <a:lnTo>
                  <a:pt x="365506" y="44450"/>
                </a:lnTo>
                <a:lnTo>
                  <a:pt x="365506" y="76200"/>
                </a:lnTo>
                <a:lnTo>
                  <a:pt x="429006" y="44450"/>
                </a:lnTo>
                <a:lnTo>
                  <a:pt x="441706" y="38100"/>
                </a:lnTo>
                <a:close/>
              </a:path>
            </a:pathLst>
          </a:custGeom>
          <a:solidFill>
            <a:srgbClr val="000000"/>
          </a:solidFill>
        </p:spPr>
        <p:txBody>
          <a:bodyPr wrap="square" lIns="0" tIns="0" rIns="0" bIns="0" rtlCol="0"/>
          <a:lstStyle/>
          <a:p>
            <a:endParaRPr/>
          </a:p>
        </p:txBody>
      </p:sp>
      <p:sp>
        <p:nvSpPr>
          <p:cNvPr id="28" name="object 28"/>
          <p:cNvSpPr txBox="1"/>
          <p:nvPr/>
        </p:nvSpPr>
        <p:spPr>
          <a:xfrm>
            <a:off x="1524001" y="4038601"/>
            <a:ext cx="1167765" cy="337913"/>
          </a:xfrm>
          <a:prstGeom prst="rect">
            <a:avLst/>
          </a:prstGeom>
          <a:ln w="9143">
            <a:solidFill>
              <a:srgbClr val="000000"/>
            </a:solidFill>
          </a:ln>
        </p:spPr>
        <p:txBody>
          <a:bodyPr vert="horz" wrap="square" lIns="0" tIns="29845" rIns="0" bIns="0" rtlCol="0">
            <a:spAutoFit/>
          </a:bodyPr>
          <a:lstStyle/>
          <a:p>
            <a:pPr marL="131445">
              <a:spcBef>
                <a:spcPts val="235"/>
              </a:spcBef>
            </a:pPr>
            <a:r>
              <a:rPr sz="2000" i="1" spc="-5" dirty="0">
                <a:latin typeface="Calibri" panose="020F0502020204030204"/>
                <a:cs typeface="Calibri" panose="020F0502020204030204"/>
              </a:rPr>
              <a:t>&lt;START&gt;</a:t>
            </a:r>
            <a:endParaRPr sz="2000">
              <a:latin typeface="Calibri" panose="020F0502020204030204"/>
              <a:cs typeface="Calibri" panose="020F0502020204030204"/>
            </a:endParaRPr>
          </a:p>
        </p:txBody>
      </p:sp>
      <p:sp>
        <p:nvSpPr>
          <p:cNvPr id="29" name="object 29"/>
          <p:cNvSpPr txBox="1"/>
          <p:nvPr/>
        </p:nvSpPr>
        <p:spPr>
          <a:xfrm>
            <a:off x="2308859" y="3107436"/>
            <a:ext cx="571500" cy="337913"/>
          </a:xfrm>
          <a:prstGeom prst="rect">
            <a:avLst/>
          </a:prstGeom>
          <a:ln w="9143">
            <a:solidFill>
              <a:srgbClr val="000000"/>
            </a:solidFill>
          </a:ln>
        </p:spPr>
        <p:txBody>
          <a:bodyPr vert="horz" wrap="square" lIns="0" tIns="29845" rIns="0" bIns="0" rtlCol="0">
            <a:spAutoFit/>
          </a:bodyPr>
          <a:lstStyle/>
          <a:p>
            <a:pPr marL="158750">
              <a:spcBef>
                <a:spcPts val="235"/>
              </a:spcBef>
            </a:pPr>
            <a:r>
              <a:rPr sz="2000" i="1" dirty="0">
                <a:latin typeface="Calibri" panose="020F0502020204030204"/>
                <a:cs typeface="Calibri" panose="020F0502020204030204"/>
              </a:rPr>
              <a:t>he</a:t>
            </a:r>
            <a:endParaRPr sz="2000">
              <a:latin typeface="Calibri" panose="020F0502020204030204"/>
              <a:cs typeface="Calibri" panose="020F0502020204030204"/>
            </a:endParaRPr>
          </a:p>
        </p:txBody>
      </p:sp>
      <p:sp>
        <p:nvSpPr>
          <p:cNvPr id="30" name="object 30"/>
          <p:cNvSpPr txBox="1"/>
          <p:nvPr/>
        </p:nvSpPr>
        <p:spPr>
          <a:xfrm>
            <a:off x="2308859" y="4971289"/>
            <a:ext cx="571500" cy="337271"/>
          </a:xfrm>
          <a:prstGeom prst="rect">
            <a:avLst/>
          </a:prstGeom>
          <a:ln w="9143">
            <a:solidFill>
              <a:srgbClr val="000000"/>
            </a:solidFill>
          </a:ln>
        </p:spPr>
        <p:txBody>
          <a:bodyPr vert="horz" wrap="square" lIns="0" tIns="29209" rIns="0" bIns="0" rtlCol="0">
            <a:spAutoFit/>
          </a:bodyPr>
          <a:lstStyle/>
          <a:p>
            <a:pPr algn="ctr">
              <a:spcBef>
                <a:spcPts val="230"/>
              </a:spcBef>
            </a:pPr>
            <a:r>
              <a:rPr sz="2000" i="1" dirty="0">
                <a:latin typeface="Calibri" panose="020F0502020204030204"/>
                <a:cs typeface="Calibri" panose="020F0502020204030204"/>
              </a:rPr>
              <a:t>I</a:t>
            </a:r>
            <a:endParaRPr sz="2000">
              <a:latin typeface="Calibri" panose="020F0502020204030204"/>
              <a:cs typeface="Calibri" panose="020F0502020204030204"/>
            </a:endParaRPr>
          </a:p>
        </p:txBody>
      </p:sp>
      <p:sp>
        <p:nvSpPr>
          <p:cNvPr id="31" name="object 31"/>
          <p:cNvSpPr/>
          <p:nvPr/>
        </p:nvSpPr>
        <p:spPr>
          <a:xfrm>
            <a:off x="2103158" y="3543300"/>
            <a:ext cx="491490" cy="500380"/>
          </a:xfrm>
          <a:custGeom>
            <a:avLst/>
            <a:gdLst/>
            <a:ahLst/>
            <a:cxnLst/>
            <a:rect l="l" t="t" r="r" b="b"/>
            <a:pathLst>
              <a:path w="491490" h="500379">
                <a:moveTo>
                  <a:pt x="433491" y="49928"/>
                </a:moveTo>
                <a:lnTo>
                  <a:pt x="0" y="491236"/>
                </a:lnTo>
                <a:lnTo>
                  <a:pt x="9067" y="500125"/>
                </a:lnTo>
                <a:lnTo>
                  <a:pt x="442556" y="58822"/>
                </a:lnTo>
                <a:lnTo>
                  <a:pt x="433491" y="49928"/>
                </a:lnTo>
                <a:close/>
              </a:path>
              <a:path w="491490" h="500379">
                <a:moveTo>
                  <a:pt x="478171" y="40894"/>
                </a:moveTo>
                <a:lnTo>
                  <a:pt x="442366" y="40894"/>
                </a:lnTo>
                <a:lnTo>
                  <a:pt x="451434" y="49784"/>
                </a:lnTo>
                <a:lnTo>
                  <a:pt x="442556" y="58822"/>
                </a:lnTo>
                <a:lnTo>
                  <a:pt x="465188" y="81025"/>
                </a:lnTo>
                <a:lnTo>
                  <a:pt x="478171" y="40894"/>
                </a:lnTo>
                <a:close/>
              </a:path>
              <a:path w="491490" h="500379">
                <a:moveTo>
                  <a:pt x="442366" y="40894"/>
                </a:moveTo>
                <a:lnTo>
                  <a:pt x="433491" y="49928"/>
                </a:lnTo>
                <a:lnTo>
                  <a:pt x="442556" y="58822"/>
                </a:lnTo>
                <a:lnTo>
                  <a:pt x="451434" y="49784"/>
                </a:lnTo>
                <a:lnTo>
                  <a:pt x="442366" y="40894"/>
                </a:lnTo>
                <a:close/>
              </a:path>
              <a:path w="491490" h="500379">
                <a:moveTo>
                  <a:pt x="491401" y="0"/>
                </a:moveTo>
                <a:lnTo>
                  <a:pt x="410819" y="27686"/>
                </a:lnTo>
                <a:lnTo>
                  <a:pt x="433491" y="49928"/>
                </a:lnTo>
                <a:lnTo>
                  <a:pt x="442366" y="40894"/>
                </a:lnTo>
                <a:lnTo>
                  <a:pt x="478171" y="40894"/>
                </a:lnTo>
                <a:lnTo>
                  <a:pt x="491401" y="0"/>
                </a:lnTo>
                <a:close/>
              </a:path>
            </a:pathLst>
          </a:custGeom>
          <a:solidFill>
            <a:srgbClr val="000000"/>
          </a:solidFill>
        </p:spPr>
        <p:txBody>
          <a:bodyPr wrap="square" lIns="0" tIns="0" rIns="0" bIns="0" rtlCol="0"/>
          <a:lstStyle/>
          <a:p>
            <a:endParaRPr/>
          </a:p>
        </p:txBody>
      </p:sp>
      <p:sp>
        <p:nvSpPr>
          <p:cNvPr id="32" name="object 32"/>
          <p:cNvSpPr/>
          <p:nvPr/>
        </p:nvSpPr>
        <p:spPr>
          <a:xfrm>
            <a:off x="2103158" y="4470020"/>
            <a:ext cx="491490" cy="501015"/>
          </a:xfrm>
          <a:custGeom>
            <a:avLst/>
            <a:gdLst/>
            <a:ahLst/>
            <a:cxnLst/>
            <a:rect l="l" t="t" r="r" b="b"/>
            <a:pathLst>
              <a:path w="491490" h="501014">
                <a:moveTo>
                  <a:pt x="433458" y="450760"/>
                </a:moveTo>
                <a:lnTo>
                  <a:pt x="410832" y="472947"/>
                </a:lnTo>
                <a:lnTo>
                  <a:pt x="491401" y="500760"/>
                </a:lnTo>
                <a:lnTo>
                  <a:pt x="478211" y="459866"/>
                </a:lnTo>
                <a:lnTo>
                  <a:pt x="442391" y="459866"/>
                </a:lnTo>
                <a:lnTo>
                  <a:pt x="433458" y="450760"/>
                </a:lnTo>
                <a:close/>
              </a:path>
              <a:path w="491490" h="501014">
                <a:moveTo>
                  <a:pt x="442525" y="441869"/>
                </a:moveTo>
                <a:lnTo>
                  <a:pt x="433458" y="450760"/>
                </a:lnTo>
                <a:lnTo>
                  <a:pt x="442391" y="459866"/>
                </a:lnTo>
                <a:lnTo>
                  <a:pt x="451459" y="450976"/>
                </a:lnTo>
                <a:lnTo>
                  <a:pt x="442525" y="441869"/>
                </a:lnTo>
                <a:close/>
              </a:path>
              <a:path w="491490" h="501014">
                <a:moveTo>
                  <a:pt x="465226" y="419607"/>
                </a:moveTo>
                <a:lnTo>
                  <a:pt x="442525" y="441869"/>
                </a:lnTo>
                <a:lnTo>
                  <a:pt x="451459" y="450976"/>
                </a:lnTo>
                <a:lnTo>
                  <a:pt x="442391" y="459866"/>
                </a:lnTo>
                <a:lnTo>
                  <a:pt x="478211" y="459866"/>
                </a:lnTo>
                <a:lnTo>
                  <a:pt x="465226" y="419607"/>
                </a:lnTo>
                <a:close/>
              </a:path>
              <a:path w="491490" h="501014">
                <a:moveTo>
                  <a:pt x="9067" y="0"/>
                </a:moveTo>
                <a:lnTo>
                  <a:pt x="0" y="8889"/>
                </a:lnTo>
                <a:lnTo>
                  <a:pt x="433458" y="450760"/>
                </a:lnTo>
                <a:lnTo>
                  <a:pt x="442525" y="441869"/>
                </a:lnTo>
                <a:lnTo>
                  <a:pt x="9067" y="0"/>
                </a:lnTo>
                <a:close/>
              </a:path>
            </a:pathLst>
          </a:custGeom>
          <a:solidFill>
            <a:srgbClr val="000000"/>
          </a:solidFill>
        </p:spPr>
        <p:txBody>
          <a:bodyPr wrap="square" lIns="0" tIns="0" rIns="0" bIns="0" rtlCol="0"/>
          <a:lstStyle/>
          <a:p>
            <a:endParaRPr/>
          </a:p>
        </p:txBody>
      </p:sp>
      <p:sp>
        <p:nvSpPr>
          <p:cNvPr id="34" name="object 34"/>
          <p:cNvSpPr txBox="1"/>
          <p:nvPr/>
        </p:nvSpPr>
        <p:spPr>
          <a:xfrm>
            <a:off x="2384857" y="2785617"/>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-0.7</a:t>
            </a:r>
            <a:endParaRPr>
              <a:latin typeface="Calibri" panose="020F0502020204030204"/>
              <a:cs typeface="Calibri" panose="020F0502020204030204"/>
            </a:endParaRPr>
          </a:p>
        </p:txBody>
      </p:sp>
      <p:sp>
        <p:nvSpPr>
          <p:cNvPr id="35" name="object 35"/>
          <p:cNvSpPr txBox="1"/>
          <p:nvPr/>
        </p:nvSpPr>
        <p:spPr>
          <a:xfrm>
            <a:off x="2384857" y="5439562"/>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-0.9</a:t>
            </a:r>
            <a:endParaRPr>
              <a:latin typeface="Calibri" panose="020F0502020204030204"/>
              <a:cs typeface="Calibri" panose="020F0502020204030204"/>
            </a:endParaRPr>
          </a:p>
        </p:txBody>
      </p:sp>
      <p:sp>
        <p:nvSpPr>
          <p:cNvPr id="36" name="object 36"/>
          <p:cNvSpPr txBox="1"/>
          <p:nvPr/>
        </p:nvSpPr>
        <p:spPr>
          <a:xfrm>
            <a:off x="3626612" y="4340479"/>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-1.6</a:t>
            </a:r>
            <a:endParaRPr>
              <a:latin typeface="Calibri" panose="020F0502020204030204"/>
              <a:cs typeface="Calibri" panose="020F0502020204030204"/>
            </a:endParaRPr>
          </a:p>
        </p:txBody>
      </p:sp>
      <p:sp>
        <p:nvSpPr>
          <p:cNvPr id="37" name="object 37"/>
          <p:cNvSpPr txBox="1"/>
          <p:nvPr/>
        </p:nvSpPr>
        <p:spPr>
          <a:xfrm>
            <a:off x="3626612" y="5683708"/>
            <a:ext cx="385445" cy="300355"/>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-1.8</a:t>
            </a:r>
            <a:endParaRPr>
              <a:latin typeface="Calibri" panose="020F0502020204030204"/>
              <a:cs typeface="Calibri" panose="020F0502020204030204"/>
            </a:endParaRPr>
          </a:p>
        </p:txBody>
      </p:sp>
      <p:sp>
        <p:nvSpPr>
          <p:cNvPr id="38" name="object 38"/>
          <p:cNvSpPr txBox="1"/>
          <p:nvPr/>
        </p:nvSpPr>
        <p:spPr>
          <a:xfrm>
            <a:off x="3626612" y="2481198"/>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-1.7</a:t>
            </a:r>
            <a:endParaRPr>
              <a:latin typeface="Calibri" panose="020F0502020204030204"/>
              <a:cs typeface="Calibri" panose="020F0502020204030204"/>
            </a:endParaRPr>
          </a:p>
        </p:txBody>
      </p:sp>
      <p:sp>
        <p:nvSpPr>
          <p:cNvPr id="39" name="object 39"/>
          <p:cNvSpPr txBox="1"/>
          <p:nvPr/>
        </p:nvSpPr>
        <p:spPr>
          <a:xfrm>
            <a:off x="3626612" y="3800602"/>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-2.9</a:t>
            </a:r>
            <a:endParaRPr>
              <a:latin typeface="Calibri" panose="020F0502020204030204"/>
              <a:cs typeface="Calibri" panose="020F0502020204030204"/>
            </a:endParaRPr>
          </a:p>
        </p:txBody>
      </p:sp>
      <p:sp>
        <p:nvSpPr>
          <p:cNvPr id="40" name="object 40"/>
          <p:cNvSpPr txBox="1"/>
          <p:nvPr/>
        </p:nvSpPr>
        <p:spPr>
          <a:xfrm>
            <a:off x="5081779" y="3525392"/>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-2.5</a:t>
            </a:r>
            <a:endParaRPr>
              <a:latin typeface="Calibri" panose="020F0502020204030204"/>
              <a:cs typeface="Calibri" panose="020F0502020204030204"/>
            </a:endParaRPr>
          </a:p>
        </p:txBody>
      </p:sp>
      <p:sp>
        <p:nvSpPr>
          <p:cNvPr id="41" name="object 41"/>
          <p:cNvSpPr txBox="1"/>
          <p:nvPr/>
        </p:nvSpPr>
        <p:spPr>
          <a:xfrm>
            <a:off x="5081779" y="2184272"/>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-2.8</a:t>
            </a:r>
            <a:endParaRPr>
              <a:latin typeface="Calibri" panose="020F0502020204030204"/>
              <a:cs typeface="Calibri" panose="020F0502020204030204"/>
            </a:endParaRPr>
          </a:p>
        </p:txBody>
      </p:sp>
      <p:sp>
        <p:nvSpPr>
          <p:cNvPr id="42" name="object 42"/>
          <p:cNvSpPr txBox="1"/>
          <p:nvPr/>
        </p:nvSpPr>
        <p:spPr>
          <a:xfrm>
            <a:off x="5081779" y="5406949"/>
            <a:ext cx="385445" cy="300355"/>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-3.8</a:t>
            </a:r>
            <a:endParaRPr>
              <a:latin typeface="Calibri" panose="020F0502020204030204"/>
              <a:cs typeface="Calibri" panose="020F0502020204030204"/>
            </a:endParaRPr>
          </a:p>
        </p:txBody>
      </p:sp>
      <p:sp>
        <p:nvSpPr>
          <p:cNvPr id="43" name="object 43"/>
          <p:cNvSpPr txBox="1"/>
          <p:nvPr/>
        </p:nvSpPr>
        <p:spPr>
          <a:xfrm>
            <a:off x="5081779" y="4079494"/>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-2.9</a:t>
            </a:r>
            <a:endParaRPr>
              <a:latin typeface="Calibri" panose="020F0502020204030204"/>
              <a:cs typeface="Calibri" panose="020F0502020204030204"/>
            </a:endParaRPr>
          </a:p>
        </p:txBody>
      </p:sp>
      <p:sp>
        <p:nvSpPr>
          <p:cNvPr id="45" name="object 45"/>
          <p:cNvSpPr txBox="1"/>
          <p:nvPr/>
        </p:nvSpPr>
        <p:spPr>
          <a:xfrm>
            <a:off x="6609716" y="4482210"/>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-3.5</a:t>
            </a:r>
            <a:endParaRPr>
              <a:latin typeface="Calibri" panose="020F0502020204030204"/>
              <a:cs typeface="Calibri" panose="020F0502020204030204"/>
            </a:endParaRPr>
          </a:p>
        </p:txBody>
      </p:sp>
      <p:sp>
        <p:nvSpPr>
          <p:cNvPr id="46" name="object 46"/>
          <p:cNvSpPr txBox="1"/>
          <p:nvPr/>
        </p:nvSpPr>
        <p:spPr>
          <a:xfrm>
            <a:off x="6609716" y="3208146"/>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-3.3</a:t>
            </a:r>
            <a:endParaRPr>
              <a:latin typeface="Calibri" panose="020F0502020204030204"/>
              <a:cs typeface="Calibri" panose="020F0502020204030204"/>
            </a:endParaRPr>
          </a:p>
        </p:txBody>
      </p:sp>
      <p:sp>
        <p:nvSpPr>
          <p:cNvPr id="47" name="object 47"/>
          <p:cNvSpPr txBox="1"/>
          <p:nvPr/>
        </p:nvSpPr>
        <p:spPr>
          <a:xfrm>
            <a:off x="6609716" y="1455801"/>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-4.0</a:t>
            </a:r>
            <a:endParaRPr>
              <a:latin typeface="Calibri" panose="020F0502020204030204"/>
              <a:cs typeface="Calibri" panose="020F0502020204030204"/>
            </a:endParaRPr>
          </a:p>
        </p:txBody>
      </p:sp>
      <p:sp>
        <p:nvSpPr>
          <p:cNvPr id="48" name="object 48"/>
          <p:cNvSpPr txBox="1"/>
          <p:nvPr/>
        </p:nvSpPr>
        <p:spPr>
          <a:xfrm>
            <a:off x="6609715" y="2762200"/>
            <a:ext cx="386080" cy="300355"/>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-3.4</a:t>
            </a:r>
            <a:endParaRPr>
              <a:latin typeface="Calibri" panose="020F0502020204030204"/>
              <a:cs typeface="Calibri" panose="020F0502020204030204"/>
            </a:endParaRPr>
          </a:p>
        </p:txBody>
      </p:sp>
      <p:sp>
        <p:nvSpPr>
          <p:cNvPr id="49" name="object 49"/>
          <p:cNvSpPr txBox="1"/>
          <p:nvPr/>
        </p:nvSpPr>
        <p:spPr>
          <a:xfrm>
            <a:off x="8197723" y="3201670"/>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-3.7</a:t>
            </a:r>
            <a:endParaRPr>
              <a:latin typeface="Calibri" panose="020F0502020204030204"/>
              <a:cs typeface="Calibri" panose="020F0502020204030204"/>
            </a:endParaRPr>
          </a:p>
        </p:txBody>
      </p:sp>
      <p:sp>
        <p:nvSpPr>
          <p:cNvPr id="50" name="object 50"/>
          <p:cNvSpPr txBox="1"/>
          <p:nvPr/>
        </p:nvSpPr>
        <p:spPr>
          <a:xfrm>
            <a:off x="8197723" y="4484878"/>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-4.3</a:t>
            </a:r>
            <a:endParaRPr>
              <a:latin typeface="Calibri" panose="020F0502020204030204"/>
              <a:cs typeface="Calibri" panose="020F0502020204030204"/>
            </a:endParaRPr>
          </a:p>
        </p:txBody>
      </p:sp>
      <p:sp>
        <p:nvSpPr>
          <p:cNvPr id="51" name="object 51"/>
          <p:cNvSpPr txBox="1"/>
          <p:nvPr/>
        </p:nvSpPr>
        <p:spPr>
          <a:xfrm>
            <a:off x="8197723" y="2775330"/>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-4.5</a:t>
            </a:r>
            <a:endParaRPr>
              <a:latin typeface="Calibri" panose="020F0502020204030204"/>
              <a:cs typeface="Calibri" panose="020F0502020204030204"/>
            </a:endParaRPr>
          </a:p>
        </p:txBody>
      </p:sp>
      <p:sp>
        <p:nvSpPr>
          <p:cNvPr id="52" name="object 52"/>
          <p:cNvSpPr txBox="1"/>
          <p:nvPr/>
        </p:nvSpPr>
        <p:spPr>
          <a:xfrm>
            <a:off x="8197723" y="1436623"/>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-4.8</a:t>
            </a:r>
            <a:endParaRPr>
              <a:latin typeface="Calibri" panose="020F0502020204030204"/>
              <a:cs typeface="Calibri" panose="020F0502020204030204"/>
            </a:endParaRPr>
          </a:p>
        </p:txBody>
      </p:sp>
      <p:sp>
        <p:nvSpPr>
          <p:cNvPr id="53" name="object 53"/>
          <p:cNvSpPr txBox="1"/>
          <p:nvPr/>
        </p:nvSpPr>
        <p:spPr>
          <a:xfrm>
            <a:off x="6875780" y="6083300"/>
            <a:ext cx="3947795" cy="584835"/>
          </a:xfrm>
          <a:prstGeom prst="rect">
            <a:avLst/>
          </a:prstGeom>
          <a:ln w="19811">
            <a:solidFill>
              <a:srgbClr val="BA56BD"/>
            </a:solidFill>
          </a:ln>
        </p:spPr>
        <p:txBody>
          <a:bodyPr vert="horz" wrap="square" lIns="0" tIns="31115" rIns="0" bIns="0" rtlCol="0">
            <a:spAutoFit/>
          </a:bodyPr>
          <a:lstStyle/>
          <a:p>
            <a:pPr algn="ctr">
              <a:spcBef>
                <a:spcPts val="245"/>
              </a:spcBef>
            </a:pPr>
            <a:r>
              <a:rPr spc="-5" dirty="0">
                <a:solidFill>
                  <a:srgbClr val="BA56BD"/>
                </a:solidFill>
                <a:cs typeface="Calibri" panose="020F0502020204030204"/>
              </a:rPr>
              <a:t>Of</a:t>
            </a:r>
            <a:r>
              <a:rPr spc="-10" dirty="0">
                <a:solidFill>
                  <a:srgbClr val="BA56BD"/>
                </a:solidFill>
                <a:cs typeface="Calibri" panose="020F0502020204030204"/>
              </a:rPr>
              <a:t> </a:t>
            </a:r>
            <a:r>
              <a:rPr spc="-5" dirty="0">
                <a:solidFill>
                  <a:srgbClr val="BA56BD"/>
                </a:solidFill>
                <a:cs typeface="Calibri" panose="020F0502020204030204"/>
              </a:rPr>
              <a:t>these </a:t>
            </a:r>
            <a:r>
              <a:rPr i="1" spc="-5" dirty="0">
                <a:solidFill>
                  <a:srgbClr val="BA56BD"/>
                </a:solidFill>
                <a:cs typeface="Calibri" panose="020F0502020204030204"/>
              </a:rPr>
              <a:t>k</a:t>
            </a:r>
            <a:r>
              <a:rPr spc="-7" baseline="25000" dirty="0">
                <a:solidFill>
                  <a:srgbClr val="BA56BD"/>
                </a:solidFill>
                <a:cs typeface="Calibri" panose="020F0502020204030204"/>
              </a:rPr>
              <a:t>2</a:t>
            </a:r>
            <a:r>
              <a:rPr spc="195" baseline="25000" dirty="0">
                <a:solidFill>
                  <a:srgbClr val="BA56BD"/>
                </a:solidFill>
                <a:cs typeface="Calibri" panose="020F0502020204030204"/>
              </a:rPr>
              <a:t> </a:t>
            </a:r>
            <a:r>
              <a:rPr spc="-5" dirty="0">
                <a:solidFill>
                  <a:srgbClr val="BA56BD"/>
                </a:solidFill>
                <a:cs typeface="Calibri" panose="020F0502020204030204"/>
              </a:rPr>
              <a:t>hypotheses,</a:t>
            </a:r>
            <a:endParaRPr>
              <a:cs typeface="Calibri" panose="020F0502020204030204"/>
            </a:endParaRPr>
          </a:p>
          <a:p>
            <a:pPr algn="ctr">
              <a:lnSpc>
                <a:spcPct val="100000"/>
              </a:lnSpc>
            </a:pPr>
            <a:r>
              <a:rPr spc="-10" dirty="0">
                <a:solidFill>
                  <a:srgbClr val="BA56BD"/>
                </a:solidFill>
                <a:cs typeface="Calibri" panose="020F0502020204030204"/>
              </a:rPr>
              <a:t>just </a:t>
            </a:r>
            <a:r>
              <a:rPr spc="-15" dirty="0">
                <a:solidFill>
                  <a:srgbClr val="BA56BD"/>
                </a:solidFill>
                <a:cs typeface="Calibri" panose="020F0502020204030204"/>
              </a:rPr>
              <a:t>keep</a:t>
            </a:r>
            <a:r>
              <a:rPr spc="-5" dirty="0">
                <a:solidFill>
                  <a:srgbClr val="BA56BD"/>
                </a:solidFill>
                <a:cs typeface="Calibri" panose="020F0502020204030204"/>
              </a:rPr>
              <a:t> </a:t>
            </a:r>
            <a:r>
              <a:rPr i="1" dirty="0">
                <a:solidFill>
                  <a:srgbClr val="BA56BD"/>
                </a:solidFill>
                <a:cs typeface="Calibri" panose="020F0502020204030204"/>
              </a:rPr>
              <a:t>k</a:t>
            </a:r>
            <a:r>
              <a:rPr i="1" spc="-5" dirty="0">
                <a:solidFill>
                  <a:srgbClr val="BA56BD"/>
                </a:solidFill>
                <a:cs typeface="Calibri" panose="020F0502020204030204"/>
              </a:rPr>
              <a:t> </a:t>
            </a:r>
            <a:r>
              <a:rPr spc="-5" dirty="0">
                <a:solidFill>
                  <a:srgbClr val="BA56BD"/>
                </a:solidFill>
                <a:cs typeface="Calibri" panose="020F0502020204030204"/>
              </a:rPr>
              <a:t>with</a:t>
            </a:r>
            <a:r>
              <a:rPr spc="5" dirty="0">
                <a:solidFill>
                  <a:srgbClr val="BA56BD"/>
                </a:solidFill>
                <a:cs typeface="Calibri" panose="020F0502020204030204"/>
              </a:rPr>
              <a:t> </a:t>
            </a:r>
            <a:r>
              <a:rPr spc="-10" dirty="0">
                <a:solidFill>
                  <a:srgbClr val="BA56BD"/>
                </a:solidFill>
                <a:cs typeface="Calibri" panose="020F0502020204030204"/>
              </a:rPr>
              <a:t>highest</a:t>
            </a:r>
            <a:r>
              <a:rPr spc="-5" dirty="0">
                <a:solidFill>
                  <a:srgbClr val="BA56BD"/>
                </a:solidFill>
                <a:cs typeface="Calibri" panose="020F0502020204030204"/>
              </a:rPr>
              <a:t> </a:t>
            </a:r>
            <a:r>
              <a:rPr spc="-10" dirty="0">
                <a:solidFill>
                  <a:srgbClr val="BA56BD"/>
                </a:solidFill>
                <a:cs typeface="Calibri" panose="020F0502020204030204"/>
              </a:rPr>
              <a:t>scores</a:t>
            </a:r>
            <a:endParaRPr>
              <a:cs typeface="Calibri" panose="020F0502020204030204"/>
            </a:endParaRPr>
          </a:p>
        </p:txBody>
      </p:sp>
      <p:grpSp>
        <p:nvGrpSpPr>
          <p:cNvPr id="55" name="Group 54"/>
          <p:cNvGrpSpPr/>
          <p:nvPr/>
        </p:nvGrpSpPr>
        <p:grpSpPr>
          <a:xfrm>
            <a:off x="1875934" y="646192"/>
            <a:ext cx="8356238" cy="736600"/>
            <a:chOff x="1875934" y="646192"/>
            <a:chExt cx="8356238" cy="736600"/>
          </a:xfrm>
        </p:grpSpPr>
        <p:sp>
          <p:nvSpPr>
            <p:cNvPr id="56" name="object 3"/>
            <p:cNvSpPr txBox="1"/>
            <p:nvPr/>
          </p:nvSpPr>
          <p:spPr>
            <a:xfrm>
              <a:off x="1875934" y="840487"/>
              <a:ext cx="3557126" cy="321242"/>
            </a:xfrm>
            <a:prstGeom prst="rect">
              <a:avLst/>
            </a:prstGeom>
          </p:spPr>
          <p:txBody>
            <a:bodyPr vert="horz" wrap="square" lIns="0" tIns="13335" rIns="0" bIns="0" rtlCol="0">
              <a:spAutoFit/>
            </a:bodyPr>
            <a:lstStyle/>
            <a:p>
              <a:pPr marL="12700">
                <a:spcBef>
                  <a:spcPts val="105"/>
                </a:spcBef>
              </a:pPr>
              <a:r>
                <a:rPr sz="2000" b="1" dirty="0">
                  <a:cs typeface="Calibri" panose="020F0502020204030204"/>
                </a:rPr>
                <a:t>Beam</a:t>
              </a:r>
              <a:r>
                <a:rPr sz="2000" b="1" spc="-10" dirty="0">
                  <a:cs typeface="Calibri" panose="020F0502020204030204"/>
                </a:rPr>
                <a:t> </a:t>
              </a:r>
              <a:r>
                <a:rPr sz="2000" b="1" spc="-5" dirty="0">
                  <a:cs typeface="Calibri" panose="020F0502020204030204"/>
                </a:rPr>
                <a:t>size</a:t>
              </a:r>
              <a:r>
                <a:rPr sz="2000" b="1" dirty="0">
                  <a:cs typeface="Calibri" panose="020F0502020204030204"/>
                </a:rPr>
                <a:t> =</a:t>
              </a:r>
              <a:r>
                <a:rPr sz="2000" b="1" spc="-15" dirty="0">
                  <a:cs typeface="Calibri" panose="020F0502020204030204"/>
                </a:rPr>
                <a:t> </a:t>
              </a:r>
              <a:r>
                <a:rPr sz="2000" b="1" dirty="0">
                  <a:cs typeface="Calibri" panose="020F0502020204030204"/>
                </a:rPr>
                <a:t>k</a:t>
              </a:r>
              <a:r>
                <a:rPr sz="2000" b="1" spc="-10" dirty="0">
                  <a:cs typeface="Calibri" panose="020F0502020204030204"/>
                </a:rPr>
                <a:t> </a:t>
              </a:r>
              <a:r>
                <a:rPr sz="2000" b="1" dirty="0">
                  <a:cs typeface="Calibri" panose="020F0502020204030204"/>
                </a:rPr>
                <a:t>=</a:t>
              </a:r>
              <a:r>
                <a:rPr sz="2000" b="1" spc="-5" dirty="0">
                  <a:cs typeface="Calibri" panose="020F0502020204030204"/>
                </a:rPr>
                <a:t> </a:t>
              </a:r>
              <a:r>
                <a:rPr sz="2000" b="1" dirty="0">
                  <a:cs typeface="Calibri" panose="020F0502020204030204"/>
                </a:rPr>
                <a:t>2</a:t>
              </a:r>
              <a:r>
                <a:rPr sz="2000" dirty="0">
                  <a:cs typeface="Calibri" panose="020F0502020204030204"/>
                </a:rPr>
                <a:t>.</a:t>
              </a:r>
              <a:r>
                <a:rPr sz="2000" spc="-25" dirty="0">
                  <a:cs typeface="Calibri" panose="020F0502020204030204"/>
                </a:rPr>
                <a:t> </a:t>
              </a:r>
              <a:r>
                <a:rPr sz="2000" dirty="0">
                  <a:solidFill>
                    <a:srgbClr val="4285F4"/>
                  </a:solidFill>
                  <a:cs typeface="Calibri" panose="020F0502020204030204"/>
                </a:rPr>
                <a:t>Blue</a:t>
              </a:r>
              <a:r>
                <a:rPr sz="2000" spc="-10" dirty="0">
                  <a:solidFill>
                    <a:srgbClr val="4285F4"/>
                  </a:solidFill>
                  <a:cs typeface="Calibri" panose="020F0502020204030204"/>
                </a:rPr>
                <a:t> </a:t>
              </a:r>
              <a:r>
                <a:rPr sz="2000" dirty="0">
                  <a:solidFill>
                    <a:srgbClr val="4285F4"/>
                  </a:solidFill>
                  <a:cs typeface="Calibri" panose="020F0502020204030204"/>
                </a:rPr>
                <a:t>numbers</a:t>
              </a:r>
              <a:r>
                <a:rPr sz="2000" spc="-5" dirty="0">
                  <a:solidFill>
                    <a:srgbClr val="4285F4"/>
                  </a:solidFill>
                  <a:cs typeface="Calibri" panose="020F0502020204030204"/>
                </a:rPr>
                <a:t> </a:t>
              </a:r>
              <a:r>
                <a:rPr sz="2000" dirty="0">
                  <a:solidFill>
                    <a:srgbClr val="4285F4"/>
                  </a:solidFill>
                  <a:cs typeface="Calibri" panose="020F0502020204030204"/>
                </a:rPr>
                <a:t>=</a:t>
              </a:r>
              <a:endParaRPr sz="2000" dirty="0">
                <a:cs typeface="Calibri" panose="020F0502020204030204"/>
              </a:endParaRPr>
            </a:p>
          </p:txBody>
        </p:sp>
        <p:pic>
          <p:nvPicPr>
            <p:cNvPr id="57" name="object 50"/>
            <p:cNvPicPr/>
            <p:nvPr/>
          </p:nvPicPr>
          <p:blipFill>
            <a:blip r:embed="rId2" cstate="print"/>
            <a:stretch>
              <a:fillRect/>
            </a:stretch>
          </p:blipFill>
          <p:spPr>
            <a:xfrm>
              <a:off x="5415822" y="646192"/>
              <a:ext cx="4816350" cy="736600"/>
            </a:xfrm>
            <a:prstGeom prst="rect">
              <a:avLst/>
            </a:prstGeom>
          </p:spPr>
        </p:pic>
      </p:gr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3273551" y="2842260"/>
            <a:ext cx="1117600" cy="337912"/>
          </a:xfrm>
          <a:prstGeom prst="rect">
            <a:avLst/>
          </a:prstGeom>
          <a:ln w="9144">
            <a:solidFill>
              <a:srgbClr val="000000"/>
            </a:solidFill>
          </a:ln>
        </p:spPr>
        <p:txBody>
          <a:bodyPr vert="horz" wrap="square" lIns="0" tIns="29844" rIns="0" bIns="0" rtlCol="0">
            <a:spAutoFit/>
          </a:bodyPr>
          <a:lstStyle/>
          <a:p>
            <a:pPr algn="ctr">
              <a:spcBef>
                <a:spcPts val="235"/>
              </a:spcBef>
            </a:pPr>
            <a:r>
              <a:rPr sz="2000" i="1" spc="-5" dirty="0">
                <a:latin typeface="Calibri" panose="020F0502020204030204"/>
                <a:cs typeface="Calibri" panose="020F0502020204030204"/>
              </a:rPr>
              <a:t>hit</a:t>
            </a:r>
            <a:endParaRPr sz="2000">
              <a:latin typeface="Calibri" panose="020F0502020204030204"/>
              <a:cs typeface="Calibri" panose="020F0502020204030204"/>
            </a:endParaRPr>
          </a:p>
        </p:txBody>
      </p:sp>
      <p:sp>
        <p:nvSpPr>
          <p:cNvPr id="5" name="object 5"/>
          <p:cNvSpPr txBox="1"/>
          <p:nvPr/>
        </p:nvSpPr>
        <p:spPr>
          <a:xfrm>
            <a:off x="3273551" y="3368040"/>
            <a:ext cx="1117600" cy="338554"/>
          </a:xfrm>
          <a:prstGeom prst="rect">
            <a:avLst/>
          </a:prstGeom>
          <a:ln w="9144">
            <a:solidFill>
              <a:srgbClr val="000000"/>
            </a:solidFill>
          </a:ln>
        </p:spPr>
        <p:txBody>
          <a:bodyPr vert="horz" wrap="square" lIns="0" tIns="30480" rIns="0" bIns="0" rtlCol="0">
            <a:spAutoFit/>
          </a:bodyPr>
          <a:lstStyle/>
          <a:p>
            <a:pPr marL="247015">
              <a:spcBef>
                <a:spcPts val="240"/>
              </a:spcBef>
            </a:pPr>
            <a:r>
              <a:rPr sz="2000" i="1" spc="-5" dirty="0">
                <a:latin typeface="Calibri" panose="020F0502020204030204"/>
                <a:cs typeface="Calibri" panose="020F0502020204030204"/>
              </a:rPr>
              <a:t>struck</a:t>
            </a:r>
            <a:endParaRPr sz="2000">
              <a:latin typeface="Calibri" panose="020F0502020204030204"/>
              <a:cs typeface="Calibri" panose="020F0502020204030204"/>
            </a:endParaRPr>
          </a:p>
        </p:txBody>
      </p:sp>
      <p:sp>
        <p:nvSpPr>
          <p:cNvPr id="6" name="object 6"/>
          <p:cNvSpPr txBox="1"/>
          <p:nvPr/>
        </p:nvSpPr>
        <p:spPr>
          <a:xfrm>
            <a:off x="3273551" y="4698491"/>
            <a:ext cx="1117600" cy="338554"/>
          </a:xfrm>
          <a:prstGeom prst="rect">
            <a:avLst/>
          </a:prstGeom>
          <a:ln w="9144">
            <a:solidFill>
              <a:srgbClr val="000000"/>
            </a:solidFill>
          </a:ln>
        </p:spPr>
        <p:txBody>
          <a:bodyPr vert="horz" wrap="square" lIns="0" tIns="30480" rIns="0" bIns="0" rtlCol="0">
            <a:spAutoFit/>
          </a:bodyPr>
          <a:lstStyle/>
          <a:p>
            <a:pPr marL="352425">
              <a:spcBef>
                <a:spcPts val="240"/>
              </a:spcBef>
            </a:pPr>
            <a:r>
              <a:rPr sz="2000" i="1" dirty="0">
                <a:latin typeface="Calibri" panose="020F0502020204030204"/>
                <a:cs typeface="Calibri" panose="020F0502020204030204"/>
              </a:rPr>
              <a:t>was</a:t>
            </a:r>
            <a:endParaRPr sz="2000">
              <a:latin typeface="Calibri" panose="020F0502020204030204"/>
              <a:cs typeface="Calibri" panose="020F0502020204030204"/>
            </a:endParaRPr>
          </a:p>
        </p:txBody>
      </p:sp>
      <p:sp>
        <p:nvSpPr>
          <p:cNvPr id="7" name="object 7"/>
          <p:cNvSpPr txBox="1"/>
          <p:nvPr/>
        </p:nvSpPr>
        <p:spPr>
          <a:xfrm>
            <a:off x="3273551" y="5224272"/>
            <a:ext cx="1117600" cy="339195"/>
          </a:xfrm>
          <a:prstGeom prst="rect">
            <a:avLst/>
          </a:prstGeom>
          <a:ln w="9144">
            <a:solidFill>
              <a:srgbClr val="000000"/>
            </a:solidFill>
          </a:ln>
        </p:spPr>
        <p:txBody>
          <a:bodyPr vert="horz" wrap="square" lIns="0" tIns="31115" rIns="0" bIns="0" rtlCol="0">
            <a:spAutoFit/>
          </a:bodyPr>
          <a:lstStyle/>
          <a:p>
            <a:pPr algn="ctr">
              <a:spcBef>
                <a:spcPts val="245"/>
              </a:spcBef>
            </a:pPr>
            <a:r>
              <a:rPr sz="2000" i="1" spc="-5" dirty="0">
                <a:latin typeface="Calibri" panose="020F0502020204030204"/>
                <a:cs typeface="Calibri" panose="020F0502020204030204"/>
              </a:rPr>
              <a:t>got</a:t>
            </a:r>
            <a:endParaRPr sz="2000">
              <a:latin typeface="Calibri" panose="020F0502020204030204"/>
              <a:cs typeface="Calibri" panose="020F0502020204030204"/>
            </a:endParaRPr>
          </a:p>
        </p:txBody>
      </p:sp>
      <p:sp>
        <p:nvSpPr>
          <p:cNvPr id="8" name="object 8"/>
          <p:cNvSpPr/>
          <p:nvPr/>
        </p:nvSpPr>
        <p:spPr>
          <a:xfrm>
            <a:off x="2876804" y="3060192"/>
            <a:ext cx="397510" cy="526415"/>
          </a:xfrm>
          <a:custGeom>
            <a:avLst/>
            <a:gdLst/>
            <a:ahLst/>
            <a:cxnLst/>
            <a:rect l="l" t="t" r="r" b="b"/>
            <a:pathLst>
              <a:path w="397510" h="526414">
                <a:moveTo>
                  <a:pt x="397383" y="0"/>
                </a:moveTo>
                <a:lnTo>
                  <a:pt x="312801" y="11049"/>
                </a:lnTo>
                <a:lnTo>
                  <a:pt x="330568" y="37338"/>
                </a:lnTo>
                <a:lnTo>
                  <a:pt x="0" y="260223"/>
                </a:lnTo>
                <a:lnTo>
                  <a:pt x="3441" y="265341"/>
                </a:lnTo>
                <a:lnTo>
                  <a:pt x="0" y="270510"/>
                </a:lnTo>
                <a:lnTo>
                  <a:pt x="330288" y="489445"/>
                </a:lnTo>
                <a:lnTo>
                  <a:pt x="312801" y="515874"/>
                </a:lnTo>
                <a:lnTo>
                  <a:pt x="397383" y="526161"/>
                </a:lnTo>
                <a:lnTo>
                  <a:pt x="380238" y="496443"/>
                </a:lnTo>
                <a:lnTo>
                  <a:pt x="354838" y="452374"/>
                </a:lnTo>
                <a:lnTo>
                  <a:pt x="337337" y="478815"/>
                </a:lnTo>
                <a:lnTo>
                  <a:pt x="15278" y="265264"/>
                </a:lnTo>
                <a:lnTo>
                  <a:pt x="337693" y="47879"/>
                </a:lnTo>
                <a:lnTo>
                  <a:pt x="355473" y="74168"/>
                </a:lnTo>
                <a:lnTo>
                  <a:pt x="380301" y="30226"/>
                </a:lnTo>
                <a:lnTo>
                  <a:pt x="397383" y="0"/>
                </a:lnTo>
                <a:close/>
              </a:path>
            </a:pathLst>
          </a:custGeom>
          <a:solidFill>
            <a:srgbClr val="000000"/>
          </a:solidFill>
        </p:spPr>
        <p:txBody>
          <a:bodyPr wrap="square" lIns="0" tIns="0" rIns="0" bIns="0" rtlCol="0"/>
          <a:lstStyle/>
          <a:p>
            <a:endParaRPr/>
          </a:p>
        </p:txBody>
      </p:sp>
      <p:sp>
        <p:nvSpPr>
          <p:cNvPr id="9" name="object 9"/>
          <p:cNvSpPr/>
          <p:nvPr/>
        </p:nvSpPr>
        <p:spPr>
          <a:xfrm>
            <a:off x="2876804" y="4916423"/>
            <a:ext cx="397510" cy="527050"/>
          </a:xfrm>
          <a:custGeom>
            <a:avLst/>
            <a:gdLst/>
            <a:ahLst/>
            <a:cxnLst/>
            <a:rect l="l" t="t" r="r" b="b"/>
            <a:pathLst>
              <a:path w="397510" h="527050">
                <a:moveTo>
                  <a:pt x="397383" y="0"/>
                </a:moveTo>
                <a:lnTo>
                  <a:pt x="312928" y="11938"/>
                </a:lnTo>
                <a:lnTo>
                  <a:pt x="331038" y="38100"/>
                </a:lnTo>
                <a:lnTo>
                  <a:pt x="0" y="267081"/>
                </a:lnTo>
                <a:lnTo>
                  <a:pt x="3721" y="272542"/>
                </a:lnTo>
                <a:lnTo>
                  <a:pt x="127" y="278142"/>
                </a:lnTo>
                <a:lnTo>
                  <a:pt x="329869" y="491121"/>
                </a:lnTo>
                <a:lnTo>
                  <a:pt x="312674" y="517779"/>
                </a:lnTo>
                <a:lnTo>
                  <a:pt x="397383" y="527050"/>
                </a:lnTo>
                <a:lnTo>
                  <a:pt x="380136" y="497967"/>
                </a:lnTo>
                <a:lnTo>
                  <a:pt x="353949" y="453771"/>
                </a:lnTo>
                <a:lnTo>
                  <a:pt x="336778" y="480402"/>
                </a:lnTo>
                <a:lnTo>
                  <a:pt x="14541" y="272351"/>
                </a:lnTo>
                <a:lnTo>
                  <a:pt x="338251" y="48526"/>
                </a:lnTo>
                <a:lnTo>
                  <a:pt x="356362" y="74676"/>
                </a:lnTo>
                <a:lnTo>
                  <a:pt x="380428" y="30861"/>
                </a:lnTo>
                <a:lnTo>
                  <a:pt x="397383" y="0"/>
                </a:lnTo>
                <a:close/>
              </a:path>
            </a:pathLst>
          </a:custGeom>
          <a:solidFill>
            <a:srgbClr val="000000"/>
          </a:solidFill>
        </p:spPr>
        <p:txBody>
          <a:bodyPr wrap="square" lIns="0" tIns="0" rIns="0" bIns="0" rtlCol="0"/>
          <a:lstStyle/>
          <a:p>
            <a:endParaRPr/>
          </a:p>
        </p:txBody>
      </p:sp>
      <p:sp>
        <p:nvSpPr>
          <p:cNvPr id="10" name="object 10"/>
          <p:cNvSpPr txBox="1"/>
          <p:nvPr/>
        </p:nvSpPr>
        <p:spPr>
          <a:xfrm>
            <a:off x="4728972" y="2546604"/>
            <a:ext cx="1117600" cy="338554"/>
          </a:xfrm>
          <a:prstGeom prst="rect">
            <a:avLst/>
          </a:prstGeom>
          <a:ln w="9144">
            <a:solidFill>
              <a:srgbClr val="000000"/>
            </a:solidFill>
          </a:ln>
        </p:spPr>
        <p:txBody>
          <a:bodyPr vert="horz" wrap="square" lIns="0" tIns="30480" rIns="0" bIns="0" rtlCol="0">
            <a:spAutoFit/>
          </a:bodyPr>
          <a:lstStyle/>
          <a:p>
            <a:pPr algn="ctr">
              <a:spcBef>
                <a:spcPts val="240"/>
              </a:spcBef>
            </a:pPr>
            <a:r>
              <a:rPr sz="2000" i="1" dirty="0">
                <a:latin typeface="Calibri" panose="020F0502020204030204"/>
                <a:cs typeface="Calibri" panose="020F0502020204030204"/>
              </a:rPr>
              <a:t>a</a:t>
            </a:r>
            <a:endParaRPr sz="2000">
              <a:latin typeface="Calibri" panose="020F0502020204030204"/>
              <a:cs typeface="Calibri" panose="020F0502020204030204"/>
            </a:endParaRPr>
          </a:p>
        </p:txBody>
      </p:sp>
      <p:sp>
        <p:nvSpPr>
          <p:cNvPr id="11" name="object 11"/>
          <p:cNvSpPr txBox="1"/>
          <p:nvPr/>
        </p:nvSpPr>
        <p:spPr>
          <a:xfrm>
            <a:off x="4728972" y="3073908"/>
            <a:ext cx="1117600" cy="337913"/>
          </a:xfrm>
          <a:prstGeom prst="rect">
            <a:avLst/>
          </a:prstGeom>
          <a:ln w="9144">
            <a:solidFill>
              <a:srgbClr val="000000"/>
            </a:solidFill>
          </a:ln>
        </p:spPr>
        <p:txBody>
          <a:bodyPr vert="horz" wrap="square" lIns="0" tIns="29845" rIns="0" bIns="0" rtlCol="0">
            <a:spAutoFit/>
          </a:bodyPr>
          <a:lstStyle/>
          <a:p>
            <a:pPr algn="ctr">
              <a:spcBef>
                <a:spcPts val="235"/>
              </a:spcBef>
            </a:pPr>
            <a:r>
              <a:rPr sz="2000" i="1" spc="-5" dirty="0">
                <a:latin typeface="Calibri" panose="020F0502020204030204"/>
                <a:cs typeface="Calibri" panose="020F0502020204030204"/>
              </a:rPr>
              <a:t>me</a:t>
            </a:r>
            <a:endParaRPr sz="2000">
              <a:latin typeface="Calibri" panose="020F0502020204030204"/>
              <a:cs typeface="Calibri" panose="020F0502020204030204"/>
            </a:endParaRPr>
          </a:p>
        </p:txBody>
      </p:sp>
      <p:sp>
        <p:nvSpPr>
          <p:cNvPr id="12" name="object 12"/>
          <p:cNvSpPr txBox="1"/>
          <p:nvPr/>
        </p:nvSpPr>
        <p:spPr>
          <a:xfrm>
            <a:off x="4728972" y="4430268"/>
            <a:ext cx="1117600" cy="337913"/>
          </a:xfrm>
          <a:prstGeom prst="rect">
            <a:avLst/>
          </a:prstGeom>
          <a:ln w="9144">
            <a:solidFill>
              <a:srgbClr val="000000"/>
            </a:solidFill>
          </a:ln>
        </p:spPr>
        <p:txBody>
          <a:bodyPr vert="horz" wrap="square" lIns="0" tIns="29845" rIns="0" bIns="0" rtlCol="0">
            <a:spAutoFit/>
          </a:bodyPr>
          <a:lstStyle/>
          <a:p>
            <a:pPr algn="ctr">
              <a:spcBef>
                <a:spcPts val="235"/>
              </a:spcBef>
            </a:pPr>
            <a:r>
              <a:rPr sz="2000" i="1" spc="-5" dirty="0">
                <a:latin typeface="Calibri" panose="020F0502020204030204"/>
                <a:cs typeface="Calibri" panose="020F0502020204030204"/>
              </a:rPr>
              <a:t>hit</a:t>
            </a:r>
            <a:endParaRPr sz="2000">
              <a:latin typeface="Calibri" panose="020F0502020204030204"/>
              <a:cs typeface="Calibri" panose="020F0502020204030204"/>
            </a:endParaRPr>
          </a:p>
        </p:txBody>
      </p:sp>
      <p:sp>
        <p:nvSpPr>
          <p:cNvPr id="13" name="object 13"/>
          <p:cNvSpPr txBox="1"/>
          <p:nvPr/>
        </p:nvSpPr>
        <p:spPr>
          <a:xfrm>
            <a:off x="4728972" y="4956048"/>
            <a:ext cx="1117600" cy="339195"/>
          </a:xfrm>
          <a:prstGeom prst="rect">
            <a:avLst/>
          </a:prstGeom>
          <a:ln w="9144">
            <a:solidFill>
              <a:srgbClr val="000000"/>
            </a:solidFill>
          </a:ln>
        </p:spPr>
        <p:txBody>
          <a:bodyPr vert="horz" wrap="square" lIns="0" tIns="31115" rIns="0" bIns="0" rtlCol="0">
            <a:spAutoFit/>
          </a:bodyPr>
          <a:lstStyle/>
          <a:p>
            <a:pPr marL="247015">
              <a:spcBef>
                <a:spcPts val="245"/>
              </a:spcBef>
            </a:pPr>
            <a:r>
              <a:rPr sz="2000" i="1" spc="-5" dirty="0">
                <a:latin typeface="Calibri" panose="020F0502020204030204"/>
                <a:cs typeface="Calibri" panose="020F0502020204030204"/>
              </a:rPr>
              <a:t>struck</a:t>
            </a:r>
            <a:endParaRPr sz="2000">
              <a:latin typeface="Calibri" panose="020F0502020204030204"/>
              <a:cs typeface="Calibri" panose="020F0502020204030204"/>
            </a:endParaRPr>
          </a:p>
        </p:txBody>
      </p:sp>
      <p:sp>
        <p:nvSpPr>
          <p:cNvPr id="14" name="object 14"/>
          <p:cNvSpPr/>
          <p:nvPr/>
        </p:nvSpPr>
        <p:spPr>
          <a:xfrm>
            <a:off x="4386454" y="2764536"/>
            <a:ext cx="342265" cy="527685"/>
          </a:xfrm>
          <a:custGeom>
            <a:avLst/>
            <a:gdLst/>
            <a:ahLst/>
            <a:cxnLst/>
            <a:rect l="l" t="t" r="r" b="b"/>
            <a:pathLst>
              <a:path w="342264" h="527685">
                <a:moveTo>
                  <a:pt x="342265" y="0"/>
                </a:moveTo>
                <a:lnTo>
                  <a:pt x="259842" y="21336"/>
                </a:lnTo>
                <a:lnTo>
                  <a:pt x="280670" y="45250"/>
                </a:lnTo>
                <a:lnTo>
                  <a:pt x="0" y="289687"/>
                </a:lnTo>
                <a:lnTo>
                  <a:pt x="4622" y="295021"/>
                </a:lnTo>
                <a:lnTo>
                  <a:pt x="635" y="300863"/>
                </a:lnTo>
                <a:lnTo>
                  <a:pt x="275856" y="489826"/>
                </a:lnTo>
                <a:lnTo>
                  <a:pt x="257937" y="516001"/>
                </a:lnTo>
                <a:lnTo>
                  <a:pt x="342265" y="527685"/>
                </a:lnTo>
                <a:lnTo>
                  <a:pt x="325247" y="496951"/>
                </a:lnTo>
                <a:lnTo>
                  <a:pt x="300990" y="453136"/>
                </a:lnTo>
                <a:lnTo>
                  <a:pt x="283032" y="479361"/>
                </a:lnTo>
                <a:lnTo>
                  <a:pt x="13804" y="294614"/>
                </a:lnTo>
                <a:lnTo>
                  <a:pt x="289013" y="54813"/>
                </a:lnTo>
                <a:lnTo>
                  <a:pt x="309880" y="78740"/>
                </a:lnTo>
                <a:lnTo>
                  <a:pt x="327063" y="36957"/>
                </a:lnTo>
                <a:lnTo>
                  <a:pt x="342265" y="0"/>
                </a:lnTo>
                <a:close/>
              </a:path>
            </a:pathLst>
          </a:custGeom>
          <a:solidFill>
            <a:srgbClr val="000000"/>
          </a:solidFill>
        </p:spPr>
        <p:txBody>
          <a:bodyPr wrap="square" lIns="0" tIns="0" rIns="0" bIns="0" rtlCol="0"/>
          <a:lstStyle/>
          <a:p>
            <a:endParaRPr/>
          </a:p>
        </p:txBody>
      </p:sp>
      <p:sp>
        <p:nvSpPr>
          <p:cNvPr id="15" name="object 15"/>
          <p:cNvSpPr/>
          <p:nvPr/>
        </p:nvSpPr>
        <p:spPr>
          <a:xfrm>
            <a:off x="4386708" y="4648200"/>
            <a:ext cx="342265" cy="527050"/>
          </a:xfrm>
          <a:custGeom>
            <a:avLst/>
            <a:gdLst/>
            <a:ahLst/>
            <a:cxnLst/>
            <a:rect l="l" t="t" r="r" b="b"/>
            <a:pathLst>
              <a:path w="342264" h="527050">
                <a:moveTo>
                  <a:pt x="342011" y="0"/>
                </a:moveTo>
                <a:lnTo>
                  <a:pt x="258572" y="17526"/>
                </a:lnTo>
                <a:lnTo>
                  <a:pt x="278333" y="42443"/>
                </a:lnTo>
                <a:lnTo>
                  <a:pt x="0" y="263271"/>
                </a:lnTo>
                <a:lnTo>
                  <a:pt x="3937" y="268224"/>
                </a:lnTo>
                <a:lnTo>
                  <a:pt x="127" y="273304"/>
                </a:lnTo>
                <a:lnTo>
                  <a:pt x="277596" y="485330"/>
                </a:lnTo>
                <a:lnTo>
                  <a:pt x="258318" y="510540"/>
                </a:lnTo>
                <a:lnTo>
                  <a:pt x="342011" y="526542"/>
                </a:lnTo>
                <a:lnTo>
                  <a:pt x="325577" y="493014"/>
                </a:lnTo>
                <a:lnTo>
                  <a:pt x="304546" y="450088"/>
                </a:lnTo>
                <a:lnTo>
                  <a:pt x="285292" y="475259"/>
                </a:lnTo>
                <a:lnTo>
                  <a:pt x="14249" y="268122"/>
                </a:lnTo>
                <a:lnTo>
                  <a:pt x="286207" y="52349"/>
                </a:lnTo>
                <a:lnTo>
                  <a:pt x="305943" y="77216"/>
                </a:lnTo>
                <a:lnTo>
                  <a:pt x="325869" y="34544"/>
                </a:lnTo>
                <a:lnTo>
                  <a:pt x="342011" y="0"/>
                </a:lnTo>
                <a:close/>
              </a:path>
            </a:pathLst>
          </a:custGeom>
          <a:solidFill>
            <a:srgbClr val="000000"/>
          </a:solidFill>
        </p:spPr>
        <p:txBody>
          <a:bodyPr wrap="square" lIns="0" tIns="0" rIns="0" bIns="0" rtlCol="0"/>
          <a:lstStyle/>
          <a:p>
            <a:endParaRPr/>
          </a:p>
        </p:txBody>
      </p:sp>
      <p:sp>
        <p:nvSpPr>
          <p:cNvPr id="16" name="object 16"/>
          <p:cNvSpPr txBox="1"/>
          <p:nvPr/>
        </p:nvSpPr>
        <p:spPr>
          <a:xfrm>
            <a:off x="6256020" y="1816608"/>
            <a:ext cx="1117600" cy="337913"/>
          </a:xfrm>
          <a:prstGeom prst="rect">
            <a:avLst/>
          </a:prstGeom>
          <a:ln w="9144">
            <a:solidFill>
              <a:srgbClr val="000000"/>
            </a:solidFill>
          </a:ln>
        </p:spPr>
        <p:txBody>
          <a:bodyPr vert="horz" wrap="square" lIns="0" tIns="29845" rIns="0" bIns="0" rtlCol="0">
            <a:spAutoFit/>
          </a:bodyPr>
          <a:lstStyle/>
          <a:p>
            <a:pPr marL="365125">
              <a:spcBef>
                <a:spcPts val="235"/>
              </a:spcBef>
            </a:pPr>
            <a:r>
              <a:rPr sz="2000" i="1" dirty="0">
                <a:latin typeface="Calibri" panose="020F0502020204030204"/>
                <a:cs typeface="Calibri" panose="020F0502020204030204"/>
              </a:rPr>
              <a:t>tart</a:t>
            </a:r>
            <a:endParaRPr sz="2000">
              <a:latin typeface="Calibri" panose="020F0502020204030204"/>
              <a:cs typeface="Calibri" panose="020F0502020204030204"/>
            </a:endParaRPr>
          </a:p>
        </p:txBody>
      </p:sp>
      <p:sp>
        <p:nvSpPr>
          <p:cNvPr id="17" name="object 17"/>
          <p:cNvSpPr txBox="1"/>
          <p:nvPr/>
        </p:nvSpPr>
        <p:spPr>
          <a:xfrm>
            <a:off x="6256020" y="2343912"/>
            <a:ext cx="1117600" cy="337271"/>
          </a:xfrm>
          <a:prstGeom prst="rect">
            <a:avLst/>
          </a:prstGeom>
          <a:ln w="9144">
            <a:solidFill>
              <a:srgbClr val="000000"/>
            </a:solidFill>
          </a:ln>
        </p:spPr>
        <p:txBody>
          <a:bodyPr vert="horz" wrap="square" lIns="0" tIns="29209" rIns="0" bIns="0" rtlCol="0">
            <a:spAutoFit/>
          </a:bodyPr>
          <a:lstStyle/>
          <a:p>
            <a:pPr marL="1270" algn="ctr">
              <a:spcBef>
                <a:spcPts val="230"/>
              </a:spcBef>
            </a:pPr>
            <a:r>
              <a:rPr sz="2000" i="1" spc="-5" dirty="0">
                <a:latin typeface="Calibri" panose="020F0502020204030204"/>
                <a:cs typeface="Calibri" panose="020F0502020204030204"/>
              </a:rPr>
              <a:t>pie</a:t>
            </a:r>
            <a:endParaRPr sz="2000">
              <a:latin typeface="Calibri" panose="020F0502020204030204"/>
              <a:cs typeface="Calibri" panose="020F0502020204030204"/>
            </a:endParaRPr>
          </a:p>
        </p:txBody>
      </p:sp>
      <p:sp>
        <p:nvSpPr>
          <p:cNvPr id="18" name="object 18"/>
          <p:cNvSpPr txBox="1"/>
          <p:nvPr/>
        </p:nvSpPr>
        <p:spPr>
          <a:xfrm>
            <a:off x="6256020" y="3512820"/>
            <a:ext cx="1117600" cy="337912"/>
          </a:xfrm>
          <a:prstGeom prst="rect">
            <a:avLst/>
          </a:prstGeom>
          <a:ln w="9144">
            <a:solidFill>
              <a:srgbClr val="000000"/>
            </a:solidFill>
          </a:ln>
        </p:spPr>
        <p:txBody>
          <a:bodyPr vert="horz" wrap="square" lIns="0" tIns="29844" rIns="0" bIns="0" rtlCol="0">
            <a:spAutoFit/>
          </a:bodyPr>
          <a:lstStyle/>
          <a:p>
            <a:pPr marL="332105">
              <a:spcBef>
                <a:spcPts val="235"/>
              </a:spcBef>
            </a:pPr>
            <a:r>
              <a:rPr sz="2000" i="1" spc="-5" dirty="0">
                <a:latin typeface="Calibri" panose="020F0502020204030204"/>
                <a:cs typeface="Calibri" panose="020F0502020204030204"/>
              </a:rPr>
              <a:t>with</a:t>
            </a:r>
            <a:endParaRPr sz="2000">
              <a:latin typeface="Calibri" panose="020F0502020204030204"/>
              <a:cs typeface="Calibri" panose="020F0502020204030204"/>
            </a:endParaRPr>
          </a:p>
        </p:txBody>
      </p:sp>
      <p:sp>
        <p:nvSpPr>
          <p:cNvPr id="19" name="object 19"/>
          <p:cNvSpPr txBox="1"/>
          <p:nvPr/>
        </p:nvSpPr>
        <p:spPr>
          <a:xfrm>
            <a:off x="6256020" y="4038601"/>
            <a:ext cx="1117600" cy="337913"/>
          </a:xfrm>
          <a:prstGeom prst="rect">
            <a:avLst/>
          </a:prstGeom>
          <a:ln w="9144">
            <a:solidFill>
              <a:srgbClr val="000000"/>
            </a:solidFill>
          </a:ln>
        </p:spPr>
        <p:txBody>
          <a:bodyPr vert="horz" wrap="square" lIns="0" tIns="29845" rIns="0" bIns="0" rtlCol="0">
            <a:spAutoFit/>
          </a:bodyPr>
          <a:lstStyle/>
          <a:p>
            <a:pPr marL="1270" algn="ctr">
              <a:spcBef>
                <a:spcPts val="235"/>
              </a:spcBef>
            </a:pPr>
            <a:r>
              <a:rPr sz="2000" i="1" dirty="0">
                <a:latin typeface="Calibri" panose="020F0502020204030204"/>
                <a:cs typeface="Calibri" panose="020F0502020204030204"/>
              </a:rPr>
              <a:t>on</a:t>
            </a:r>
            <a:endParaRPr sz="2000">
              <a:latin typeface="Calibri" panose="020F0502020204030204"/>
              <a:cs typeface="Calibri" panose="020F0502020204030204"/>
            </a:endParaRPr>
          </a:p>
        </p:txBody>
      </p:sp>
      <p:sp>
        <p:nvSpPr>
          <p:cNvPr id="20" name="object 20"/>
          <p:cNvSpPr/>
          <p:nvPr/>
        </p:nvSpPr>
        <p:spPr>
          <a:xfrm>
            <a:off x="5840223" y="3287521"/>
            <a:ext cx="422275" cy="969644"/>
          </a:xfrm>
          <a:custGeom>
            <a:avLst/>
            <a:gdLst/>
            <a:ahLst/>
            <a:cxnLst/>
            <a:rect l="l" t="t" r="r" b="b"/>
            <a:pathLst>
              <a:path w="422275" h="969645">
                <a:moveTo>
                  <a:pt x="422021" y="884174"/>
                </a:moveTo>
                <a:lnTo>
                  <a:pt x="392785" y="896620"/>
                </a:lnTo>
                <a:lnTo>
                  <a:pt x="25704" y="34709"/>
                </a:lnTo>
                <a:lnTo>
                  <a:pt x="360121" y="391426"/>
                </a:lnTo>
                <a:lnTo>
                  <a:pt x="336931" y="413131"/>
                </a:lnTo>
                <a:lnTo>
                  <a:pt x="416814" y="442722"/>
                </a:lnTo>
                <a:lnTo>
                  <a:pt x="404317" y="400685"/>
                </a:lnTo>
                <a:lnTo>
                  <a:pt x="392557" y="361061"/>
                </a:lnTo>
                <a:lnTo>
                  <a:pt x="369366" y="382765"/>
                </a:lnTo>
                <a:lnTo>
                  <a:pt x="10414" y="0"/>
                </a:lnTo>
                <a:lnTo>
                  <a:pt x="5842" y="4318"/>
                </a:lnTo>
                <a:lnTo>
                  <a:pt x="0" y="6858"/>
                </a:lnTo>
                <a:lnTo>
                  <a:pt x="381101" y="901598"/>
                </a:lnTo>
                <a:lnTo>
                  <a:pt x="351917" y="914019"/>
                </a:lnTo>
                <a:lnTo>
                  <a:pt x="416814" y="969137"/>
                </a:lnTo>
                <a:lnTo>
                  <a:pt x="420230" y="913257"/>
                </a:lnTo>
                <a:lnTo>
                  <a:pt x="422021" y="884174"/>
                </a:lnTo>
                <a:close/>
              </a:path>
            </a:pathLst>
          </a:custGeom>
          <a:solidFill>
            <a:srgbClr val="000000"/>
          </a:solidFill>
        </p:spPr>
        <p:txBody>
          <a:bodyPr wrap="square" lIns="0" tIns="0" rIns="0" bIns="0" rtlCol="0"/>
          <a:lstStyle/>
          <a:p>
            <a:endParaRPr/>
          </a:p>
        </p:txBody>
      </p:sp>
      <p:sp>
        <p:nvSpPr>
          <p:cNvPr id="21" name="object 21"/>
          <p:cNvSpPr/>
          <p:nvPr/>
        </p:nvSpPr>
        <p:spPr>
          <a:xfrm>
            <a:off x="5840477" y="2034539"/>
            <a:ext cx="416559" cy="736600"/>
          </a:xfrm>
          <a:custGeom>
            <a:avLst/>
            <a:gdLst/>
            <a:ahLst/>
            <a:cxnLst/>
            <a:rect l="l" t="t" r="r" b="b"/>
            <a:pathLst>
              <a:path w="416560" h="736600">
                <a:moveTo>
                  <a:pt x="416560" y="0"/>
                </a:moveTo>
                <a:lnTo>
                  <a:pt x="346075" y="47752"/>
                </a:lnTo>
                <a:lnTo>
                  <a:pt x="373722" y="63309"/>
                </a:lnTo>
                <a:lnTo>
                  <a:pt x="0" y="726948"/>
                </a:lnTo>
                <a:lnTo>
                  <a:pt x="5067" y="729830"/>
                </a:lnTo>
                <a:lnTo>
                  <a:pt x="8382" y="736600"/>
                </a:lnTo>
                <a:lnTo>
                  <a:pt x="351205" y="566851"/>
                </a:lnTo>
                <a:lnTo>
                  <a:pt x="365252" y="595249"/>
                </a:lnTo>
                <a:lnTo>
                  <a:pt x="399580" y="549783"/>
                </a:lnTo>
                <a:lnTo>
                  <a:pt x="416560" y="527304"/>
                </a:lnTo>
                <a:lnTo>
                  <a:pt x="331470" y="526923"/>
                </a:lnTo>
                <a:lnTo>
                  <a:pt x="345541" y="555396"/>
                </a:lnTo>
                <a:lnTo>
                  <a:pt x="20751" y="716280"/>
                </a:lnTo>
                <a:lnTo>
                  <a:pt x="384784" y="69519"/>
                </a:lnTo>
                <a:lnTo>
                  <a:pt x="412496" y="85090"/>
                </a:lnTo>
                <a:lnTo>
                  <a:pt x="414058" y="52197"/>
                </a:lnTo>
                <a:lnTo>
                  <a:pt x="416560" y="0"/>
                </a:lnTo>
                <a:close/>
              </a:path>
            </a:pathLst>
          </a:custGeom>
          <a:solidFill>
            <a:srgbClr val="000000"/>
          </a:solidFill>
        </p:spPr>
        <p:txBody>
          <a:bodyPr wrap="square" lIns="0" tIns="0" rIns="0" bIns="0" rtlCol="0"/>
          <a:lstStyle/>
          <a:p>
            <a:endParaRPr/>
          </a:p>
        </p:txBody>
      </p:sp>
      <p:sp>
        <p:nvSpPr>
          <p:cNvPr id="22" name="object 22"/>
          <p:cNvSpPr txBox="1"/>
          <p:nvPr/>
        </p:nvSpPr>
        <p:spPr>
          <a:xfrm>
            <a:off x="7810500" y="1810511"/>
            <a:ext cx="1117600" cy="338554"/>
          </a:xfrm>
          <a:prstGeom prst="rect">
            <a:avLst/>
          </a:prstGeom>
          <a:ln w="9144">
            <a:solidFill>
              <a:srgbClr val="000000"/>
            </a:solidFill>
          </a:ln>
        </p:spPr>
        <p:txBody>
          <a:bodyPr vert="horz" wrap="square" lIns="0" tIns="30480" rIns="0" bIns="0" rtlCol="0">
            <a:spAutoFit/>
          </a:bodyPr>
          <a:lstStyle/>
          <a:p>
            <a:pPr algn="ctr">
              <a:spcBef>
                <a:spcPts val="240"/>
              </a:spcBef>
            </a:pPr>
            <a:r>
              <a:rPr sz="2000" i="1" spc="-5" dirty="0">
                <a:latin typeface="Calibri" panose="020F0502020204030204"/>
                <a:cs typeface="Calibri" panose="020F0502020204030204"/>
              </a:rPr>
              <a:t>in</a:t>
            </a:r>
            <a:endParaRPr sz="2000">
              <a:latin typeface="Calibri" panose="020F0502020204030204"/>
              <a:cs typeface="Calibri" panose="020F0502020204030204"/>
            </a:endParaRPr>
          </a:p>
        </p:txBody>
      </p:sp>
      <p:sp>
        <p:nvSpPr>
          <p:cNvPr id="23" name="object 23"/>
          <p:cNvSpPr txBox="1"/>
          <p:nvPr/>
        </p:nvSpPr>
        <p:spPr>
          <a:xfrm>
            <a:off x="7810500" y="2337816"/>
            <a:ext cx="1117600" cy="337912"/>
          </a:xfrm>
          <a:prstGeom prst="rect">
            <a:avLst/>
          </a:prstGeom>
          <a:ln w="9144">
            <a:solidFill>
              <a:srgbClr val="000000"/>
            </a:solidFill>
          </a:ln>
        </p:spPr>
        <p:txBody>
          <a:bodyPr vert="horz" wrap="square" lIns="0" tIns="29844" rIns="0" bIns="0" rtlCol="0">
            <a:spAutoFit/>
          </a:bodyPr>
          <a:lstStyle/>
          <a:p>
            <a:pPr marL="331470">
              <a:spcBef>
                <a:spcPts val="235"/>
              </a:spcBef>
            </a:pPr>
            <a:r>
              <a:rPr sz="2000" i="1" spc="-5" dirty="0">
                <a:latin typeface="Calibri" panose="020F0502020204030204"/>
                <a:cs typeface="Calibri" panose="020F0502020204030204"/>
              </a:rPr>
              <a:t>with</a:t>
            </a:r>
            <a:endParaRPr sz="2000">
              <a:latin typeface="Calibri" panose="020F0502020204030204"/>
              <a:cs typeface="Calibri" panose="020F0502020204030204"/>
            </a:endParaRPr>
          </a:p>
        </p:txBody>
      </p:sp>
      <p:sp>
        <p:nvSpPr>
          <p:cNvPr id="24" name="object 24"/>
          <p:cNvSpPr txBox="1"/>
          <p:nvPr/>
        </p:nvSpPr>
        <p:spPr>
          <a:xfrm>
            <a:off x="7810500" y="3512820"/>
            <a:ext cx="1117600" cy="337912"/>
          </a:xfrm>
          <a:prstGeom prst="rect">
            <a:avLst/>
          </a:prstGeom>
          <a:ln w="9144">
            <a:solidFill>
              <a:srgbClr val="000000"/>
            </a:solidFill>
          </a:ln>
        </p:spPr>
        <p:txBody>
          <a:bodyPr vert="horz" wrap="square" lIns="0" tIns="29844" rIns="0" bIns="0" rtlCol="0">
            <a:spAutoFit/>
          </a:bodyPr>
          <a:lstStyle/>
          <a:p>
            <a:pPr marL="635" algn="ctr">
              <a:spcBef>
                <a:spcPts val="235"/>
              </a:spcBef>
            </a:pPr>
            <a:r>
              <a:rPr sz="2000" i="1" dirty="0">
                <a:solidFill>
                  <a:srgbClr val="00AF50"/>
                </a:solidFill>
                <a:latin typeface="Calibri" panose="020F0502020204030204"/>
                <a:cs typeface="Calibri" panose="020F0502020204030204"/>
              </a:rPr>
              <a:t>a</a:t>
            </a:r>
            <a:endParaRPr sz="2000">
              <a:latin typeface="Calibri" panose="020F0502020204030204"/>
              <a:cs typeface="Calibri" panose="020F0502020204030204"/>
            </a:endParaRPr>
          </a:p>
        </p:txBody>
      </p:sp>
      <p:sp>
        <p:nvSpPr>
          <p:cNvPr id="25" name="object 25"/>
          <p:cNvSpPr txBox="1"/>
          <p:nvPr/>
        </p:nvSpPr>
        <p:spPr>
          <a:xfrm>
            <a:off x="7810500" y="4038601"/>
            <a:ext cx="1117600" cy="337913"/>
          </a:xfrm>
          <a:prstGeom prst="rect">
            <a:avLst/>
          </a:prstGeom>
          <a:ln w="9144">
            <a:solidFill>
              <a:srgbClr val="000000"/>
            </a:solidFill>
          </a:ln>
        </p:spPr>
        <p:txBody>
          <a:bodyPr vert="horz" wrap="square" lIns="0" tIns="29845" rIns="0" bIns="0" rtlCol="0">
            <a:spAutoFit/>
          </a:bodyPr>
          <a:lstStyle/>
          <a:p>
            <a:pPr marL="366395">
              <a:spcBef>
                <a:spcPts val="235"/>
              </a:spcBef>
            </a:pPr>
            <a:r>
              <a:rPr sz="2000" i="1" spc="-5" dirty="0">
                <a:solidFill>
                  <a:srgbClr val="00AF50"/>
                </a:solidFill>
                <a:latin typeface="Calibri" panose="020F0502020204030204"/>
                <a:cs typeface="Calibri" panose="020F0502020204030204"/>
              </a:rPr>
              <a:t>one</a:t>
            </a:r>
            <a:endParaRPr sz="2000">
              <a:latin typeface="Calibri" panose="020F0502020204030204"/>
              <a:cs typeface="Calibri" panose="020F0502020204030204"/>
            </a:endParaRPr>
          </a:p>
        </p:txBody>
      </p:sp>
      <p:sp>
        <p:nvSpPr>
          <p:cNvPr id="26" name="object 26"/>
          <p:cNvSpPr/>
          <p:nvPr/>
        </p:nvSpPr>
        <p:spPr>
          <a:xfrm>
            <a:off x="7368160" y="2028443"/>
            <a:ext cx="441959" cy="566420"/>
          </a:xfrm>
          <a:custGeom>
            <a:avLst/>
            <a:gdLst/>
            <a:ahLst/>
            <a:cxnLst/>
            <a:rect l="l" t="t" r="r" b="b"/>
            <a:pathLst>
              <a:path w="441960" h="566419">
                <a:moveTo>
                  <a:pt x="441833" y="0"/>
                </a:moveTo>
                <a:lnTo>
                  <a:pt x="363982" y="34798"/>
                </a:lnTo>
                <a:lnTo>
                  <a:pt x="388543" y="54927"/>
                </a:lnTo>
                <a:lnTo>
                  <a:pt x="0" y="528701"/>
                </a:lnTo>
                <a:lnTo>
                  <a:pt x="4927" y="532701"/>
                </a:lnTo>
                <a:lnTo>
                  <a:pt x="5080" y="539750"/>
                </a:lnTo>
                <a:lnTo>
                  <a:pt x="365658" y="534720"/>
                </a:lnTo>
                <a:lnTo>
                  <a:pt x="366141" y="566420"/>
                </a:lnTo>
                <a:lnTo>
                  <a:pt x="441833" y="527304"/>
                </a:lnTo>
                <a:lnTo>
                  <a:pt x="430517" y="521843"/>
                </a:lnTo>
                <a:lnTo>
                  <a:pt x="364998" y="490220"/>
                </a:lnTo>
                <a:lnTo>
                  <a:pt x="365467" y="522020"/>
                </a:lnTo>
                <a:lnTo>
                  <a:pt x="17957" y="526872"/>
                </a:lnTo>
                <a:lnTo>
                  <a:pt x="398322" y="62928"/>
                </a:lnTo>
                <a:lnTo>
                  <a:pt x="422910" y="83058"/>
                </a:lnTo>
                <a:lnTo>
                  <a:pt x="431558" y="45085"/>
                </a:lnTo>
                <a:lnTo>
                  <a:pt x="441833" y="0"/>
                </a:lnTo>
                <a:close/>
              </a:path>
            </a:pathLst>
          </a:custGeom>
          <a:solidFill>
            <a:srgbClr val="000000"/>
          </a:solidFill>
        </p:spPr>
        <p:txBody>
          <a:bodyPr wrap="square" lIns="0" tIns="0" rIns="0" bIns="0" rtlCol="0"/>
          <a:lstStyle/>
          <a:p>
            <a:endParaRPr/>
          </a:p>
        </p:txBody>
      </p:sp>
      <p:sp>
        <p:nvSpPr>
          <p:cNvPr id="27" name="object 27"/>
          <p:cNvSpPr/>
          <p:nvPr/>
        </p:nvSpPr>
        <p:spPr>
          <a:xfrm>
            <a:off x="7368287" y="3692651"/>
            <a:ext cx="441959" cy="565150"/>
          </a:xfrm>
          <a:custGeom>
            <a:avLst/>
            <a:gdLst/>
            <a:ahLst/>
            <a:cxnLst/>
            <a:rect l="l" t="t" r="r" b="b"/>
            <a:pathLst>
              <a:path w="441960" h="565150">
                <a:moveTo>
                  <a:pt x="441706" y="38100"/>
                </a:moveTo>
                <a:lnTo>
                  <a:pt x="429006" y="31750"/>
                </a:lnTo>
                <a:lnTo>
                  <a:pt x="365506" y="0"/>
                </a:lnTo>
                <a:lnTo>
                  <a:pt x="365506" y="31750"/>
                </a:lnTo>
                <a:lnTo>
                  <a:pt x="4826" y="31750"/>
                </a:lnTo>
                <a:lnTo>
                  <a:pt x="4826" y="38100"/>
                </a:lnTo>
                <a:lnTo>
                  <a:pt x="0" y="42164"/>
                </a:lnTo>
                <a:lnTo>
                  <a:pt x="388150" y="510070"/>
                </a:lnTo>
                <a:lnTo>
                  <a:pt x="363728" y="530352"/>
                </a:lnTo>
                <a:lnTo>
                  <a:pt x="441706" y="564642"/>
                </a:lnTo>
                <a:lnTo>
                  <a:pt x="431190" y="519811"/>
                </a:lnTo>
                <a:lnTo>
                  <a:pt x="422275" y="481711"/>
                </a:lnTo>
                <a:lnTo>
                  <a:pt x="397929" y="501942"/>
                </a:lnTo>
                <a:lnTo>
                  <a:pt x="18288" y="44450"/>
                </a:lnTo>
                <a:lnTo>
                  <a:pt x="365506" y="44450"/>
                </a:lnTo>
                <a:lnTo>
                  <a:pt x="365506" y="76200"/>
                </a:lnTo>
                <a:lnTo>
                  <a:pt x="429006" y="44450"/>
                </a:lnTo>
                <a:lnTo>
                  <a:pt x="441706" y="38100"/>
                </a:lnTo>
                <a:close/>
              </a:path>
            </a:pathLst>
          </a:custGeom>
          <a:solidFill>
            <a:srgbClr val="000000"/>
          </a:solidFill>
        </p:spPr>
        <p:txBody>
          <a:bodyPr wrap="square" lIns="0" tIns="0" rIns="0" bIns="0" rtlCol="0"/>
          <a:lstStyle/>
          <a:p>
            <a:endParaRPr/>
          </a:p>
        </p:txBody>
      </p:sp>
      <p:sp>
        <p:nvSpPr>
          <p:cNvPr id="28" name="object 28"/>
          <p:cNvSpPr txBox="1"/>
          <p:nvPr/>
        </p:nvSpPr>
        <p:spPr>
          <a:xfrm>
            <a:off x="9412223" y="2613661"/>
            <a:ext cx="1117600" cy="337913"/>
          </a:xfrm>
          <a:prstGeom prst="rect">
            <a:avLst/>
          </a:prstGeom>
          <a:ln w="9144">
            <a:solidFill>
              <a:srgbClr val="000000"/>
            </a:solidFill>
          </a:ln>
        </p:spPr>
        <p:txBody>
          <a:bodyPr vert="horz" wrap="square" lIns="0" tIns="29845" rIns="0" bIns="0" rtlCol="0">
            <a:spAutoFit/>
          </a:bodyPr>
          <a:lstStyle/>
          <a:p>
            <a:pPr marL="1270" algn="ctr">
              <a:spcBef>
                <a:spcPts val="235"/>
              </a:spcBef>
            </a:pPr>
            <a:r>
              <a:rPr sz="2000" i="1" spc="-5" dirty="0">
                <a:latin typeface="Calibri" panose="020F0502020204030204"/>
                <a:cs typeface="Calibri" panose="020F0502020204030204"/>
              </a:rPr>
              <a:t>pie</a:t>
            </a:r>
            <a:endParaRPr sz="2000">
              <a:latin typeface="Calibri" panose="020F0502020204030204"/>
              <a:cs typeface="Calibri" panose="020F0502020204030204"/>
            </a:endParaRPr>
          </a:p>
        </p:txBody>
      </p:sp>
      <p:sp>
        <p:nvSpPr>
          <p:cNvPr id="29" name="object 29"/>
          <p:cNvSpPr txBox="1"/>
          <p:nvPr/>
        </p:nvSpPr>
        <p:spPr>
          <a:xfrm>
            <a:off x="9412223" y="3140965"/>
            <a:ext cx="1117600" cy="337271"/>
          </a:xfrm>
          <a:prstGeom prst="rect">
            <a:avLst/>
          </a:prstGeom>
          <a:ln w="9144">
            <a:solidFill>
              <a:srgbClr val="000000"/>
            </a:solidFill>
          </a:ln>
        </p:spPr>
        <p:txBody>
          <a:bodyPr vert="horz" wrap="square" lIns="0" tIns="29209" rIns="0" bIns="0" rtlCol="0">
            <a:spAutoFit/>
          </a:bodyPr>
          <a:lstStyle/>
          <a:p>
            <a:pPr marL="365125">
              <a:spcBef>
                <a:spcPts val="230"/>
              </a:spcBef>
            </a:pPr>
            <a:r>
              <a:rPr sz="2000" i="1" dirty="0">
                <a:latin typeface="Calibri" panose="020F0502020204030204"/>
                <a:cs typeface="Calibri" panose="020F0502020204030204"/>
              </a:rPr>
              <a:t>tart</a:t>
            </a:r>
            <a:endParaRPr sz="2000">
              <a:latin typeface="Calibri" panose="020F0502020204030204"/>
              <a:cs typeface="Calibri" panose="020F0502020204030204"/>
            </a:endParaRPr>
          </a:p>
        </p:txBody>
      </p:sp>
      <p:sp>
        <p:nvSpPr>
          <p:cNvPr id="30" name="object 30"/>
          <p:cNvSpPr txBox="1"/>
          <p:nvPr/>
        </p:nvSpPr>
        <p:spPr>
          <a:xfrm>
            <a:off x="9412223" y="4430268"/>
            <a:ext cx="1117600" cy="337913"/>
          </a:xfrm>
          <a:prstGeom prst="rect">
            <a:avLst/>
          </a:prstGeom>
          <a:ln w="9144">
            <a:solidFill>
              <a:srgbClr val="000000"/>
            </a:solidFill>
          </a:ln>
        </p:spPr>
        <p:txBody>
          <a:bodyPr vert="horz" wrap="square" lIns="0" tIns="29845" rIns="0" bIns="0" rtlCol="0">
            <a:spAutoFit/>
          </a:bodyPr>
          <a:lstStyle/>
          <a:p>
            <a:pPr marL="1270" algn="ctr">
              <a:spcBef>
                <a:spcPts val="235"/>
              </a:spcBef>
            </a:pPr>
            <a:r>
              <a:rPr sz="2000" i="1" spc="-5" dirty="0">
                <a:latin typeface="Calibri" panose="020F0502020204030204"/>
                <a:cs typeface="Calibri" panose="020F0502020204030204"/>
              </a:rPr>
              <a:t>pie</a:t>
            </a:r>
            <a:endParaRPr sz="2000">
              <a:latin typeface="Calibri" panose="020F0502020204030204"/>
              <a:cs typeface="Calibri" panose="020F0502020204030204"/>
            </a:endParaRPr>
          </a:p>
        </p:txBody>
      </p:sp>
      <p:sp>
        <p:nvSpPr>
          <p:cNvPr id="31" name="object 31"/>
          <p:cNvSpPr txBox="1"/>
          <p:nvPr/>
        </p:nvSpPr>
        <p:spPr>
          <a:xfrm>
            <a:off x="9412223" y="4956048"/>
            <a:ext cx="1117600" cy="339195"/>
          </a:xfrm>
          <a:prstGeom prst="rect">
            <a:avLst/>
          </a:prstGeom>
          <a:ln w="9144">
            <a:solidFill>
              <a:srgbClr val="000000"/>
            </a:solidFill>
          </a:ln>
        </p:spPr>
        <p:txBody>
          <a:bodyPr vert="horz" wrap="square" lIns="0" tIns="31115" rIns="0" bIns="0" rtlCol="0">
            <a:spAutoFit/>
          </a:bodyPr>
          <a:lstStyle/>
          <a:p>
            <a:pPr marL="365125">
              <a:spcBef>
                <a:spcPts val="245"/>
              </a:spcBef>
            </a:pPr>
            <a:r>
              <a:rPr sz="2000" i="1" dirty="0">
                <a:latin typeface="Calibri" panose="020F0502020204030204"/>
                <a:cs typeface="Calibri" panose="020F0502020204030204"/>
              </a:rPr>
              <a:t>tart</a:t>
            </a:r>
            <a:endParaRPr sz="2000">
              <a:latin typeface="Calibri" panose="020F0502020204030204"/>
              <a:cs typeface="Calibri" panose="020F0502020204030204"/>
            </a:endParaRPr>
          </a:p>
        </p:txBody>
      </p:sp>
      <p:sp>
        <p:nvSpPr>
          <p:cNvPr id="32" name="object 32"/>
          <p:cNvSpPr/>
          <p:nvPr/>
        </p:nvSpPr>
        <p:spPr>
          <a:xfrm>
            <a:off x="8922005" y="2831592"/>
            <a:ext cx="490855" cy="902969"/>
          </a:xfrm>
          <a:custGeom>
            <a:avLst/>
            <a:gdLst/>
            <a:ahLst/>
            <a:cxnLst/>
            <a:rect l="l" t="t" r="r" b="b"/>
            <a:pathLst>
              <a:path w="490854" h="902970">
                <a:moveTo>
                  <a:pt x="490474" y="0"/>
                </a:moveTo>
                <a:lnTo>
                  <a:pt x="420751" y="49022"/>
                </a:lnTo>
                <a:lnTo>
                  <a:pt x="448716" y="64071"/>
                </a:lnTo>
                <a:lnTo>
                  <a:pt x="0" y="895477"/>
                </a:lnTo>
                <a:lnTo>
                  <a:pt x="6654" y="899109"/>
                </a:lnTo>
                <a:lnTo>
                  <a:pt x="9398" y="902716"/>
                </a:lnTo>
                <a:lnTo>
                  <a:pt x="10998" y="901484"/>
                </a:lnTo>
                <a:lnTo>
                  <a:pt x="11176" y="901573"/>
                </a:lnTo>
                <a:lnTo>
                  <a:pt x="11366" y="901204"/>
                </a:lnTo>
                <a:lnTo>
                  <a:pt x="433946" y="577176"/>
                </a:lnTo>
                <a:lnTo>
                  <a:pt x="453263" y="602361"/>
                </a:lnTo>
                <a:lnTo>
                  <a:pt x="474116" y="559435"/>
                </a:lnTo>
                <a:lnTo>
                  <a:pt x="490474" y="525780"/>
                </a:lnTo>
                <a:lnTo>
                  <a:pt x="406908" y="541909"/>
                </a:lnTo>
                <a:lnTo>
                  <a:pt x="426224" y="567118"/>
                </a:lnTo>
                <a:lnTo>
                  <a:pt x="25996" y="874102"/>
                </a:lnTo>
                <a:lnTo>
                  <a:pt x="459930" y="70104"/>
                </a:lnTo>
                <a:lnTo>
                  <a:pt x="487807" y="85090"/>
                </a:lnTo>
                <a:lnTo>
                  <a:pt x="488810" y="52832"/>
                </a:lnTo>
                <a:lnTo>
                  <a:pt x="490474" y="0"/>
                </a:lnTo>
                <a:close/>
              </a:path>
            </a:pathLst>
          </a:custGeom>
          <a:solidFill>
            <a:srgbClr val="000000"/>
          </a:solidFill>
        </p:spPr>
        <p:txBody>
          <a:bodyPr wrap="square" lIns="0" tIns="0" rIns="0" bIns="0" rtlCol="0"/>
          <a:lstStyle/>
          <a:p>
            <a:endParaRPr/>
          </a:p>
        </p:txBody>
      </p:sp>
      <p:sp>
        <p:nvSpPr>
          <p:cNvPr id="33" name="object 33"/>
          <p:cNvSpPr/>
          <p:nvPr/>
        </p:nvSpPr>
        <p:spPr>
          <a:xfrm>
            <a:off x="8922005" y="4251578"/>
            <a:ext cx="490855" cy="923290"/>
          </a:xfrm>
          <a:custGeom>
            <a:avLst/>
            <a:gdLst/>
            <a:ahLst/>
            <a:cxnLst/>
            <a:rect l="l" t="t" r="r" b="b"/>
            <a:pathLst>
              <a:path w="490854" h="923289">
                <a:moveTo>
                  <a:pt x="490474" y="396367"/>
                </a:moveTo>
                <a:lnTo>
                  <a:pt x="474548" y="361442"/>
                </a:lnTo>
                <a:lnTo>
                  <a:pt x="455168" y="318897"/>
                </a:lnTo>
                <a:lnTo>
                  <a:pt x="435254" y="343573"/>
                </a:lnTo>
                <a:lnTo>
                  <a:pt x="9525" y="0"/>
                </a:lnTo>
                <a:lnTo>
                  <a:pt x="5588" y="4953"/>
                </a:lnTo>
                <a:lnTo>
                  <a:pt x="0" y="7874"/>
                </a:lnTo>
                <a:lnTo>
                  <a:pt x="449326" y="858545"/>
                </a:lnTo>
                <a:lnTo>
                  <a:pt x="421259" y="873379"/>
                </a:lnTo>
                <a:lnTo>
                  <a:pt x="490474" y="922909"/>
                </a:lnTo>
                <a:lnTo>
                  <a:pt x="489280" y="869823"/>
                </a:lnTo>
                <a:lnTo>
                  <a:pt x="488569" y="837819"/>
                </a:lnTo>
                <a:lnTo>
                  <a:pt x="460527" y="852627"/>
                </a:lnTo>
                <a:lnTo>
                  <a:pt x="25501" y="29171"/>
                </a:lnTo>
                <a:lnTo>
                  <a:pt x="427253" y="353479"/>
                </a:lnTo>
                <a:lnTo>
                  <a:pt x="407289" y="378206"/>
                </a:lnTo>
                <a:lnTo>
                  <a:pt x="490474" y="396367"/>
                </a:lnTo>
                <a:close/>
              </a:path>
            </a:pathLst>
          </a:custGeom>
          <a:solidFill>
            <a:srgbClr val="000000"/>
          </a:solidFill>
        </p:spPr>
        <p:txBody>
          <a:bodyPr wrap="square" lIns="0" tIns="0" rIns="0" bIns="0" rtlCol="0"/>
          <a:lstStyle/>
          <a:p>
            <a:endParaRPr/>
          </a:p>
        </p:txBody>
      </p:sp>
      <p:sp>
        <p:nvSpPr>
          <p:cNvPr id="34" name="object 34"/>
          <p:cNvSpPr txBox="1"/>
          <p:nvPr/>
        </p:nvSpPr>
        <p:spPr>
          <a:xfrm>
            <a:off x="1524001" y="4038601"/>
            <a:ext cx="1167765" cy="337913"/>
          </a:xfrm>
          <a:prstGeom prst="rect">
            <a:avLst/>
          </a:prstGeom>
          <a:ln w="9143">
            <a:solidFill>
              <a:srgbClr val="000000"/>
            </a:solidFill>
          </a:ln>
        </p:spPr>
        <p:txBody>
          <a:bodyPr vert="horz" wrap="square" lIns="0" tIns="29845" rIns="0" bIns="0" rtlCol="0">
            <a:spAutoFit/>
          </a:bodyPr>
          <a:lstStyle/>
          <a:p>
            <a:pPr marL="131445">
              <a:spcBef>
                <a:spcPts val="235"/>
              </a:spcBef>
            </a:pPr>
            <a:r>
              <a:rPr sz="2000" i="1" spc="-5" dirty="0">
                <a:latin typeface="Calibri" panose="020F0502020204030204"/>
                <a:cs typeface="Calibri" panose="020F0502020204030204"/>
              </a:rPr>
              <a:t>&lt;START&gt;</a:t>
            </a:r>
            <a:endParaRPr sz="2000">
              <a:latin typeface="Calibri" panose="020F0502020204030204"/>
              <a:cs typeface="Calibri" panose="020F0502020204030204"/>
            </a:endParaRPr>
          </a:p>
        </p:txBody>
      </p:sp>
      <p:sp>
        <p:nvSpPr>
          <p:cNvPr id="35" name="object 35"/>
          <p:cNvSpPr txBox="1"/>
          <p:nvPr/>
        </p:nvSpPr>
        <p:spPr>
          <a:xfrm>
            <a:off x="2308859" y="3107436"/>
            <a:ext cx="571500" cy="337913"/>
          </a:xfrm>
          <a:prstGeom prst="rect">
            <a:avLst/>
          </a:prstGeom>
          <a:ln w="9143">
            <a:solidFill>
              <a:srgbClr val="000000"/>
            </a:solidFill>
          </a:ln>
        </p:spPr>
        <p:txBody>
          <a:bodyPr vert="horz" wrap="square" lIns="0" tIns="29845" rIns="0" bIns="0" rtlCol="0">
            <a:spAutoFit/>
          </a:bodyPr>
          <a:lstStyle/>
          <a:p>
            <a:pPr marL="158750">
              <a:spcBef>
                <a:spcPts val="235"/>
              </a:spcBef>
            </a:pPr>
            <a:r>
              <a:rPr sz="2000" i="1" dirty="0">
                <a:latin typeface="Calibri" panose="020F0502020204030204"/>
                <a:cs typeface="Calibri" panose="020F0502020204030204"/>
              </a:rPr>
              <a:t>he</a:t>
            </a:r>
            <a:endParaRPr sz="2000">
              <a:latin typeface="Calibri" panose="020F0502020204030204"/>
              <a:cs typeface="Calibri" panose="020F0502020204030204"/>
            </a:endParaRPr>
          </a:p>
        </p:txBody>
      </p:sp>
      <p:sp>
        <p:nvSpPr>
          <p:cNvPr id="36" name="object 36"/>
          <p:cNvSpPr txBox="1"/>
          <p:nvPr/>
        </p:nvSpPr>
        <p:spPr>
          <a:xfrm>
            <a:off x="2308859" y="4971289"/>
            <a:ext cx="571500" cy="337271"/>
          </a:xfrm>
          <a:prstGeom prst="rect">
            <a:avLst/>
          </a:prstGeom>
          <a:ln w="9143">
            <a:solidFill>
              <a:srgbClr val="000000"/>
            </a:solidFill>
          </a:ln>
        </p:spPr>
        <p:txBody>
          <a:bodyPr vert="horz" wrap="square" lIns="0" tIns="29209" rIns="0" bIns="0" rtlCol="0">
            <a:spAutoFit/>
          </a:bodyPr>
          <a:lstStyle/>
          <a:p>
            <a:pPr algn="ctr">
              <a:spcBef>
                <a:spcPts val="230"/>
              </a:spcBef>
            </a:pPr>
            <a:r>
              <a:rPr sz="2000" i="1" dirty="0">
                <a:latin typeface="Calibri" panose="020F0502020204030204"/>
                <a:cs typeface="Calibri" panose="020F0502020204030204"/>
              </a:rPr>
              <a:t>I</a:t>
            </a:r>
            <a:endParaRPr sz="2000">
              <a:latin typeface="Calibri" panose="020F0502020204030204"/>
              <a:cs typeface="Calibri" panose="020F0502020204030204"/>
            </a:endParaRPr>
          </a:p>
        </p:txBody>
      </p:sp>
      <p:sp>
        <p:nvSpPr>
          <p:cNvPr id="37" name="object 37"/>
          <p:cNvSpPr/>
          <p:nvPr/>
        </p:nvSpPr>
        <p:spPr>
          <a:xfrm>
            <a:off x="2103158" y="3543300"/>
            <a:ext cx="491490" cy="500380"/>
          </a:xfrm>
          <a:custGeom>
            <a:avLst/>
            <a:gdLst/>
            <a:ahLst/>
            <a:cxnLst/>
            <a:rect l="l" t="t" r="r" b="b"/>
            <a:pathLst>
              <a:path w="491490" h="500379">
                <a:moveTo>
                  <a:pt x="433491" y="49928"/>
                </a:moveTo>
                <a:lnTo>
                  <a:pt x="0" y="491236"/>
                </a:lnTo>
                <a:lnTo>
                  <a:pt x="9067" y="500125"/>
                </a:lnTo>
                <a:lnTo>
                  <a:pt x="442556" y="58822"/>
                </a:lnTo>
                <a:lnTo>
                  <a:pt x="433491" y="49928"/>
                </a:lnTo>
                <a:close/>
              </a:path>
              <a:path w="491490" h="500379">
                <a:moveTo>
                  <a:pt x="478171" y="40894"/>
                </a:moveTo>
                <a:lnTo>
                  <a:pt x="442366" y="40894"/>
                </a:lnTo>
                <a:lnTo>
                  <a:pt x="451434" y="49784"/>
                </a:lnTo>
                <a:lnTo>
                  <a:pt x="442556" y="58822"/>
                </a:lnTo>
                <a:lnTo>
                  <a:pt x="465188" y="81025"/>
                </a:lnTo>
                <a:lnTo>
                  <a:pt x="478171" y="40894"/>
                </a:lnTo>
                <a:close/>
              </a:path>
              <a:path w="491490" h="500379">
                <a:moveTo>
                  <a:pt x="442366" y="40894"/>
                </a:moveTo>
                <a:lnTo>
                  <a:pt x="433491" y="49928"/>
                </a:lnTo>
                <a:lnTo>
                  <a:pt x="442556" y="58822"/>
                </a:lnTo>
                <a:lnTo>
                  <a:pt x="451434" y="49784"/>
                </a:lnTo>
                <a:lnTo>
                  <a:pt x="442366" y="40894"/>
                </a:lnTo>
                <a:close/>
              </a:path>
              <a:path w="491490" h="500379">
                <a:moveTo>
                  <a:pt x="491401" y="0"/>
                </a:moveTo>
                <a:lnTo>
                  <a:pt x="410819" y="27686"/>
                </a:lnTo>
                <a:lnTo>
                  <a:pt x="433491" y="49928"/>
                </a:lnTo>
                <a:lnTo>
                  <a:pt x="442366" y="40894"/>
                </a:lnTo>
                <a:lnTo>
                  <a:pt x="478171" y="40894"/>
                </a:lnTo>
                <a:lnTo>
                  <a:pt x="491401" y="0"/>
                </a:lnTo>
                <a:close/>
              </a:path>
            </a:pathLst>
          </a:custGeom>
          <a:solidFill>
            <a:srgbClr val="000000"/>
          </a:solidFill>
        </p:spPr>
        <p:txBody>
          <a:bodyPr wrap="square" lIns="0" tIns="0" rIns="0" bIns="0" rtlCol="0"/>
          <a:lstStyle/>
          <a:p>
            <a:endParaRPr/>
          </a:p>
        </p:txBody>
      </p:sp>
      <p:sp>
        <p:nvSpPr>
          <p:cNvPr id="38" name="object 38"/>
          <p:cNvSpPr/>
          <p:nvPr/>
        </p:nvSpPr>
        <p:spPr>
          <a:xfrm>
            <a:off x="2103158" y="4470020"/>
            <a:ext cx="491490" cy="501015"/>
          </a:xfrm>
          <a:custGeom>
            <a:avLst/>
            <a:gdLst/>
            <a:ahLst/>
            <a:cxnLst/>
            <a:rect l="l" t="t" r="r" b="b"/>
            <a:pathLst>
              <a:path w="491490" h="501014">
                <a:moveTo>
                  <a:pt x="433458" y="450760"/>
                </a:moveTo>
                <a:lnTo>
                  <a:pt x="410832" y="472947"/>
                </a:lnTo>
                <a:lnTo>
                  <a:pt x="491401" y="500760"/>
                </a:lnTo>
                <a:lnTo>
                  <a:pt x="478211" y="459866"/>
                </a:lnTo>
                <a:lnTo>
                  <a:pt x="442391" y="459866"/>
                </a:lnTo>
                <a:lnTo>
                  <a:pt x="433458" y="450760"/>
                </a:lnTo>
                <a:close/>
              </a:path>
              <a:path w="491490" h="501014">
                <a:moveTo>
                  <a:pt x="442525" y="441869"/>
                </a:moveTo>
                <a:lnTo>
                  <a:pt x="433458" y="450760"/>
                </a:lnTo>
                <a:lnTo>
                  <a:pt x="442391" y="459866"/>
                </a:lnTo>
                <a:lnTo>
                  <a:pt x="451459" y="450976"/>
                </a:lnTo>
                <a:lnTo>
                  <a:pt x="442525" y="441869"/>
                </a:lnTo>
                <a:close/>
              </a:path>
              <a:path w="491490" h="501014">
                <a:moveTo>
                  <a:pt x="465226" y="419607"/>
                </a:moveTo>
                <a:lnTo>
                  <a:pt x="442525" y="441869"/>
                </a:lnTo>
                <a:lnTo>
                  <a:pt x="451459" y="450976"/>
                </a:lnTo>
                <a:lnTo>
                  <a:pt x="442391" y="459866"/>
                </a:lnTo>
                <a:lnTo>
                  <a:pt x="478211" y="459866"/>
                </a:lnTo>
                <a:lnTo>
                  <a:pt x="465226" y="419607"/>
                </a:lnTo>
                <a:close/>
              </a:path>
              <a:path w="491490" h="501014">
                <a:moveTo>
                  <a:pt x="9067" y="0"/>
                </a:moveTo>
                <a:lnTo>
                  <a:pt x="0" y="8889"/>
                </a:lnTo>
                <a:lnTo>
                  <a:pt x="433458" y="450760"/>
                </a:lnTo>
                <a:lnTo>
                  <a:pt x="442525" y="441869"/>
                </a:lnTo>
                <a:lnTo>
                  <a:pt x="9067" y="0"/>
                </a:lnTo>
                <a:close/>
              </a:path>
            </a:pathLst>
          </a:custGeom>
          <a:solidFill>
            <a:srgbClr val="000000"/>
          </a:solidFill>
        </p:spPr>
        <p:txBody>
          <a:bodyPr wrap="square" lIns="0" tIns="0" rIns="0" bIns="0" rtlCol="0"/>
          <a:lstStyle/>
          <a:p>
            <a:endParaRPr/>
          </a:p>
        </p:txBody>
      </p:sp>
      <p:sp>
        <p:nvSpPr>
          <p:cNvPr id="40" name="object 40"/>
          <p:cNvSpPr txBox="1"/>
          <p:nvPr/>
        </p:nvSpPr>
        <p:spPr>
          <a:xfrm>
            <a:off x="2384857" y="2785617"/>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-0.7</a:t>
            </a:r>
            <a:endParaRPr>
              <a:latin typeface="Calibri" panose="020F0502020204030204"/>
              <a:cs typeface="Calibri" panose="020F0502020204030204"/>
            </a:endParaRPr>
          </a:p>
        </p:txBody>
      </p:sp>
      <p:sp>
        <p:nvSpPr>
          <p:cNvPr id="41" name="object 41"/>
          <p:cNvSpPr txBox="1"/>
          <p:nvPr/>
        </p:nvSpPr>
        <p:spPr>
          <a:xfrm>
            <a:off x="2384857" y="5439562"/>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-0.9</a:t>
            </a:r>
            <a:endParaRPr>
              <a:latin typeface="Calibri" panose="020F0502020204030204"/>
              <a:cs typeface="Calibri" panose="020F0502020204030204"/>
            </a:endParaRPr>
          </a:p>
        </p:txBody>
      </p:sp>
      <p:sp>
        <p:nvSpPr>
          <p:cNvPr id="42" name="object 42"/>
          <p:cNvSpPr txBox="1"/>
          <p:nvPr/>
        </p:nvSpPr>
        <p:spPr>
          <a:xfrm>
            <a:off x="3626612" y="4340479"/>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-1.6</a:t>
            </a:r>
            <a:endParaRPr>
              <a:latin typeface="Calibri" panose="020F0502020204030204"/>
              <a:cs typeface="Calibri" panose="020F0502020204030204"/>
            </a:endParaRPr>
          </a:p>
        </p:txBody>
      </p:sp>
      <p:sp>
        <p:nvSpPr>
          <p:cNvPr id="43" name="object 43"/>
          <p:cNvSpPr txBox="1"/>
          <p:nvPr/>
        </p:nvSpPr>
        <p:spPr>
          <a:xfrm>
            <a:off x="3626612" y="5683708"/>
            <a:ext cx="385445" cy="300355"/>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-1.8</a:t>
            </a:r>
            <a:endParaRPr>
              <a:latin typeface="Calibri" panose="020F0502020204030204"/>
              <a:cs typeface="Calibri" panose="020F0502020204030204"/>
            </a:endParaRPr>
          </a:p>
        </p:txBody>
      </p:sp>
      <p:sp>
        <p:nvSpPr>
          <p:cNvPr id="44" name="object 44"/>
          <p:cNvSpPr txBox="1"/>
          <p:nvPr/>
        </p:nvSpPr>
        <p:spPr>
          <a:xfrm>
            <a:off x="3626612" y="2481198"/>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-1.7</a:t>
            </a:r>
            <a:endParaRPr>
              <a:latin typeface="Calibri" panose="020F0502020204030204"/>
              <a:cs typeface="Calibri" panose="020F0502020204030204"/>
            </a:endParaRPr>
          </a:p>
        </p:txBody>
      </p:sp>
      <p:sp>
        <p:nvSpPr>
          <p:cNvPr id="45" name="object 45"/>
          <p:cNvSpPr txBox="1"/>
          <p:nvPr/>
        </p:nvSpPr>
        <p:spPr>
          <a:xfrm>
            <a:off x="3626612" y="3800602"/>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-2.9</a:t>
            </a:r>
            <a:endParaRPr>
              <a:latin typeface="Calibri" panose="020F0502020204030204"/>
              <a:cs typeface="Calibri" panose="020F0502020204030204"/>
            </a:endParaRPr>
          </a:p>
        </p:txBody>
      </p:sp>
      <p:sp>
        <p:nvSpPr>
          <p:cNvPr id="46" name="object 46"/>
          <p:cNvSpPr txBox="1"/>
          <p:nvPr/>
        </p:nvSpPr>
        <p:spPr>
          <a:xfrm>
            <a:off x="5081779" y="3525392"/>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-2.5</a:t>
            </a:r>
            <a:endParaRPr>
              <a:latin typeface="Calibri" panose="020F0502020204030204"/>
              <a:cs typeface="Calibri" panose="020F0502020204030204"/>
            </a:endParaRPr>
          </a:p>
        </p:txBody>
      </p:sp>
      <p:sp>
        <p:nvSpPr>
          <p:cNvPr id="47" name="object 47"/>
          <p:cNvSpPr txBox="1"/>
          <p:nvPr/>
        </p:nvSpPr>
        <p:spPr>
          <a:xfrm>
            <a:off x="5081779" y="2184272"/>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-2.8</a:t>
            </a:r>
            <a:endParaRPr>
              <a:latin typeface="Calibri" panose="020F0502020204030204"/>
              <a:cs typeface="Calibri" panose="020F0502020204030204"/>
            </a:endParaRPr>
          </a:p>
        </p:txBody>
      </p:sp>
      <p:sp>
        <p:nvSpPr>
          <p:cNvPr id="48" name="object 48"/>
          <p:cNvSpPr txBox="1"/>
          <p:nvPr/>
        </p:nvSpPr>
        <p:spPr>
          <a:xfrm>
            <a:off x="5081779" y="5406949"/>
            <a:ext cx="385445" cy="300355"/>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-3.8</a:t>
            </a:r>
            <a:endParaRPr>
              <a:latin typeface="Calibri" panose="020F0502020204030204"/>
              <a:cs typeface="Calibri" panose="020F0502020204030204"/>
            </a:endParaRPr>
          </a:p>
        </p:txBody>
      </p:sp>
      <p:sp>
        <p:nvSpPr>
          <p:cNvPr id="49" name="object 49"/>
          <p:cNvSpPr txBox="1"/>
          <p:nvPr/>
        </p:nvSpPr>
        <p:spPr>
          <a:xfrm>
            <a:off x="5081779" y="4079494"/>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-2.9</a:t>
            </a:r>
            <a:endParaRPr>
              <a:latin typeface="Calibri" panose="020F0502020204030204"/>
              <a:cs typeface="Calibri" panose="020F0502020204030204"/>
            </a:endParaRPr>
          </a:p>
        </p:txBody>
      </p:sp>
      <p:sp>
        <p:nvSpPr>
          <p:cNvPr id="51" name="object 51"/>
          <p:cNvSpPr txBox="1"/>
          <p:nvPr/>
        </p:nvSpPr>
        <p:spPr>
          <a:xfrm>
            <a:off x="6609716" y="4482210"/>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-3.5</a:t>
            </a:r>
            <a:endParaRPr>
              <a:latin typeface="Calibri" panose="020F0502020204030204"/>
              <a:cs typeface="Calibri" panose="020F0502020204030204"/>
            </a:endParaRPr>
          </a:p>
        </p:txBody>
      </p:sp>
      <p:sp>
        <p:nvSpPr>
          <p:cNvPr id="52" name="object 52"/>
          <p:cNvSpPr txBox="1"/>
          <p:nvPr/>
        </p:nvSpPr>
        <p:spPr>
          <a:xfrm>
            <a:off x="6609716" y="3208146"/>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-3.3</a:t>
            </a:r>
            <a:endParaRPr>
              <a:latin typeface="Calibri" panose="020F0502020204030204"/>
              <a:cs typeface="Calibri" panose="020F0502020204030204"/>
            </a:endParaRPr>
          </a:p>
        </p:txBody>
      </p:sp>
      <p:sp>
        <p:nvSpPr>
          <p:cNvPr id="53" name="object 53"/>
          <p:cNvSpPr txBox="1"/>
          <p:nvPr/>
        </p:nvSpPr>
        <p:spPr>
          <a:xfrm>
            <a:off x="6609716" y="1455801"/>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-4.0</a:t>
            </a:r>
            <a:endParaRPr>
              <a:latin typeface="Calibri" panose="020F0502020204030204"/>
              <a:cs typeface="Calibri" panose="020F0502020204030204"/>
            </a:endParaRPr>
          </a:p>
        </p:txBody>
      </p:sp>
      <p:sp>
        <p:nvSpPr>
          <p:cNvPr id="54" name="object 54"/>
          <p:cNvSpPr txBox="1"/>
          <p:nvPr/>
        </p:nvSpPr>
        <p:spPr>
          <a:xfrm>
            <a:off x="6609715" y="2762200"/>
            <a:ext cx="386080" cy="300355"/>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-3.4</a:t>
            </a:r>
            <a:endParaRPr>
              <a:latin typeface="Calibri" panose="020F0502020204030204"/>
              <a:cs typeface="Calibri" panose="020F0502020204030204"/>
            </a:endParaRPr>
          </a:p>
        </p:txBody>
      </p:sp>
      <p:sp>
        <p:nvSpPr>
          <p:cNvPr id="55" name="object 55"/>
          <p:cNvSpPr txBox="1"/>
          <p:nvPr/>
        </p:nvSpPr>
        <p:spPr>
          <a:xfrm>
            <a:off x="8197723" y="3201670"/>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-3.7</a:t>
            </a:r>
            <a:endParaRPr>
              <a:latin typeface="Calibri" panose="020F0502020204030204"/>
              <a:cs typeface="Calibri" panose="020F0502020204030204"/>
            </a:endParaRPr>
          </a:p>
        </p:txBody>
      </p:sp>
      <p:sp>
        <p:nvSpPr>
          <p:cNvPr id="56" name="object 56"/>
          <p:cNvSpPr txBox="1"/>
          <p:nvPr/>
        </p:nvSpPr>
        <p:spPr>
          <a:xfrm>
            <a:off x="8197723" y="4484878"/>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-4.3</a:t>
            </a:r>
            <a:endParaRPr>
              <a:latin typeface="Calibri" panose="020F0502020204030204"/>
              <a:cs typeface="Calibri" panose="020F0502020204030204"/>
            </a:endParaRPr>
          </a:p>
        </p:txBody>
      </p:sp>
      <p:sp>
        <p:nvSpPr>
          <p:cNvPr id="57" name="object 57"/>
          <p:cNvSpPr txBox="1"/>
          <p:nvPr/>
        </p:nvSpPr>
        <p:spPr>
          <a:xfrm>
            <a:off x="8197723" y="2775330"/>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-4.5</a:t>
            </a:r>
            <a:endParaRPr>
              <a:latin typeface="Calibri" panose="020F0502020204030204"/>
              <a:cs typeface="Calibri" panose="020F0502020204030204"/>
            </a:endParaRPr>
          </a:p>
        </p:txBody>
      </p:sp>
      <p:sp>
        <p:nvSpPr>
          <p:cNvPr id="58" name="object 58"/>
          <p:cNvSpPr txBox="1"/>
          <p:nvPr/>
        </p:nvSpPr>
        <p:spPr>
          <a:xfrm>
            <a:off x="8197723" y="1436623"/>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-4.8</a:t>
            </a:r>
            <a:endParaRPr>
              <a:latin typeface="Calibri" panose="020F0502020204030204"/>
              <a:cs typeface="Calibri" panose="020F0502020204030204"/>
            </a:endParaRPr>
          </a:p>
        </p:txBody>
      </p:sp>
      <p:sp>
        <p:nvSpPr>
          <p:cNvPr id="59" name="object 59"/>
          <p:cNvSpPr txBox="1"/>
          <p:nvPr/>
        </p:nvSpPr>
        <p:spPr>
          <a:xfrm>
            <a:off x="9757410" y="2290064"/>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-4.3</a:t>
            </a:r>
            <a:endParaRPr>
              <a:latin typeface="Calibri" panose="020F0502020204030204"/>
              <a:cs typeface="Calibri" panose="020F0502020204030204"/>
            </a:endParaRPr>
          </a:p>
        </p:txBody>
      </p:sp>
      <p:sp>
        <p:nvSpPr>
          <p:cNvPr id="60" name="object 60"/>
          <p:cNvSpPr txBox="1"/>
          <p:nvPr/>
        </p:nvSpPr>
        <p:spPr>
          <a:xfrm>
            <a:off x="9757410" y="3586430"/>
            <a:ext cx="385445" cy="300355"/>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-4.6</a:t>
            </a:r>
            <a:endParaRPr>
              <a:latin typeface="Calibri" panose="020F0502020204030204"/>
              <a:cs typeface="Calibri" panose="020F0502020204030204"/>
            </a:endParaRPr>
          </a:p>
        </p:txBody>
      </p:sp>
      <p:sp>
        <p:nvSpPr>
          <p:cNvPr id="61" name="object 61"/>
          <p:cNvSpPr txBox="1"/>
          <p:nvPr/>
        </p:nvSpPr>
        <p:spPr>
          <a:xfrm>
            <a:off x="9757410" y="4112767"/>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-5.0</a:t>
            </a:r>
            <a:endParaRPr>
              <a:latin typeface="Calibri" panose="020F0502020204030204"/>
              <a:cs typeface="Calibri" panose="020F0502020204030204"/>
            </a:endParaRPr>
          </a:p>
        </p:txBody>
      </p:sp>
      <p:sp>
        <p:nvSpPr>
          <p:cNvPr id="62" name="object 62"/>
          <p:cNvSpPr txBox="1"/>
          <p:nvPr/>
        </p:nvSpPr>
        <p:spPr>
          <a:xfrm>
            <a:off x="9757410" y="5398414"/>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-5.3</a:t>
            </a:r>
            <a:endParaRPr>
              <a:latin typeface="Calibri" panose="020F0502020204030204"/>
              <a:cs typeface="Calibri" panose="020F0502020204030204"/>
            </a:endParaRPr>
          </a:p>
        </p:txBody>
      </p:sp>
      <p:sp>
        <p:nvSpPr>
          <p:cNvPr id="63" name="object 63"/>
          <p:cNvSpPr txBox="1"/>
          <p:nvPr/>
        </p:nvSpPr>
        <p:spPr>
          <a:xfrm>
            <a:off x="6846570" y="6083300"/>
            <a:ext cx="4353560" cy="584835"/>
          </a:xfrm>
          <a:prstGeom prst="rect">
            <a:avLst/>
          </a:prstGeom>
          <a:ln w="19811">
            <a:solidFill>
              <a:srgbClr val="BA56BD"/>
            </a:solidFill>
          </a:ln>
        </p:spPr>
        <p:txBody>
          <a:bodyPr vert="horz" wrap="square" lIns="0" tIns="31115" rIns="0" bIns="0" rtlCol="0">
            <a:spAutoFit/>
          </a:bodyPr>
          <a:lstStyle/>
          <a:p>
            <a:pPr marR="44450" algn="ctr">
              <a:spcBef>
                <a:spcPts val="245"/>
              </a:spcBef>
            </a:pPr>
            <a:r>
              <a:rPr spc="-10" dirty="0">
                <a:solidFill>
                  <a:srgbClr val="BA56BD"/>
                </a:solidFill>
                <a:cs typeface="Calibri" panose="020F0502020204030204"/>
              </a:rPr>
              <a:t>For</a:t>
            </a:r>
            <a:r>
              <a:rPr spc="-20" dirty="0">
                <a:solidFill>
                  <a:srgbClr val="BA56BD"/>
                </a:solidFill>
                <a:cs typeface="Calibri" panose="020F0502020204030204"/>
              </a:rPr>
              <a:t> </a:t>
            </a:r>
            <a:r>
              <a:rPr dirty="0">
                <a:solidFill>
                  <a:srgbClr val="BA56BD"/>
                </a:solidFill>
                <a:cs typeface="Calibri" panose="020F0502020204030204"/>
              </a:rPr>
              <a:t>each</a:t>
            </a:r>
            <a:r>
              <a:rPr spc="5" dirty="0">
                <a:solidFill>
                  <a:srgbClr val="BA56BD"/>
                </a:solidFill>
                <a:cs typeface="Calibri" panose="020F0502020204030204"/>
              </a:rPr>
              <a:t> </a:t>
            </a:r>
            <a:r>
              <a:rPr spc="-5" dirty="0">
                <a:solidFill>
                  <a:srgbClr val="BA56BD"/>
                </a:solidFill>
                <a:cs typeface="Calibri" panose="020F0502020204030204"/>
              </a:rPr>
              <a:t>of</a:t>
            </a:r>
            <a:r>
              <a:rPr dirty="0">
                <a:solidFill>
                  <a:srgbClr val="BA56BD"/>
                </a:solidFill>
                <a:cs typeface="Calibri" panose="020F0502020204030204"/>
              </a:rPr>
              <a:t> the</a:t>
            </a:r>
            <a:r>
              <a:rPr spc="-5" dirty="0">
                <a:solidFill>
                  <a:srgbClr val="BA56BD"/>
                </a:solidFill>
                <a:cs typeface="Calibri" panose="020F0502020204030204"/>
              </a:rPr>
              <a:t> </a:t>
            </a:r>
            <a:r>
              <a:rPr i="1" dirty="0">
                <a:solidFill>
                  <a:srgbClr val="BA56BD"/>
                </a:solidFill>
                <a:cs typeface="Calibri" panose="020F0502020204030204"/>
              </a:rPr>
              <a:t>k</a:t>
            </a:r>
            <a:r>
              <a:rPr i="1" spc="-15" dirty="0">
                <a:solidFill>
                  <a:srgbClr val="BA56BD"/>
                </a:solidFill>
                <a:cs typeface="Calibri" panose="020F0502020204030204"/>
              </a:rPr>
              <a:t> </a:t>
            </a:r>
            <a:r>
              <a:rPr spc="-5" dirty="0">
                <a:solidFill>
                  <a:srgbClr val="BA56BD"/>
                </a:solidFill>
                <a:cs typeface="Calibri" panose="020F0502020204030204"/>
              </a:rPr>
              <a:t>hypotheses,</a:t>
            </a:r>
            <a:r>
              <a:rPr spc="-15" dirty="0">
                <a:solidFill>
                  <a:srgbClr val="BA56BD"/>
                </a:solidFill>
                <a:cs typeface="Calibri" panose="020F0502020204030204"/>
              </a:rPr>
              <a:t> </a:t>
            </a:r>
            <a:r>
              <a:rPr spc="-5" dirty="0">
                <a:solidFill>
                  <a:srgbClr val="BA56BD"/>
                </a:solidFill>
                <a:cs typeface="Calibri" panose="020F0502020204030204"/>
              </a:rPr>
              <a:t>find</a:t>
            </a:r>
            <a:endParaRPr>
              <a:cs typeface="Calibri" panose="020F0502020204030204"/>
            </a:endParaRPr>
          </a:p>
          <a:p>
            <a:pPr algn="ctr">
              <a:lnSpc>
                <a:spcPct val="100000"/>
              </a:lnSpc>
            </a:pPr>
            <a:r>
              <a:rPr spc="-10" dirty="0">
                <a:solidFill>
                  <a:srgbClr val="BA56BD"/>
                </a:solidFill>
                <a:cs typeface="Calibri" panose="020F0502020204030204"/>
              </a:rPr>
              <a:t>top </a:t>
            </a:r>
            <a:r>
              <a:rPr i="1" dirty="0">
                <a:solidFill>
                  <a:srgbClr val="BA56BD"/>
                </a:solidFill>
                <a:cs typeface="Calibri" panose="020F0502020204030204"/>
              </a:rPr>
              <a:t>k</a:t>
            </a:r>
            <a:r>
              <a:rPr i="1" spc="-10" dirty="0">
                <a:solidFill>
                  <a:srgbClr val="BA56BD"/>
                </a:solidFill>
                <a:cs typeface="Calibri" panose="020F0502020204030204"/>
              </a:rPr>
              <a:t> </a:t>
            </a:r>
            <a:r>
              <a:rPr spc="-10" dirty="0">
                <a:solidFill>
                  <a:srgbClr val="BA56BD"/>
                </a:solidFill>
                <a:cs typeface="Calibri" panose="020F0502020204030204"/>
              </a:rPr>
              <a:t>next</a:t>
            </a:r>
            <a:r>
              <a:rPr dirty="0">
                <a:solidFill>
                  <a:srgbClr val="BA56BD"/>
                </a:solidFill>
                <a:cs typeface="Calibri" panose="020F0502020204030204"/>
              </a:rPr>
              <a:t> </a:t>
            </a:r>
            <a:r>
              <a:rPr spc="-15" dirty="0">
                <a:solidFill>
                  <a:srgbClr val="BA56BD"/>
                </a:solidFill>
                <a:cs typeface="Calibri" panose="020F0502020204030204"/>
              </a:rPr>
              <a:t>words</a:t>
            </a:r>
            <a:r>
              <a:rPr spc="-5" dirty="0">
                <a:solidFill>
                  <a:srgbClr val="BA56BD"/>
                </a:solidFill>
                <a:cs typeface="Calibri" panose="020F0502020204030204"/>
              </a:rPr>
              <a:t> </a:t>
            </a:r>
            <a:r>
              <a:rPr dirty="0">
                <a:solidFill>
                  <a:srgbClr val="BA56BD"/>
                </a:solidFill>
                <a:cs typeface="Calibri" panose="020F0502020204030204"/>
              </a:rPr>
              <a:t>and</a:t>
            </a:r>
            <a:r>
              <a:rPr spc="-10" dirty="0">
                <a:solidFill>
                  <a:srgbClr val="BA56BD"/>
                </a:solidFill>
                <a:cs typeface="Calibri" panose="020F0502020204030204"/>
              </a:rPr>
              <a:t> calculate</a:t>
            </a:r>
            <a:r>
              <a:rPr spc="15" dirty="0">
                <a:solidFill>
                  <a:srgbClr val="BA56BD"/>
                </a:solidFill>
                <a:cs typeface="Calibri" panose="020F0502020204030204"/>
              </a:rPr>
              <a:t> </a:t>
            </a:r>
            <a:r>
              <a:rPr spc="-10" dirty="0">
                <a:solidFill>
                  <a:srgbClr val="BA56BD"/>
                </a:solidFill>
                <a:cs typeface="Calibri" panose="020F0502020204030204"/>
              </a:rPr>
              <a:t>scores</a:t>
            </a:r>
            <a:endParaRPr>
              <a:cs typeface="Calibri" panose="020F0502020204030204"/>
            </a:endParaRPr>
          </a:p>
        </p:txBody>
      </p:sp>
      <p:grpSp>
        <p:nvGrpSpPr>
          <p:cNvPr id="65" name="Group 64"/>
          <p:cNvGrpSpPr/>
          <p:nvPr/>
        </p:nvGrpSpPr>
        <p:grpSpPr>
          <a:xfrm>
            <a:off x="1875934" y="646192"/>
            <a:ext cx="8356238" cy="736600"/>
            <a:chOff x="1875934" y="646192"/>
            <a:chExt cx="8356238" cy="736600"/>
          </a:xfrm>
        </p:grpSpPr>
        <p:sp>
          <p:nvSpPr>
            <p:cNvPr id="66" name="object 3"/>
            <p:cNvSpPr txBox="1"/>
            <p:nvPr/>
          </p:nvSpPr>
          <p:spPr>
            <a:xfrm>
              <a:off x="1875934" y="840487"/>
              <a:ext cx="3557126" cy="321242"/>
            </a:xfrm>
            <a:prstGeom prst="rect">
              <a:avLst/>
            </a:prstGeom>
          </p:spPr>
          <p:txBody>
            <a:bodyPr vert="horz" wrap="square" lIns="0" tIns="13335" rIns="0" bIns="0" rtlCol="0">
              <a:spAutoFit/>
            </a:bodyPr>
            <a:lstStyle/>
            <a:p>
              <a:pPr marL="12700">
                <a:spcBef>
                  <a:spcPts val="105"/>
                </a:spcBef>
              </a:pPr>
              <a:r>
                <a:rPr sz="2000" b="1" dirty="0">
                  <a:cs typeface="Calibri" panose="020F0502020204030204"/>
                </a:rPr>
                <a:t>Beam</a:t>
              </a:r>
              <a:r>
                <a:rPr sz="2000" b="1" spc="-10" dirty="0">
                  <a:cs typeface="Calibri" panose="020F0502020204030204"/>
                </a:rPr>
                <a:t> </a:t>
              </a:r>
              <a:r>
                <a:rPr sz="2000" b="1" spc="-5" dirty="0">
                  <a:cs typeface="Calibri" panose="020F0502020204030204"/>
                </a:rPr>
                <a:t>size</a:t>
              </a:r>
              <a:r>
                <a:rPr sz="2000" b="1" dirty="0">
                  <a:cs typeface="Calibri" panose="020F0502020204030204"/>
                </a:rPr>
                <a:t> =</a:t>
              </a:r>
              <a:r>
                <a:rPr sz="2000" b="1" spc="-15" dirty="0">
                  <a:cs typeface="Calibri" panose="020F0502020204030204"/>
                </a:rPr>
                <a:t> </a:t>
              </a:r>
              <a:r>
                <a:rPr sz="2000" b="1" dirty="0">
                  <a:cs typeface="Calibri" panose="020F0502020204030204"/>
                </a:rPr>
                <a:t>k</a:t>
              </a:r>
              <a:r>
                <a:rPr sz="2000" b="1" spc="-10" dirty="0">
                  <a:cs typeface="Calibri" panose="020F0502020204030204"/>
                </a:rPr>
                <a:t> </a:t>
              </a:r>
              <a:r>
                <a:rPr sz="2000" b="1" dirty="0">
                  <a:cs typeface="Calibri" panose="020F0502020204030204"/>
                </a:rPr>
                <a:t>=</a:t>
              </a:r>
              <a:r>
                <a:rPr sz="2000" b="1" spc="-5" dirty="0">
                  <a:cs typeface="Calibri" panose="020F0502020204030204"/>
                </a:rPr>
                <a:t> </a:t>
              </a:r>
              <a:r>
                <a:rPr sz="2000" b="1" dirty="0">
                  <a:cs typeface="Calibri" panose="020F0502020204030204"/>
                </a:rPr>
                <a:t>2</a:t>
              </a:r>
              <a:r>
                <a:rPr sz="2000" dirty="0">
                  <a:cs typeface="Calibri" panose="020F0502020204030204"/>
                </a:rPr>
                <a:t>.</a:t>
              </a:r>
              <a:r>
                <a:rPr sz="2000" spc="-25" dirty="0">
                  <a:cs typeface="Calibri" panose="020F0502020204030204"/>
                </a:rPr>
                <a:t> </a:t>
              </a:r>
              <a:r>
                <a:rPr sz="2000" dirty="0">
                  <a:solidFill>
                    <a:srgbClr val="4285F4"/>
                  </a:solidFill>
                  <a:cs typeface="Calibri" panose="020F0502020204030204"/>
                </a:rPr>
                <a:t>Blue</a:t>
              </a:r>
              <a:r>
                <a:rPr sz="2000" spc="-10" dirty="0">
                  <a:solidFill>
                    <a:srgbClr val="4285F4"/>
                  </a:solidFill>
                  <a:cs typeface="Calibri" panose="020F0502020204030204"/>
                </a:rPr>
                <a:t> </a:t>
              </a:r>
              <a:r>
                <a:rPr sz="2000" dirty="0">
                  <a:solidFill>
                    <a:srgbClr val="4285F4"/>
                  </a:solidFill>
                  <a:cs typeface="Calibri" panose="020F0502020204030204"/>
                </a:rPr>
                <a:t>numbers</a:t>
              </a:r>
              <a:r>
                <a:rPr sz="2000" spc="-5" dirty="0">
                  <a:solidFill>
                    <a:srgbClr val="4285F4"/>
                  </a:solidFill>
                  <a:cs typeface="Calibri" panose="020F0502020204030204"/>
                </a:rPr>
                <a:t> </a:t>
              </a:r>
              <a:r>
                <a:rPr sz="2000" dirty="0">
                  <a:solidFill>
                    <a:srgbClr val="4285F4"/>
                  </a:solidFill>
                  <a:cs typeface="Calibri" panose="020F0502020204030204"/>
                </a:rPr>
                <a:t>=</a:t>
              </a:r>
              <a:endParaRPr sz="2000" dirty="0">
                <a:cs typeface="Calibri" panose="020F0502020204030204"/>
              </a:endParaRPr>
            </a:p>
          </p:txBody>
        </p:sp>
        <p:pic>
          <p:nvPicPr>
            <p:cNvPr id="67" name="object 50"/>
            <p:cNvPicPr/>
            <p:nvPr/>
          </p:nvPicPr>
          <p:blipFill>
            <a:blip r:embed="rId2" cstate="print"/>
            <a:stretch>
              <a:fillRect/>
            </a:stretch>
          </p:blipFill>
          <p:spPr>
            <a:xfrm>
              <a:off x="5415822" y="646192"/>
              <a:ext cx="4816350" cy="736600"/>
            </a:xfrm>
            <a:prstGeom prst="rect">
              <a:avLst/>
            </a:prstGeom>
          </p:spPr>
        </p:pic>
      </p:gr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3273551" y="2842260"/>
            <a:ext cx="1117600" cy="337912"/>
          </a:xfrm>
          <a:prstGeom prst="rect">
            <a:avLst/>
          </a:prstGeom>
          <a:ln w="9144">
            <a:solidFill>
              <a:srgbClr val="000000"/>
            </a:solidFill>
          </a:ln>
        </p:spPr>
        <p:txBody>
          <a:bodyPr vert="horz" wrap="square" lIns="0" tIns="29844" rIns="0" bIns="0" rtlCol="0">
            <a:spAutoFit/>
          </a:bodyPr>
          <a:lstStyle/>
          <a:p>
            <a:pPr algn="ctr">
              <a:spcBef>
                <a:spcPts val="235"/>
              </a:spcBef>
            </a:pPr>
            <a:r>
              <a:rPr sz="2000" i="1" spc="-5" dirty="0">
                <a:latin typeface="Calibri" panose="020F0502020204030204"/>
                <a:cs typeface="Calibri" panose="020F0502020204030204"/>
              </a:rPr>
              <a:t>hit</a:t>
            </a:r>
            <a:endParaRPr sz="2000">
              <a:latin typeface="Calibri" panose="020F0502020204030204"/>
              <a:cs typeface="Calibri" panose="020F0502020204030204"/>
            </a:endParaRPr>
          </a:p>
        </p:txBody>
      </p:sp>
      <p:sp>
        <p:nvSpPr>
          <p:cNvPr id="5" name="object 5"/>
          <p:cNvSpPr txBox="1"/>
          <p:nvPr/>
        </p:nvSpPr>
        <p:spPr>
          <a:xfrm>
            <a:off x="3273551" y="3368040"/>
            <a:ext cx="1117600" cy="338554"/>
          </a:xfrm>
          <a:prstGeom prst="rect">
            <a:avLst/>
          </a:prstGeom>
          <a:ln w="9144">
            <a:solidFill>
              <a:srgbClr val="000000"/>
            </a:solidFill>
          </a:ln>
        </p:spPr>
        <p:txBody>
          <a:bodyPr vert="horz" wrap="square" lIns="0" tIns="30480" rIns="0" bIns="0" rtlCol="0">
            <a:spAutoFit/>
          </a:bodyPr>
          <a:lstStyle/>
          <a:p>
            <a:pPr marL="247015">
              <a:spcBef>
                <a:spcPts val="240"/>
              </a:spcBef>
            </a:pPr>
            <a:r>
              <a:rPr sz="2000" i="1" spc="-5" dirty="0">
                <a:latin typeface="Calibri" panose="020F0502020204030204"/>
                <a:cs typeface="Calibri" panose="020F0502020204030204"/>
              </a:rPr>
              <a:t>struck</a:t>
            </a:r>
            <a:endParaRPr sz="2000">
              <a:latin typeface="Calibri" panose="020F0502020204030204"/>
              <a:cs typeface="Calibri" panose="020F0502020204030204"/>
            </a:endParaRPr>
          </a:p>
        </p:txBody>
      </p:sp>
      <p:sp>
        <p:nvSpPr>
          <p:cNvPr id="6" name="object 6"/>
          <p:cNvSpPr txBox="1"/>
          <p:nvPr/>
        </p:nvSpPr>
        <p:spPr>
          <a:xfrm>
            <a:off x="3273551" y="4698491"/>
            <a:ext cx="1117600" cy="338554"/>
          </a:xfrm>
          <a:prstGeom prst="rect">
            <a:avLst/>
          </a:prstGeom>
          <a:ln w="9144">
            <a:solidFill>
              <a:srgbClr val="000000"/>
            </a:solidFill>
          </a:ln>
        </p:spPr>
        <p:txBody>
          <a:bodyPr vert="horz" wrap="square" lIns="0" tIns="30480" rIns="0" bIns="0" rtlCol="0">
            <a:spAutoFit/>
          </a:bodyPr>
          <a:lstStyle/>
          <a:p>
            <a:pPr marL="352425">
              <a:spcBef>
                <a:spcPts val="240"/>
              </a:spcBef>
            </a:pPr>
            <a:r>
              <a:rPr sz="2000" i="1" dirty="0">
                <a:latin typeface="Calibri" panose="020F0502020204030204"/>
                <a:cs typeface="Calibri" panose="020F0502020204030204"/>
              </a:rPr>
              <a:t>was</a:t>
            </a:r>
            <a:endParaRPr sz="2000">
              <a:latin typeface="Calibri" panose="020F0502020204030204"/>
              <a:cs typeface="Calibri" panose="020F0502020204030204"/>
            </a:endParaRPr>
          </a:p>
        </p:txBody>
      </p:sp>
      <p:sp>
        <p:nvSpPr>
          <p:cNvPr id="7" name="object 7"/>
          <p:cNvSpPr txBox="1"/>
          <p:nvPr/>
        </p:nvSpPr>
        <p:spPr>
          <a:xfrm>
            <a:off x="3273551" y="5224272"/>
            <a:ext cx="1117600" cy="339195"/>
          </a:xfrm>
          <a:prstGeom prst="rect">
            <a:avLst/>
          </a:prstGeom>
          <a:ln w="9144">
            <a:solidFill>
              <a:srgbClr val="000000"/>
            </a:solidFill>
          </a:ln>
        </p:spPr>
        <p:txBody>
          <a:bodyPr vert="horz" wrap="square" lIns="0" tIns="31115" rIns="0" bIns="0" rtlCol="0">
            <a:spAutoFit/>
          </a:bodyPr>
          <a:lstStyle/>
          <a:p>
            <a:pPr algn="ctr">
              <a:spcBef>
                <a:spcPts val="245"/>
              </a:spcBef>
            </a:pPr>
            <a:r>
              <a:rPr sz="2000" i="1" spc="-5" dirty="0">
                <a:latin typeface="Calibri" panose="020F0502020204030204"/>
                <a:cs typeface="Calibri" panose="020F0502020204030204"/>
              </a:rPr>
              <a:t>got</a:t>
            </a:r>
            <a:endParaRPr sz="2000">
              <a:latin typeface="Calibri" panose="020F0502020204030204"/>
              <a:cs typeface="Calibri" panose="020F0502020204030204"/>
            </a:endParaRPr>
          </a:p>
        </p:txBody>
      </p:sp>
      <p:sp>
        <p:nvSpPr>
          <p:cNvPr id="8" name="object 8"/>
          <p:cNvSpPr/>
          <p:nvPr/>
        </p:nvSpPr>
        <p:spPr>
          <a:xfrm>
            <a:off x="2876804" y="3060192"/>
            <a:ext cx="397510" cy="526415"/>
          </a:xfrm>
          <a:custGeom>
            <a:avLst/>
            <a:gdLst/>
            <a:ahLst/>
            <a:cxnLst/>
            <a:rect l="l" t="t" r="r" b="b"/>
            <a:pathLst>
              <a:path w="397510" h="526414">
                <a:moveTo>
                  <a:pt x="397383" y="0"/>
                </a:moveTo>
                <a:lnTo>
                  <a:pt x="312801" y="11049"/>
                </a:lnTo>
                <a:lnTo>
                  <a:pt x="330568" y="37338"/>
                </a:lnTo>
                <a:lnTo>
                  <a:pt x="0" y="260223"/>
                </a:lnTo>
                <a:lnTo>
                  <a:pt x="3441" y="265341"/>
                </a:lnTo>
                <a:lnTo>
                  <a:pt x="0" y="270510"/>
                </a:lnTo>
                <a:lnTo>
                  <a:pt x="330288" y="489445"/>
                </a:lnTo>
                <a:lnTo>
                  <a:pt x="312801" y="515874"/>
                </a:lnTo>
                <a:lnTo>
                  <a:pt x="397383" y="526161"/>
                </a:lnTo>
                <a:lnTo>
                  <a:pt x="380238" y="496443"/>
                </a:lnTo>
                <a:lnTo>
                  <a:pt x="354838" y="452374"/>
                </a:lnTo>
                <a:lnTo>
                  <a:pt x="337337" y="478815"/>
                </a:lnTo>
                <a:lnTo>
                  <a:pt x="15278" y="265264"/>
                </a:lnTo>
                <a:lnTo>
                  <a:pt x="337693" y="47879"/>
                </a:lnTo>
                <a:lnTo>
                  <a:pt x="355473" y="74168"/>
                </a:lnTo>
                <a:lnTo>
                  <a:pt x="380301" y="30226"/>
                </a:lnTo>
                <a:lnTo>
                  <a:pt x="397383" y="0"/>
                </a:lnTo>
                <a:close/>
              </a:path>
            </a:pathLst>
          </a:custGeom>
          <a:solidFill>
            <a:srgbClr val="000000"/>
          </a:solidFill>
        </p:spPr>
        <p:txBody>
          <a:bodyPr wrap="square" lIns="0" tIns="0" rIns="0" bIns="0" rtlCol="0"/>
          <a:lstStyle/>
          <a:p>
            <a:endParaRPr/>
          </a:p>
        </p:txBody>
      </p:sp>
      <p:sp>
        <p:nvSpPr>
          <p:cNvPr id="9" name="object 9"/>
          <p:cNvSpPr/>
          <p:nvPr/>
        </p:nvSpPr>
        <p:spPr>
          <a:xfrm>
            <a:off x="2876804" y="4916423"/>
            <a:ext cx="397510" cy="527050"/>
          </a:xfrm>
          <a:custGeom>
            <a:avLst/>
            <a:gdLst/>
            <a:ahLst/>
            <a:cxnLst/>
            <a:rect l="l" t="t" r="r" b="b"/>
            <a:pathLst>
              <a:path w="397510" h="527050">
                <a:moveTo>
                  <a:pt x="397383" y="0"/>
                </a:moveTo>
                <a:lnTo>
                  <a:pt x="312928" y="11938"/>
                </a:lnTo>
                <a:lnTo>
                  <a:pt x="331038" y="38100"/>
                </a:lnTo>
                <a:lnTo>
                  <a:pt x="0" y="267081"/>
                </a:lnTo>
                <a:lnTo>
                  <a:pt x="3721" y="272542"/>
                </a:lnTo>
                <a:lnTo>
                  <a:pt x="127" y="278142"/>
                </a:lnTo>
                <a:lnTo>
                  <a:pt x="329869" y="491121"/>
                </a:lnTo>
                <a:lnTo>
                  <a:pt x="312674" y="517779"/>
                </a:lnTo>
                <a:lnTo>
                  <a:pt x="397383" y="527050"/>
                </a:lnTo>
                <a:lnTo>
                  <a:pt x="380136" y="497967"/>
                </a:lnTo>
                <a:lnTo>
                  <a:pt x="353949" y="453771"/>
                </a:lnTo>
                <a:lnTo>
                  <a:pt x="336778" y="480402"/>
                </a:lnTo>
                <a:lnTo>
                  <a:pt x="14541" y="272351"/>
                </a:lnTo>
                <a:lnTo>
                  <a:pt x="338251" y="48526"/>
                </a:lnTo>
                <a:lnTo>
                  <a:pt x="356362" y="74676"/>
                </a:lnTo>
                <a:lnTo>
                  <a:pt x="380428" y="30861"/>
                </a:lnTo>
                <a:lnTo>
                  <a:pt x="397383" y="0"/>
                </a:lnTo>
                <a:close/>
              </a:path>
            </a:pathLst>
          </a:custGeom>
          <a:solidFill>
            <a:srgbClr val="000000"/>
          </a:solidFill>
        </p:spPr>
        <p:txBody>
          <a:bodyPr wrap="square" lIns="0" tIns="0" rIns="0" bIns="0" rtlCol="0"/>
          <a:lstStyle/>
          <a:p>
            <a:endParaRPr/>
          </a:p>
        </p:txBody>
      </p:sp>
      <p:sp>
        <p:nvSpPr>
          <p:cNvPr id="10" name="object 10"/>
          <p:cNvSpPr txBox="1"/>
          <p:nvPr/>
        </p:nvSpPr>
        <p:spPr>
          <a:xfrm>
            <a:off x="4728972" y="2546604"/>
            <a:ext cx="1117600" cy="338554"/>
          </a:xfrm>
          <a:prstGeom prst="rect">
            <a:avLst/>
          </a:prstGeom>
          <a:ln w="9144">
            <a:solidFill>
              <a:srgbClr val="000000"/>
            </a:solidFill>
          </a:ln>
        </p:spPr>
        <p:txBody>
          <a:bodyPr vert="horz" wrap="square" lIns="0" tIns="30480" rIns="0" bIns="0" rtlCol="0">
            <a:spAutoFit/>
          </a:bodyPr>
          <a:lstStyle/>
          <a:p>
            <a:pPr algn="ctr">
              <a:spcBef>
                <a:spcPts val="240"/>
              </a:spcBef>
            </a:pPr>
            <a:r>
              <a:rPr sz="2000" i="1" dirty="0">
                <a:latin typeface="Calibri" panose="020F0502020204030204"/>
                <a:cs typeface="Calibri" panose="020F0502020204030204"/>
              </a:rPr>
              <a:t>a</a:t>
            </a:r>
            <a:endParaRPr sz="2000">
              <a:latin typeface="Calibri" panose="020F0502020204030204"/>
              <a:cs typeface="Calibri" panose="020F0502020204030204"/>
            </a:endParaRPr>
          </a:p>
        </p:txBody>
      </p:sp>
      <p:sp>
        <p:nvSpPr>
          <p:cNvPr id="11" name="object 11"/>
          <p:cNvSpPr txBox="1"/>
          <p:nvPr/>
        </p:nvSpPr>
        <p:spPr>
          <a:xfrm>
            <a:off x="4728972" y="3073908"/>
            <a:ext cx="1117600" cy="337913"/>
          </a:xfrm>
          <a:prstGeom prst="rect">
            <a:avLst/>
          </a:prstGeom>
          <a:ln w="9144">
            <a:solidFill>
              <a:srgbClr val="000000"/>
            </a:solidFill>
          </a:ln>
        </p:spPr>
        <p:txBody>
          <a:bodyPr vert="horz" wrap="square" lIns="0" tIns="29845" rIns="0" bIns="0" rtlCol="0">
            <a:spAutoFit/>
          </a:bodyPr>
          <a:lstStyle/>
          <a:p>
            <a:pPr algn="ctr">
              <a:spcBef>
                <a:spcPts val="235"/>
              </a:spcBef>
            </a:pPr>
            <a:r>
              <a:rPr sz="2000" i="1" spc="-5" dirty="0">
                <a:latin typeface="Calibri" panose="020F0502020204030204"/>
                <a:cs typeface="Calibri" panose="020F0502020204030204"/>
              </a:rPr>
              <a:t>me</a:t>
            </a:r>
            <a:endParaRPr sz="2000">
              <a:latin typeface="Calibri" panose="020F0502020204030204"/>
              <a:cs typeface="Calibri" panose="020F0502020204030204"/>
            </a:endParaRPr>
          </a:p>
        </p:txBody>
      </p:sp>
      <p:sp>
        <p:nvSpPr>
          <p:cNvPr id="12" name="object 12"/>
          <p:cNvSpPr txBox="1"/>
          <p:nvPr/>
        </p:nvSpPr>
        <p:spPr>
          <a:xfrm>
            <a:off x="4728972" y="4430268"/>
            <a:ext cx="1117600" cy="337913"/>
          </a:xfrm>
          <a:prstGeom prst="rect">
            <a:avLst/>
          </a:prstGeom>
          <a:ln w="9144">
            <a:solidFill>
              <a:srgbClr val="000000"/>
            </a:solidFill>
          </a:ln>
        </p:spPr>
        <p:txBody>
          <a:bodyPr vert="horz" wrap="square" lIns="0" tIns="29845" rIns="0" bIns="0" rtlCol="0">
            <a:spAutoFit/>
          </a:bodyPr>
          <a:lstStyle/>
          <a:p>
            <a:pPr algn="ctr">
              <a:spcBef>
                <a:spcPts val="235"/>
              </a:spcBef>
            </a:pPr>
            <a:r>
              <a:rPr sz="2000" i="1" spc="-5" dirty="0">
                <a:latin typeface="Calibri" panose="020F0502020204030204"/>
                <a:cs typeface="Calibri" panose="020F0502020204030204"/>
              </a:rPr>
              <a:t>hit</a:t>
            </a:r>
            <a:endParaRPr sz="2000">
              <a:latin typeface="Calibri" panose="020F0502020204030204"/>
              <a:cs typeface="Calibri" panose="020F0502020204030204"/>
            </a:endParaRPr>
          </a:p>
        </p:txBody>
      </p:sp>
      <p:sp>
        <p:nvSpPr>
          <p:cNvPr id="13" name="object 13"/>
          <p:cNvSpPr txBox="1"/>
          <p:nvPr/>
        </p:nvSpPr>
        <p:spPr>
          <a:xfrm>
            <a:off x="4728972" y="4956048"/>
            <a:ext cx="1117600" cy="339195"/>
          </a:xfrm>
          <a:prstGeom prst="rect">
            <a:avLst/>
          </a:prstGeom>
          <a:ln w="9144">
            <a:solidFill>
              <a:srgbClr val="000000"/>
            </a:solidFill>
          </a:ln>
        </p:spPr>
        <p:txBody>
          <a:bodyPr vert="horz" wrap="square" lIns="0" tIns="31115" rIns="0" bIns="0" rtlCol="0">
            <a:spAutoFit/>
          </a:bodyPr>
          <a:lstStyle/>
          <a:p>
            <a:pPr marL="247015">
              <a:spcBef>
                <a:spcPts val="245"/>
              </a:spcBef>
            </a:pPr>
            <a:r>
              <a:rPr sz="2000" i="1" spc="-5" dirty="0">
                <a:latin typeface="Calibri" panose="020F0502020204030204"/>
                <a:cs typeface="Calibri" panose="020F0502020204030204"/>
              </a:rPr>
              <a:t>struck</a:t>
            </a:r>
            <a:endParaRPr sz="2000">
              <a:latin typeface="Calibri" panose="020F0502020204030204"/>
              <a:cs typeface="Calibri" panose="020F0502020204030204"/>
            </a:endParaRPr>
          </a:p>
        </p:txBody>
      </p:sp>
      <p:sp>
        <p:nvSpPr>
          <p:cNvPr id="14" name="object 14"/>
          <p:cNvSpPr/>
          <p:nvPr/>
        </p:nvSpPr>
        <p:spPr>
          <a:xfrm>
            <a:off x="4386454" y="2764536"/>
            <a:ext cx="342265" cy="527685"/>
          </a:xfrm>
          <a:custGeom>
            <a:avLst/>
            <a:gdLst/>
            <a:ahLst/>
            <a:cxnLst/>
            <a:rect l="l" t="t" r="r" b="b"/>
            <a:pathLst>
              <a:path w="342264" h="527685">
                <a:moveTo>
                  <a:pt x="342265" y="0"/>
                </a:moveTo>
                <a:lnTo>
                  <a:pt x="259842" y="21336"/>
                </a:lnTo>
                <a:lnTo>
                  <a:pt x="280670" y="45250"/>
                </a:lnTo>
                <a:lnTo>
                  <a:pt x="0" y="289687"/>
                </a:lnTo>
                <a:lnTo>
                  <a:pt x="4622" y="295021"/>
                </a:lnTo>
                <a:lnTo>
                  <a:pt x="635" y="300863"/>
                </a:lnTo>
                <a:lnTo>
                  <a:pt x="275856" y="489826"/>
                </a:lnTo>
                <a:lnTo>
                  <a:pt x="257937" y="516001"/>
                </a:lnTo>
                <a:lnTo>
                  <a:pt x="342265" y="527685"/>
                </a:lnTo>
                <a:lnTo>
                  <a:pt x="325247" y="496951"/>
                </a:lnTo>
                <a:lnTo>
                  <a:pt x="300990" y="453136"/>
                </a:lnTo>
                <a:lnTo>
                  <a:pt x="283032" y="479361"/>
                </a:lnTo>
                <a:lnTo>
                  <a:pt x="13804" y="294614"/>
                </a:lnTo>
                <a:lnTo>
                  <a:pt x="289013" y="54813"/>
                </a:lnTo>
                <a:lnTo>
                  <a:pt x="309880" y="78740"/>
                </a:lnTo>
                <a:lnTo>
                  <a:pt x="327063" y="36957"/>
                </a:lnTo>
                <a:lnTo>
                  <a:pt x="342265" y="0"/>
                </a:lnTo>
                <a:close/>
              </a:path>
            </a:pathLst>
          </a:custGeom>
          <a:solidFill>
            <a:srgbClr val="000000"/>
          </a:solidFill>
        </p:spPr>
        <p:txBody>
          <a:bodyPr wrap="square" lIns="0" tIns="0" rIns="0" bIns="0" rtlCol="0"/>
          <a:lstStyle/>
          <a:p>
            <a:endParaRPr/>
          </a:p>
        </p:txBody>
      </p:sp>
      <p:sp>
        <p:nvSpPr>
          <p:cNvPr id="15" name="object 15"/>
          <p:cNvSpPr/>
          <p:nvPr/>
        </p:nvSpPr>
        <p:spPr>
          <a:xfrm>
            <a:off x="4386708" y="4648200"/>
            <a:ext cx="342265" cy="527050"/>
          </a:xfrm>
          <a:custGeom>
            <a:avLst/>
            <a:gdLst/>
            <a:ahLst/>
            <a:cxnLst/>
            <a:rect l="l" t="t" r="r" b="b"/>
            <a:pathLst>
              <a:path w="342264" h="527050">
                <a:moveTo>
                  <a:pt x="342011" y="0"/>
                </a:moveTo>
                <a:lnTo>
                  <a:pt x="258572" y="17526"/>
                </a:lnTo>
                <a:lnTo>
                  <a:pt x="278333" y="42443"/>
                </a:lnTo>
                <a:lnTo>
                  <a:pt x="0" y="263271"/>
                </a:lnTo>
                <a:lnTo>
                  <a:pt x="3937" y="268224"/>
                </a:lnTo>
                <a:lnTo>
                  <a:pt x="127" y="273304"/>
                </a:lnTo>
                <a:lnTo>
                  <a:pt x="277596" y="485330"/>
                </a:lnTo>
                <a:lnTo>
                  <a:pt x="258318" y="510540"/>
                </a:lnTo>
                <a:lnTo>
                  <a:pt x="342011" y="526542"/>
                </a:lnTo>
                <a:lnTo>
                  <a:pt x="325577" y="493014"/>
                </a:lnTo>
                <a:lnTo>
                  <a:pt x="304546" y="450088"/>
                </a:lnTo>
                <a:lnTo>
                  <a:pt x="285292" y="475259"/>
                </a:lnTo>
                <a:lnTo>
                  <a:pt x="14249" y="268122"/>
                </a:lnTo>
                <a:lnTo>
                  <a:pt x="286207" y="52349"/>
                </a:lnTo>
                <a:lnTo>
                  <a:pt x="305943" y="77216"/>
                </a:lnTo>
                <a:lnTo>
                  <a:pt x="325869" y="34544"/>
                </a:lnTo>
                <a:lnTo>
                  <a:pt x="342011" y="0"/>
                </a:lnTo>
                <a:close/>
              </a:path>
            </a:pathLst>
          </a:custGeom>
          <a:solidFill>
            <a:srgbClr val="000000"/>
          </a:solidFill>
        </p:spPr>
        <p:txBody>
          <a:bodyPr wrap="square" lIns="0" tIns="0" rIns="0" bIns="0" rtlCol="0"/>
          <a:lstStyle/>
          <a:p>
            <a:endParaRPr/>
          </a:p>
        </p:txBody>
      </p:sp>
      <p:sp>
        <p:nvSpPr>
          <p:cNvPr id="16" name="object 16"/>
          <p:cNvSpPr txBox="1"/>
          <p:nvPr/>
        </p:nvSpPr>
        <p:spPr>
          <a:xfrm>
            <a:off x="6256020" y="1816608"/>
            <a:ext cx="1117600" cy="337913"/>
          </a:xfrm>
          <a:prstGeom prst="rect">
            <a:avLst/>
          </a:prstGeom>
          <a:ln w="9144">
            <a:solidFill>
              <a:srgbClr val="000000"/>
            </a:solidFill>
          </a:ln>
        </p:spPr>
        <p:txBody>
          <a:bodyPr vert="horz" wrap="square" lIns="0" tIns="29845" rIns="0" bIns="0" rtlCol="0">
            <a:spAutoFit/>
          </a:bodyPr>
          <a:lstStyle/>
          <a:p>
            <a:pPr marL="365125">
              <a:spcBef>
                <a:spcPts val="235"/>
              </a:spcBef>
            </a:pPr>
            <a:r>
              <a:rPr sz="2000" i="1" dirty="0">
                <a:latin typeface="Calibri" panose="020F0502020204030204"/>
                <a:cs typeface="Calibri" panose="020F0502020204030204"/>
              </a:rPr>
              <a:t>tart</a:t>
            </a:r>
            <a:endParaRPr sz="2000">
              <a:latin typeface="Calibri" panose="020F0502020204030204"/>
              <a:cs typeface="Calibri" panose="020F0502020204030204"/>
            </a:endParaRPr>
          </a:p>
        </p:txBody>
      </p:sp>
      <p:sp>
        <p:nvSpPr>
          <p:cNvPr id="17" name="object 17"/>
          <p:cNvSpPr txBox="1"/>
          <p:nvPr/>
        </p:nvSpPr>
        <p:spPr>
          <a:xfrm>
            <a:off x="6256020" y="2343912"/>
            <a:ext cx="1117600" cy="337271"/>
          </a:xfrm>
          <a:prstGeom prst="rect">
            <a:avLst/>
          </a:prstGeom>
          <a:ln w="9144">
            <a:solidFill>
              <a:srgbClr val="000000"/>
            </a:solidFill>
          </a:ln>
        </p:spPr>
        <p:txBody>
          <a:bodyPr vert="horz" wrap="square" lIns="0" tIns="29209" rIns="0" bIns="0" rtlCol="0">
            <a:spAutoFit/>
          </a:bodyPr>
          <a:lstStyle/>
          <a:p>
            <a:pPr marL="1270" algn="ctr">
              <a:spcBef>
                <a:spcPts val="230"/>
              </a:spcBef>
            </a:pPr>
            <a:r>
              <a:rPr sz="2000" i="1" spc="-5" dirty="0">
                <a:latin typeface="Calibri" panose="020F0502020204030204"/>
                <a:cs typeface="Calibri" panose="020F0502020204030204"/>
              </a:rPr>
              <a:t>pie</a:t>
            </a:r>
            <a:endParaRPr sz="2000">
              <a:latin typeface="Calibri" panose="020F0502020204030204"/>
              <a:cs typeface="Calibri" panose="020F0502020204030204"/>
            </a:endParaRPr>
          </a:p>
        </p:txBody>
      </p:sp>
      <p:sp>
        <p:nvSpPr>
          <p:cNvPr id="18" name="object 18"/>
          <p:cNvSpPr txBox="1"/>
          <p:nvPr/>
        </p:nvSpPr>
        <p:spPr>
          <a:xfrm>
            <a:off x="6256020" y="3512820"/>
            <a:ext cx="1117600" cy="337912"/>
          </a:xfrm>
          <a:prstGeom prst="rect">
            <a:avLst/>
          </a:prstGeom>
          <a:ln w="9144">
            <a:solidFill>
              <a:srgbClr val="000000"/>
            </a:solidFill>
          </a:ln>
        </p:spPr>
        <p:txBody>
          <a:bodyPr vert="horz" wrap="square" lIns="0" tIns="29844" rIns="0" bIns="0" rtlCol="0">
            <a:spAutoFit/>
          </a:bodyPr>
          <a:lstStyle/>
          <a:p>
            <a:pPr marL="332105">
              <a:spcBef>
                <a:spcPts val="235"/>
              </a:spcBef>
            </a:pPr>
            <a:r>
              <a:rPr sz="2000" i="1" spc="-5" dirty="0">
                <a:latin typeface="Calibri" panose="020F0502020204030204"/>
                <a:cs typeface="Calibri" panose="020F0502020204030204"/>
              </a:rPr>
              <a:t>with</a:t>
            </a:r>
            <a:endParaRPr sz="2000">
              <a:latin typeface="Calibri" panose="020F0502020204030204"/>
              <a:cs typeface="Calibri" panose="020F0502020204030204"/>
            </a:endParaRPr>
          </a:p>
        </p:txBody>
      </p:sp>
      <p:sp>
        <p:nvSpPr>
          <p:cNvPr id="19" name="object 19"/>
          <p:cNvSpPr txBox="1"/>
          <p:nvPr/>
        </p:nvSpPr>
        <p:spPr>
          <a:xfrm>
            <a:off x="6256020" y="4038601"/>
            <a:ext cx="1117600" cy="337913"/>
          </a:xfrm>
          <a:prstGeom prst="rect">
            <a:avLst/>
          </a:prstGeom>
          <a:ln w="9144">
            <a:solidFill>
              <a:srgbClr val="000000"/>
            </a:solidFill>
          </a:ln>
        </p:spPr>
        <p:txBody>
          <a:bodyPr vert="horz" wrap="square" lIns="0" tIns="29845" rIns="0" bIns="0" rtlCol="0">
            <a:spAutoFit/>
          </a:bodyPr>
          <a:lstStyle/>
          <a:p>
            <a:pPr marL="1270" algn="ctr">
              <a:spcBef>
                <a:spcPts val="235"/>
              </a:spcBef>
            </a:pPr>
            <a:r>
              <a:rPr sz="2000" i="1" dirty="0">
                <a:latin typeface="Calibri" panose="020F0502020204030204"/>
                <a:cs typeface="Calibri" panose="020F0502020204030204"/>
              </a:rPr>
              <a:t>on</a:t>
            </a:r>
            <a:endParaRPr sz="2000">
              <a:latin typeface="Calibri" panose="020F0502020204030204"/>
              <a:cs typeface="Calibri" panose="020F0502020204030204"/>
            </a:endParaRPr>
          </a:p>
        </p:txBody>
      </p:sp>
      <p:sp>
        <p:nvSpPr>
          <p:cNvPr id="20" name="object 20"/>
          <p:cNvSpPr/>
          <p:nvPr/>
        </p:nvSpPr>
        <p:spPr>
          <a:xfrm>
            <a:off x="5840223" y="3287521"/>
            <a:ext cx="422275" cy="969644"/>
          </a:xfrm>
          <a:custGeom>
            <a:avLst/>
            <a:gdLst/>
            <a:ahLst/>
            <a:cxnLst/>
            <a:rect l="l" t="t" r="r" b="b"/>
            <a:pathLst>
              <a:path w="422275" h="969645">
                <a:moveTo>
                  <a:pt x="422021" y="884174"/>
                </a:moveTo>
                <a:lnTo>
                  <a:pt x="392785" y="896620"/>
                </a:lnTo>
                <a:lnTo>
                  <a:pt x="25704" y="34709"/>
                </a:lnTo>
                <a:lnTo>
                  <a:pt x="360121" y="391426"/>
                </a:lnTo>
                <a:lnTo>
                  <a:pt x="336931" y="413131"/>
                </a:lnTo>
                <a:lnTo>
                  <a:pt x="416814" y="442722"/>
                </a:lnTo>
                <a:lnTo>
                  <a:pt x="404317" y="400685"/>
                </a:lnTo>
                <a:lnTo>
                  <a:pt x="392557" y="361061"/>
                </a:lnTo>
                <a:lnTo>
                  <a:pt x="369366" y="382765"/>
                </a:lnTo>
                <a:lnTo>
                  <a:pt x="10414" y="0"/>
                </a:lnTo>
                <a:lnTo>
                  <a:pt x="5842" y="4318"/>
                </a:lnTo>
                <a:lnTo>
                  <a:pt x="0" y="6858"/>
                </a:lnTo>
                <a:lnTo>
                  <a:pt x="381101" y="901598"/>
                </a:lnTo>
                <a:lnTo>
                  <a:pt x="351917" y="914019"/>
                </a:lnTo>
                <a:lnTo>
                  <a:pt x="416814" y="969137"/>
                </a:lnTo>
                <a:lnTo>
                  <a:pt x="420230" y="913257"/>
                </a:lnTo>
                <a:lnTo>
                  <a:pt x="422021" y="884174"/>
                </a:lnTo>
                <a:close/>
              </a:path>
            </a:pathLst>
          </a:custGeom>
          <a:solidFill>
            <a:srgbClr val="000000"/>
          </a:solidFill>
        </p:spPr>
        <p:txBody>
          <a:bodyPr wrap="square" lIns="0" tIns="0" rIns="0" bIns="0" rtlCol="0"/>
          <a:lstStyle/>
          <a:p>
            <a:endParaRPr/>
          </a:p>
        </p:txBody>
      </p:sp>
      <p:sp>
        <p:nvSpPr>
          <p:cNvPr id="21" name="object 21"/>
          <p:cNvSpPr/>
          <p:nvPr/>
        </p:nvSpPr>
        <p:spPr>
          <a:xfrm>
            <a:off x="5840477" y="2034539"/>
            <a:ext cx="416559" cy="736600"/>
          </a:xfrm>
          <a:custGeom>
            <a:avLst/>
            <a:gdLst/>
            <a:ahLst/>
            <a:cxnLst/>
            <a:rect l="l" t="t" r="r" b="b"/>
            <a:pathLst>
              <a:path w="416560" h="736600">
                <a:moveTo>
                  <a:pt x="416560" y="0"/>
                </a:moveTo>
                <a:lnTo>
                  <a:pt x="346075" y="47752"/>
                </a:lnTo>
                <a:lnTo>
                  <a:pt x="373722" y="63309"/>
                </a:lnTo>
                <a:lnTo>
                  <a:pt x="0" y="726948"/>
                </a:lnTo>
                <a:lnTo>
                  <a:pt x="5067" y="729830"/>
                </a:lnTo>
                <a:lnTo>
                  <a:pt x="8382" y="736600"/>
                </a:lnTo>
                <a:lnTo>
                  <a:pt x="351205" y="566851"/>
                </a:lnTo>
                <a:lnTo>
                  <a:pt x="365252" y="595249"/>
                </a:lnTo>
                <a:lnTo>
                  <a:pt x="399580" y="549783"/>
                </a:lnTo>
                <a:lnTo>
                  <a:pt x="416560" y="527304"/>
                </a:lnTo>
                <a:lnTo>
                  <a:pt x="331470" y="526923"/>
                </a:lnTo>
                <a:lnTo>
                  <a:pt x="345541" y="555396"/>
                </a:lnTo>
                <a:lnTo>
                  <a:pt x="20751" y="716280"/>
                </a:lnTo>
                <a:lnTo>
                  <a:pt x="384784" y="69519"/>
                </a:lnTo>
                <a:lnTo>
                  <a:pt x="412496" y="85090"/>
                </a:lnTo>
                <a:lnTo>
                  <a:pt x="414058" y="52197"/>
                </a:lnTo>
                <a:lnTo>
                  <a:pt x="416560" y="0"/>
                </a:lnTo>
                <a:close/>
              </a:path>
            </a:pathLst>
          </a:custGeom>
          <a:solidFill>
            <a:srgbClr val="000000"/>
          </a:solidFill>
        </p:spPr>
        <p:txBody>
          <a:bodyPr wrap="square" lIns="0" tIns="0" rIns="0" bIns="0" rtlCol="0"/>
          <a:lstStyle/>
          <a:p>
            <a:endParaRPr/>
          </a:p>
        </p:txBody>
      </p:sp>
      <p:sp>
        <p:nvSpPr>
          <p:cNvPr id="22" name="object 22"/>
          <p:cNvSpPr txBox="1"/>
          <p:nvPr/>
        </p:nvSpPr>
        <p:spPr>
          <a:xfrm>
            <a:off x="7810500" y="1810511"/>
            <a:ext cx="1117600" cy="338554"/>
          </a:xfrm>
          <a:prstGeom prst="rect">
            <a:avLst/>
          </a:prstGeom>
          <a:ln w="9144">
            <a:solidFill>
              <a:srgbClr val="000000"/>
            </a:solidFill>
          </a:ln>
        </p:spPr>
        <p:txBody>
          <a:bodyPr vert="horz" wrap="square" lIns="0" tIns="30480" rIns="0" bIns="0" rtlCol="0">
            <a:spAutoFit/>
          </a:bodyPr>
          <a:lstStyle/>
          <a:p>
            <a:pPr algn="ctr">
              <a:spcBef>
                <a:spcPts val="240"/>
              </a:spcBef>
            </a:pPr>
            <a:r>
              <a:rPr sz="2000" i="1" spc="-5" dirty="0">
                <a:latin typeface="Calibri" panose="020F0502020204030204"/>
                <a:cs typeface="Calibri" panose="020F0502020204030204"/>
              </a:rPr>
              <a:t>in</a:t>
            </a:r>
            <a:endParaRPr sz="2000">
              <a:latin typeface="Calibri" panose="020F0502020204030204"/>
              <a:cs typeface="Calibri" panose="020F0502020204030204"/>
            </a:endParaRPr>
          </a:p>
        </p:txBody>
      </p:sp>
      <p:sp>
        <p:nvSpPr>
          <p:cNvPr id="23" name="object 23"/>
          <p:cNvSpPr txBox="1"/>
          <p:nvPr/>
        </p:nvSpPr>
        <p:spPr>
          <a:xfrm>
            <a:off x="7810500" y="2337816"/>
            <a:ext cx="1117600" cy="337912"/>
          </a:xfrm>
          <a:prstGeom prst="rect">
            <a:avLst/>
          </a:prstGeom>
          <a:ln w="9144">
            <a:solidFill>
              <a:srgbClr val="000000"/>
            </a:solidFill>
          </a:ln>
        </p:spPr>
        <p:txBody>
          <a:bodyPr vert="horz" wrap="square" lIns="0" tIns="29844" rIns="0" bIns="0" rtlCol="0">
            <a:spAutoFit/>
          </a:bodyPr>
          <a:lstStyle/>
          <a:p>
            <a:pPr marL="331470">
              <a:spcBef>
                <a:spcPts val="235"/>
              </a:spcBef>
            </a:pPr>
            <a:r>
              <a:rPr sz="2000" i="1" spc="-5" dirty="0">
                <a:latin typeface="Calibri" panose="020F0502020204030204"/>
                <a:cs typeface="Calibri" panose="020F0502020204030204"/>
              </a:rPr>
              <a:t>with</a:t>
            </a:r>
            <a:endParaRPr sz="2000">
              <a:latin typeface="Calibri" panose="020F0502020204030204"/>
              <a:cs typeface="Calibri" panose="020F0502020204030204"/>
            </a:endParaRPr>
          </a:p>
        </p:txBody>
      </p:sp>
      <p:sp>
        <p:nvSpPr>
          <p:cNvPr id="24" name="object 24"/>
          <p:cNvSpPr txBox="1"/>
          <p:nvPr/>
        </p:nvSpPr>
        <p:spPr>
          <a:xfrm>
            <a:off x="7810500" y="3512820"/>
            <a:ext cx="1117600" cy="337912"/>
          </a:xfrm>
          <a:prstGeom prst="rect">
            <a:avLst/>
          </a:prstGeom>
          <a:ln w="9144">
            <a:solidFill>
              <a:srgbClr val="000000"/>
            </a:solidFill>
          </a:ln>
        </p:spPr>
        <p:txBody>
          <a:bodyPr vert="horz" wrap="square" lIns="0" tIns="29844" rIns="0" bIns="0" rtlCol="0">
            <a:spAutoFit/>
          </a:bodyPr>
          <a:lstStyle/>
          <a:p>
            <a:pPr marL="635" algn="ctr">
              <a:spcBef>
                <a:spcPts val="235"/>
              </a:spcBef>
            </a:pPr>
            <a:r>
              <a:rPr sz="2000" i="1" dirty="0">
                <a:latin typeface="Calibri" panose="020F0502020204030204"/>
                <a:cs typeface="Calibri" panose="020F0502020204030204"/>
              </a:rPr>
              <a:t>a</a:t>
            </a:r>
            <a:endParaRPr sz="2000">
              <a:latin typeface="Calibri" panose="020F0502020204030204"/>
              <a:cs typeface="Calibri" panose="020F0502020204030204"/>
            </a:endParaRPr>
          </a:p>
        </p:txBody>
      </p:sp>
      <p:sp>
        <p:nvSpPr>
          <p:cNvPr id="25" name="object 25"/>
          <p:cNvSpPr txBox="1"/>
          <p:nvPr/>
        </p:nvSpPr>
        <p:spPr>
          <a:xfrm>
            <a:off x="7810500" y="4038601"/>
            <a:ext cx="1117600" cy="337913"/>
          </a:xfrm>
          <a:prstGeom prst="rect">
            <a:avLst/>
          </a:prstGeom>
          <a:ln w="9144">
            <a:solidFill>
              <a:srgbClr val="000000"/>
            </a:solidFill>
          </a:ln>
        </p:spPr>
        <p:txBody>
          <a:bodyPr vert="horz" wrap="square" lIns="0" tIns="29845" rIns="0" bIns="0" rtlCol="0">
            <a:spAutoFit/>
          </a:bodyPr>
          <a:lstStyle/>
          <a:p>
            <a:pPr marL="366395">
              <a:spcBef>
                <a:spcPts val="235"/>
              </a:spcBef>
            </a:pPr>
            <a:r>
              <a:rPr sz="2000" i="1" spc="-5" dirty="0">
                <a:latin typeface="Calibri" panose="020F0502020204030204"/>
                <a:cs typeface="Calibri" panose="020F0502020204030204"/>
              </a:rPr>
              <a:t>one</a:t>
            </a:r>
            <a:endParaRPr sz="2000">
              <a:latin typeface="Calibri" panose="020F0502020204030204"/>
              <a:cs typeface="Calibri" panose="020F0502020204030204"/>
            </a:endParaRPr>
          </a:p>
        </p:txBody>
      </p:sp>
      <p:sp>
        <p:nvSpPr>
          <p:cNvPr id="26" name="object 26"/>
          <p:cNvSpPr/>
          <p:nvPr/>
        </p:nvSpPr>
        <p:spPr>
          <a:xfrm>
            <a:off x="7368160" y="2028443"/>
            <a:ext cx="441959" cy="566420"/>
          </a:xfrm>
          <a:custGeom>
            <a:avLst/>
            <a:gdLst/>
            <a:ahLst/>
            <a:cxnLst/>
            <a:rect l="l" t="t" r="r" b="b"/>
            <a:pathLst>
              <a:path w="441960" h="566419">
                <a:moveTo>
                  <a:pt x="441833" y="0"/>
                </a:moveTo>
                <a:lnTo>
                  <a:pt x="363982" y="34798"/>
                </a:lnTo>
                <a:lnTo>
                  <a:pt x="388543" y="54927"/>
                </a:lnTo>
                <a:lnTo>
                  <a:pt x="0" y="528701"/>
                </a:lnTo>
                <a:lnTo>
                  <a:pt x="4927" y="532701"/>
                </a:lnTo>
                <a:lnTo>
                  <a:pt x="5080" y="539750"/>
                </a:lnTo>
                <a:lnTo>
                  <a:pt x="365658" y="534720"/>
                </a:lnTo>
                <a:lnTo>
                  <a:pt x="366141" y="566420"/>
                </a:lnTo>
                <a:lnTo>
                  <a:pt x="441833" y="527304"/>
                </a:lnTo>
                <a:lnTo>
                  <a:pt x="430517" y="521843"/>
                </a:lnTo>
                <a:lnTo>
                  <a:pt x="364998" y="490220"/>
                </a:lnTo>
                <a:lnTo>
                  <a:pt x="365467" y="522020"/>
                </a:lnTo>
                <a:lnTo>
                  <a:pt x="17957" y="526872"/>
                </a:lnTo>
                <a:lnTo>
                  <a:pt x="398322" y="62928"/>
                </a:lnTo>
                <a:lnTo>
                  <a:pt x="422910" y="83058"/>
                </a:lnTo>
                <a:lnTo>
                  <a:pt x="431558" y="45085"/>
                </a:lnTo>
                <a:lnTo>
                  <a:pt x="441833" y="0"/>
                </a:lnTo>
                <a:close/>
              </a:path>
            </a:pathLst>
          </a:custGeom>
          <a:solidFill>
            <a:srgbClr val="000000"/>
          </a:solidFill>
        </p:spPr>
        <p:txBody>
          <a:bodyPr wrap="square" lIns="0" tIns="0" rIns="0" bIns="0" rtlCol="0"/>
          <a:lstStyle/>
          <a:p>
            <a:endParaRPr/>
          </a:p>
        </p:txBody>
      </p:sp>
      <p:sp>
        <p:nvSpPr>
          <p:cNvPr id="27" name="object 27"/>
          <p:cNvSpPr/>
          <p:nvPr/>
        </p:nvSpPr>
        <p:spPr>
          <a:xfrm>
            <a:off x="7368287" y="3692651"/>
            <a:ext cx="441959" cy="565150"/>
          </a:xfrm>
          <a:custGeom>
            <a:avLst/>
            <a:gdLst/>
            <a:ahLst/>
            <a:cxnLst/>
            <a:rect l="l" t="t" r="r" b="b"/>
            <a:pathLst>
              <a:path w="441960" h="565150">
                <a:moveTo>
                  <a:pt x="441706" y="38100"/>
                </a:moveTo>
                <a:lnTo>
                  <a:pt x="429006" y="31750"/>
                </a:lnTo>
                <a:lnTo>
                  <a:pt x="365506" y="0"/>
                </a:lnTo>
                <a:lnTo>
                  <a:pt x="365506" y="31750"/>
                </a:lnTo>
                <a:lnTo>
                  <a:pt x="4826" y="31750"/>
                </a:lnTo>
                <a:lnTo>
                  <a:pt x="4826" y="38100"/>
                </a:lnTo>
                <a:lnTo>
                  <a:pt x="0" y="42164"/>
                </a:lnTo>
                <a:lnTo>
                  <a:pt x="388150" y="510070"/>
                </a:lnTo>
                <a:lnTo>
                  <a:pt x="363728" y="530352"/>
                </a:lnTo>
                <a:lnTo>
                  <a:pt x="441706" y="564642"/>
                </a:lnTo>
                <a:lnTo>
                  <a:pt x="431190" y="519811"/>
                </a:lnTo>
                <a:lnTo>
                  <a:pt x="422275" y="481711"/>
                </a:lnTo>
                <a:lnTo>
                  <a:pt x="397929" y="501942"/>
                </a:lnTo>
                <a:lnTo>
                  <a:pt x="18288" y="44450"/>
                </a:lnTo>
                <a:lnTo>
                  <a:pt x="365506" y="44450"/>
                </a:lnTo>
                <a:lnTo>
                  <a:pt x="365506" y="76200"/>
                </a:lnTo>
                <a:lnTo>
                  <a:pt x="429006" y="44450"/>
                </a:lnTo>
                <a:lnTo>
                  <a:pt x="441706" y="38100"/>
                </a:lnTo>
                <a:close/>
              </a:path>
            </a:pathLst>
          </a:custGeom>
          <a:solidFill>
            <a:srgbClr val="000000"/>
          </a:solidFill>
        </p:spPr>
        <p:txBody>
          <a:bodyPr wrap="square" lIns="0" tIns="0" rIns="0" bIns="0" rtlCol="0"/>
          <a:lstStyle/>
          <a:p>
            <a:endParaRPr/>
          </a:p>
        </p:txBody>
      </p:sp>
      <p:sp>
        <p:nvSpPr>
          <p:cNvPr id="28" name="object 28"/>
          <p:cNvSpPr txBox="1"/>
          <p:nvPr/>
        </p:nvSpPr>
        <p:spPr>
          <a:xfrm>
            <a:off x="9412223" y="2613661"/>
            <a:ext cx="1117600" cy="337913"/>
          </a:xfrm>
          <a:prstGeom prst="rect">
            <a:avLst/>
          </a:prstGeom>
          <a:ln w="9144">
            <a:solidFill>
              <a:srgbClr val="000000"/>
            </a:solidFill>
          </a:ln>
        </p:spPr>
        <p:txBody>
          <a:bodyPr vert="horz" wrap="square" lIns="0" tIns="29845" rIns="0" bIns="0" rtlCol="0">
            <a:spAutoFit/>
          </a:bodyPr>
          <a:lstStyle/>
          <a:p>
            <a:pPr marL="1270" algn="ctr">
              <a:spcBef>
                <a:spcPts val="235"/>
              </a:spcBef>
            </a:pPr>
            <a:r>
              <a:rPr sz="2000" i="1" spc="-5" dirty="0">
                <a:solidFill>
                  <a:srgbClr val="00AF50"/>
                </a:solidFill>
                <a:latin typeface="Calibri" panose="020F0502020204030204"/>
                <a:cs typeface="Calibri" panose="020F0502020204030204"/>
              </a:rPr>
              <a:t>pie</a:t>
            </a:r>
            <a:endParaRPr sz="2000">
              <a:latin typeface="Calibri" panose="020F0502020204030204"/>
              <a:cs typeface="Calibri" panose="020F0502020204030204"/>
            </a:endParaRPr>
          </a:p>
        </p:txBody>
      </p:sp>
      <p:sp>
        <p:nvSpPr>
          <p:cNvPr id="29" name="object 29"/>
          <p:cNvSpPr txBox="1"/>
          <p:nvPr/>
        </p:nvSpPr>
        <p:spPr>
          <a:xfrm>
            <a:off x="9412223" y="3140965"/>
            <a:ext cx="1117600" cy="337271"/>
          </a:xfrm>
          <a:prstGeom prst="rect">
            <a:avLst/>
          </a:prstGeom>
          <a:ln w="9144">
            <a:solidFill>
              <a:srgbClr val="000000"/>
            </a:solidFill>
          </a:ln>
        </p:spPr>
        <p:txBody>
          <a:bodyPr vert="horz" wrap="square" lIns="0" tIns="29209" rIns="0" bIns="0" rtlCol="0">
            <a:spAutoFit/>
          </a:bodyPr>
          <a:lstStyle/>
          <a:p>
            <a:pPr marL="365125">
              <a:spcBef>
                <a:spcPts val="230"/>
              </a:spcBef>
            </a:pPr>
            <a:r>
              <a:rPr sz="2000" i="1" dirty="0">
                <a:latin typeface="Calibri" panose="020F0502020204030204"/>
                <a:cs typeface="Calibri" panose="020F0502020204030204"/>
              </a:rPr>
              <a:t>tart</a:t>
            </a:r>
            <a:endParaRPr sz="2000">
              <a:latin typeface="Calibri" panose="020F0502020204030204"/>
              <a:cs typeface="Calibri" panose="020F0502020204030204"/>
            </a:endParaRPr>
          </a:p>
        </p:txBody>
      </p:sp>
      <p:sp>
        <p:nvSpPr>
          <p:cNvPr id="30" name="object 30"/>
          <p:cNvSpPr txBox="1"/>
          <p:nvPr/>
        </p:nvSpPr>
        <p:spPr>
          <a:xfrm>
            <a:off x="9412223" y="4430268"/>
            <a:ext cx="1117600" cy="337913"/>
          </a:xfrm>
          <a:prstGeom prst="rect">
            <a:avLst/>
          </a:prstGeom>
          <a:ln w="9144">
            <a:solidFill>
              <a:srgbClr val="000000"/>
            </a:solidFill>
          </a:ln>
        </p:spPr>
        <p:txBody>
          <a:bodyPr vert="horz" wrap="square" lIns="0" tIns="29845" rIns="0" bIns="0" rtlCol="0">
            <a:spAutoFit/>
          </a:bodyPr>
          <a:lstStyle/>
          <a:p>
            <a:pPr marL="1270" algn="ctr">
              <a:spcBef>
                <a:spcPts val="235"/>
              </a:spcBef>
            </a:pPr>
            <a:r>
              <a:rPr sz="2000" i="1" spc="-5" dirty="0">
                <a:latin typeface="Calibri" panose="020F0502020204030204"/>
                <a:cs typeface="Calibri" panose="020F0502020204030204"/>
              </a:rPr>
              <a:t>pie</a:t>
            </a:r>
            <a:endParaRPr sz="2000">
              <a:latin typeface="Calibri" panose="020F0502020204030204"/>
              <a:cs typeface="Calibri" panose="020F0502020204030204"/>
            </a:endParaRPr>
          </a:p>
        </p:txBody>
      </p:sp>
      <p:sp>
        <p:nvSpPr>
          <p:cNvPr id="31" name="object 31"/>
          <p:cNvSpPr txBox="1"/>
          <p:nvPr/>
        </p:nvSpPr>
        <p:spPr>
          <a:xfrm>
            <a:off x="9412223" y="4956048"/>
            <a:ext cx="1117600" cy="339195"/>
          </a:xfrm>
          <a:prstGeom prst="rect">
            <a:avLst/>
          </a:prstGeom>
          <a:ln w="9144">
            <a:solidFill>
              <a:srgbClr val="000000"/>
            </a:solidFill>
          </a:ln>
        </p:spPr>
        <p:txBody>
          <a:bodyPr vert="horz" wrap="square" lIns="0" tIns="31115" rIns="0" bIns="0" rtlCol="0">
            <a:spAutoFit/>
          </a:bodyPr>
          <a:lstStyle/>
          <a:p>
            <a:pPr marL="365125">
              <a:spcBef>
                <a:spcPts val="245"/>
              </a:spcBef>
            </a:pPr>
            <a:r>
              <a:rPr sz="2000" i="1" dirty="0">
                <a:latin typeface="Calibri" panose="020F0502020204030204"/>
                <a:cs typeface="Calibri" panose="020F0502020204030204"/>
              </a:rPr>
              <a:t>tart</a:t>
            </a:r>
            <a:endParaRPr sz="2000">
              <a:latin typeface="Calibri" panose="020F0502020204030204"/>
              <a:cs typeface="Calibri" panose="020F0502020204030204"/>
            </a:endParaRPr>
          </a:p>
        </p:txBody>
      </p:sp>
      <p:sp>
        <p:nvSpPr>
          <p:cNvPr id="32" name="object 32"/>
          <p:cNvSpPr/>
          <p:nvPr/>
        </p:nvSpPr>
        <p:spPr>
          <a:xfrm>
            <a:off x="8922005" y="2831592"/>
            <a:ext cx="490855" cy="902969"/>
          </a:xfrm>
          <a:custGeom>
            <a:avLst/>
            <a:gdLst/>
            <a:ahLst/>
            <a:cxnLst/>
            <a:rect l="l" t="t" r="r" b="b"/>
            <a:pathLst>
              <a:path w="490854" h="902970">
                <a:moveTo>
                  <a:pt x="490474" y="0"/>
                </a:moveTo>
                <a:lnTo>
                  <a:pt x="420751" y="49022"/>
                </a:lnTo>
                <a:lnTo>
                  <a:pt x="448716" y="64071"/>
                </a:lnTo>
                <a:lnTo>
                  <a:pt x="0" y="895477"/>
                </a:lnTo>
                <a:lnTo>
                  <a:pt x="6654" y="899109"/>
                </a:lnTo>
                <a:lnTo>
                  <a:pt x="9398" y="902716"/>
                </a:lnTo>
                <a:lnTo>
                  <a:pt x="10998" y="901484"/>
                </a:lnTo>
                <a:lnTo>
                  <a:pt x="11176" y="901573"/>
                </a:lnTo>
                <a:lnTo>
                  <a:pt x="11366" y="901204"/>
                </a:lnTo>
                <a:lnTo>
                  <a:pt x="433946" y="577176"/>
                </a:lnTo>
                <a:lnTo>
                  <a:pt x="453263" y="602361"/>
                </a:lnTo>
                <a:lnTo>
                  <a:pt x="474116" y="559435"/>
                </a:lnTo>
                <a:lnTo>
                  <a:pt x="490474" y="525780"/>
                </a:lnTo>
                <a:lnTo>
                  <a:pt x="406908" y="541909"/>
                </a:lnTo>
                <a:lnTo>
                  <a:pt x="426224" y="567118"/>
                </a:lnTo>
                <a:lnTo>
                  <a:pt x="25996" y="874102"/>
                </a:lnTo>
                <a:lnTo>
                  <a:pt x="459930" y="70104"/>
                </a:lnTo>
                <a:lnTo>
                  <a:pt x="487807" y="85090"/>
                </a:lnTo>
                <a:lnTo>
                  <a:pt x="488810" y="52832"/>
                </a:lnTo>
                <a:lnTo>
                  <a:pt x="490474" y="0"/>
                </a:lnTo>
                <a:close/>
              </a:path>
            </a:pathLst>
          </a:custGeom>
          <a:solidFill>
            <a:srgbClr val="000000"/>
          </a:solidFill>
        </p:spPr>
        <p:txBody>
          <a:bodyPr wrap="square" lIns="0" tIns="0" rIns="0" bIns="0" rtlCol="0"/>
          <a:lstStyle/>
          <a:p>
            <a:endParaRPr/>
          </a:p>
        </p:txBody>
      </p:sp>
      <p:sp>
        <p:nvSpPr>
          <p:cNvPr id="33" name="object 33"/>
          <p:cNvSpPr/>
          <p:nvPr/>
        </p:nvSpPr>
        <p:spPr>
          <a:xfrm>
            <a:off x="8922005" y="4251578"/>
            <a:ext cx="490855" cy="923290"/>
          </a:xfrm>
          <a:custGeom>
            <a:avLst/>
            <a:gdLst/>
            <a:ahLst/>
            <a:cxnLst/>
            <a:rect l="l" t="t" r="r" b="b"/>
            <a:pathLst>
              <a:path w="490854" h="923289">
                <a:moveTo>
                  <a:pt x="490474" y="396367"/>
                </a:moveTo>
                <a:lnTo>
                  <a:pt x="474548" y="361442"/>
                </a:lnTo>
                <a:lnTo>
                  <a:pt x="455168" y="318897"/>
                </a:lnTo>
                <a:lnTo>
                  <a:pt x="435254" y="343573"/>
                </a:lnTo>
                <a:lnTo>
                  <a:pt x="9525" y="0"/>
                </a:lnTo>
                <a:lnTo>
                  <a:pt x="5588" y="4953"/>
                </a:lnTo>
                <a:lnTo>
                  <a:pt x="0" y="7874"/>
                </a:lnTo>
                <a:lnTo>
                  <a:pt x="449326" y="858545"/>
                </a:lnTo>
                <a:lnTo>
                  <a:pt x="421259" y="873379"/>
                </a:lnTo>
                <a:lnTo>
                  <a:pt x="490474" y="922909"/>
                </a:lnTo>
                <a:lnTo>
                  <a:pt x="489280" y="869823"/>
                </a:lnTo>
                <a:lnTo>
                  <a:pt x="488569" y="837819"/>
                </a:lnTo>
                <a:lnTo>
                  <a:pt x="460527" y="852627"/>
                </a:lnTo>
                <a:lnTo>
                  <a:pt x="25501" y="29171"/>
                </a:lnTo>
                <a:lnTo>
                  <a:pt x="427253" y="353479"/>
                </a:lnTo>
                <a:lnTo>
                  <a:pt x="407289" y="378206"/>
                </a:lnTo>
                <a:lnTo>
                  <a:pt x="490474" y="396367"/>
                </a:lnTo>
                <a:close/>
              </a:path>
            </a:pathLst>
          </a:custGeom>
          <a:solidFill>
            <a:srgbClr val="000000"/>
          </a:solidFill>
        </p:spPr>
        <p:txBody>
          <a:bodyPr wrap="square" lIns="0" tIns="0" rIns="0" bIns="0" rtlCol="0"/>
          <a:lstStyle/>
          <a:p>
            <a:endParaRPr/>
          </a:p>
        </p:txBody>
      </p:sp>
      <p:sp>
        <p:nvSpPr>
          <p:cNvPr id="34" name="object 34"/>
          <p:cNvSpPr txBox="1"/>
          <p:nvPr/>
        </p:nvSpPr>
        <p:spPr>
          <a:xfrm>
            <a:off x="1524001" y="4038601"/>
            <a:ext cx="1167765" cy="337913"/>
          </a:xfrm>
          <a:prstGeom prst="rect">
            <a:avLst/>
          </a:prstGeom>
          <a:ln w="9143">
            <a:solidFill>
              <a:srgbClr val="000000"/>
            </a:solidFill>
          </a:ln>
        </p:spPr>
        <p:txBody>
          <a:bodyPr vert="horz" wrap="square" lIns="0" tIns="29845" rIns="0" bIns="0" rtlCol="0">
            <a:spAutoFit/>
          </a:bodyPr>
          <a:lstStyle/>
          <a:p>
            <a:pPr marL="131445">
              <a:spcBef>
                <a:spcPts val="235"/>
              </a:spcBef>
            </a:pPr>
            <a:r>
              <a:rPr sz="2000" i="1" spc="-5" dirty="0">
                <a:latin typeface="Calibri" panose="020F0502020204030204"/>
                <a:cs typeface="Calibri" panose="020F0502020204030204"/>
              </a:rPr>
              <a:t>&lt;START&gt;</a:t>
            </a:r>
            <a:endParaRPr sz="2000">
              <a:latin typeface="Calibri" panose="020F0502020204030204"/>
              <a:cs typeface="Calibri" panose="020F0502020204030204"/>
            </a:endParaRPr>
          </a:p>
        </p:txBody>
      </p:sp>
      <p:sp>
        <p:nvSpPr>
          <p:cNvPr id="35" name="object 35"/>
          <p:cNvSpPr txBox="1"/>
          <p:nvPr/>
        </p:nvSpPr>
        <p:spPr>
          <a:xfrm>
            <a:off x="2308859" y="3107436"/>
            <a:ext cx="571500" cy="337913"/>
          </a:xfrm>
          <a:prstGeom prst="rect">
            <a:avLst/>
          </a:prstGeom>
          <a:ln w="9143">
            <a:solidFill>
              <a:srgbClr val="000000"/>
            </a:solidFill>
          </a:ln>
        </p:spPr>
        <p:txBody>
          <a:bodyPr vert="horz" wrap="square" lIns="0" tIns="29845" rIns="0" bIns="0" rtlCol="0">
            <a:spAutoFit/>
          </a:bodyPr>
          <a:lstStyle/>
          <a:p>
            <a:pPr marL="158750">
              <a:spcBef>
                <a:spcPts val="235"/>
              </a:spcBef>
            </a:pPr>
            <a:r>
              <a:rPr sz="2000" i="1" dirty="0">
                <a:latin typeface="Calibri" panose="020F0502020204030204"/>
                <a:cs typeface="Calibri" panose="020F0502020204030204"/>
              </a:rPr>
              <a:t>he</a:t>
            </a:r>
            <a:endParaRPr sz="2000">
              <a:latin typeface="Calibri" panose="020F0502020204030204"/>
              <a:cs typeface="Calibri" panose="020F0502020204030204"/>
            </a:endParaRPr>
          </a:p>
        </p:txBody>
      </p:sp>
      <p:sp>
        <p:nvSpPr>
          <p:cNvPr id="36" name="object 36"/>
          <p:cNvSpPr txBox="1"/>
          <p:nvPr/>
        </p:nvSpPr>
        <p:spPr>
          <a:xfrm>
            <a:off x="2308859" y="4971289"/>
            <a:ext cx="571500" cy="337271"/>
          </a:xfrm>
          <a:prstGeom prst="rect">
            <a:avLst/>
          </a:prstGeom>
          <a:ln w="9143">
            <a:solidFill>
              <a:srgbClr val="000000"/>
            </a:solidFill>
          </a:ln>
        </p:spPr>
        <p:txBody>
          <a:bodyPr vert="horz" wrap="square" lIns="0" tIns="29209" rIns="0" bIns="0" rtlCol="0">
            <a:spAutoFit/>
          </a:bodyPr>
          <a:lstStyle/>
          <a:p>
            <a:pPr algn="ctr">
              <a:spcBef>
                <a:spcPts val="230"/>
              </a:spcBef>
            </a:pPr>
            <a:r>
              <a:rPr sz="2000" i="1" dirty="0">
                <a:latin typeface="Calibri" panose="020F0502020204030204"/>
                <a:cs typeface="Calibri" panose="020F0502020204030204"/>
              </a:rPr>
              <a:t>I</a:t>
            </a:r>
            <a:endParaRPr sz="2000">
              <a:latin typeface="Calibri" panose="020F0502020204030204"/>
              <a:cs typeface="Calibri" panose="020F0502020204030204"/>
            </a:endParaRPr>
          </a:p>
        </p:txBody>
      </p:sp>
      <p:sp>
        <p:nvSpPr>
          <p:cNvPr id="37" name="object 37"/>
          <p:cNvSpPr/>
          <p:nvPr/>
        </p:nvSpPr>
        <p:spPr>
          <a:xfrm>
            <a:off x="2103158" y="3543300"/>
            <a:ext cx="491490" cy="500380"/>
          </a:xfrm>
          <a:custGeom>
            <a:avLst/>
            <a:gdLst/>
            <a:ahLst/>
            <a:cxnLst/>
            <a:rect l="l" t="t" r="r" b="b"/>
            <a:pathLst>
              <a:path w="491490" h="500379">
                <a:moveTo>
                  <a:pt x="433491" y="49928"/>
                </a:moveTo>
                <a:lnTo>
                  <a:pt x="0" y="491236"/>
                </a:lnTo>
                <a:lnTo>
                  <a:pt x="9067" y="500125"/>
                </a:lnTo>
                <a:lnTo>
                  <a:pt x="442556" y="58822"/>
                </a:lnTo>
                <a:lnTo>
                  <a:pt x="433491" y="49928"/>
                </a:lnTo>
                <a:close/>
              </a:path>
              <a:path w="491490" h="500379">
                <a:moveTo>
                  <a:pt x="478171" y="40894"/>
                </a:moveTo>
                <a:lnTo>
                  <a:pt x="442366" y="40894"/>
                </a:lnTo>
                <a:lnTo>
                  <a:pt x="451434" y="49784"/>
                </a:lnTo>
                <a:lnTo>
                  <a:pt x="442556" y="58822"/>
                </a:lnTo>
                <a:lnTo>
                  <a:pt x="465188" y="81025"/>
                </a:lnTo>
                <a:lnTo>
                  <a:pt x="478171" y="40894"/>
                </a:lnTo>
                <a:close/>
              </a:path>
              <a:path w="491490" h="500379">
                <a:moveTo>
                  <a:pt x="442366" y="40894"/>
                </a:moveTo>
                <a:lnTo>
                  <a:pt x="433491" y="49928"/>
                </a:lnTo>
                <a:lnTo>
                  <a:pt x="442556" y="58822"/>
                </a:lnTo>
                <a:lnTo>
                  <a:pt x="451434" y="49784"/>
                </a:lnTo>
                <a:lnTo>
                  <a:pt x="442366" y="40894"/>
                </a:lnTo>
                <a:close/>
              </a:path>
              <a:path w="491490" h="500379">
                <a:moveTo>
                  <a:pt x="491401" y="0"/>
                </a:moveTo>
                <a:lnTo>
                  <a:pt x="410819" y="27686"/>
                </a:lnTo>
                <a:lnTo>
                  <a:pt x="433491" y="49928"/>
                </a:lnTo>
                <a:lnTo>
                  <a:pt x="442366" y="40894"/>
                </a:lnTo>
                <a:lnTo>
                  <a:pt x="478171" y="40894"/>
                </a:lnTo>
                <a:lnTo>
                  <a:pt x="491401" y="0"/>
                </a:lnTo>
                <a:close/>
              </a:path>
            </a:pathLst>
          </a:custGeom>
          <a:solidFill>
            <a:srgbClr val="000000"/>
          </a:solidFill>
        </p:spPr>
        <p:txBody>
          <a:bodyPr wrap="square" lIns="0" tIns="0" rIns="0" bIns="0" rtlCol="0"/>
          <a:lstStyle/>
          <a:p>
            <a:endParaRPr/>
          </a:p>
        </p:txBody>
      </p:sp>
      <p:sp>
        <p:nvSpPr>
          <p:cNvPr id="38" name="object 38"/>
          <p:cNvSpPr/>
          <p:nvPr/>
        </p:nvSpPr>
        <p:spPr>
          <a:xfrm>
            <a:off x="2103158" y="4470020"/>
            <a:ext cx="491490" cy="501015"/>
          </a:xfrm>
          <a:custGeom>
            <a:avLst/>
            <a:gdLst/>
            <a:ahLst/>
            <a:cxnLst/>
            <a:rect l="l" t="t" r="r" b="b"/>
            <a:pathLst>
              <a:path w="491490" h="501014">
                <a:moveTo>
                  <a:pt x="433458" y="450760"/>
                </a:moveTo>
                <a:lnTo>
                  <a:pt x="410832" y="472947"/>
                </a:lnTo>
                <a:lnTo>
                  <a:pt x="491401" y="500760"/>
                </a:lnTo>
                <a:lnTo>
                  <a:pt x="478211" y="459866"/>
                </a:lnTo>
                <a:lnTo>
                  <a:pt x="442391" y="459866"/>
                </a:lnTo>
                <a:lnTo>
                  <a:pt x="433458" y="450760"/>
                </a:lnTo>
                <a:close/>
              </a:path>
              <a:path w="491490" h="501014">
                <a:moveTo>
                  <a:pt x="442525" y="441869"/>
                </a:moveTo>
                <a:lnTo>
                  <a:pt x="433458" y="450760"/>
                </a:lnTo>
                <a:lnTo>
                  <a:pt x="442391" y="459866"/>
                </a:lnTo>
                <a:lnTo>
                  <a:pt x="451459" y="450976"/>
                </a:lnTo>
                <a:lnTo>
                  <a:pt x="442525" y="441869"/>
                </a:lnTo>
                <a:close/>
              </a:path>
              <a:path w="491490" h="501014">
                <a:moveTo>
                  <a:pt x="465226" y="419607"/>
                </a:moveTo>
                <a:lnTo>
                  <a:pt x="442525" y="441869"/>
                </a:lnTo>
                <a:lnTo>
                  <a:pt x="451459" y="450976"/>
                </a:lnTo>
                <a:lnTo>
                  <a:pt x="442391" y="459866"/>
                </a:lnTo>
                <a:lnTo>
                  <a:pt x="478211" y="459866"/>
                </a:lnTo>
                <a:lnTo>
                  <a:pt x="465226" y="419607"/>
                </a:lnTo>
                <a:close/>
              </a:path>
              <a:path w="491490" h="501014">
                <a:moveTo>
                  <a:pt x="9067" y="0"/>
                </a:moveTo>
                <a:lnTo>
                  <a:pt x="0" y="8889"/>
                </a:lnTo>
                <a:lnTo>
                  <a:pt x="433458" y="450760"/>
                </a:lnTo>
                <a:lnTo>
                  <a:pt x="442525" y="441869"/>
                </a:lnTo>
                <a:lnTo>
                  <a:pt x="9067" y="0"/>
                </a:lnTo>
                <a:close/>
              </a:path>
            </a:pathLst>
          </a:custGeom>
          <a:solidFill>
            <a:srgbClr val="000000"/>
          </a:solidFill>
        </p:spPr>
        <p:txBody>
          <a:bodyPr wrap="square" lIns="0" tIns="0" rIns="0" bIns="0" rtlCol="0"/>
          <a:lstStyle/>
          <a:p>
            <a:endParaRPr/>
          </a:p>
        </p:txBody>
      </p:sp>
      <p:sp>
        <p:nvSpPr>
          <p:cNvPr id="40" name="object 40"/>
          <p:cNvSpPr txBox="1"/>
          <p:nvPr/>
        </p:nvSpPr>
        <p:spPr>
          <a:xfrm>
            <a:off x="2384857" y="2785617"/>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-0.7</a:t>
            </a:r>
            <a:endParaRPr>
              <a:latin typeface="Calibri" panose="020F0502020204030204"/>
              <a:cs typeface="Calibri" panose="020F0502020204030204"/>
            </a:endParaRPr>
          </a:p>
        </p:txBody>
      </p:sp>
      <p:sp>
        <p:nvSpPr>
          <p:cNvPr id="41" name="object 41"/>
          <p:cNvSpPr txBox="1"/>
          <p:nvPr/>
        </p:nvSpPr>
        <p:spPr>
          <a:xfrm>
            <a:off x="2384857" y="5439562"/>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-0.9</a:t>
            </a:r>
            <a:endParaRPr>
              <a:latin typeface="Calibri" panose="020F0502020204030204"/>
              <a:cs typeface="Calibri" panose="020F0502020204030204"/>
            </a:endParaRPr>
          </a:p>
        </p:txBody>
      </p:sp>
      <p:sp>
        <p:nvSpPr>
          <p:cNvPr id="42" name="object 42"/>
          <p:cNvSpPr txBox="1"/>
          <p:nvPr/>
        </p:nvSpPr>
        <p:spPr>
          <a:xfrm>
            <a:off x="3626612" y="4340479"/>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-1.6</a:t>
            </a:r>
            <a:endParaRPr>
              <a:latin typeface="Calibri" panose="020F0502020204030204"/>
              <a:cs typeface="Calibri" panose="020F0502020204030204"/>
            </a:endParaRPr>
          </a:p>
        </p:txBody>
      </p:sp>
      <p:sp>
        <p:nvSpPr>
          <p:cNvPr id="43" name="object 43"/>
          <p:cNvSpPr txBox="1"/>
          <p:nvPr/>
        </p:nvSpPr>
        <p:spPr>
          <a:xfrm>
            <a:off x="3626612" y="5683708"/>
            <a:ext cx="385445" cy="300355"/>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-1.8</a:t>
            </a:r>
            <a:endParaRPr>
              <a:latin typeface="Calibri" panose="020F0502020204030204"/>
              <a:cs typeface="Calibri" panose="020F0502020204030204"/>
            </a:endParaRPr>
          </a:p>
        </p:txBody>
      </p:sp>
      <p:sp>
        <p:nvSpPr>
          <p:cNvPr id="44" name="object 44"/>
          <p:cNvSpPr txBox="1"/>
          <p:nvPr/>
        </p:nvSpPr>
        <p:spPr>
          <a:xfrm>
            <a:off x="3626612" y="2481198"/>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-1.7</a:t>
            </a:r>
            <a:endParaRPr>
              <a:latin typeface="Calibri" panose="020F0502020204030204"/>
              <a:cs typeface="Calibri" panose="020F0502020204030204"/>
            </a:endParaRPr>
          </a:p>
        </p:txBody>
      </p:sp>
      <p:sp>
        <p:nvSpPr>
          <p:cNvPr id="45" name="object 45"/>
          <p:cNvSpPr txBox="1"/>
          <p:nvPr/>
        </p:nvSpPr>
        <p:spPr>
          <a:xfrm>
            <a:off x="3626612" y="3800602"/>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-2.9</a:t>
            </a:r>
            <a:endParaRPr>
              <a:latin typeface="Calibri" panose="020F0502020204030204"/>
              <a:cs typeface="Calibri" panose="020F0502020204030204"/>
            </a:endParaRPr>
          </a:p>
        </p:txBody>
      </p:sp>
      <p:sp>
        <p:nvSpPr>
          <p:cNvPr id="46" name="object 46"/>
          <p:cNvSpPr txBox="1"/>
          <p:nvPr/>
        </p:nvSpPr>
        <p:spPr>
          <a:xfrm>
            <a:off x="5081779" y="3525392"/>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-2.5</a:t>
            </a:r>
            <a:endParaRPr>
              <a:latin typeface="Calibri" panose="020F0502020204030204"/>
              <a:cs typeface="Calibri" panose="020F0502020204030204"/>
            </a:endParaRPr>
          </a:p>
        </p:txBody>
      </p:sp>
      <p:sp>
        <p:nvSpPr>
          <p:cNvPr id="47" name="object 47"/>
          <p:cNvSpPr txBox="1"/>
          <p:nvPr/>
        </p:nvSpPr>
        <p:spPr>
          <a:xfrm>
            <a:off x="5081779" y="2184272"/>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-2.8</a:t>
            </a:r>
            <a:endParaRPr>
              <a:latin typeface="Calibri" panose="020F0502020204030204"/>
              <a:cs typeface="Calibri" panose="020F0502020204030204"/>
            </a:endParaRPr>
          </a:p>
        </p:txBody>
      </p:sp>
      <p:sp>
        <p:nvSpPr>
          <p:cNvPr id="48" name="object 48"/>
          <p:cNvSpPr txBox="1"/>
          <p:nvPr/>
        </p:nvSpPr>
        <p:spPr>
          <a:xfrm>
            <a:off x="5081779" y="5406949"/>
            <a:ext cx="385445" cy="300355"/>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-3.8</a:t>
            </a:r>
            <a:endParaRPr>
              <a:latin typeface="Calibri" panose="020F0502020204030204"/>
              <a:cs typeface="Calibri" panose="020F0502020204030204"/>
            </a:endParaRPr>
          </a:p>
        </p:txBody>
      </p:sp>
      <p:sp>
        <p:nvSpPr>
          <p:cNvPr id="49" name="object 49"/>
          <p:cNvSpPr txBox="1"/>
          <p:nvPr/>
        </p:nvSpPr>
        <p:spPr>
          <a:xfrm>
            <a:off x="5081779" y="4079494"/>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-2.9</a:t>
            </a:r>
            <a:endParaRPr>
              <a:latin typeface="Calibri" panose="020F0502020204030204"/>
              <a:cs typeface="Calibri" panose="020F0502020204030204"/>
            </a:endParaRPr>
          </a:p>
        </p:txBody>
      </p:sp>
      <p:sp>
        <p:nvSpPr>
          <p:cNvPr id="51" name="object 51"/>
          <p:cNvSpPr txBox="1"/>
          <p:nvPr/>
        </p:nvSpPr>
        <p:spPr>
          <a:xfrm>
            <a:off x="6609716" y="4482210"/>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-3.5</a:t>
            </a:r>
            <a:endParaRPr>
              <a:latin typeface="Calibri" panose="020F0502020204030204"/>
              <a:cs typeface="Calibri" panose="020F0502020204030204"/>
            </a:endParaRPr>
          </a:p>
        </p:txBody>
      </p:sp>
      <p:sp>
        <p:nvSpPr>
          <p:cNvPr id="52" name="object 52"/>
          <p:cNvSpPr txBox="1"/>
          <p:nvPr/>
        </p:nvSpPr>
        <p:spPr>
          <a:xfrm>
            <a:off x="6609716" y="3208146"/>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-3.3</a:t>
            </a:r>
            <a:endParaRPr>
              <a:latin typeface="Calibri" panose="020F0502020204030204"/>
              <a:cs typeface="Calibri" panose="020F0502020204030204"/>
            </a:endParaRPr>
          </a:p>
        </p:txBody>
      </p:sp>
      <p:sp>
        <p:nvSpPr>
          <p:cNvPr id="53" name="object 53"/>
          <p:cNvSpPr txBox="1"/>
          <p:nvPr/>
        </p:nvSpPr>
        <p:spPr>
          <a:xfrm>
            <a:off x="6609716" y="1455801"/>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-4.0</a:t>
            </a:r>
            <a:endParaRPr>
              <a:latin typeface="Calibri" panose="020F0502020204030204"/>
              <a:cs typeface="Calibri" panose="020F0502020204030204"/>
            </a:endParaRPr>
          </a:p>
        </p:txBody>
      </p:sp>
      <p:sp>
        <p:nvSpPr>
          <p:cNvPr id="54" name="object 54"/>
          <p:cNvSpPr txBox="1"/>
          <p:nvPr/>
        </p:nvSpPr>
        <p:spPr>
          <a:xfrm>
            <a:off x="6609715" y="2762200"/>
            <a:ext cx="386080" cy="300355"/>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-3.4</a:t>
            </a:r>
            <a:endParaRPr>
              <a:latin typeface="Calibri" panose="020F0502020204030204"/>
              <a:cs typeface="Calibri" panose="020F0502020204030204"/>
            </a:endParaRPr>
          </a:p>
        </p:txBody>
      </p:sp>
      <p:sp>
        <p:nvSpPr>
          <p:cNvPr id="55" name="object 55"/>
          <p:cNvSpPr txBox="1"/>
          <p:nvPr/>
        </p:nvSpPr>
        <p:spPr>
          <a:xfrm>
            <a:off x="8197723" y="3201670"/>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-3.7</a:t>
            </a:r>
            <a:endParaRPr>
              <a:latin typeface="Calibri" panose="020F0502020204030204"/>
              <a:cs typeface="Calibri" panose="020F0502020204030204"/>
            </a:endParaRPr>
          </a:p>
        </p:txBody>
      </p:sp>
      <p:sp>
        <p:nvSpPr>
          <p:cNvPr id="56" name="object 56"/>
          <p:cNvSpPr txBox="1"/>
          <p:nvPr/>
        </p:nvSpPr>
        <p:spPr>
          <a:xfrm>
            <a:off x="8197723" y="4484878"/>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-4.3</a:t>
            </a:r>
            <a:endParaRPr>
              <a:latin typeface="Calibri" panose="020F0502020204030204"/>
              <a:cs typeface="Calibri" panose="020F0502020204030204"/>
            </a:endParaRPr>
          </a:p>
        </p:txBody>
      </p:sp>
      <p:sp>
        <p:nvSpPr>
          <p:cNvPr id="57" name="object 57"/>
          <p:cNvSpPr txBox="1"/>
          <p:nvPr/>
        </p:nvSpPr>
        <p:spPr>
          <a:xfrm>
            <a:off x="8197723" y="2775330"/>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-4.5</a:t>
            </a:r>
            <a:endParaRPr>
              <a:latin typeface="Calibri" panose="020F0502020204030204"/>
              <a:cs typeface="Calibri" panose="020F0502020204030204"/>
            </a:endParaRPr>
          </a:p>
        </p:txBody>
      </p:sp>
      <p:sp>
        <p:nvSpPr>
          <p:cNvPr id="58" name="object 58"/>
          <p:cNvSpPr txBox="1"/>
          <p:nvPr/>
        </p:nvSpPr>
        <p:spPr>
          <a:xfrm>
            <a:off x="8197723" y="1436623"/>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-4.8</a:t>
            </a:r>
            <a:endParaRPr>
              <a:latin typeface="Calibri" panose="020F0502020204030204"/>
              <a:cs typeface="Calibri" panose="020F0502020204030204"/>
            </a:endParaRPr>
          </a:p>
        </p:txBody>
      </p:sp>
      <p:sp>
        <p:nvSpPr>
          <p:cNvPr id="59" name="object 59"/>
          <p:cNvSpPr txBox="1"/>
          <p:nvPr/>
        </p:nvSpPr>
        <p:spPr>
          <a:xfrm>
            <a:off x="9757410" y="2290064"/>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-4.3</a:t>
            </a:r>
            <a:endParaRPr>
              <a:latin typeface="Calibri" panose="020F0502020204030204"/>
              <a:cs typeface="Calibri" panose="020F0502020204030204"/>
            </a:endParaRPr>
          </a:p>
        </p:txBody>
      </p:sp>
      <p:sp>
        <p:nvSpPr>
          <p:cNvPr id="60" name="object 60"/>
          <p:cNvSpPr txBox="1"/>
          <p:nvPr/>
        </p:nvSpPr>
        <p:spPr>
          <a:xfrm>
            <a:off x="9757410" y="3586430"/>
            <a:ext cx="385445" cy="300355"/>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-4.6</a:t>
            </a:r>
            <a:endParaRPr>
              <a:latin typeface="Calibri" panose="020F0502020204030204"/>
              <a:cs typeface="Calibri" panose="020F0502020204030204"/>
            </a:endParaRPr>
          </a:p>
        </p:txBody>
      </p:sp>
      <p:sp>
        <p:nvSpPr>
          <p:cNvPr id="61" name="object 61"/>
          <p:cNvSpPr txBox="1"/>
          <p:nvPr/>
        </p:nvSpPr>
        <p:spPr>
          <a:xfrm>
            <a:off x="9757410" y="4112767"/>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-5.0</a:t>
            </a:r>
            <a:endParaRPr>
              <a:latin typeface="Calibri" panose="020F0502020204030204"/>
              <a:cs typeface="Calibri" panose="020F0502020204030204"/>
            </a:endParaRPr>
          </a:p>
        </p:txBody>
      </p:sp>
      <p:sp>
        <p:nvSpPr>
          <p:cNvPr id="62" name="object 62"/>
          <p:cNvSpPr txBox="1"/>
          <p:nvPr/>
        </p:nvSpPr>
        <p:spPr>
          <a:xfrm>
            <a:off x="9757410" y="5398414"/>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-5.3</a:t>
            </a:r>
            <a:endParaRPr>
              <a:latin typeface="Calibri" panose="020F0502020204030204"/>
              <a:cs typeface="Calibri" panose="020F0502020204030204"/>
            </a:endParaRPr>
          </a:p>
        </p:txBody>
      </p:sp>
      <p:sp>
        <p:nvSpPr>
          <p:cNvPr id="63" name="object 63"/>
          <p:cNvSpPr txBox="1"/>
          <p:nvPr/>
        </p:nvSpPr>
        <p:spPr>
          <a:xfrm>
            <a:off x="7169785" y="6294755"/>
            <a:ext cx="4221480" cy="307975"/>
          </a:xfrm>
          <a:prstGeom prst="rect">
            <a:avLst/>
          </a:prstGeom>
          <a:ln w="19811">
            <a:solidFill>
              <a:srgbClr val="BA56BD"/>
            </a:solidFill>
          </a:ln>
        </p:spPr>
        <p:txBody>
          <a:bodyPr vert="horz" wrap="square" lIns="0" tIns="31115" rIns="0" bIns="0" rtlCol="0">
            <a:spAutoFit/>
          </a:bodyPr>
          <a:lstStyle/>
          <a:p>
            <a:pPr marL="97790">
              <a:spcBef>
                <a:spcPts val="245"/>
              </a:spcBef>
            </a:pPr>
            <a:r>
              <a:rPr spc="-5" dirty="0">
                <a:solidFill>
                  <a:srgbClr val="BA56BD"/>
                </a:solidFill>
                <a:cs typeface="Calibri" panose="020F0502020204030204"/>
              </a:rPr>
              <a:t>This</a:t>
            </a:r>
            <a:r>
              <a:rPr spc="-20" dirty="0">
                <a:solidFill>
                  <a:srgbClr val="BA56BD"/>
                </a:solidFill>
                <a:cs typeface="Calibri" panose="020F0502020204030204"/>
              </a:rPr>
              <a:t> </a:t>
            </a:r>
            <a:r>
              <a:rPr dirty="0">
                <a:solidFill>
                  <a:srgbClr val="BA56BD"/>
                </a:solidFill>
                <a:cs typeface="Calibri" panose="020F0502020204030204"/>
              </a:rPr>
              <a:t>is</a:t>
            </a:r>
            <a:r>
              <a:rPr spc="-10" dirty="0">
                <a:solidFill>
                  <a:srgbClr val="BA56BD"/>
                </a:solidFill>
                <a:cs typeface="Calibri" panose="020F0502020204030204"/>
              </a:rPr>
              <a:t> </a:t>
            </a:r>
            <a:r>
              <a:rPr dirty="0">
                <a:solidFill>
                  <a:srgbClr val="BA56BD"/>
                </a:solidFill>
                <a:cs typeface="Calibri" panose="020F0502020204030204"/>
              </a:rPr>
              <a:t>the </a:t>
            </a:r>
            <a:r>
              <a:rPr spc="-5" dirty="0">
                <a:solidFill>
                  <a:srgbClr val="BA56BD"/>
                </a:solidFill>
                <a:cs typeface="Calibri" panose="020F0502020204030204"/>
              </a:rPr>
              <a:t>top-scoring hypothesis!</a:t>
            </a:r>
            <a:endParaRPr>
              <a:cs typeface="Calibri" panose="020F0502020204030204"/>
            </a:endParaRPr>
          </a:p>
        </p:txBody>
      </p:sp>
      <p:grpSp>
        <p:nvGrpSpPr>
          <p:cNvPr id="65" name="Group 64"/>
          <p:cNvGrpSpPr/>
          <p:nvPr/>
        </p:nvGrpSpPr>
        <p:grpSpPr>
          <a:xfrm>
            <a:off x="1875934" y="646192"/>
            <a:ext cx="8356238" cy="736600"/>
            <a:chOff x="1875934" y="646192"/>
            <a:chExt cx="8356238" cy="736600"/>
          </a:xfrm>
        </p:grpSpPr>
        <p:sp>
          <p:nvSpPr>
            <p:cNvPr id="66" name="object 3"/>
            <p:cNvSpPr txBox="1"/>
            <p:nvPr/>
          </p:nvSpPr>
          <p:spPr>
            <a:xfrm>
              <a:off x="1875934" y="840487"/>
              <a:ext cx="3557126" cy="321242"/>
            </a:xfrm>
            <a:prstGeom prst="rect">
              <a:avLst/>
            </a:prstGeom>
          </p:spPr>
          <p:txBody>
            <a:bodyPr vert="horz" wrap="square" lIns="0" tIns="13335" rIns="0" bIns="0" rtlCol="0">
              <a:spAutoFit/>
            </a:bodyPr>
            <a:lstStyle/>
            <a:p>
              <a:pPr marL="12700">
                <a:spcBef>
                  <a:spcPts val="105"/>
                </a:spcBef>
              </a:pPr>
              <a:r>
                <a:rPr sz="2000" b="1" dirty="0">
                  <a:cs typeface="Calibri" panose="020F0502020204030204"/>
                </a:rPr>
                <a:t>Beam</a:t>
              </a:r>
              <a:r>
                <a:rPr sz="2000" b="1" spc="-10" dirty="0">
                  <a:cs typeface="Calibri" panose="020F0502020204030204"/>
                </a:rPr>
                <a:t> </a:t>
              </a:r>
              <a:r>
                <a:rPr sz="2000" b="1" spc="-5" dirty="0">
                  <a:cs typeface="Calibri" panose="020F0502020204030204"/>
                </a:rPr>
                <a:t>size</a:t>
              </a:r>
              <a:r>
                <a:rPr sz="2000" b="1" dirty="0">
                  <a:cs typeface="Calibri" panose="020F0502020204030204"/>
                </a:rPr>
                <a:t> =</a:t>
              </a:r>
              <a:r>
                <a:rPr sz="2000" b="1" spc="-15" dirty="0">
                  <a:cs typeface="Calibri" panose="020F0502020204030204"/>
                </a:rPr>
                <a:t> </a:t>
              </a:r>
              <a:r>
                <a:rPr sz="2000" b="1" dirty="0">
                  <a:cs typeface="Calibri" panose="020F0502020204030204"/>
                </a:rPr>
                <a:t>k</a:t>
              </a:r>
              <a:r>
                <a:rPr sz="2000" b="1" spc="-10" dirty="0">
                  <a:cs typeface="Calibri" panose="020F0502020204030204"/>
                </a:rPr>
                <a:t> </a:t>
              </a:r>
              <a:r>
                <a:rPr sz="2000" b="1" dirty="0">
                  <a:cs typeface="Calibri" panose="020F0502020204030204"/>
                </a:rPr>
                <a:t>=</a:t>
              </a:r>
              <a:r>
                <a:rPr sz="2000" b="1" spc="-5" dirty="0">
                  <a:cs typeface="Calibri" panose="020F0502020204030204"/>
                </a:rPr>
                <a:t> </a:t>
              </a:r>
              <a:r>
                <a:rPr sz="2000" b="1" dirty="0">
                  <a:cs typeface="Calibri" panose="020F0502020204030204"/>
                </a:rPr>
                <a:t>2</a:t>
              </a:r>
              <a:r>
                <a:rPr sz="2000" dirty="0">
                  <a:cs typeface="Calibri" panose="020F0502020204030204"/>
                </a:rPr>
                <a:t>.</a:t>
              </a:r>
              <a:r>
                <a:rPr sz="2000" spc="-25" dirty="0">
                  <a:cs typeface="Calibri" panose="020F0502020204030204"/>
                </a:rPr>
                <a:t> </a:t>
              </a:r>
              <a:r>
                <a:rPr sz="2000" dirty="0">
                  <a:solidFill>
                    <a:srgbClr val="4285F4"/>
                  </a:solidFill>
                  <a:cs typeface="Calibri" panose="020F0502020204030204"/>
                </a:rPr>
                <a:t>Blue</a:t>
              </a:r>
              <a:r>
                <a:rPr sz="2000" spc="-10" dirty="0">
                  <a:solidFill>
                    <a:srgbClr val="4285F4"/>
                  </a:solidFill>
                  <a:cs typeface="Calibri" panose="020F0502020204030204"/>
                </a:rPr>
                <a:t> </a:t>
              </a:r>
              <a:r>
                <a:rPr sz="2000" dirty="0">
                  <a:solidFill>
                    <a:srgbClr val="4285F4"/>
                  </a:solidFill>
                  <a:cs typeface="Calibri" panose="020F0502020204030204"/>
                </a:rPr>
                <a:t>numbers</a:t>
              </a:r>
              <a:r>
                <a:rPr sz="2000" spc="-5" dirty="0">
                  <a:solidFill>
                    <a:srgbClr val="4285F4"/>
                  </a:solidFill>
                  <a:cs typeface="Calibri" panose="020F0502020204030204"/>
                </a:rPr>
                <a:t> </a:t>
              </a:r>
              <a:r>
                <a:rPr sz="2000" dirty="0">
                  <a:solidFill>
                    <a:srgbClr val="4285F4"/>
                  </a:solidFill>
                  <a:cs typeface="Calibri" panose="020F0502020204030204"/>
                </a:rPr>
                <a:t>=</a:t>
              </a:r>
              <a:endParaRPr sz="2000" dirty="0">
                <a:cs typeface="Calibri" panose="020F0502020204030204"/>
              </a:endParaRPr>
            </a:p>
          </p:txBody>
        </p:sp>
        <p:pic>
          <p:nvPicPr>
            <p:cNvPr id="67" name="object 50"/>
            <p:cNvPicPr/>
            <p:nvPr/>
          </p:nvPicPr>
          <p:blipFill>
            <a:blip r:embed="rId2" cstate="print"/>
            <a:stretch>
              <a:fillRect/>
            </a:stretch>
          </p:blipFill>
          <p:spPr>
            <a:xfrm>
              <a:off x="5415822" y="646192"/>
              <a:ext cx="4816350" cy="736600"/>
            </a:xfrm>
            <a:prstGeom prst="rect">
              <a:avLst/>
            </a:prstGeom>
          </p:spPr>
        </p:pic>
      </p:gr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3273551" y="2842260"/>
            <a:ext cx="1117600" cy="337912"/>
          </a:xfrm>
          <a:prstGeom prst="rect">
            <a:avLst/>
          </a:prstGeom>
          <a:ln w="9144">
            <a:solidFill>
              <a:srgbClr val="00AF50"/>
            </a:solidFill>
          </a:ln>
        </p:spPr>
        <p:txBody>
          <a:bodyPr vert="horz" wrap="square" lIns="0" tIns="29844" rIns="0" bIns="0" rtlCol="0">
            <a:spAutoFit/>
          </a:bodyPr>
          <a:lstStyle/>
          <a:p>
            <a:pPr algn="ctr">
              <a:spcBef>
                <a:spcPts val="235"/>
              </a:spcBef>
            </a:pPr>
            <a:r>
              <a:rPr sz="2000" i="1" spc="-5" dirty="0">
                <a:solidFill>
                  <a:srgbClr val="00AF50"/>
                </a:solidFill>
                <a:latin typeface="Calibri" panose="020F0502020204030204"/>
                <a:cs typeface="Calibri" panose="020F0502020204030204"/>
              </a:rPr>
              <a:t>hit</a:t>
            </a:r>
            <a:endParaRPr sz="2000">
              <a:latin typeface="Calibri" panose="020F0502020204030204"/>
              <a:cs typeface="Calibri" panose="020F0502020204030204"/>
            </a:endParaRPr>
          </a:p>
        </p:txBody>
      </p:sp>
      <p:sp>
        <p:nvSpPr>
          <p:cNvPr id="5" name="object 5"/>
          <p:cNvSpPr txBox="1"/>
          <p:nvPr/>
        </p:nvSpPr>
        <p:spPr>
          <a:xfrm>
            <a:off x="3273551" y="3368040"/>
            <a:ext cx="1117600" cy="338554"/>
          </a:xfrm>
          <a:prstGeom prst="rect">
            <a:avLst/>
          </a:prstGeom>
          <a:ln w="9144">
            <a:solidFill>
              <a:srgbClr val="000000"/>
            </a:solidFill>
          </a:ln>
        </p:spPr>
        <p:txBody>
          <a:bodyPr vert="horz" wrap="square" lIns="0" tIns="30480" rIns="0" bIns="0" rtlCol="0">
            <a:spAutoFit/>
          </a:bodyPr>
          <a:lstStyle/>
          <a:p>
            <a:pPr marL="247015">
              <a:spcBef>
                <a:spcPts val="240"/>
              </a:spcBef>
            </a:pPr>
            <a:r>
              <a:rPr sz="2000" i="1" spc="-5" dirty="0">
                <a:latin typeface="Calibri" panose="020F0502020204030204"/>
                <a:cs typeface="Calibri" panose="020F0502020204030204"/>
              </a:rPr>
              <a:t>struck</a:t>
            </a:r>
            <a:endParaRPr sz="2000">
              <a:latin typeface="Calibri" panose="020F0502020204030204"/>
              <a:cs typeface="Calibri" panose="020F0502020204030204"/>
            </a:endParaRPr>
          </a:p>
        </p:txBody>
      </p:sp>
      <p:sp>
        <p:nvSpPr>
          <p:cNvPr id="6" name="object 6"/>
          <p:cNvSpPr txBox="1"/>
          <p:nvPr/>
        </p:nvSpPr>
        <p:spPr>
          <a:xfrm>
            <a:off x="3273551" y="4698491"/>
            <a:ext cx="1117600" cy="338554"/>
          </a:xfrm>
          <a:prstGeom prst="rect">
            <a:avLst/>
          </a:prstGeom>
          <a:ln w="9144">
            <a:solidFill>
              <a:srgbClr val="000000"/>
            </a:solidFill>
          </a:ln>
        </p:spPr>
        <p:txBody>
          <a:bodyPr vert="horz" wrap="square" lIns="0" tIns="30480" rIns="0" bIns="0" rtlCol="0">
            <a:spAutoFit/>
          </a:bodyPr>
          <a:lstStyle/>
          <a:p>
            <a:pPr marL="352425">
              <a:spcBef>
                <a:spcPts val="240"/>
              </a:spcBef>
            </a:pPr>
            <a:r>
              <a:rPr sz="2000" i="1" dirty="0">
                <a:latin typeface="Calibri" panose="020F0502020204030204"/>
                <a:cs typeface="Calibri" panose="020F0502020204030204"/>
              </a:rPr>
              <a:t>was</a:t>
            </a:r>
            <a:endParaRPr sz="2000">
              <a:latin typeface="Calibri" panose="020F0502020204030204"/>
              <a:cs typeface="Calibri" panose="020F0502020204030204"/>
            </a:endParaRPr>
          </a:p>
        </p:txBody>
      </p:sp>
      <p:sp>
        <p:nvSpPr>
          <p:cNvPr id="7" name="object 7"/>
          <p:cNvSpPr txBox="1"/>
          <p:nvPr/>
        </p:nvSpPr>
        <p:spPr>
          <a:xfrm>
            <a:off x="3273551" y="5224272"/>
            <a:ext cx="1117600" cy="339195"/>
          </a:xfrm>
          <a:prstGeom prst="rect">
            <a:avLst/>
          </a:prstGeom>
          <a:ln w="9144">
            <a:solidFill>
              <a:srgbClr val="000000"/>
            </a:solidFill>
          </a:ln>
        </p:spPr>
        <p:txBody>
          <a:bodyPr vert="horz" wrap="square" lIns="0" tIns="31115" rIns="0" bIns="0" rtlCol="0">
            <a:spAutoFit/>
          </a:bodyPr>
          <a:lstStyle/>
          <a:p>
            <a:pPr algn="ctr">
              <a:spcBef>
                <a:spcPts val="245"/>
              </a:spcBef>
            </a:pPr>
            <a:r>
              <a:rPr sz="2000" i="1" spc="-5" dirty="0">
                <a:latin typeface="Calibri" panose="020F0502020204030204"/>
                <a:cs typeface="Calibri" panose="020F0502020204030204"/>
              </a:rPr>
              <a:t>got</a:t>
            </a:r>
            <a:endParaRPr sz="2000">
              <a:latin typeface="Calibri" panose="020F0502020204030204"/>
              <a:cs typeface="Calibri" panose="020F0502020204030204"/>
            </a:endParaRPr>
          </a:p>
        </p:txBody>
      </p:sp>
      <p:sp>
        <p:nvSpPr>
          <p:cNvPr id="8" name="object 8"/>
          <p:cNvSpPr/>
          <p:nvPr/>
        </p:nvSpPr>
        <p:spPr>
          <a:xfrm>
            <a:off x="2876804" y="3060192"/>
            <a:ext cx="397510" cy="526415"/>
          </a:xfrm>
          <a:custGeom>
            <a:avLst/>
            <a:gdLst/>
            <a:ahLst/>
            <a:cxnLst/>
            <a:rect l="l" t="t" r="r" b="b"/>
            <a:pathLst>
              <a:path w="397510" h="526414">
                <a:moveTo>
                  <a:pt x="397383" y="0"/>
                </a:moveTo>
                <a:lnTo>
                  <a:pt x="312801" y="11049"/>
                </a:lnTo>
                <a:lnTo>
                  <a:pt x="330568" y="37338"/>
                </a:lnTo>
                <a:lnTo>
                  <a:pt x="0" y="260223"/>
                </a:lnTo>
                <a:lnTo>
                  <a:pt x="3441" y="265341"/>
                </a:lnTo>
                <a:lnTo>
                  <a:pt x="0" y="270510"/>
                </a:lnTo>
                <a:lnTo>
                  <a:pt x="330288" y="489445"/>
                </a:lnTo>
                <a:lnTo>
                  <a:pt x="312801" y="515874"/>
                </a:lnTo>
                <a:lnTo>
                  <a:pt x="397383" y="526161"/>
                </a:lnTo>
                <a:lnTo>
                  <a:pt x="380238" y="496443"/>
                </a:lnTo>
                <a:lnTo>
                  <a:pt x="354838" y="452374"/>
                </a:lnTo>
                <a:lnTo>
                  <a:pt x="337337" y="478815"/>
                </a:lnTo>
                <a:lnTo>
                  <a:pt x="15278" y="265264"/>
                </a:lnTo>
                <a:lnTo>
                  <a:pt x="337693" y="47879"/>
                </a:lnTo>
                <a:lnTo>
                  <a:pt x="355473" y="74168"/>
                </a:lnTo>
                <a:lnTo>
                  <a:pt x="380301" y="30226"/>
                </a:lnTo>
                <a:lnTo>
                  <a:pt x="397383" y="0"/>
                </a:lnTo>
                <a:close/>
              </a:path>
            </a:pathLst>
          </a:custGeom>
          <a:solidFill>
            <a:srgbClr val="000000"/>
          </a:solidFill>
        </p:spPr>
        <p:txBody>
          <a:bodyPr wrap="square" lIns="0" tIns="0" rIns="0" bIns="0" rtlCol="0"/>
          <a:lstStyle/>
          <a:p>
            <a:endParaRPr/>
          </a:p>
        </p:txBody>
      </p:sp>
      <p:sp>
        <p:nvSpPr>
          <p:cNvPr id="9" name="object 9"/>
          <p:cNvSpPr/>
          <p:nvPr/>
        </p:nvSpPr>
        <p:spPr>
          <a:xfrm>
            <a:off x="2876804" y="4916423"/>
            <a:ext cx="397510" cy="527050"/>
          </a:xfrm>
          <a:custGeom>
            <a:avLst/>
            <a:gdLst/>
            <a:ahLst/>
            <a:cxnLst/>
            <a:rect l="l" t="t" r="r" b="b"/>
            <a:pathLst>
              <a:path w="397510" h="527050">
                <a:moveTo>
                  <a:pt x="397383" y="0"/>
                </a:moveTo>
                <a:lnTo>
                  <a:pt x="312928" y="11938"/>
                </a:lnTo>
                <a:lnTo>
                  <a:pt x="331038" y="38100"/>
                </a:lnTo>
                <a:lnTo>
                  <a:pt x="0" y="267081"/>
                </a:lnTo>
                <a:lnTo>
                  <a:pt x="3721" y="272542"/>
                </a:lnTo>
                <a:lnTo>
                  <a:pt x="127" y="278142"/>
                </a:lnTo>
                <a:lnTo>
                  <a:pt x="329869" y="491121"/>
                </a:lnTo>
                <a:lnTo>
                  <a:pt x="312674" y="517779"/>
                </a:lnTo>
                <a:lnTo>
                  <a:pt x="397383" y="527050"/>
                </a:lnTo>
                <a:lnTo>
                  <a:pt x="380136" y="497967"/>
                </a:lnTo>
                <a:lnTo>
                  <a:pt x="353949" y="453771"/>
                </a:lnTo>
                <a:lnTo>
                  <a:pt x="336778" y="480402"/>
                </a:lnTo>
                <a:lnTo>
                  <a:pt x="14541" y="272351"/>
                </a:lnTo>
                <a:lnTo>
                  <a:pt x="338251" y="48526"/>
                </a:lnTo>
                <a:lnTo>
                  <a:pt x="356362" y="74676"/>
                </a:lnTo>
                <a:lnTo>
                  <a:pt x="380428" y="30861"/>
                </a:lnTo>
                <a:lnTo>
                  <a:pt x="397383" y="0"/>
                </a:lnTo>
                <a:close/>
              </a:path>
            </a:pathLst>
          </a:custGeom>
          <a:solidFill>
            <a:srgbClr val="000000"/>
          </a:solidFill>
        </p:spPr>
        <p:txBody>
          <a:bodyPr wrap="square" lIns="0" tIns="0" rIns="0" bIns="0" rtlCol="0"/>
          <a:lstStyle/>
          <a:p>
            <a:endParaRPr/>
          </a:p>
        </p:txBody>
      </p:sp>
      <p:sp>
        <p:nvSpPr>
          <p:cNvPr id="10" name="object 10"/>
          <p:cNvSpPr txBox="1"/>
          <p:nvPr/>
        </p:nvSpPr>
        <p:spPr>
          <a:xfrm>
            <a:off x="4728972" y="2546604"/>
            <a:ext cx="1117600" cy="338554"/>
          </a:xfrm>
          <a:prstGeom prst="rect">
            <a:avLst/>
          </a:prstGeom>
          <a:ln w="9144">
            <a:solidFill>
              <a:srgbClr val="000000"/>
            </a:solidFill>
          </a:ln>
        </p:spPr>
        <p:txBody>
          <a:bodyPr vert="horz" wrap="square" lIns="0" tIns="30480" rIns="0" bIns="0" rtlCol="0">
            <a:spAutoFit/>
          </a:bodyPr>
          <a:lstStyle/>
          <a:p>
            <a:pPr algn="ctr">
              <a:spcBef>
                <a:spcPts val="240"/>
              </a:spcBef>
            </a:pPr>
            <a:r>
              <a:rPr sz="2000" i="1" dirty="0">
                <a:latin typeface="Calibri" panose="020F0502020204030204"/>
                <a:cs typeface="Calibri" panose="020F0502020204030204"/>
              </a:rPr>
              <a:t>a</a:t>
            </a:r>
            <a:endParaRPr sz="2000">
              <a:latin typeface="Calibri" panose="020F0502020204030204"/>
              <a:cs typeface="Calibri" panose="020F0502020204030204"/>
            </a:endParaRPr>
          </a:p>
        </p:txBody>
      </p:sp>
      <p:sp>
        <p:nvSpPr>
          <p:cNvPr id="11" name="object 11"/>
          <p:cNvSpPr txBox="1"/>
          <p:nvPr/>
        </p:nvSpPr>
        <p:spPr>
          <a:xfrm>
            <a:off x="4728972" y="3073908"/>
            <a:ext cx="1117600" cy="337913"/>
          </a:xfrm>
          <a:prstGeom prst="rect">
            <a:avLst/>
          </a:prstGeom>
          <a:ln w="9144">
            <a:solidFill>
              <a:srgbClr val="00AF50"/>
            </a:solidFill>
          </a:ln>
        </p:spPr>
        <p:txBody>
          <a:bodyPr vert="horz" wrap="square" lIns="0" tIns="29845" rIns="0" bIns="0" rtlCol="0">
            <a:spAutoFit/>
          </a:bodyPr>
          <a:lstStyle/>
          <a:p>
            <a:pPr algn="ctr">
              <a:spcBef>
                <a:spcPts val="235"/>
              </a:spcBef>
            </a:pPr>
            <a:r>
              <a:rPr sz="2000" i="1" spc="-5" dirty="0">
                <a:solidFill>
                  <a:srgbClr val="00AF50"/>
                </a:solidFill>
                <a:latin typeface="Calibri" panose="020F0502020204030204"/>
                <a:cs typeface="Calibri" panose="020F0502020204030204"/>
              </a:rPr>
              <a:t>me</a:t>
            </a:r>
            <a:endParaRPr sz="2000">
              <a:latin typeface="Calibri" panose="020F0502020204030204"/>
              <a:cs typeface="Calibri" panose="020F0502020204030204"/>
            </a:endParaRPr>
          </a:p>
        </p:txBody>
      </p:sp>
      <p:sp>
        <p:nvSpPr>
          <p:cNvPr id="12" name="object 12"/>
          <p:cNvSpPr txBox="1"/>
          <p:nvPr/>
        </p:nvSpPr>
        <p:spPr>
          <a:xfrm>
            <a:off x="4728972" y="4430268"/>
            <a:ext cx="1117600" cy="337913"/>
          </a:xfrm>
          <a:prstGeom prst="rect">
            <a:avLst/>
          </a:prstGeom>
          <a:ln w="9144">
            <a:solidFill>
              <a:srgbClr val="000000"/>
            </a:solidFill>
          </a:ln>
        </p:spPr>
        <p:txBody>
          <a:bodyPr vert="horz" wrap="square" lIns="0" tIns="29845" rIns="0" bIns="0" rtlCol="0">
            <a:spAutoFit/>
          </a:bodyPr>
          <a:lstStyle/>
          <a:p>
            <a:pPr algn="ctr">
              <a:spcBef>
                <a:spcPts val="235"/>
              </a:spcBef>
            </a:pPr>
            <a:r>
              <a:rPr sz="2000" i="1" spc="-5" dirty="0">
                <a:latin typeface="Calibri" panose="020F0502020204030204"/>
                <a:cs typeface="Calibri" panose="020F0502020204030204"/>
              </a:rPr>
              <a:t>hit</a:t>
            </a:r>
            <a:endParaRPr sz="2000">
              <a:latin typeface="Calibri" panose="020F0502020204030204"/>
              <a:cs typeface="Calibri" panose="020F0502020204030204"/>
            </a:endParaRPr>
          </a:p>
        </p:txBody>
      </p:sp>
      <p:sp>
        <p:nvSpPr>
          <p:cNvPr id="13" name="object 13"/>
          <p:cNvSpPr txBox="1"/>
          <p:nvPr/>
        </p:nvSpPr>
        <p:spPr>
          <a:xfrm>
            <a:off x="4728972" y="4956048"/>
            <a:ext cx="1117600" cy="339195"/>
          </a:xfrm>
          <a:prstGeom prst="rect">
            <a:avLst/>
          </a:prstGeom>
          <a:ln w="9144">
            <a:solidFill>
              <a:srgbClr val="000000"/>
            </a:solidFill>
          </a:ln>
        </p:spPr>
        <p:txBody>
          <a:bodyPr vert="horz" wrap="square" lIns="0" tIns="31115" rIns="0" bIns="0" rtlCol="0">
            <a:spAutoFit/>
          </a:bodyPr>
          <a:lstStyle/>
          <a:p>
            <a:pPr marL="247015">
              <a:spcBef>
                <a:spcPts val="245"/>
              </a:spcBef>
            </a:pPr>
            <a:r>
              <a:rPr sz="2000" i="1" spc="-5" dirty="0">
                <a:latin typeface="Calibri" panose="020F0502020204030204"/>
                <a:cs typeface="Calibri" panose="020F0502020204030204"/>
              </a:rPr>
              <a:t>struck</a:t>
            </a:r>
            <a:endParaRPr sz="2000">
              <a:latin typeface="Calibri" panose="020F0502020204030204"/>
              <a:cs typeface="Calibri" panose="020F0502020204030204"/>
            </a:endParaRPr>
          </a:p>
        </p:txBody>
      </p:sp>
      <p:sp>
        <p:nvSpPr>
          <p:cNvPr id="14" name="object 14"/>
          <p:cNvSpPr/>
          <p:nvPr/>
        </p:nvSpPr>
        <p:spPr>
          <a:xfrm>
            <a:off x="4386454" y="2764536"/>
            <a:ext cx="342265" cy="527685"/>
          </a:xfrm>
          <a:custGeom>
            <a:avLst/>
            <a:gdLst/>
            <a:ahLst/>
            <a:cxnLst/>
            <a:rect l="l" t="t" r="r" b="b"/>
            <a:pathLst>
              <a:path w="342264" h="527685">
                <a:moveTo>
                  <a:pt x="342265" y="0"/>
                </a:moveTo>
                <a:lnTo>
                  <a:pt x="259842" y="21336"/>
                </a:lnTo>
                <a:lnTo>
                  <a:pt x="280670" y="45250"/>
                </a:lnTo>
                <a:lnTo>
                  <a:pt x="0" y="289687"/>
                </a:lnTo>
                <a:lnTo>
                  <a:pt x="4622" y="295021"/>
                </a:lnTo>
                <a:lnTo>
                  <a:pt x="635" y="300863"/>
                </a:lnTo>
                <a:lnTo>
                  <a:pt x="275856" y="489826"/>
                </a:lnTo>
                <a:lnTo>
                  <a:pt x="257937" y="516001"/>
                </a:lnTo>
                <a:lnTo>
                  <a:pt x="342265" y="527685"/>
                </a:lnTo>
                <a:lnTo>
                  <a:pt x="325247" y="496951"/>
                </a:lnTo>
                <a:lnTo>
                  <a:pt x="300990" y="453136"/>
                </a:lnTo>
                <a:lnTo>
                  <a:pt x="283032" y="479361"/>
                </a:lnTo>
                <a:lnTo>
                  <a:pt x="13804" y="294614"/>
                </a:lnTo>
                <a:lnTo>
                  <a:pt x="289013" y="54813"/>
                </a:lnTo>
                <a:lnTo>
                  <a:pt x="309880" y="78740"/>
                </a:lnTo>
                <a:lnTo>
                  <a:pt x="327063" y="36957"/>
                </a:lnTo>
                <a:lnTo>
                  <a:pt x="342265" y="0"/>
                </a:lnTo>
                <a:close/>
              </a:path>
            </a:pathLst>
          </a:custGeom>
          <a:solidFill>
            <a:srgbClr val="000000"/>
          </a:solidFill>
        </p:spPr>
        <p:txBody>
          <a:bodyPr wrap="square" lIns="0" tIns="0" rIns="0" bIns="0" rtlCol="0"/>
          <a:lstStyle/>
          <a:p>
            <a:endParaRPr/>
          </a:p>
        </p:txBody>
      </p:sp>
      <p:sp>
        <p:nvSpPr>
          <p:cNvPr id="15" name="object 15"/>
          <p:cNvSpPr/>
          <p:nvPr/>
        </p:nvSpPr>
        <p:spPr>
          <a:xfrm>
            <a:off x="4386708" y="4648200"/>
            <a:ext cx="342265" cy="527050"/>
          </a:xfrm>
          <a:custGeom>
            <a:avLst/>
            <a:gdLst/>
            <a:ahLst/>
            <a:cxnLst/>
            <a:rect l="l" t="t" r="r" b="b"/>
            <a:pathLst>
              <a:path w="342264" h="527050">
                <a:moveTo>
                  <a:pt x="342011" y="0"/>
                </a:moveTo>
                <a:lnTo>
                  <a:pt x="258572" y="17526"/>
                </a:lnTo>
                <a:lnTo>
                  <a:pt x="278333" y="42443"/>
                </a:lnTo>
                <a:lnTo>
                  <a:pt x="0" y="263271"/>
                </a:lnTo>
                <a:lnTo>
                  <a:pt x="3937" y="268224"/>
                </a:lnTo>
                <a:lnTo>
                  <a:pt x="127" y="273304"/>
                </a:lnTo>
                <a:lnTo>
                  <a:pt x="277596" y="485330"/>
                </a:lnTo>
                <a:lnTo>
                  <a:pt x="258318" y="510540"/>
                </a:lnTo>
                <a:lnTo>
                  <a:pt x="342011" y="526542"/>
                </a:lnTo>
                <a:lnTo>
                  <a:pt x="325577" y="493014"/>
                </a:lnTo>
                <a:lnTo>
                  <a:pt x="304546" y="450088"/>
                </a:lnTo>
                <a:lnTo>
                  <a:pt x="285292" y="475259"/>
                </a:lnTo>
                <a:lnTo>
                  <a:pt x="14249" y="268122"/>
                </a:lnTo>
                <a:lnTo>
                  <a:pt x="286207" y="52349"/>
                </a:lnTo>
                <a:lnTo>
                  <a:pt x="305943" y="77216"/>
                </a:lnTo>
                <a:lnTo>
                  <a:pt x="325869" y="34544"/>
                </a:lnTo>
                <a:lnTo>
                  <a:pt x="342011" y="0"/>
                </a:lnTo>
                <a:close/>
              </a:path>
            </a:pathLst>
          </a:custGeom>
          <a:solidFill>
            <a:srgbClr val="000000"/>
          </a:solidFill>
        </p:spPr>
        <p:txBody>
          <a:bodyPr wrap="square" lIns="0" tIns="0" rIns="0" bIns="0" rtlCol="0"/>
          <a:lstStyle/>
          <a:p>
            <a:endParaRPr/>
          </a:p>
        </p:txBody>
      </p:sp>
      <p:sp>
        <p:nvSpPr>
          <p:cNvPr id="16" name="object 16"/>
          <p:cNvSpPr txBox="1"/>
          <p:nvPr/>
        </p:nvSpPr>
        <p:spPr>
          <a:xfrm>
            <a:off x="6256020" y="1816608"/>
            <a:ext cx="1117600" cy="337913"/>
          </a:xfrm>
          <a:prstGeom prst="rect">
            <a:avLst/>
          </a:prstGeom>
          <a:ln w="9144">
            <a:solidFill>
              <a:srgbClr val="000000"/>
            </a:solidFill>
          </a:ln>
        </p:spPr>
        <p:txBody>
          <a:bodyPr vert="horz" wrap="square" lIns="0" tIns="29845" rIns="0" bIns="0" rtlCol="0">
            <a:spAutoFit/>
          </a:bodyPr>
          <a:lstStyle/>
          <a:p>
            <a:pPr marL="365125">
              <a:spcBef>
                <a:spcPts val="235"/>
              </a:spcBef>
            </a:pPr>
            <a:r>
              <a:rPr sz="2000" i="1" dirty="0">
                <a:latin typeface="Calibri" panose="020F0502020204030204"/>
                <a:cs typeface="Calibri" panose="020F0502020204030204"/>
              </a:rPr>
              <a:t>tart</a:t>
            </a:r>
            <a:endParaRPr sz="2000">
              <a:latin typeface="Calibri" panose="020F0502020204030204"/>
              <a:cs typeface="Calibri" panose="020F0502020204030204"/>
            </a:endParaRPr>
          </a:p>
        </p:txBody>
      </p:sp>
      <p:sp>
        <p:nvSpPr>
          <p:cNvPr id="17" name="object 17"/>
          <p:cNvSpPr txBox="1"/>
          <p:nvPr/>
        </p:nvSpPr>
        <p:spPr>
          <a:xfrm>
            <a:off x="6256020" y="2343912"/>
            <a:ext cx="1117600" cy="337271"/>
          </a:xfrm>
          <a:prstGeom prst="rect">
            <a:avLst/>
          </a:prstGeom>
          <a:ln w="9144">
            <a:solidFill>
              <a:srgbClr val="000000"/>
            </a:solidFill>
          </a:ln>
        </p:spPr>
        <p:txBody>
          <a:bodyPr vert="horz" wrap="square" lIns="0" tIns="29209" rIns="0" bIns="0" rtlCol="0">
            <a:spAutoFit/>
          </a:bodyPr>
          <a:lstStyle/>
          <a:p>
            <a:pPr marL="1270" algn="ctr">
              <a:spcBef>
                <a:spcPts val="230"/>
              </a:spcBef>
            </a:pPr>
            <a:r>
              <a:rPr sz="2000" i="1" spc="-5" dirty="0">
                <a:latin typeface="Calibri" panose="020F0502020204030204"/>
                <a:cs typeface="Calibri" panose="020F0502020204030204"/>
              </a:rPr>
              <a:t>pie</a:t>
            </a:r>
            <a:endParaRPr sz="2000">
              <a:latin typeface="Calibri" panose="020F0502020204030204"/>
              <a:cs typeface="Calibri" panose="020F0502020204030204"/>
            </a:endParaRPr>
          </a:p>
        </p:txBody>
      </p:sp>
      <p:sp>
        <p:nvSpPr>
          <p:cNvPr id="18" name="object 18"/>
          <p:cNvSpPr txBox="1"/>
          <p:nvPr/>
        </p:nvSpPr>
        <p:spPr>
          <a:xfrm>
            <a:off x="6256020" y="3512820"/>
            <a:ext cx="1117600" cy="337912"/>
          </a:xfrm>
          <a:prstGeom prst="rect">
            <a:avLst/>
          </a:prstGeom>
          <a:ln w="9144">
            <a:solidFill>
              <a:srgbClr val="00AF50"/>
            </a:solidFill>
          </a:ln>
        </p:spPr>
        <p:txBody>
          <a:bodyPr vert="horz" wrap="square" lIns="0" tIns="29844" rIns="0" bIns="0" rtlCol="0">
            <a:spAutoFit/>
          </a:bodyPr>
          <a:lstStyle/>
          <a:p>
            <a:pPr marL="332105">
              <a:spcBef>
                <a:spcPts val="235"/>
              </a:spcBef>
            </a:pPr>
            <a:r>
              <a:rPr sz="2000" i="1" spc="-5" dirty="0">
                <a:solidFill>
                  <a:srgbClr val="00AF50"/>
                </a:solidFill>
                <a:latin typeface="Calibri" panose="020F0502020204030204"/>
                <a:cs typeface="Calibri" panose="020F0502020204030204"/>
              </a:rPr>
              <a:t>with</a:t>
            </a:r>
            <a:endParaRPr sz="2000">
              <a:latin typeface="Calibri" panose="020F0502020204030204"/>
              <a:cs typeface="Calibri" panose="020F0502020204030204"/>
            </a:endParaRPr>
          </a:p>
        </p:txBody>
      </p:sp>
      <p:sp>
        <p:nvSpPr>
          <p:cNvPr id="19" name="object 19"/>
          <p:cNvSpPr txBox="1"/>
          <p:nvPr/>
        </p:nvSpPr>
        <p:spPr>
          <a:xfrm>
            <a:off x="6256020" y="4038601"/>
            <a:ext cx="1117600" cy="337913"/>
          </a:xfrm>
          <a:prstGeom prst="rect">
            <a:avLst/>
          </a:prstGeom>
          <a:ln w="9144">
            <a:solidFill>
              <a:srgbClr val="000000"/>
            </a:solidFill>
          </a:ln>
        </p:spPr>
        <p:txBody>
          <a:bodyPr vert="horz" wrap="square" lIns="0" tIns="29845" rIns="0" bIns="0" rtlCol="0">
            <a:spAutoFit/>
          </a:bodyPr>
          <a:lstStyle/>
          <a:p>
            <a:pPr marL="1270" algn="ctr">
              <a:spcBef>
                <a:spcPts val="235"/>
              </a:spcBef>
            </a:pPr>
            <a:r>
              <a:rPr sz="2000" i="1" dirty="0">
                <a:latin typeface="Calibri" panose="020F0502020204030204"/>
                <a:cs typeface="Calibri" panose="020F0502020204030204"/>
              </a:rPr>
              <a:t>on</a:t>
            </a:r>
            <a:endParaRPr sz="2000">
              <a:latin typeface="Calibri" panose="020F0502020204030204"/>
              <a:cs typeface="Calibri" panose="020F0502020204030204"/>
            </a:endParaRPr>
          </a:p>
        </p:txBody>
      </p:sp>
      <p:sp>
        <p:nvSpPr>
          <p:cNvPr id="20" name="object 20"/>
          <p:cNvSpPr/>
          <p:nvPr/>
        </p:nvSpPr>
        <p:spPr>
          <a:xfrm>
            <a:off x="5840223" y="3287521"/>
            <a:ext cx="422275" cy="969644"/>
          </a:xfrm>
          <a:custGeom>
            <a:avLst/>
            <a:gdLst/>
            <a:ahLst/>
            <a:cxnLst/>
            <a:rect l="l" t="t" r="r" b="b"/>
            <a:pathLst>
              <a:path w="422275" h="969645">
                <a:moveTo>
                  <a:pt x="422021" y="884174"/>
                </a:moveTo>
                <a:lnTo>
                  <a:pt x="392785" y="896620"/>
                </a:lnTo>
                <a:lnTo>
                  <a:pt x="25704" y="34709"/>
                </a:lnTo>
                <a:lnTo>
                  <a:pt x="360121" y="391426"/>
                </a:lnTo>
                <a:lnTo>
                  <a:pt x="336931" y="413131"/>
                </a:lnTo>
                <a:lnTo>
                  <a:pt x="416814" y="442722"/>
                </a:lnTo>
                <a:lnTo>
                  <a:pt x="404317" y="400685"/>
                </a:lnTo>
                <a:lnTo>
                  <a:pt x="392557" y="361061"/>
                </a:lnTo>
                <a:lnTo>
                  <a:pt x="369366" y="382765"/>
                </a:lnTo>
                <a:lnTo>
                  <a:pt x="10414" y="0"/>
                </a:lnTo>
                <a:lnTo>
                  <a:pt x="5842" y="4318"/>
                </a:lnTo>
                <a:lnTo>
                  <a:pt x="0" y="6858"/>
                </a:lnTo>
                <a:lnTo>
                  <a:pt x="381101" y="901598"/>
                </a:lnTo>
                <a:lnTo>
                  <a:pt x="351917" y="914019"/>
                </a:lnTo>
                <a:lnTo>
                  <a:pt x="416814" y="969137"/>
                </a:lnTo>
                <a:lnTo>
                  <a:pt x="420230" y="913257"/>
                </a:lnTo>
                <a:lnTo>
                  <a:pt x="422021" y="884174"/>
                </a:lnTo>
                <a:close/>
              </a:path>
            </a:pathLst>
          </a:custGeom>
          <a:solidFill>
            <a:srgbClr val="000000"/>
          </a:solidFill>
        </p:spPr>
        <p:txBody>
          <a:bodyPr wrap="square" lIns="0" tIns="0" rIns="0" bIns="0" rtlCol="0"/>
          <a:lstStyle/>
          <a:p>
            <a:endParaRPr/>
          </a:p>
        </p:txBody>
      </p:sp>
      <p:sp>
        <p:nvSpPr>
          <p:cNvPr id="21" name="object 21"/>
          <p:cNvSpPr/>
          <p:nvPr/>
        </p:nvSpPr>
        <p:spPr>
          <a:xfrm>
            <a:off x="5840477" y="2034539"/>
            <a:ext cx="416559" cy="736600"/>
          </a:xfrm>
          <a:custGeom>
            <a:avLst/>
            <a:gdLst/>
            <a:ahLst/>
            <a:cxnLst/>
            <a:rect l="l" t="t" r="r" b="b"/>
            <a:pathLst>
              <a:path w="416560" h="736600">
                <a:moveTo>
                  <a:pt x="416560" y="0"/>
                </a:moveTo>
                <a:lnTo>
                  <a:pt x="346075" y="47752"/>
                </a:lnTo>
                <a:lnTo>
                  <a:pt x="373722" y="63309"/>
                </a:lnTo>
                <a:lnTo>
                  <a:pt x="0" y="726948"/>
                </a:lnTo>
                <a:lnTo>
                  <a:pt x="5067" y="729830"/>
                </a:lnTo>
                <a:lnTo>
                  <a:pt x="8382" y="736600"/>
                </a:lnTo>
                <a:lnTo>
                  <a:pt x="351205" y="566851"/>
                </a:lnTo>
                <a:lnTo>
                  <a:pt x="365252" y="595249"/>
                </a:lnTo>
                <a:lnTo>
                  <a:pt x="399580" y="549783"/>
                </a:lnTo>
                <a:lnTo>
                  <a:pt x="416560" y="527304"/>
                </a:lnTo>
                <a:lnTo>
                  <a:pt x="331470" y="526923"/>
                </a:lnTo>
                <a:lnTo>
                  <a:pt x="345541" y="555396"/>
                </a:lnTo>
                <a:lnTo>
                  <a:pt x="20751" y="716280"/>
                </a:lnTo>
                <a:lnTo>
                  <a:pt x="384784" y="69519"/>
                </a:lnTo>
                <a:lnTo>
                  <a:pt x="412496" y="85090"/>
                </a:lnTo>
                <a:lnTo>
                  <a:pt x="414058" y="52197"/>
                </a:lnTo>
                <a:lnTo>
                  <a:pt x="416560" y="0"/>
                </a:lnTo>
                <a:close/>
              </a:path>
            </a:pathLst>
          </a:custGeom>
          <a:solidFill>
            <a:srgbClr val="000000"/>
          </a:solidFill>
        </p:spPr>
        <p:txBody>
          <a:bodyPr wrap="square" lIns="0" tIns="0" rIns="0" bIns="0" rtlCol="0"/>
          <a:lstStyle/>
          <a:p>
            <a:endParaRPr/>
          </a:p>
        </p:txBody>
      </p:sp>
      <p:sp>
        <p:nvSpPr>
          <p:cNvPr id="22" name="object 22"/>
          <p:cNvSpPr txBox="1"/>
          <p:nvPr/>
        </p:nvSpPr>
        <p:spPr>
          <a:xfrm>
            <a:off x="7810500" y="1810511"/>
            <a:ext cx="1117600" cy="338554"/>
          </a:xfrm>
          <a:prstGeom prst="rect">
            <a:avLst/>
          </a:prstGeom>
          <a:ln w="9144">
            <a:solidFill>
              <a:srgbClr val="000000"/>
            </a:solidFill>
          </a:ln>
        </p:spPr>
        <p:txBody>
          <a:bodyPr vert="horz" wrap="square" lIns="0" tIns="30480" rIns="0" bIns="0" rtlCol="0">
            <a:spAutoFit/>
          </a:bodyPr>
          <a:lstStyle/>
          <a:p>
            <a:pPr algn="ctr">
              <a:spcBef>
                <a:spcPts val="240"/>
              </a:spcBef>
            </a:pPr>
            <a:r>
              <a:rPr sz="2000" i="1" spc="-5" dirty="0">
                <a:latin typeface="Calibri" panose="020F0502020204030204"/>
                <a:cs typeface="Calibri" panose="020F0502020204030204"/>
              </a:rPr>
              <a:t>in</a:t>
            </a:r>
            <a:endParaRPr sz="2000">
              <a:latin typeface="Calibri" panose="020F0502020204030204"/>
              <a:cs typeface="Calibri" panose="020F0502020204030204"/>
            </a:endParaRPr>
          </a:p>
        </p:txBody>
      </p:sp>
      <p:sp>
        <p:nvSpPr>
          <p:cNvPr id="23" name="object 23"/>
          <p:cNvSpPr txBox="1"/>
          <p:nvPr/>
        </p:nvSpPr>
        <p:spPr>
          <a:xfrm>
            <a:off x="7810500" y="2337816"/>
            <a:ext cx="1117600" cy="337912"/>
          </a:xfrm>
          <a:prstGeom prst="rect">
            <a:avLst/>
          </a:prstGeom>
          <a:ln w="9144">
            <a:solidFill>
              <a:srgbClr val="000000"/>
            </a:solidFill>
          </a:ln>
        </p:spPr>
        <p:txBody>
          <a:bodyPr vert="horz" wrap="square" lIns="0" tIns="29844" rIns="0" bIns="0" rtlCol="0">
            <a:spAutoFit/>
          </a:bodyPr>
          <a:lstStyle/>
          <a:p>
            <a:pPr marL="331470">
              <a:spcBef>
                <a:spcPts val="235"/>
              </a:spcBef>
            </a:pPr>
            <a:r>
              <a:rPr sz="2000" i="1" spc="-5" dirty="0">
                <a:latin typeface="Calibri" panose="020F0502020204030204"/>
                <a:cs typeface="Calibri" panose="020F0502020204030204"/>
              </a:rPr>
              <a:t>with</a:t>
            </a:r>
            <a:endParaRPr sz="2000">
              <a:latin typeface="Calibri" panose="020F0502020204030204"/>
              <a:cs typeface="Calibri" panose="020F0502020204030204"/>
            </a:endParaRPr>
          </a:p>
        </p:txBody>
      </p:sp>
      <p:sp>
        <p:nvSpPr>
          <p:cNvPr id="24" name="object 24"/>
          <p:cNvSpPr txBox="1"/>
          <p:nvPr/>
        </p:nvSpPr>
        <p:spPr>
          <a:xfrm>
            <a:off x="7810500" y="3512820"/>
            <a:ext cx="1117600" cy="337912"/>
          </a:xfrm>
          <a:prstGeom prst="rect">
            <a:avLst/>
          </a:prstGeom>
          <a:ln w="9144">
            <a:solidFill>
              <a:srgbClr val="00AF50"/>
            </a:solidFill>
          </a:ln>
        </p:spPr>
        <p:txBody>
          <a:bodyPr vert="horz" wrap="square" lIns="0" tIns="29844" rIns="0" bIns="0" rtlCol="0">
            <a:spAutoFit/>
          </a:bodyPr>
          <a:lstStyle/>
          <a:p>
            <a:pPr marL="635" algn="ctr">
              <a:spcBef>
                <a:spcPts val="235"/>
              </a:spcBef>
            </a:pPr>
            <a:r>
              <a:rPr sz="2000" i="1" dirty="0">
                <a:solidFill>
                  <a:srgbClr val="00AF50"/>
                </a:solidFill>
                <a:latin typeface="Calibri" panose="020F0502020204030204"/>
                <a:cs typeface="Calibri" panose="020F0502020204030204"/>
              </a:rPr>
              <a:t>a</a:t>
            </a:r>
            <a:endParaRPr sz="2000">
              <a:latin typeface="Calibri" panose="020F0502020204030204"/>
              <a:cs typeface="Calibri" panose="020F0502020204030204"/>
            </a:endParaRPr>
          </a:p>
        </p:txBody>
      </p:sp>
      <p:sp>
        <p:nvSpPr>
          <p:cNvPr id="25" name="object 25"/>
          <p:cNvSpPr txBox="1"/>
          <p:nvPr/>
        </p:nvSpPr>
        <p:spPr>
          <a:xfrm>
            <a:off x="7810500" y="4038601"/>
            <a:ext cx="1117600" cy="337913"/>
          </a:xfrm>
          <a:prstGeom prst="rect">
            <a:avLst/>
          </a:prstGeom>
          <a:ln w="9144">
            <a:solidFill>
              <a:srgbClr val="000000"/>
            </a:solidFill>
          </a:ln>
        </p:spPr>
        <p:txBody>
          <a:bodyPr vert="horz" wrap="square" lIns="0" tIns="29845" rIns="0" bIns="0" rtlCol="0">
            <a:spAutoFit/>
          </a:bodyPr>
          <a:lstStyle/>
          <a:p>
            <a:pPr marL="366395">
              <a:spcBef>
                <a:spcPts val="235"/>
              </a:spcBef>
            </a:pPr>
            <a:r>
              <a:rPr sz="2000" i="1" spc="-5" dirty="0">
                <a:latin typeface="Calibri" panose="020F0502020204030204"/>
                <a:cs typeface="Calibri" panose="020F0502020204030204"/>
              </a:rPr>
              <a:t>one</a:t>
            </a:r>
            <a:endParaRPr sz="2000">
              <a:latin typeface="Calibri" panose="020F0502020204030204"/>
              <a:cs typeface="Calibri" panose="020F0502020204030204"/>
            </a:endParaRPr>
          </a:p>
        </p:txBody>
      </p:sp>
      <p:sp>
        <p:nvSpPr>
          <p:cNvPr id="26" name="object 26"/>
          <p:cNvSpPr/>
          <p:nvPr/>
        </p:nvSpPr>
        <p:spPr>
          <a:xfrm>
            <a:off x="7368160" y="2028443"/>
            <a:ext cx="441959" cy="566420"/>
          </a:xfrm>
          <a:custGeom>
            <a:avLst/>
            <a:gdLst/>
            <a:ahLst/>
            <a:cxnLst/>
            <a:rect l="l" t="t" r="r" b="b"/>
            <a:pathLst>
              <a:path w="441960" h="566419">
                <a:moveTo>
                  <a:pt x="441833" y="0"/>
                </a:moveTo>
                <a:lnTo>
                  <a:pt x="363982" y="34798"/>
                </a:lnTo>
                <a:lnTo>
                  <a:pt x="388543" y="54927"/>
                </a:lnTo>
                <a:lnTo>
                  <a:pt x="0" y="528701"/>
                </a:lnTo>
                <a:lnTo>
                  <a:pt x="4927" y="532701"/>
                </a:lnTo>
                <a:lnTo>
                  <a:pt x="5080" y="539750"/>
                </a:lnTo>
                <a:lnTo>
                  <a:pt x="365658" y="534720"/>
                </a:lnTo>
                <a:lnTo>
                  <a:pt x="366141" y="566420"/>
                </a:lnTo>
                <a:lnTo>
                  <a:pt x="441833" y="527304"/>
                </a:lnTo>
                <a:lnTo>
                  <a:pt x="430517" y="521843"/>
                </a:lnTo>
                <a:lnTo>
                  <a:pt x="364998" y="490220"/>
                </a:lnTo>
                <a:lnTo>
                  <a:pt x="365467" y="522020"/>
                </a:lnTo>
                <a:lnTo>
                  <a:pt x="17957" y="526872"/>
                </a:lnTo>
                <a:lnTo>
                  <a:pt x="398322" y="62928"/>
                </a:lnTo>
                <a:lnTo>
                  <a:pt x="422910" y="83058"/>
                </a:lnTo>
                <a:lnTo>
                  <a:pt x="431558" y="45085"/>
                </a:lnTo>
                <a:lnTo>
                  <a:pt x="441833" y="0"/>
                </a:lnTo>
                <a:close/>
              </a:path>
            </a:pathLst>
          </a:custGeom>
          <a:solidFill>
            <a:srgbClr val="000000"/>
          </a:solidFill>
        </p:spPr>
        <p:txBody>
          <a:bodyPr wrap="square" lIns="0" tIns="0" rIns="0" bIns="0" rtlCol="0"/>
          <a:lstStyle/>
          <a:p>
            <a:endParaRPr/>
          </a:p>
        </p:txBody>
      </p:sp>
      <p:sp>
        <p:nvSpPr>
          <p:cNvPr id="27" name="object 27"/>
          <p:cNvSpPr/>
          <p:nvPr/>
        </p:nvSpPr>
        <p:spPr>
          <a:xfrm>
            <a:off x="7368287" y="3692651"/>
            <a:ext cx="441959" cy="565150"/>
          </a:xfrm>
          <a:custGeom>
            <a:avLst/>
            <a:gdLst/>
            <a:ahLst/>
            <a:cxnLst/>
            <a:rect l="l" t="t" r="r" b="b"/>
            <a:pathLst>
              <a:path w="441960" h="565150">
                <a:moveTo>
                  <a:pt x="441706" y="38100"/>
                </a:moveTo>
                <a:lnTo>
                  <a:pt x="429006" y="31750"/>
                </a:lnTo>
                <a:lnTo>
                  <a:pt x="365506" y="0"/>
                </a:lnTo>
                <a:lnTo>
                  <a:pt x="365506" y="31750"/>
                </a:lnTo>
                <a:lnTo>
                  <a:pt x="4826" y="31750"/>
                </a:lnTo>
                <a:lnTo>
                  <a:pt x="4826" y="38100"/>
                </a:lnTo>
                <a:lnTo>
                  <a:pt x="0" y="42164"/>
                </a:lnTo>
                <a:lnTo>
                  <a:pt x="388150" y="510070"/>
                </a:lnTo>
                <a:lnTo>
                  <a:pt x="363728" y="530352"/>
                </a:lnTo>
                <a:lnTo>
                  <a:pt x="441706" y="564642"/>
                </a:lnTo>
                <a:lnTo>
                  <a:pt x="431190" y="519811"/>
                </a:lnTo>
                <a:lnTo>
                  <a:pt x="422275" y="481711"/>
                </a:lnTo>
                <a:lnTo>
                  <a:pt x="397929" y="501942"/>
                </a:lnTo>
                <a:lnTo>
                  <a:pt x="18288" y="44450"/>
                </a:lnTo>
                <a:lnTo>
                  <a:pt x="365506" y="44450"/>
                </a:lnTo>
                <a:lnTo>
                  <a:pt x="365506" y="76200"/>
                </a:lnTo>
                <a:lnTo>
                  <a:pt x="429006" y="44450"/>
                </a:lnTo>
                <a:lnTo>
                  <a:pt x="441706" y="38100"/>
                </a:lnTo>
                <a:close/>
              </a:path>
            </a:pathLst>
          </a:custGeom>
          <a:solidFill>
            <a:srgbClr val="000000"/>
          </a:solidFill>
        </p:spPr>
        <p:txBody>
          <a:bodyPr wrap="square" lIns="0" tIns="0" rIns="0" bIns="0" rtlCol="0"/>
          <a:lstStyle/>
          <a:p>
            <a:endParaRPr/>
          </a:p>
        </p:txBody>
      </p:sp>
      <p:sp>
        <p:nvSpPr>
          <p:cNvPr id="28" name="object 28"/>
          <p:cNvSpPr txBox="1"/>
          <p:nvPr/>
        </p:nvSpPr>
        <p:spPr>
          <a:xfrm>
            <a:off x="9412223" y="2613661"/>
            <a:ext cx="1117600" cy="337913"/>
          </a:xfrm>
          <a:prstGeom prst="rect">
            <a:avLst/>
          </a:prstGeom>
          <a:ln w="9144">
            <a:solidFill>
              <a:srgbClr val="00AF50"/>
            </a:solidFill>
          </a:ln>
        </p:spPr>
        <p:txBody>
          <a:bodyPr vert="horz" wrap="square" lIns="0" tIns="29845" rIns="0" bIns="0" rtlCol="0">
            <a:spAutoFit/>
          </a:bodyPr>
          <a:lstStyle/>
          <a:p>
            <a:pPr marL="1270" algn="ctr">
              <a:spcBef>
                <a:spcPts val="235"/>
              </a:spcBef>
            </a:pPr>
            <a:r>
              <a:rPr sz="2000" i="1" spc="-5" dirty="0">
                <a:solidFill>
                  <a:srgbClr val="00AF50"/>
                </a:solidFill>
                <a:latin typeface="Calibri" panose="020F0502020204030204"/>
                <a:cs typeface="Calibri" panose="020F0502020204030204"/>
              </a:rPr>
              <a:t>pie</a:t>
            </a:r>
            <a:endParaRPr sz="2000">
              <a:latin typeface="Calibri" panose="020F0502020204030204"/>
              <a:cs typeface="Calibri" panose="020F0502020204030204"/>
            </a:endParaRPr>
          </a:p>
        </p:txBody>
      </p:sp>
      <p:sp>
        <p:nvSpPr>
          <p:cNvPr id="29" name="object 29"/>
          <p:cNvSpPr txBox="1"/>
          <p:nvPr/>
        </p:nvSpPr>
        <p:spPr>
          <a:xfrm>
            <a:off x="9412223" y="3140965"/>
            <a:ext cx="1117600" cy="337271"/>
          </a:xfrm>
          <a:prstGeom prst="rect">
            <a:avLst/>
          </a:prstGeom>
          <a:ln w="9144">
            <a:solidFill>
              <a:srgbClr val="000000"/>
            </a:solidFill>
          </a:ln>
        </p:spPr>
        <p:txBody>
          <a:bodyPr vert="horz" wrap="square" lIns="0" tIns="29209" rIns="0" bIns="0" rtlCol="0">
            <a:spAutoFit/>
          </a:bodyPr>
          <a:lstStyle/>
          <a:p>
            <a:pPr marL="365125">
              <a:spcBef>
                <a:spcPts val="230"/>
              </a:spcBef>
            </a:pPr>
            <a:r>
              <a:rPr sz="2000" i="1" dirty="0">
                <a:latin typeface="Calibri" panose="020F0502020204030204"/>
                <a:cs typeface="Calibri" panose="020F0502020204030204"/>
              </a:rPr>
              <a:t>tart</a:t>
            </a:r>
            <a:endParaRPr sz="2000">
              <a:latin typeface="Calibri" panose="020F0502020204030204"/>
              <a:cs typeface="Calibri" panose="020F0502020204030204"/>
            </a:endParaRPr>
          </a:p>
        </p:txBody>
      </p:sp>
      <p:sp>
        <p:nvSpPr>
          <p:cNvPr id="30" name="object 30"/>
          <p:cNvSpPr txBox="1"/>
          <p:nvPr/>
        </p:nvSpPr>
        <p:spPr>
          <a:xfrm>
            <a:off x="9412223" y="4430268"/>
            <a:ext cx="1117600" cy="337913"/>
          </a:xfrm>
          <a:prstGeom prst="rect">
            <a:avLst/>
          </a:prstGeom>
          <a:ln w="9144">
            <a:solidFill>
              <a:srgbClr val="000000"/>
            </a:solidFill>
          </a:ln>
        </p:spPr>
        <p:txBody>
          <a:bodyPr vert="horz" wrap="square" lIns="0" tIns="29845" rIns="0" bIns="0" rtlCol="0">
            <a:spAutoFit/>
          </a:bodyPr>
          <a:lstStyle/>
          <a:p>
            <a:pPr marL="1270" algn="ctr">
              <a:spcBef>
                <a:spcPts val="235"/>
              </a:spcBef>
            </a:pPr>
            <a:r>
              <a:rPr sz="2000" i="1" spc="-5" dirty="0">
                <a:latin typeface="Calibri" panose="020F0502020204030204"/>
                <a:cs typeface="Calibri" panose="020F0502020204030204"/>
              </a:rPr>
              <a:t>pie</a:t>
            </a:r>
            <a:endParaRPr sz="2000">
              <a:latin typeface="Calibri" panose="020F0502020204030204"/>
              <a:cs typeface="Calibri" panose="020F0502020204030204"/>
            </a:endParaRPr>
          </a:p>
        </p:txBody>
      </p:sp>
      <p:sp>
        <p:nvSpPr>
          <p:cNvPr id="31" name="object 31"/>
          <p:cNvSpPr txBox="1"/>
          <p:nvPr/>
        </p:nvSpPr>
        <p:spPr>
          <a:xfrm>
            <a:off x="9412223" y="4956048"/>
            <a:ext cx="1117600" cy="339195"/>
          </a:xfrm>
          <a:prstGeom prst="rect">
            <a:avLst/>
          </a:prstGeom>
          <a:ln w="9144">
            <a:solidFill>
              <a:srgbClr val="000000"/>
            </a:solidFill>
          </a:ln>
        </p:spPr>
        <p:txBody>
          <a:bodyPr vert="horz" wrap="square" lIns="0" tIns="31115" rIns="0" bIns="0" rtlCol="0">
            <a:spAutoFit/>
          </a:bodyPr>
          <a:lstStyle/>
          <a:p>
            <a:pPr marL="365125">
              <a:spcBef>
                <a:spcPts val="245"/>
              </a:spcBef>
            </a:pPr>
            <a:r>
              <a:rPr sz="2000" i="1" dirty="0">
                <a:latin typeface="Calibri" panose="020F0502020204030204"/>
                <a:cs typeface="Calibri" panose="020F0502020204030204"/>
              </a:rPr>
              <a:t>tart</a:t>
            </a:r>
            <a:endParaRPr sz="2000">
              <a:latin typeface="Calibri" panose="020F0502020204030204"/>
              <a:cs typeface="Calibri" panose="020F0502020204030204"/>
            </a:endParaRPr>
          </a:p>
        </p:txBody>
      </p:sp>
      <p:sp>
        <p:nvSpPr>
          <p:cNvPr id="32" name="object 32"/>
          <p:cNvSpPr/>
          <p:nvPr/>
        </p:nvSpPr>
        <p:spPr>
          <a:xfrm>
            <a:off x="8922005" y="2831592"/>
            <a:ext cx="490855" cy="902969"/>
          </a:xfrm>
          <a:custGeom>
            <a:avLst/>
            <a:gdLst/>
            <a:ahLst/>
            <a:cxnLst/>
            <a:rect l="l" t="t" r="r" b="b"/>
            <a:pathLst>
              <a:path w="490854" h="902970">
                <a:moveTo>
                  <a:pt x="490474" y="0"/>
                </a:moveTo>
                <a:lnTo>
                  <a:pt x="420751" y="49022"/>
                </a:lnTo>
                <a:lnTo>
                  <a:pt x="448716" y="64071"/>
                </a:lnTo>
                <a:lnTo>
                  <a:pt x="0" y="895477"/>
                </a:lnTo>
                <a:lnTo>
                  <a:pt x="6654" y="899109"/>
                </a:lnTo>
                <a:lnTo>
                  <a:pt x="9398" y="902716"/>
                </a:lnTo>
                <a:lnTo>
                  <a:pt x="10998" y="901484"/>
                </a:lnTo>
                <a:lnTo>
                  <a:pt x="11176" y="901573"/>
                </a:lnTo>
                <a:lnTo>
                  <a:pt x="11366" y="901204"/>
                </a:lnTo>
                <a:lnTo>
                  <a:pt x="433946" y="577176"/>
                </a:lnTo>
                <a:lnTo>
                  <a:pt x="453263" y="602361"/>
                </a:lnTo>
                <a:lnTo>
                  <a:pt x="474116" y="559435"/>
                </a:lnTo>
                <a:lnTo>
                  <a:pt x="490474" y="525780"/>
                </a:lnTo>
                <a:lnTo>
                  <a:pt x="406908" y="541909"/>
                </a:lnTo>
                <a:lnTo>
                  <a:pt x="426224" y="567118"/>
                </a:lnTo>
                <a:lnTo>
                  <a:pt x="25996" y="874102"/>
                </a:lnTo>
                <a:lnTo>
                  <a:pt x="459930" y="70104"/>
                </a:lnTo>
                <a:lnTo>
                  <a:pt x="487807" y="85090"/>
                </a:lnTo>
                <a:lnTo>
                  <a:pt x="488810" y="52832"/>
                </a:lnTo>
                <a:lnTo>
                  <a:pt x="490474" y="0"/>
                </a:lnTo>
                <a:close/>
              </a:path>
            </a:pathLst>
          </a:custGeom>
          <a:solidFill>
            <a:srgbClr val="000000"/>
          </a:solidFill>
        </p:spPr>
        <p:txBody>
          <a:bodyPr wrap="square" lIns="0" tIns="0" rIns="0" bIns="0" rtlCol="0"/>
          <a:lstStyle/>
          <a:p>
            <a:endParaRPr/>
          </a:p>
        </p:txBody>
      </p:sp>
      <p:sp>
        <p:nvSpPr>
          <p:cNvPr id="33" name="object 33"/>
          <p:cNvSpPr/>
          <p:nvPr/>
        </p:nvSpPr>
        <p:spPr>
          <a:xfrm>
            <a:off x="8922005" y="4251578"/>
            <a:ext cx="490855" cy="923290"/>
          </a:xfrm>
          <a:custGeom>
            <a:avLst/>
            <a:gdLst/>
            <a:ahLst/>
            <a:cxnLst/>
            <a:rect l="l" t="t" r="r" b="b"/>
            <a:pathLst>
              <a:path w="490854" h="923289">
                <a:moveTo>
                  <a:pt x="490474" y="396367"/>
                </a:moveTo>
                <a:lnTo>
                  <a:pt x="474548" y="361442"/>
                </a:lnTo>
                <a:lnTo>
                  <a:pt x="455168" y="318897"/>
                </a:lnTo>
                <a:lnTo>
                  <a:pt x="435254" y="343573"/>
                </a:lnTo>
                <a:lnTo>
                  <a:pt x="9525" y="0"/>
                </a:lnTo>
                <a:lnTo>
                  <a:pt x="5588" y="4953"/>
                </a:lnTo>
                <a:lnTo>
                  <a:pt x="0" y="7874"/>
                </a:lnTo>
                <a:lnTo>
                  <a:pt x="449326" y="858545"/>
                </a:lnTo>
                <a:lnTo>
                  <a:pt x="421259" y="873379"/>
                </a:lnTo>
                <a:lnTo>
                  <a:pt x="490474" y="922909"/>
                </a:lnTo>
                <a:lnTo>
                  <a:pt x="489280" y="869823"/>
                </a:lnTo>
                <a:lnTo>
                  <a:pt x="488569" y="837819"/>
                </a:lnTo>
                <a:lnTo>
                  <a:pt x="460527" y="852627"/>
                </a:lnTo>
                <a:lnTo>
                  <a:pt x="25501" y="29171"/>
                </a:lnTo>
                <a:lnTo>
                  <a:pt x="427253" y="353479"/>
                </a:lnTo>
                <a:lnTo>
                  <a:pt x="407289" y="378206"/>
                </a:lnTo>
                <a:lnTo>
                  <a:pt x="490474" y="396367"/>
                </a:lnTo>
                <a:close/>
              </a:path>
            </a:pathLst>
          </a:custGeom>
          <a:solidFill>
            <a:srgbClr val="000000"/>
          </a:solidFill>
        </p:spPr>
        <p:txBody>
          <a:bodyPr wrap="square" lIns="0" tIns="0" rIns="0" bIns="0" rtlCol="0"/>
          <a:lstStyle/>
          <a:p>
            <a:endParaRPr/>
          </a:p>
        </p:txBody>
      </p:sp>
      <p:sp>
        <p:nvSpPr>
          <p:cNvPr id="34" name="object 34"/>
          <p:cNvSpPr txBox="1"/>
          <p:nvPr/>
        </p:nvSpPr>
        <p:spPr>
          <a:xfrm>
            <a:off x="1524001" y="4038601"/>
            <a:ext cx="1167765" cy="337913"/>
          </a:xfrm>
          <a:prstGeom prst="rect">
            <a:avLst/>
          </a:prstGeom>
          <a:ln w="9143">
            <a:solidFill>
              <a:srgbClr val="00AF50"/>
            </a:solidFill>
          </a:ln>
        </p:spPr>
        <p:txBody>
          <a:bodyPr vert="horz" wrap="square" lIns="0" tIns="29845" rIns="0" bIns="0" rtlCol="0">
            <a:spAutoFit/>
          </a:bodyPr>
          <a:lstStyle/>
          <a:p>
            <a:pPr marL="131445">
              <a:spcBef>
                <a:spcPts val="235"/>
              </a:spcBef>
            </a:pPr>
            <a:r>
              <a:rPr sz="2000" i="1" spc="-5" dirty="0">
                <a:solidFill>
                  <a:srgbClr val="00AF50"/>
                </a:solidFill>
                <a:latin typeface="Calibri" panose="020F0502020204030204"/>
                <a:cs typeface="Calibri" panose="020F0502020204030204"/>
              </a:rPr>
              <a:t>&lt;START&gt;</a:t>
            </a:r>
            <a:endParaRPr sz="2000">
              <a:latin typeface="Calibri" panose="020F0502020204030204"/>
              <a:cs typeface="Calibri" panose="020F0502020204030204"/>
            </a:endParaRPr>
          </a:p>
        </p:txBody>
      </p:sp>
      <p:sp>
        <p:nvSpPr>
          <p:cNvPr id="35" name="object 35"/>
          <p:cNvSpPr txBox="1"/>
          <p:nvPr/>
        </p:nvSpPr>
        <p:spPr>
          <a:xfrm>
            <a:off x="2308859" y="3107436"/>
            <a:ext cx="571500" cy="337913"/>
          </a:xfrm>
          <a:prstGeom prst="rect">
            <a:avLst/>
          </a:prstGeom>
          <a:ln w="9143">
            <a:solidFill>
              <a:srgbClr val="00AF50"/>
            </a:solidFill>
          </a:ln>
        </p:spPr>
        <p:txBody>
          <a:bodyPr vert="horz" wrap="square" lIns="0" tIns="29845" rIns="0" bIns="0" rtlCol="0">
            <a:spAutoFit/>
          </a:bodyPr>
          <a:lstStyle/>
          <a:p>
            <a:pPr marL="158750">
              <a:spcBef>
                <a:spcPts val="235"/>
              </a:spcBef>
            </a:pPr>
            <a:r>
              <a:rPr sz="2000" i="1" dirty="0">
                <a:solidFill>
                  <a:srgbClr val="00AF50"/>
                </a:solidFill>
                <a:latin typeface="Calibri" panose="020F0502020204030204"/>
                <a:cs typeface="Calibri" panose="020F0502020204030204"/>
              </a:rPr>
              <a:t>he</a:t>
            </a:r>
            <a:endParaRPr sz="2000">
              <a:latin typeface="Calibri" panose="020F0502020204030204"/>
              <a:cs typeface="Calibri" panose="020F0502020204030204"/>
            </a:endParaRPr>
          </a:p>
        </p:txBody>
      </p:sp>
      <p:sp>
        <p:nvSpPr>
          <p:cNvPr id="36" name="object 36"/>
          <p:cNvSpPr txBox="1"/>
          <p:nvPr/>
        </p:nvSpPr>
        <p:spPr>
          <a:xfrm>
            <a:off x="2308859" y="4971289"/>
            <a:ext cx="571500" cy="337271"/>
          </a:xfrm>
          <a:prstGeom prst="rect">
            <a:avLst/>
          </a:prstGeom>
          <a:ln w="9143">
            <a:solidFill>
              <a:srgbClr val="000000"/>
            </a:solidFill>
          </a:ln>
        </p:spPr>
        <p:txBody>
          <a:bodyPr vert="horz" wrap="square" lIns="0" tIns="29209" rIns="0" bIns="0" rtlCol="0">
            <a:spAutoFit/>
          </a:bodyPr>
          <a:lstStyle/>
          <a:p>
            <a:pPr algn="ctr">
              <a:spcBef>
                <a:spcPts val="230"/>
              </a:spcBef>
            </a:pPr>
            <a:r>
              <a:rPr sz="2000" i="1" dirty="0">
                <a:latin typeface="Calibri" panose="020F0502020204030204"/>
                <a:cs typeface="Calibri" panose="020F0502020204030204"/>
              </a:rPr>
              <a:t>I</a:t>
            </a:r>
            <a:endParaRPr sz="2000">
              <a:latin typeface="Calibri" panose="020F0502020204030204"/>
              <a:cs typeface="Calibri" panose="020F0502020204030204"/>
            </a:endParaRPr>
          </a:p>
        </p:txBody>
      </p:sp>
      <p:sp>
        <p:nvSpPr>
          <p:cNvPr id="37" name="object 37"/>
          <p:cNvSpPr/>
          <p:nvPr/>
        </p:nvSpPr>
        <p:spPr>
          <a:xfrm>
            <a:off x="2103158" y="3543300"/>
            <a:ext cx="491490" cy="500380"/>
          </a:xfrm>
          <a:custGeom>
            <a:avLst/>
            <a:gdLst/>
            <a:ahLst/>
            <a:cxnLst/>
            <a:rect l="l" t="t" r="r" b="b"/>
            <a:pathLst>
              <a:path w="491490" h="500379">
                <a:moveTo>
                  <a:pt x="433491" y="49928"/>
                </a:moveTo>
                <a:lnTo>
                  <a:pt x="0" y="491236"/>
                </a:lnTo>
                <a:lnTo>
                  <a:pt x="9067" y="500125"/>
                </a:lnTo>
                <a:lnTo>
                  <a:pt x="442556" y="58822"/>
                </a:lnTo>
                <a:lnTo>
                  <a:pt x="433491" y="49928"/>
                </a:lnTo>
                <a:close/>
              </a:path>
              <a:path w="491490" h="500379">
                <a:moveTo>
                  <a:pt x="478171" y="40894"/>
                </a:moveTo>
                <a:lnTo>
                  <a:pt x="442366" y="40894"/>
                </a:lnTo>
                <a:lnTo>
                  <a:pt x="451434" y="49784"/>
                </a:lnTo>
                <a:lnTo>
                  <a:pt x="442556" y="58822"/>
                </a:lnTo>
                <a:lnTo>
                  <a:pt x="465188" y="81025"/>
                </a:lnTo>
                <a:lnTo>
                  <a:pt x="478171" y="40894"/>
                </a:lnTo>
                <a:close/>
              </a:path>
              <a:path w="491490" h="500379">
                <a:moveTo>
                  <a:pt x="442366" y="40894"/>
                </a:moveTo>
                <a:lnTo>
                  <a:pt x="433491" y="49928"/>
                </a:lnTo>
                <a:lnTo>
                  <a:pt x="442556" y="58822"/>
                </a:lnTo>
                <a:lnTo>
                  <a:pt x="451434" y="49784"/>
                </a:lnTo>
                <a:lnTo>
                  <a:pt x="442366" y="40894"/>
                </a:lnTo>
                <a:close/>
              </a:path>
              <a:path w="491490" h="500379">
                <a:moveTo>
                  <a:pt x="491401" y="0"/>
                </a:moveTo>
                <a:lnTo>
                  <a:pt x="410819" y="27686"/>
                </a:lnTo>
                <a:lnTo>
                  <a:pt x="433491" y="49928"/>
                </a:lnTo>
                <a:lnTo>
                  <a:pt x="442366" y="40894"/>
                </a:lnTo>
                <a:lnTo>
                  <a:pt x="478171" y="40894"/>
                </a:lnTo>
                <a:lnTo>
                  <a:pt x="491401" y="0"/>
                </a:lnTo>
                <a:close/>
              </a:path>
            </a:pathLst>
          </a:custGeom>
          <a:solidFill>
            <a:srgbClr val="000000"/>
          </a:solidFill>
        </p:spPr>
        <p:txBody>
          <a:bodyPr wrap="square" lIns="0" tIns="0" rIns="0" bIns="0" rtlCol="0"/>
          <a:lstStyle/>
          <a:p>
            <a:endParaRPr/>
          </a:p>
        </p:txBody>
      </p:sp>
      <p:sp>
        <p:nvSpPr>
          <p:cNvPr id="38" name="object 38"/>
          <p:cNvSpPr/>
          <p:nvPr/>
        </p:nvSpPr>
        <p:spPr>
          <a:xfrm>
            <a:off x="2103158" y="4470020"/>
            <a:ext cx="491490" cy="501015"/>
          </a:xfrm>
          <a:custGeom>
            <a:avLst/>
            <a:gdLst/>
            <a:ahLst/>
            <a:cxnLst/>
            <a:rect l="l" t="t" r="r" b="b"/>
            <a:pathLst>
              <a:path w="491490" h="501014">
                <a:moveTo>
                  <a:pt x="433458" y="450760"/>
                </a:moveTo>
                <a:lnTo>
                  <a:pt x="410832" y="472947"/>
                </a:lnTo>
                <a:lnTo>
                  <a:pt x="491401" y="500760"/>
                </a:lnTo>
                <a:lnTo>
                  <a:pt x="478211" y="459866"/>
                </a:lnTo>
                <a:lnTo>
                  <a:pt x="442391" y="459866"/>
                </a:lnTo>
                <a:lnTo>
                  <a:pt x="433458" y="450760"/>
                </a:lnTo>
                <a:close/>
              </a:path>
              <a:path w="491490" h="501014">
                <a:moveTo>
                  <a:pt x="442525" y="441869"/>
                </a:moveTo>
                <a:lnTo>
                  <a:pt x="433458" y="450760"/>
                </a:lnTo>
                <a:lnTo>
                  <a:pt x="442391" y="459866"/>
                </a:lnTo>
                <a:lnTo>
                  <a:pt x="451459" y="450976"/>
                </a:lnTo>
                <a:lnTo>
                  <a:pt x="442525" y="441869"/>
                </a:lnTo>
                <a:close/>
              </a:path>
              <a:path w="491490" h="501014">
                <a:moveTo>
                  <a:pt x="465226" y="419607"/>
                </a:moveTo>
                <a:lnTo>
                  <a:pt x="442525" y="441869"/>
                </a:lnTo>
                <a:lnTo>
                  <a:pt x="451459" y="450976"/>
                </a:lnTo>
                <a:lnTo>
                  <a:pt x="442391" y="459866"/>
                </a:lnTo>
                <a:lnTo>
                  <a:pt x="478211" y="459866"/>
                </a:lnTo>
                <a:lnTo>
                  <a:pt x="465226" y="419607"/>
                </a:lnTo>
                <a:close/>
              </a:path>
              <a:path w="491490" h="501014">
                <a:moveTo>
                  <a:pt x="9067" y="0"/>
                </a:moveTo>
                <a:lnTo>
                  <a:pt x="0" y="8889"/>
                </a:lnTo>
                <a:lnTo>
                  <a:pt x="433458" y="450760"/>
                </a:lnTo>
                <a:lnTo>
                  <a:pt x="442525" y="441869"/>
                </a:lnTo>
                <a:lnTo>
                  <a:pt x="9067" y="0"/>
                </a:lnTo>
                <a:close/>
              </a:path>
            </a:pathLst>
          </a:custGeom>
          <a:solidFill>
            <a:srgbClr val="000000"/>
          </a:solidFill>
        </p:spPr>
        <p:txBody>
          <a:bodyPr wrap="square" lIns="0" tIns="0" rIns="0" bIns="0" rtlCol="0"/>
          <a:lstStyle/>
          <a:p>
            <a:endParaRPr/>
          </a:p>
        </p:txBody>
      </p:sp>
      <p:sp>
        <p:nvSpPr>
          <p:cNvPr id="40" name="object 40"/>
          <p:cNvSpPr txBox="1"/>
          <p:nvPr/>
        </p:nvSpPr>
        <p:spPr>
          <a:xfrm>
            <a:off x="2384857" y="2785617"/>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-0.7</a:t>
            </a:r>
            <a:endParaRPr>
              <a:latin typeface="Calibri" panose="020F0502020204030204"/>
              <a:cs typeface="Calibri" panose="020F0502020204030204"/>
            </a:endParaRPr>
          </a:p>
        </p:txBody>
      </p:sp>
      <p:sp>
        <p:nvSpPr>
          <p:cNvPr id="41" name="object 41"/>
          <p:cNvSpPr txBox="1"/>
          <p:nvPr/>
        </p:nvSpPr>
        <p:spPr>
          <a:xfrm>
            <a:off x="2384857" y="5439562"/>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-0.9</a:t>
            </a:r>
            <a:endParaRPr>
              <a:latin typeface="Calibri" panose="020F0502020204030204"/>
              <a:cs typeface="Calibri" panose="020F0502020204030204"/>
            </a:endParaRPr>
          </a:p>
        </p:txBody>
      </p:sp>
      <p:sp>
        <p:nvSpPr>
          <p:cNvPr id="42" name="object 42"/>
          <p:cNvSpPr txBox="1"/>
          <p:nvPr/>
        </p:nvSpPr>
        <p:spPr>
          <a:xfrm>
            <a:off x="3626612" y="4340479"/>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-1.6</a:t>
            </a:r>
            <a:endParaRPr>
              <a:latin typeface="Calibri" panose="020F0502020204030204"/>
              <a:cs typeface="Calibri" panose="020F0502020204030204"/>
            </a:endParaRPr>
          </a:p>
        </p:txBody>
      </p:sp>
      <p:sp>
        <p:nvSpPr>
          <p:cNvPr id="43" name="object 43"/>
          <p:cNvSpPr txBox="1"/>
          <p:nvPr/>
        </p:nvSpPr>
        <p:spPr>
          <a:xfrm>
            <a:off x="3626612" y="5683708"/>
            <a:ext cx="385445" cy="300355"/>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-1.8</a:t>
            </a:r>
            <a:endParaRPr>
              <a:latin typeface="Calibri" panose="020F0502020204030204"/>
              <a:cs typeface="Calibri" panose="020F0502020204030204"/>
            </a:endParaRPr>
          </a:p>
        </p:txBody>
      </p:sp>
      <p:sp>
        <p:nvSpPr>
          <p:cNvPr id="44" name="object 44"/>
          <p:cNvSpPr txBox="1"/>
          <p:nvPr/>
        </p:nvSpPr>
        <p:spPr>
          <a:xfrm>
            <a:off x="3626612" y="2481198"/>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-1.7</a:t>
            </a:r>
            <a:endParaRPr>
              <a:latin typeface="Calibri" panose="020F0502020204030204"/>
              <a:cs typeface="Calibri" panose="020F0502020204030204"/>
            </a:endParaRPr>
          </a:p>
        </p:txBody>
      </p:sp>
      <p:sp>
        <p:nvSpPr>
          <p:cNvPr id="45" name="object 45"/>
          <p:cNvSpPr txBox="1"/>
          <p:nvPr/>
        </p:nvSpPr>
        <p:spPr>
          <a:xfrm>
            <a:off x="3626612" y="3800602"/>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-2.9</a:t>
            </a:r>
            <a:endParaRPr>
              <a:latin typeface="Calibri" panose="020F0502020204030204"/>
              <a:cs typeface="Calibri" panose="020F0502020204030204"/>
            </a:endParaRPr>
          </a:p>
        </p:txBody>
      </p:sp>
      <p:sp>
        <p:nvSpPr>
          <p:cNvPr id="46" name="object 46"/>
          <p:cNvSpPr txBox="1"/>
          <p:nvPr/>
        </p:nvSpPr>
        <p:spPr>
          <a:xfrm>
            <a:off x="5081779" y="3525392"/>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-2.5</a:t>
            </a:r>
            <a:endParaRPr>
              <a:latin typeface="Calibri" panose="020F0502020204030204"/>
              <a:cs typeface="Calibri" panose="020F0502020204030204"/>
            </a:endParaRPr>
          </a:p>
        </p:txBody>
      </p:sp>
      <p:sp>
        <p:nvSpPr>
          <p:cNvPr id="47" name="object 47"/>
          <p:cNvSpPr txBox="1"/>
          <p:nvPr/>
        </p:nvSpPr>
        <p:spPr>
          <a:xfrm>
            <a:off x="5081779" y="2184272"/>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-2.8</a:t>
            </a:r>
            <a:endParaRPr>
              <a:latin typeface="Calibri" panose="020F0502020204030204"/>
              <a:cs typeface="Calibri" panose="020F0502020204030204"/>
            </a:endParaRPr>
          </a:p>
        </p:txBody>
      </p:sp>
      <p:sp>
        <p:nvSpPr>
          <p:cNvPr id="48" name="object 48"/>
          <p:cNvSpPr txBox="1"/>
          <p:nvPr/>
        </p:nvSpPr>
        <p:spPr>
          <a:xfrm>
            <a:off x="5081779" y="5406949"/>
            <a:ext cx="385445" cy="300355"/>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-3.8</a:t>
            </a:r>
            <a:endParaRPr>
              <a:latin typeface="Calibri" panose="020F0502020204030204"/>
              <a:cs typeface="Calibri" panose="020F0502020204030204"/>
            </a:endParaRPr>
          </a:p>
        </p:txBody>
      </p:sp>
      <p:sp>
        <p:nvSpPr>
          <p:cNvPr id="49" name="object 49"/>
          <p:cNvSpPr txBox="1"/>
          <p:nvPr/>
        </p:nvSpPr>
        <p:spPr>
          <a:xfrm>
            <a:off x="5081779" y="4079494"/>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-2.9</a:t>
            </a:r>
            <a:endParaRPr>
              <a:latin typeface="Calibri" panose="020F0502020204030204"/>
              <a:cs typeface="Calibri" panose="020F0502020204030204"/>
            </a:endParaRPr>
          </a:p>
        </p:txBody>
      </p:sp>
      <p:grpSp>
        <p:nvGrpSpPr>
          <p:cNvPr id="65" name="Group 64"/>
          <p:cNvGrpSpPr/>
          <p:nvPr/>
        </p:nvGrpSpPr>
        <p:grpSpPr>
          <a:xfrm>
            <a:off x="1875934" y="646192"/>
            <a:ext cx="8356238" cy="736600"/>
            <a:chOff x="1875934" y="646192"/>
            <a:chExt cx="8356238" cy="736600"/>
          </a:xfrm>
        </p:grpSpPr>
        <p:sp>
          <p:nvSpPr>
            <p:cNvPr id="3" name="object 3"/>
            <p:cNvSpPr txBox="1"/>
            <p:nvPr/>
          </p:nvSpPr>
          <p:spPr>
            <a:xfrm>
              <a:off x="1875934" y="840487"/>
              <a:ext cx="3557126" cy="321242"/>
            </a:xfrm>
            <a:prstGeom prst="rect">
              <a:avLst/>
            </a:prstGeom>
          </p:spPr>
          <p:txBody>
            <a:bodyPr vert="horz" wrap="square" lIns="0" tIns="13335" rIns="0" bIns="0" rtlCol="0">
              <a:spAutoFit/>
            </a:bodyPr>
            <a:lstStyle/>
            <a:p>
              <a:pPr marL="12700">
                <a:spcBef>
                  <a:spcPts val="105"/>
                </a:spcBef>
              </a:pPr>
              <a:r>
                <a:rPr sz="2000" b="1" dirty="0">
                  <a:cs typeface="Calibri" panose="020F0502020204030204"/>
                </a:rPr>
                <a:t>Beam</a:t>
              </a:r>
              <a:r>
                <a:rPr sz="2000" b="1" spc="-10" dirty="0">
                  <a:cs typeface="Calibri" panose="020F0502020204030204"/>
                </a:rPr>
                <a:t> </a:t>
              </a:r>
              <a:r>
                <a:rPr sz="2000" b="1" spc="-5" dirty="0">
                  <a:cs typeface="Calibri" panose="020F0502020204030204"/>
                </a:rPr>
                <a:t>size</a:t>
              </a:r>
              <a:r>
                <a:rPr sz="2000" b="1" dirty="0">
                  <a:cs typeface="Calibri" panose="020F0502020204030204"/>
                </a:rPr>
                <a:t> =</a:t>
              </a:r>
              <a:r>
                <a:rPr sz="2000" b="1" spc="-15" dirty="0">
                  <a:cs typeface="Calibri" panose="020F0502020204030204"/>
                </a:rPr>
                <a:t> </a:t>
              </a:r>
              <a:r>
                <a:rPr sz="2000" b="1" dirty="0">
                  <a:cs typeface="Calibri" panose="020F0502020204030204"/>
                </a:rPr>
                <a:t>k</a:t>
              </a:r>
              <a:r>
                <a:rPr sz="2000" b="1" spc="-10" dirty="0">
                  <a:cs typeface="Calibri" panose="020F0502020204030204"/>
                </a:rPr>
                <a:t> </a:t>
              </a:r>
              <a:r>
                <a:rPr sz="2000" b="1" dirty="0">
                  <a:cs typeface="Calibri" panose="020F0502020204030204"/>
                </a:rPr>
                <a:t>=</a:t>
              </a:r>
              <a:r>
                <a:rPr sz="2000" b="1" spc="-5" dirty="0">
                  <a:cs typeface="Calibri" panose="020F0502020204030204"/>
                </a:rPr>
                <a:t> </a:t>
              </a:r>
              <a:r>
                <a:rPr sz="2000" b="1" dirty="0">
                  <a:cs typeface="Calibri" panose="020F0502020204030204"/>
                </a:rPr>
                <a:t>2</a:t>
              </a:r>
              <a:r>
                <a:rPr sz="2000" dirty="0">
                  <a:cs typeface="Calibri" panose="020F0502020204030204"/>
                </a:rPr>
                <a:t>.</a:t>
              </a:r>
              <a:r>
                <a:rPr sz="2000" spc="-25" dirty="0">
                  <a:cs typeface="Calibri" panose="020F0502020204030204"/>
                </a:rPr>
                <a:t> </a:t>
              </a:r>
              <a:r>
                <a:rPr sz="2000" dirty="0">
                  <a:solidFill>
                    <a:srgbClr val="4285F4"/>
                  </a:solidFill>
                  <a:cs typeface="Calibri" panose="020F0502020204030204"/>
                </a:rPr>
                <a:t>Blue</a:t>
              </a:r>
              <a:r>
                <a:rPr sz="2000" spc="-10" dirty="0">
                  <a:solidFill>
                    <a:srgbClr val="4285F4"/>
                  </a:solidFill>
                  <a:cs typeface="Calibri" panose="020F0502020204030204"/>
                </a:rPr>
                <a:t> </a:t>
              </a:r>
              <a:r>
                <a:rPr sz="2000" dirty="0">
                  <a:solidFill>
                    <a:srgbClr val="4285F4"/>
                  </a:solidFill>
                  <a:cs typeface="Calibri" panose="020F0502020204030204"/>
                </a:rPr>
                <a:t>numbers</a:t>
              </a:r>
              <a:r>
                <a:rPr sz="2000" spc="-5" dirty="0">
                  <a:solidFill>
                    <a:srgbClr val="4285F4"/>
                  </a:solidFill>
                  <a:cs typeface="Calibri" panose="020F0502020204030204"/>
                </a:rPr>
                <a:t> </a:t>
              </a:r>
              <a:r>
                <a:rPr sz="2000" dirty="0">
                  <a:solidFill>
                    <a:srgbClr val="4285F4"/>
                  </a:solidFill>
                  <a:cs typeface="Calibri" panose="020F0502020204030204"/>
                </a:rPr>
                <a:t>=</a:t>
              </a:r>
              <a:endParaRPr sz="2000" dirty="0">
                <a:cs typeface="Calibri" panose="020F0502020204030204"/>
              </a:endParaRPr>
            </a:p>
          </p:txBody>
        </p:sp>
        <p:pic>
          <p:nvPicPr>
            <p:cNvPr id="50" name="object 50"/>
            <p:cNvPicPr/>
            <p:nvPr/>
          </p:nvPicPr>
          <p:blipFill>
            <a:blip r:embed="rId2" cstate="print"/>
            <a:stretch>
              <a:fillRect/>
            </a:stretch>
          </p:blipFill>
          <p:spPr>
            <a:xfrm>
              <a:off x="5415822" y="646192"/>
              <a:ext cx="4816350" cy="736600"/>
            </a:xfrm>
            <a:prstGeom prst="rect">
              <a:avLst/>
            </a:prstGeom>
          </p:spPr>
        </p:pic>
      </p:grpSp>
      <p:sp>
        <p:nvSpPr>
          <p:cNvPr id="51" name="object 51"/>
          <p:cNvSpPr txBox="1"/>
          <p:nvPr/>
        </p:nvSpPr>
        <p:spPr>
          <a:xfrm>
            <a:off x="6609716" y="4482210"/>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-3.5</a:t>
            </a:r>
            <a:endParaRPr>
              <a:latin typeface="Calibri" panose="020F0502020204030204"/>
              <a:cs typeface="Calibri" panose="020F0502020204030204"/>
            </a:endParaRPr>
          </a:p>
        </p:txBody>
      </p:sp>
      <p:sp>
        <p:nvSpPr>
          <p:cNvPr id="52" name="object 52"/>
          <p:cNvSpPr txBox="1"/>
          <p:nvPr/>
        </p:nvSpPr>
        <p:spPr>
          <a:xfrm>
            <a:off x="6609716" y="3208146"/>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-3.3</a:t>
            </a:r>
            <a:endParaRPr>
              <a:latin typeface="Calibri" panose="020F0502020204030204"/>
              <a:cs typeface="Calibri" panose="020F0502020204030204"/>
            </a:endParaRPr>
          </a:p>
        </p:txBody>
      </p:sp>
      <p:sp>
        <p:nvSpPr>
          <p:cNvPr id="53" name="object 53"/>
          <p:cNvSpPr txBox="1"/>
          <p:nvPr/>
        </p:nvSpPr>
        <p:spPr>
          <a:xfrm>
            <a:off x="6609716" y="1455801"/>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-4.0</a:t>
            </a:r>
            <a:endParaRPr>
              <a:latin typeface="Calibri" panose="020F0502020204030204"/>
              <a:cs typeface="Calibri" panose="020F0502020204030204"/>
            </a:endParaRPr>
          </a:p>
        </p:txBody>
      </p:sp>
      <p:sp>
        <p:nvSpPr>
          <p:cNvPr id="54" name="object 54"/>
          <p:cNvSpPr txBox="1"/>
          <p:nvPr/>
        </p:nvSpPr>
        <p:spPr>
          <a:xfrm>
            <a:off x="6609715" y="2762200"/>
            <a:ext cx="386080" cy="300355"/>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-3.4</a:t>
            </a:r>
            <a:endParaRPr>
              <a:latin typeface="Calibri" panose="020F0502020204030204"/>
              <a:cs typeface="Calibri" panose="020F0502020204030204"/>
            </a:endParaRPr>
          </a:p>
        </p:txBody>
      </p:sp>
      <p:sp>
        <p:nvSpPr>
          <p:cNvPr id="55" name="object 55"/>
          <p:cNvSpPr txBox="1"/>
          <p:nvPr/>
        </p:nvSpPr>
        <p:spPr>
          <a:xfrm>
            <a:off x="8197723" y="3201670"/>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-3.7</a:t>
            </a:r>
            <a:endParaRPr>
              <a:latin typeface="Calibri" panose="020F0502020204030204"/>
              <a:cs typeface="Calibri" panose="020F0502020204030204"/>
            </a:endParaRPr>
          </a:p>
        </p:txBody>
      </p:sp>
      <p:sp>
        <p:nvSpPr>
          <p:cNvPr id="56" name="object 56"/>
          <p:cNvSpPr txBox="1"/>
          <p:nvPr/>
        </p:nvSpPr>
        <p:spPr>
          <a:xfrm>
            <a:off x="8197723" y="4484878"/>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-4.3</a:t>
            </a:r>
            <a:endParaRPr>
              <a:latin typeface="Calibri" panose="020F0502020204030204"/>
              <a:cs typeface="Calibri" panose="020F0502020204030204"/>
            </a:endParaRPr>
          </a:p>
        </p:txBody>
      </p:sp>
      <p:sp>
        <p:nvSpPr>
          <p:cNvPr id="57" name="object 57"/>
          <p:cNvSpPr txBox="1"/>
          <p:nvPr/>
        </p:nvSpPr>
        <p:spPr>
          <a:xfrm>
            <a:off x="8197723" y="2775330"/>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-4.5</a:t>
            </a:r>
            <a:endParaRPr>
              <a:latin typeface="Calibri" panose="020F0502020204030204"/>
              <a:cs typeface="Calibri" panose="020F0502020204030204"/>
            </a:endParaRPr>
          </a:p>
        </p:txBody>
      </p:sp>
      <p:sp>
        <p:nvSpPr>
          <p:cNvPr id="58" name="object 58"/>
          <p:cNvSpPr txBox="1"/>
          <p:nvPr/>
        </p:nvSpPr>
        <p:spPr>
          <a:xfrm>
            <a:off x="8197723" y="1436623"/>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-4.8</a:t>
            </a:r>
            <a:endParaRPr>
              <a:latin typeface="Calibri" panose="020F0502020204030204"/>
              <a:cs typeface="Calibri" panose="020F0502020204030204"/>
            </a:endParaRPr>
          </a:p>
        </p:txBody>
      </p:sp>
      <p:sp>
        <p:nvSpPr>
          <p:cNvPr id="59" name="object 59"/>
          <p:cNvSpPr txBox="1"/>
          <p:nvPr/>
        </p:nvSpPr>
        <p:spPr>
          <a:xfrm>
            <a:off x="9757410" y="2290064"/>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-4.3</a:t>
            </a:r>
            <a:endParaRPr>
              <a:latin typeface="Calibri" panose="020F0502020204030204"/>
              <a:cs typeface="Calibri" panose="020F0502020204030204"/>
            </a:endParaRPr>
          </a:p>
        </p:txBody>
      </p:sp>
      <p:sp>
        <p:nvSpPr>
          <p:cNvPr id="60" name="object 60"/>
          <p:cNvSpPr txBox="1"/>
          <p:nvPr/>
        </p:nvSpPr>
        <p:spPr>
          <a:xfrm>
            <a:off x="9757410" y="3586430"/>
            <a:ext cx="385445" cy="300355"/>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-4.6</a:t>
            </a:r>
            <a:endParaRPr>
              <a:latin typeface="Calibri" panose="020F0502020204030204"/>
              <a:cs typeface="Calibri" panose="020F0502020204030204"/>
            </a:endParaRPr>
          </a:p>
        </p:txBody>
      </p:sp>
      <p:sp>
        <p:nvSpPr>
          <p:cNvPr id="61" name="object 61"/>
          <p:cNvSpPr txBox="1"/>
          <p:nvPr/>
        </p:nvSpPr>
        <p:spPr>
          <a:xfrm>
            <a:off x="9757410" y="4112767"/>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-5.0</a:t>
            </a:r>
            <a:endParaRPr>
              <a:latin typeface="Calibri" panose="020F0502020204030204"/>
              <a:cs typeface="Calibri" panose="020F0502020204030204"/>
            </a:endParaRPr>
          </a:p>
        </p:txBody>
      </p:sp>
      <p:sp>
        <p:nvSpPr>
          <p:cNvPr id="62" name="object 62"/>
          <p:cNvSpPr txBox="1"/>
          <p:nvPr/>
        </p:nvSpPr>
        <p:spPr>
          <a:xfrm>
            <a:off x="9757410" y="5398414"/>
            <a:ext cx="385445" cy="299720"/>
          </a:xfrm>
          <a:prstGeom prst="rect">
            <a:avLst/>
          </a:prstGeom>
        </p:spPr>
        <p:txBody>
          <a:bodyPr vert="horz" wrap="square" lIns="0" tIns="12700" rIns="0" bIns="0" rtlCol="0">
            <a:spAutoFit/>
          </a:bodyPr>
          <a:lstStyle/>
          <a:p>
            <a:pPr marL="12700">
              <a:spcBef>
                <a:spcPts val="100"/>
              </a:spcBef>
            </a:pPr>
            <a:r>
              <a:rPr dirty="0">
                <a:solidFill>
                  <a:srgbClr val="4285F4"/>
                </a:solidFill>
                <a:latin typeface="Calibri" panose="020F0502020204030204"/>
                <a:cs typeface="Calibri" panose="020F0502020204030204"/>
              </a:rPr>
              <a:t>-5.3</a:t>
            </a:r>
            <a:endParaRPr>
              <a:latin typeface="Calibri" panose="020F0502020204030204"/>
              <a:cs typeface="Calibri" panose="020F0502020204030204"/>
            </a:endParaRPr>
          </a:p>
        </p:txBody>
      </p:sp>
      <p:sp>
        <p:nvSpPr>
          <p:cNvPr id="63" name="object 63"/>
          <p:cNvSpPr txBox="1"/>
          <p:nvPr/>
        </p:nvSpPr>
        <p:spPr>
          <a:xfrm>
            <a:off x="6717030" y="6294755"/>
            <a:ext cx="4702175" cy="307975"/>
          </a:xfrm>
          <a:prstGeom prst="rect">
            <a:avLst/>
          </a:prstGeom>
          <a:ln w="19811">
            <a:solidFill>
              <a:srgbClr val="BA56BD"/>
            </a:solidFill>
          </a:ln>
        </p:spPr>
        <p:txBody>
          <a:bodyPr vert="horz" wrap="square" lIns="0" tIns="31115" rIns="0" bIns="0" rtlCol="0">
            <a:spAutoFit/>
          </a:bodyPr>
          <a:lstStyle/>
          <a:p>
            <a:pPr marL="108585">
              <a:spcBef>
                <a:spcPts val="245"/>
              </a:spcBef>
            </a:pPr>
            <a:r>
              <a:rPr spc="-10" dirty="0">
                <a:solidFill>
                  <a:srgbClr val="BA56BD"/>
                </a:solidFill>
                <a:cs typeface="Calibri" panose="020F0502020204030204"/>
              </a:rPr>
              <a:t>Backtrack</a:t>
            </a:r>
            <a:r>
              <a:rPr spc="-20" dirty="0">
                <a:solidFill>
                  <a:srgbClr val="BA56BD"/>
                </a:solidFill>
                <a:cs typeface="Calibri" panose="020F0502020204030204"/>
              </a:rPr>
              <a:t> </a:t>
            </a:r>
            <a:r>
              <a:rPr spc="-10" dirty="0">
                <a:solidFill>
                  <a:srgbClr val="BA56BD"/>
                </a:solidFill>
                <a:cs typeface="Calibri" panose="020F0502020204030204"/>
              </a:rPr>
              <a:t>to obtain</a:t>
            </a:r>
            <a:r>
              <a:rPr spc="15" dirty="0">
                <a:solidFill>
                  <a:srgbClr val="BA56BD"/>
                </a:solidFill>
                <a:cs typeface="Calibri" panose="020F0502020204030204"/>
              </a:rPr>
              <a:t> </a:t>
            </a:r>
            <a:r>
              <a:rPr dirty="0">
                <a:solidFill>
                  <a:srgbClr val="BA56BD"/>
                </a:solidFill>
                <a:cs typeface="Calibri" panose="020F0502020204030204"/>
              </a:rPr>
              <a:t>the</a:t>
            </a:r>
            <a:r>
              <a:rPr spc="-5" dirty="0">
                <a:solidFill>
                  <a:srgbClr val="BA56BD"/>
                </a:solidFill>
                <a:cs typeface="Calibri" panose="020F0502020204030204"/>
              </a:rPr>
              <a:t> full</a:t>
            </a:r>
            <a:r>
              <a:rPr spc="5" dirty="0">
                <a:solidFill>
                  <a:srgbClr val="BA56BD"/>
                </a:solidFill>
                <a:cs typeface="Calibri" panose="020F0502020204030204"/>
              </a:rPr>
              <a:t> </a:t>
            </a:r>
            <a:r>
              <a:rPr spc="-5" dirty="0">
                <a:solidFill>
                  <a:srgbClr val="BA56BD"/>
                </a:solidFill>
                <a:cs typeface="Calibri" panose="020F0502020204030204"/>
              </a:rPr>
              <a:t>hypothesis</a:t>
            </a:r>
            <a:endParaRPr>
              <a:cs typeface="Calibri" panose="020F0502020204030204"/>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The importance of exploration (sampling)</a:t>
            </a:r>
            <a:endParaRPr lang="en-IN"/>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74930" y="913130"/>
                <a:ext cx="12055475" cy="2818130"/>
              </a:xfrm>
            </p:spPr>
            <p:txBody>
              <a:bodyPr>
                <a:normAutofit fontScale="90000" lnSpcReduction="20000"/>
              </a:bodyPr>
              <a:lstStyle/>
              <a:p>
                <a:r>
                  <a:rPr lang="en-US"/>
                  <a:t>Given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0</m:t>
                        </m:r>
                      </m:sub>
                    </m:sSub>
                  </m:oMath>
                </a14:m>
                <a:r>
                  <a:rPr lang="en-IN"/>
                  <a:t> or </a:t>
                </a:r>
                <a14:m>
                  <m:oMath xmlns:m="http://schemas.openxmlformats.org/officeDocument/2006/math">
                    <m:sSub>
                      <m:sSubPr>
                        <m:ctrlPr>
                          <a:rPr lang="en-US" b="0" i="1" smtClean="0">
                            <a:latin typeface="Cambria Math" panose="02040503050406030204" pitchFamily="18" charset="0"/>
                          </a:rPr>
                        </m:ctrlPr>
                      </m:sSubPr>
                      <m:e>
                        <m:r>
                          <a:rPr lang="en-US" b="1" i="1" smtClean="0">
                            <a:latin typeface="Cambria Math" panose="02040503050406030204" pitchFamily="18" charset="0"/>
                          </a:rPr>
                          <m:t>𝒈</m:t>
                        </m:r>
                      </m:e>
                      <m:sub>
                        <m:r>
                          <a:rPr lang="en-US" b="0" i="1" smtClean="0">
                            <a:latin typeface="Cambria Math" panose="02040503050406030204" pitchFamily="18" charset="0"/>
                          </a:rPr>
                          <m:t>0</m:t>
                        </m:r>
                      </m:sub>
                    </m:sSub>
                  </m:oMath>
                </a14:m>
                <a:r>
                  <a:rPr lang="en-IN"/>
                  <a:t>, fate of decoder is sealed for ever</a:t>
                </a:r>
              </a:p>
              <a:p>
                <a:r>
                  <a:rPr lang="en-IN"/>
                  <a:t>Decoder cell is poorly trained in the beginning</a:t>
                </a:r>
              </a:p>
              <a:p>
                <a:r>
                  <a:rPr lang="en-IN"/>
                  <a:t>Start with garbage-in, continue with garbage-out</a:t>
                </a:r>
              </a:p>
              <a:p>
                <a:r>
                  <a:rPr lang="en-IN"/>
                  <a:t>Loss gradient signal will take a long time to fix this</a:t>
                </a:r>
              </a:p>
              <a:p>
                <a:r>
                  <a:rPr lang="en-IN">
                    <a:hlinkClick r:id="rId3"/>
                  </a:rPr>
                  <a:t>Teacher forcing</a:t>
                </a:r>
                <a:r>
                  <a:rPr lang="en-IN"/>
                  <a:t> vs. “let student learn by making mistakes”</a:t>
                </a:r>
              </a:p>
            </p:txBody>
          </p:sp>
        </mc:Choice>
        <mc:Fallback xmlns="">
          <p:sp>
            <p:nvSpPr>
              <p:cNvPr id="3" name="Text Placeholder 2"/>
              <p:cNvSpPr>
                <a:spLocks noRot="1" noChangeAspect="1" noMove="1" noResize="1" noEditPoints="1" noAdjustHandles="1" noChangeArrowheads="1" noChangeShapeType="1" noTextEdit="1"/>
              </p:cNvSpPr>
              <p:nvPr>
                <p:ph type="body" idx="1"/>
              </p:nvPr>
            </p:nvSpPr>
            <p:spPr>
              <a:xfrm>
                <a:off x="74930" y="913130"/>
                <a:ext cx="12055475" cy="2818130"/>
              </a:xfrm>
              <a:blipFill rotWithShape="1">
                <a:blip r:embed="rId4"/>
                <a:stretch>
                  <a:fillRect t="-2569"/>
                </a:stretch>
              </a:blipFill>
            </p:spPr>
            <p:txBody>
              <a:bodyPr/>
              <a:lstStyle/>
              <a:p>
                <a:r>
                  <a:rPr lang="en-US" altLang="en-US">
                    <a:noFill/>
                  </a:rPr>
                  <a:t> </a:t>
                </a:r>
              </a:p>
            </p:txBody>
          </p:sp>
        </mc:Fallback>
      </mc:AlternateContent>
      <p:sp>
        <p:nvSpPr>
          <p:cNvPr id="4" name="Rectangle 3"/>
          <p:cNvSpPr/>
          <p:nvPr/>
        </p:nvSpPr>
        <p:spPr>
          <a:xfrm>
            <a:off x="839308" y="5046522"/>
            <a:ext cx="405159" cy="431182"/>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p:cNvSpPr/>
          <p:nvPr/>
        </p:nvSpPr>
        <p:spPr>
          <a:xfrm>
            <a:off x="1664003" y="5046522"/>
            <a:ext cx="405159" cy="431182"/>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p:cNvSpPr/>
          <p:nvPr/>
        </p:nvSpPr>
        <p:spPr>
          <a:xfrm>
            <a:off x="2488698" y="5046522"/>
            <a:ext cx="405159" cy="431182"/>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p:cNvSpPr/>
          <p:nvPr/>
        </p:nvSpPr>
        <p:spPr>
          <a:xfrm>
            <a:off x="4138088" y="5046522"/>
            <a:ext cx="405159" cy="431182"/>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p:cNvSpPr/>
          <p:nvPr/>
        </p:nvSpPr>
        <p:spPr>
          <a:xfrm>
            <a:off x="4962784" y="5046522"/>
            <a:ext cx="405159" cy="431182"/>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p:cNvSpPr/>
          <p:nvPr/>
        </p:nvSpPr>
        <p:spPr>
          <a:xfrm>
            <a:off x="3313393" y="5046522"/>
            <a:ext cx="405159" cy="431182"/>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p:cNvSpPr/>
          <p:nvPr/>
        </p:nvSpPr>
        <p:spPr>
          <a:xfrm>
            <a:off x="6493613" y="5031281"/>
            <a:ext cx="405159" cy="431182"/>
          </a:xfrm>
          <a:prstGeom prst="rect">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p:nvSpPr>
        <p:spPr>
          <a:xfrm>
            <a:off x="7477158" y="5031281"/>
            <a:ext cx="405159" cy="431182"/>
          </a:xfrm>
          <a:prstGeom prst="rect">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p:cNvSpPr/>
          <p:nvPr/>
        </p:nvSpPr>
        <p:spPr>
          <a:xfrm>
            <a:off x="8460703" y="5031281"/>
            <a:ext cx="405159" cy="431182"/>
          </a:xfrm>
          <a:prstGeom prst="rect">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p:cNvSpPr/>
          <p:nvPr/>
        </p:nvSpPr>
        <p:spPr>
          <a:xfrm>
            <a:off x="10427793" y="5031281"/>
            <a:ext cx="405159" cy="431182"/>
          </a:xfrm>
          <a:prstGeom prst="rect">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p:cNvSpPr/>
          <p:nvPr/>
        </p:nvSpPr>
        <p:spPr>
          <a:xfrm>
            <a:off x="11411336" y="5031281"/>
            <a:ext cx="405159" cy="431182"/>
          </a:xfrm>
          <a:prstGeom prst="rect">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p:cNvSpPr/>
          <p:nvPr/>
        </p:nvSpPr>
        <p:spPr>
          <a:xfrm>
            <a:off x="9444248" y="5031281"/>
            <a:ext cx="405159" cy="431182"/>
          </a:xfrm>
          <a:prstGeom prst="rect">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7" name="Straight Arrow Connector 16"/>
          <p:cNvCxnSpPr/>
          <p:nvPr/>
        </p:nvCxnSpPr>
        <p:spPr>
          <a:xfrm>
            <a:off x="1244467" y="5262113"/>
            <a:ext cx="4195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p:cNvCxnSpPr/>
          <p:nvPr/>
        </p:nvCxnSpPr>
        <p:spPr>
          <a:xfrm>
            <a:off x="2069162" y="5262113"/>
            <a:ext cx="4195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p:cNvCxnSpPr/>
          <p:nvPr/>
        </p:nvCxnSpPr>
        <p:spPr>
          <a:xfrm>
            <a:off x="2893857" y="5262113"/>
            <a:ext cx="4195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p:cNvCxnSpPr/>
          <p:nvPr/>
        </p:nvCxnSpPr>
        <p:spPr>
          <a:xfrm>
            <a:off x="3718552" y="5262113"/>
            <a:ext cx="4195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p:cNvCxnSpPr/>
          <p:nvPr/>
        </p:nvCxnSpPr>
        <p:spPr>
          <a:xfrm>
            <a:off x="4543247" y="5262113"/>
            <a:ext cx="41953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 name="TextBox 29"/>
          <p:cNvSpPr txBox="1"/>
          <p:nvPr/>
        </p:nvSpPr>
        <p:spPr>
          <a:xfrm>
            <a:off x="740362" y="6012196"/>
            <a:ext cx="603050" cy="461665"/>
          </a:xfrm>
          <a:prstGeom prst="rect">
            <a:avLst/>
          </a:prstGeom>
          <a:noFill/>
        </p:spPr>
        <p:txBody>
          <a:bodyPr wrap="none" rtlCol="0">
            <a:spAutoFit/>
          </a:bodyPr>
          <a:lstStyle/>
          <a:p>
            <a:r>
              <a:rPr lang="en-US" sz="2400"/>
              <a:t>the</a:t>
            </a:r>
            <a:endParaRPr lang="en-IN" sz="2400"/>
          </a:p>
        </p:txBody>
      </p:sp>
      <p:sp>
        <p:nvSpPr>
          <p:cNvPr id="31" name="TextBox 30"/>
          <p:cNvSpPr txBox="1"/>
          <p:nvPr/>
        </p:nvSpPr>
        <p:spPr>
          <a:xfrm>
            <a:off x="1587018" y="6012196"/>
            <a:ext cx="559127" cy="461665"/>
          </a:xfrm>
          <a:prstGeom prst="rect">
            <a:avLst/>
          </a:prstGeom>
          <a:noFill/>
        </p:spPr>
        <p:txBody>
          <a:bodyPr wrap="none" rtlCol="0">
            <a:spAutoFit/>
          </a:bodyPr>
          <a:lstStyle/>
          <a:p>
            <a:r>
              <a:rPr lang="en-US" sz="2400"/>
              <a:t>cat</a:t>
            </a:r>
            <a:endParaRPr lang="en-IN" sz="2400"/>
          </a:p>
        </p:txBody>
      </p:sp>
      <p:sp>
        <p:nvSpPr>
          <p:cNvPr id="32" name="TextBox 31"/>
          <p:cNvSpPr txBox="1"/>
          <p:nvPr/>
        </p:nvSpPr>
        <p:spPr>
          <a:xfrm>
            <a:off x="2415240" y="6012196"/>
            <a:ext cx="552074" cy="461665"/>
          </a:xfrm>
          <a:prstGeom prst="rect">
            <a:avLst/>
          </a:prstGeom>
          <a:noFill/>
        </p:spPr>
        <p:txBody>
          <a:bodyPr wrap="none" rtlCol="0">
            <a:spAutoFit/>
          </a:bodyPr>
          <a:lstStyle/>
          <a:p>
            <a:r>
              <a:rPr lang="en-US" sz="2400"/>
              <a:t>sat</a:t>
            </a:r>
            <a:endParaRPr lang="en-IN" sz="2400"/>
          </a:p>
        </p:txBody>
      </p:sp>
      <p:sp>
        <p:nvSpPr>
          <p:cNvPr id="33" name="TextBox 32"/>
          <p:cNvSpPr txBox="1"/>
          <p:nvPr/>
        </p:nvSpPr>
        <p:spPr>
          <a:xfrm>
            <a:off x="3261735" y="6012196"/>
            <a:ext cx="508473" cy="461665"/>
          </a:xfrm>
          <a:prstGeom prst="rect">
            <a:avLst/>
          </a:prstGeom>
          <a:noFill/>
        </p:spPr>
        <p:txBody>
          <a:bodyPr wrap="none" rtlCol="0">
            <a:spAutoFit/>
          </a:bodyPr>
          <a:lstStyle/>
          <a:p>
            <a:r>
              <a:rPr lang="en-US" sz="2400"/>
              <a:t>on</a:t>
            </a:r>
            <a:endParaRPr lang="en-IN" sz="2400"/>
          </a:p>
        </p:txBody>
      </p:sp>
      <p:sp>
        <p:nvSpPr>
          <p:cNvPr id="34" name="TextBox 33"/>
          <p:cNvSpPr txBox="1"/>
          <p:nvPr/>
        </p:nvSpPr>
        <p:spPr>
          <a:xfrm>
            <a:off x="4039142" y="6012196"/>
            <a:ext cx="603050" cy="461665"/>
          </a:xfrm>
          <a:prstGeom prst="rect">
            <a:avLst/>
          </a:prstGeom>
          <a:noFill/>
        </p:spPr>
        <p:txBody>
          <a:bodyPr wrap="none" rtlCol="0">
            <a:spAutoFit/>
          </a:bodyPr>
          <a:lstStyle/>
          <a:p>
            <a:r>
              <a:rPr lang="en-US" sz="2400"/>
              <a:t>the</a:t>
            </a:r>
            <a:endParaRPr lang="en-IN" sz="2400"/>
          </a:p>
        </p:txBody>
      </p:sp>
      <p:sp>
        <p:nvSpPr>
          <p:cNvPr id="35" name="TextBox 34"/>
          <p:cNvSpPr txBox="1"/>
          <p:nvPr/>
        </p:nvSpPr>
        <p:spPr>
          <a:xfrm>
            <a:off x="4817769" y="6004408"/>
            <a:ext cx="677108" cy="461665"/>
          </a:xfrm>
          <a:prstGeom prst="rect">
            <a:avLst/>
          </a:prstGeom>
          <a:noFill/>
        </p:spPr>
        <p:txBody>
          <a:bodyPr wrap="none" rtlCol="0">
            <a:spAutoFit/>
          </a:bodyPr>
          <a:lstStyle/>
          <a:p>
            <a:r>
              <a:rPr lang="en-US" sz="2400"/>
              <a:t>mat</a:t>
            </a:r>
            <a:endParaRPr lang="en-IN" sz="2400"/>
          </a:p>
        </p:txBody>
      </p:sp>
      <p:cxnSp>
        <p:nvCxnSpPr>
          <p:cNvPr id="36" name="Straight Arrow Connector 35"/>
          <p:cNvCxnSpPr>
            <a:stCxn id="30" idx="0"/>
            <a:endCxn id="4" idx="2"/>
          </p:cNvCxnSpPr>
          <p:nvPr/>
        </p:nvCxnSpPr>
        <p:spPr>
          <a:xfrm flipV="1">
            <a:off x="1041887" y="5477704"/>
            <a:ext cx="1" cy="5344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9" name="Straight Arrow Connector 38"/>
          <p:cNvCxnSpPr>
            <a:stCxn id="31" idx="0"/>
            <a:endCxn id="5" idx="2"/>
          </p:cNvCxnSpPr>
          <p:nvPr/>
        </p:nvCxnSpPr>
        <p:spPr>
          <a:xfrm flipV="1">
            <a:off x="1866582" y="5477704"/>
            <a:ext cx="1" cy="5344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p:cNvCxnSpPr>
            <a:stCxn id="32" idx="0"/>
            <a:endCxn id="6" idx="2"/>
          </p:cNvCxnSpPr>
          <p:nvPr/>
        </p:nvCxnSpPr>
        <p:spPr>
          <a:xfrm flipV="1">
            <a:off x="2691277" y="5477704"/>
            <a:ext cx="1" cy="5344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p:cNvCxnSpPr>
            <a:stCxn id="33" idx="0"/>
            <a:endCxn id="9" idx="2"/>
          </p:cNvCxnSpPr>
          <p:nvPr/>
        </p:nvCxnSpPr>
        <p:spPr>
          <a:xfrm flipV="1">
            <a:off x="3515972" y="5477704"/>
            <a:ext cx="1" cy="5344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p:cNvCxnSpPr>
            <a:stCxn id="34" idx="0"/>
            <a:endCxn id="7" idx="2"/>
          </p:cNvCxnSpPr>
          <p:nvPr/>
        </p:nvCxnSpPr>
        <p:spPr>
          <a:xfrm flipV="1">
            <a:off x="4340667" y="5477704"/>
            <a:ext cx="1" cy="5344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1" name="Straight Arrow Connector 50"/>
          <p:cNvCxnSpPr>
            <a:stCxn id="35" idx="0"/>
            <a:endCxn id="8" idx="2"/>
          </p:cNvCxnSpPr>
          <p:nvPr/>
        </p:nvCxnSpPr>
        <p:spPr>
          <a:xfrm flipV="1">
            <a:off x="5156323" y="5477704"/>
            <a:ext cx="9041" cy="52670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6" name="TextBox 55"/>
              <p:cNvSpPr txBox="1"/>
              <p:nvPr/>
            </p:nvSpPr>
            <p:spPr>
              <a:xfrm>
                <a:off x="89116" y="5077447"/>
                <a:ext cx="40549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1" i="1" smtClean="0">
                              <a:latin typeface="Cambria Math" panose="02040503050406030204" pitchFamily="18" charset="0"/>
                            </a:rPr>
                            <m:t>𝒉</m:t>
                          </m:r>
                        </m:e>
                        <m:sub>
                          <m:r>
                            <a:rPr lang="en-US" sz="2400" b="0" i="1" smtClean="0">
                              <a:latin typeface="Cambria Math" panose="02040503050406030204" pitchFamily="18" charset="0"/>
                            </a:rPr>
                            <m:t>0</m:t>
                          </m:r>
                        </m:sub>
                      </m:sSub>
                    </m:oMath>
                  </m:oMathPara>
                </a14:m>
                <a:endParaRPr lang="en-IN" sz="2400"/>
              </a:p>
            </p:txBody>
          </p:sp>
        </mc:Choice>
        <mc:Fallback xmlns="">
          <p:sp>
            <p:nvSpPr>
              <p:cNvPr id="56" name="TextBox 55"/>
              <p:cNvSpPr txBox="1">
                <a:spLocks noRot="1" noChangeAspect="1" noMove="1" noResize="1" noEditPoints="1" noAdjustHandles="1" noChangeArrowheads="1" noChangeShapeType="1" noTextEdit="1"/>
              </p:cNvSpPr>
              <p:nvPr/>
            </p:nvSpPr>
            <p:spPr>
              <a:xfrm>
                <a:off x="89116" y="5077447"/>
                <a:ext cx="405496" cy="369332"/>
              </a:xfrm>
              <a:prstGeom prst="rect">
                <a:avLst/>
              </a:prstGeom>
              <a:blipFill rotWithShape="1">
                <a:blip r:embed="rId5"/>
                <a:stretch>
                  <a:fillRect l="-53" t="-168" r="-16926" b="104"/>
                </a:stretch>
              </a:blipFill>
            </p:spPr>
            <p:txBody>
              <a:bodyPr/>
              <a:lstStyle/>
              <a:p>
                <a:r>
                  <a:rPr lang="en-US" altLang="en-US">
                    <a:noFill/>
                  </a:rPr>
                  <a:t> </a:t>
                </a:r>
              </a:p>
            </p:txBody>
          </p:sp>
        </mc:Fallback>
      </mc:AlternateContent>
      <p:cxnSp>
        <p:nvCxnSpPr>
          <p:cNvPr id="57" name="Straight Arrow Connector 56"/>
          <p:cNvCxnSpPr>
            <a:stCxn id="56" idx="3"/>
            <a:endCxn id="4" idx="1"/>
          </p:cNvCxnSpPr>
          <p:nvPr/>
        </p:nvCxnSpPr>
        <p:spPr>
          <a:xfrm>
            <a:off x="494612" y="5262113"/>
            <a:ext cx="34469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1" name="Straight Arrow Connector 60"/>
          <p:cNvCxnSpPr>
            <a:stCxn id="8" idx="3"/>
            <a:endCxn id="10" idx="1"/>
          </p:cNvCxnSpPr>
          <p:nvPr/>
        </p:nvCxnSpPr>
        <p:spPr>
          <a:xfrm flipV="1">
            <a:off x="5367943" y="5246872"/>
            <a:ext cx="1125670" cy="1524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5" name="TextBox 64"/>
              <p:cNvSpPr txBox="1"/>
              <p:nvPr/>
            </p:nvSpPr>
            <p:spPr>
              <a:xfrm>
                <a:off x="5584731" y="5341891"/>
                <a:ext cx="734624" cy="7386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1" i="1" smtClean="0">
                              <a:latin typeface="Cambria Math" panose="02040503050406030204" pitchFamily="18" charset="0"/>
                            </a:rPr>
                            <m:t>𝒉</m:t>
                          </m:r>
                        </m:e>
                        <m:sub>
                          <m:r>
                            <a:rPr lang="en-US" sz="2400" b="0" i="1" smtClean="0">
                              <a:latin typeface="Cambria Math" panose="02040503050406030204" pitchFamily="18" charset="0"/>
                            </a:rPr>
                            <m:t>𝑇</m:t>
                          </m:r>
                        </m:sub>
                      </m:sSub>
                    </m:oMath>
                    <m:oMath xmlns:m="http://schemas.openxmlformats.org/officeDocument/2006/math">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1" i="1" smtClean="0">
                              <a:latin typeface="Cambria Math" panose="02040503050406030204" pitchFamily="18" charset="0"/>
                            </a:rPr>
                            <m:t>𝒈</m:t>
                          </m:r>
                        </m:e>
                        <m:sub>
                          <m:r>
                            <a:rPr lang="en-US" sz="2400" b="0" i="1" smtClean="0">
                              <a:latin typeface="Cambria Math" panose="02040503050406030204" pitchFamily="18" charset="0"/>
                            </a:rPr>
                            <m:t>0</m:t>
                          </m:r>
                        </m:sub>
                      </m:sSub>
                    </m:oMath>
                  </m:oMathPara>
                </a14:m>
                <a:endParaRPr lang="en-IN" sz="2400"/>
              </a:p>
            </p:txBody>
          </p:sp>
        </mc:Choice>
        <mc:Fallback xmlns="">
          <p:sp>
            <p:nvSpPr>
              <p:cNvPr id="65" name="TextBox 64"/>
              <p:cNvSpPr txBox="1">
                <a:spLocks noRot="1" noChangeAspect="1" noMove="1" noResize="1" noEditPoints="1" noAdjustHandles="1" noChangeArrowheads="1" noChangeShapeType="1" noTextEdit="1"/>
              </p:cNvSpPr>
              <p:nvPr/>
            </p:nvSpPr>
            <p:spPr>
              <a:xfrm>
                <a:off x="5584731" y="5341891"/>
                <a:ext cx="734624" cy="738664"/>
              </a:xfrm>
              <a:prstGeom prst="rect">
                <a:avLst/>
              </a:prstGeom>
              <a:blipFill rotWithShape="1">
                <a:blip r:embed="rId6"/>
                <a:stretch>
                  <a:fillRect l="-74" t="-37" r="-10136" b="58"/>
                </a:stretch>
              </a:blipFill>
            </p:spPr>
            <p:txBody>
              <a:bodyPr/>
              <a:lstStyle/>
              <a:p>
                <a:r>
                  <a:rPr lang="en-US" altLang="en-US">
                    <a:noFill/>
                  </a:rPr>
                  <a:t> </a:t>
                </a:r>
              </a:p>
            </p:txBody>
          </p:sp>
        </mc:Fallback>
      </mc:AlternateContent>
      <p:cxnSp>
        <p:nvCxnSpPr>
          <p:cNvPr id="66" name="Straight Arrow Connector 65"/>
          <p:cNvCxnSpPr>
            <a:stCxn id="10" idx="3"/>
            <a:endCxn id="11" idx="1"/>
          </p:cNvCxnSpPr>
          <p:nvPr/>
        </p:nvCxnSpPr>
        <p:spPr>
          <a:xfrm>
            <a:off x="6898772" y="5246872"/>
            <a:ext cx="57838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9" name="Straight Arrow Connector 68"/>
          <p:cNvCxnSpPr>
            <a:stCxn id="11" idx="3"/>
            <a:endCxn id="12" idx="1"/>
          </p:cNvCxnSpPr>
          <p:nvPr/>
        </p:nvCxnSpPr>
        <p:spPr>
          <a:xfrm>
            <a:off x="7882317" y="5246872"/>
            <a:ext cx="57838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2" name="Straight Arrow Connector 71"/>
          <p:cNvCxnSpPr>
            <a:stCxn id="12" idx="3"/>
            <a:endCxn id="15" idx="1"/>
          </p:cNvCxnSpPr>
          <p:nvPr/>
        </p:nvCxnSpPr>
        <p:spPr>
          <a:xfrm>
            <a:off x="8865862" y="5246872"/>
            <a:ext cx="57838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6" name="Straight Arrow Connector 75"/>
          <p:cNvCxnSpPr>
            <a:stCxn id="15" idx="3"/>
            <a:endCxn id="13" idx="1"/>
          </p:cNvCxnSpPr>
          <p:nvPr/>
        </p:nvCxnSpPr>
        <p:spPr>
          <a:xfrm>
            <a:off x="9849407" y="5246872"/>
            <a:ext cx="57838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9" name="Straight Arrow Connector 78"/>
          <p:cNvCxnSpPr>
            <a:stCxn id="13" idx="3"/>
            <a:endCxn id="14" idx="1"/>
          </p:cNvCxnSpPr>
          <p:nvPr/>
        </p:nvCxnSpPr>
        <p:spPr>
          <a:xfrm>
            <a:off x="10832952" y="5246872"/>
            <a:ext cx="57838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2" name="TextBox 81"/>
          <p:cNvSpPr txBox="1"/>
          <p:nvPr/>
        </p:nvSpPr>
        <p:spPr>
          <a:xfrm>
            <a:off x="6269389" y="4308416"/>
            <a:ext cx="843372" cy="369332"/>
          </a:xfrm>
          <a:prstGeom prst="rect">
            <a:avLst/>
          </a:prstGeom>
          <a:noFill/>
        </p:spPr>
        <p:txBody>
          <a:bodyPr wrap="none" tIns="0" bIns="0" rtlCol="0">
            <a:spAutoFit/>
          </a:bodyPr>
          <a:lstStyle/>
          <a:p>
            <a:r>
              <a:rPr lang="de-DE" sz="2400"/>
              <a:t>Mary</a:t>
            </a:r>
            <a:endParaRPr lang="en-IN" sz="2400"/>
          </a:p>
        </p:txBody>
      </p:sp>
      <p:sp>
        <p:nvSpPr>
          <p:cNvPr id="83" name="TextBox 82"/>
          <p:cNvSpPr txBox="1"/>
          <p:nvPr/>
        </p:nvSpPr>
        <p:spPr>
          <a:xfrm>
            <a:off x="7249755" y="4308416"/>
            <a:ext cx="842538" cy="369332"/>
          </a:xfrm>
          <a:prstGeom prst="rect">
            <a:avLst/>
          </a:prstGeom>
          <a:noFill/>
        </p:spPr>
        <p:txBody>
          <a:bodyPr wrap="none" tIns="0" bIns="0" rtlCol="0">
            <a:spAutoFit/>
          </a:bodyPr>
          <a:lstStyle/>
          <a:p>
            <a:r>
              <a:rPr lang="de-DE" sz="2400"/>
              <a:t>hatte</a:t>
            </a:r>
            <a:endParaRPr lang="en-IN" sz="2400"/>
          </a:p>
        </p:txBody>
      </p:sp>
      <p:sp>
        <p:nvSpPr>
          <p:cNvPr id="84" name="TextBox 83"/>
          <p:cNvSpPr txBox="1"/>
          <p:nvPr/>
        </p:nvSpPr>
        <p:spPr>
          <a:xfrm>
            <a:off x="8363317" y="4308416"/>
            <a:ext cx="570990" cy="369332"/>
          </a:xfrm>
          <a:prstGeom prst="rect">
            <a:avLst/>
          </a:prstGeom>
          <a:noFill/>
        </p:spPr>
        <p:txBody>
          <a:bodyPr wrap="none" tIns="0" bIns="0" rtlCol="0">
            <a:spAutoFit/>
          </a:bodyPr>
          <a:lstStyle/>
          <a:p>
            <a:r>
              <a:rPr lang="de-DE" sz="2400"/>
              <a:t>ein</a:t>
            </a:r>
            <a:endParaRPr lang="en-IN" sz="2400"/>
          </a:p>
        </p:txBody>
      </p:sp>
      <p:sp>
        <p:nvSpPr>
          <p:cNvPr id="85" name="TextBox 84"/>
          <p:cNvSpPr txBox="1"/>
          <p:nvPr/>
        </p:nvSpPr>
        <p:spPr>
          <a:xfrm>
            <a:off x="9083503" y="4308416"/>
            <a:ext cx="1055097" cy="369332"/>
          </a:xfrm>
          <a:prstGeom prst="rect">
            <a:avLst/>
          </a:prstGeom>
          <a:noFill/>
        </p:spPr>
        <p:txBody>
          <a:bodyPr wrap="none" tIns="0" bIns="0" rtlCol="0">
            <a:spAutoFit/>
          </a:bodyPr>
          <a:lstStyle/>
          <a:p>
            <a:r>
              <a:rPr lang="de-DE" sz="2400"/>
              <a:t>kleines</a:t>
            </a:r>
            <a:endParaRPr lang="en-IN" sz="2400"/>
          </a:p>
        </p:txBody>
      </p:sp>
      <p:sp>
        <p:nvSpPr>
          <p:cNvPr id="86" name="TextBox 85"/>
          <p:cNvSpPr txBox="1"/>
          <p:nvPr/>
        </p:nvSpPr>
        <p:spPr>
          <a:xfrm>
            <a:off x="10179405" y="4308416"/>
            <a:ext cx="893193" cy="369332"/>
          </a:xfrm>
          <a:prstGeom prst="rect">
            <a:avLst/>
          </a:prstGeom>
          <a:noFill/>
        </p:spPr>
        <p:txBody>
          <a:bodyPr wrap="none" tIns="0" bIns="0" rtlCol="0">
            <a:spAutoFit/>
          </a:bodyPr>
          <a:lstStyle/>
          <a:p>
            <a:r>
              <a:rPr lang="de-DE" sz="2400"/>
              <a:t>lamm</a:t>
            </a:r>
            <a:endParaRPr lang="en-IN" sz="2400"/>
          </a:p>
        </p:txBody>
      </p:sp>
      <p:sp>
        <p:nvSpPr>
          <p:cNvPr id="87" name="TextBox 86"/>
          <p:cNvSpPr txBox="1"/>
          <p:nvPr/>
        </p:nvSpPr>
        <p:spPr>
          <a:xfrm>
            <a:off x="11151837" y="4308416"/>
            <a:ext cx="912429" cy="369332"/>
          </a:xfrm>
          <a:prstGeom prst="rect">
            <a:avLst/>
          </a:prstGeom>
          <a:noFill/>
          <a:effectLst>
            <a:glow rad="139700">
              <a:schemeClr val="accent2">
                <a:satMod val="175000"/>
                <a:alpha val="40000"/>
              </a:schemeClr>
            </a:glow>
          </a:effectLst>
        </p:spPr>
        <p:txBody>
          <a:bodyPr wrap="none" tIns="0" bIns="0" rtlCol="0">
            <a:spAutoFit/>
          </a:bodyPr>
          <a:lstStyle/>
          <a:p>
            <a:r>
              <a:rPr lang="en-US" sz="2400">
                <a:effectLst>
                  <a:glow rad="139700">
                    <a:schemeClr val="accent2">
                      <a:satMod val="175000"/>
                      <a:alpha val="40000"/>
                    </a:schemeClr>
                  </a:glow>
                </a:effectLst>
              </a:rPr>
              <a:t>[END]</a:t>
            </a:r>
            <a:endParaRPr lang="en-IN" sz="2400">
              <a:effectLst>
                <a:glow rad="139700">
                  <a:schemeClr val="accent2">
                    <a:satMod val="175000"/>
                    <a:alpha val="40000"/>
                  </a:schemeClr>
                </a:glow>
              </a:effectLst>
            </a:endParaRPr>
          </a:p>
        </p:txBody>
      </p:sp>
      <p:cxnSp>
        <p:nvCxnSpPr>
          <p:cNvPr id="88" name="Straight Arrow Connector 87"/>
          <p:cNvCxnSpPr>
            <a:stCxn id="10" idx="0"/>
            <a:endCxn id="82" idx="2"/>
          </p:cNvCxnSpPr>
          <p:nvPr/>
        </p:nvCxnSpPr>
        <p:spPr>
          <a:xfrm flipH="1" flipV="1">
            <a:off x="6691075" y="4677748"/>
            <a:ext cx="5118" cy="3535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1" name="Straight Arrow Connector 90"/>
          <p:cNvCxnSpPr>
            <a:stCxn id="11" idx="0"/>
            <a:endCxn id="83" idx="2"/>
          </p:cNvCxnSpPr>
          <p:nvPr/>
        </p:nvCxnSpPr>
        <p:spPr>
          <a:xfrm flipH="1" flipV="1">
            <a:off x="7671024" y="4677748"/>
            <a:ext cx="8714" cy="3535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5" name="Straight Arrow Connector 94"/>
          <p:cNvCxnSpPr>
            <a:stCxn id="12" idx="0"/>
            <a:endCxn id="84" idx="2"/>
          </p:cNvCxnSpPr>
          <p:nvPr/>
        </p:nvCxnSpPr>
        <p:spPr>
          <a:xfrm flipH="1" flipV="1">
            <a:off x="8648812" y="4677748"/>
            <a:ext cx="14471" cy="3535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8" name="Straight Arrow Connector 97"/>
          <p:cNvCxnSpPr>
            <a:stCxn id="15" idx="0"/>
            <a:endCxn id="85" idx="2"/>
          </p:cNvCxnSpPr>
          <p:nvPr/>
        </p:nvCxnSpPr>
        <p:spPr>
          <a:xfrm flipH="1" flipV="1">
            <a:off x="9611052" y="4677748"/>
            <a:ext cx="35776" cy="3535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1" name="Straight Arrow Connector 100"/>
          <p:cNvCxnSpPr>
            <a:stCxn id="13" idx="0"/>
            <a:endCxn id="86" idx="2"/>
          </p:cNvCxnSpPr>
          <p:nvPr/>
        </p:nvCxnSpPr>
        <p:spPr>
          <a:xfrm flipH="1" flipV="1">
            <a:off x="10626002" y="4677748"/>
            <a:ext cx="4371" cy="3535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5" name="Straight Arrow Connector 104"/>
          <p:cNvCxnSpPr>
            <a:stCxn id="14" idx="0"/>
            <a:endCxn id="87" idx="2"/>
          </p:cNvCxnSpPr>
          <p:nvPr/>
        </p:nvCxnSpPr>
        <p:spPr>
          <a:xfrm flipH="1" flipV="1">
            <a:off x="11608052" y="4677748"/>
            <a:ext cx="5864" cy="3535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8" name="TextBox 107"/>
          <p:cNvSpPr txBox="1"/>
          <p:nvPr/>
        </p:nvSpPr>
        <p:spPr>
          <a:xfrm>
            <a:off x="2396297" y="4357545"/>
            <a:ext cx="1608197" cy="523220"/>
          </a:xfrm>
          <a:prstGeom prst="rect">
            <a:avLst/>
          </a:prstGeom>
          <a:noFill/>
        </p:spPr>
        <p:txBody>
          <a:bodyPr wrap="none" rtlCol="0">
            <a:spAutoFit/>
          </a:bodyPr>
          <a:lstStyle/>
          <a:p>
            <a:r>
              <a:rPr lang="en-US" sz="2800">
                <a:solidFill>
                  <a:schemeClr val="bg1">
                    <a:lumMod val="85000"/>
                  </a:schemeClr>
                </a:solidFill>
              </a:rPr>
              <a:t>ENCODER</a:t>
            </a:r>
            <a:endParaRPr lang="en-IN" sz="2800">
              <a:solidFill>
                <a:schemeClr val="bg1">
                  <a:lumMod val="85000"/>
                </a:schemeClr>
              </a:solidFill>
            </a:endParaRPr>
          </a:p>
        </p:txBody>
      </p:sp>
      <p:sp>
        <p:nvSpPr>
          <p:cNvPr id="58" name="TextBox 57"/>
          <p:cNvSpPr txBox="1"/>
          <p:nvPr/>
        </p:nvSpPr>
        <p:spPr>
          <a:xfrm>
            <a:off x="7269965" y="6150029"/>
            <a:ext cx="843372" cy="461665"/>
          </a:xfrm>
          <a:prstGeom prst="rect">
            <a:avLst/>
          </a:prstGeom>
          <a:noFill/>
        </p:spPr>
        <p:txBody>
          <a:bodyPr wrap="none" rtlCol="0">
            <a:spAutoFit/>
          </a:bodyPr>
          <a:lstStyle/>
          <a:p>
            <a:r>
              <a:rPr lang="de-DE" sz="2400"/>
              <a:t>Mary</a:t>
            </a:r>
            <a:endParaRPr lang="en-IN" sz="2400"/>
          </a:p>
        </p:txBody>
      </p:sp>
      <p:sp>
        <p:nvSpPr>
          <p:cNvPr id="59" name="TextBox 58"/>
          <p:cNvSpPr txBox="1"/>
          <p:nvPr/>
        </p:nvSpPr>
        <p:spPr>
          <a:xfrm>
            <a:off x="8227543" y="6132689"/>
            <a:ext cx="842538" cy="461665"/>
          </a:xfrm>
          <a:prstGeom prst="rect">
            <a:avLst/>
          </a:prstGeom>
          <a:noFill/>
        </p:spPr>
        <p:txBody>
          <a:bodyPr wrap="none" rtlCol="0">
            <a:spAutoFit/>
          </a:bodyPr>
          <a:lstStyle/>
          <a:p>
            <a:r>
              <a:rPr lang="de-DE" sz="2400"/>
              <a:t>hatte</a:t>
            </a:r>
            <a:endParaRPr lang="en-IN" sz="2400"/>
          </a:p>
        </p:txBody>
      </p:sp>
      <p:sp>
        <p:nvSpPr>
          <p:cNvPr id="60" name="TextBox 59"/>
          <p:cNvSpPr txBox="1"/>
          <p:nvPr/>
        </p:nvSpPr>
        <p:spPr>
          <a:xfrm>
            <a:off x="9380785" y="6107248"/>
            <a:ext cx="570990" cy="461665"/>
          </a:xfrm>
          <a:prstGeom prst="rect">
            <a:avLst/>
          </a:prstGeom>
          <a:noFill/>
        </p:spPr>
        <p:txBody>
          <a:bodyPr wrap="none" rtlCol="0">
            <a:spAutoFit/>
          </a:bodyPr>
          <a:lstStyle/>
          <a:p>
            <a:r>
              <a:rPr lang="de-DE" sz="2400"/>
              <a:t>ein</a:t>
            </a:r>
            <a:endParaRPr lang="en-IN" sz="2400"/>
          </a:p>
        </p:txBody>
      </p:sp>
      <p:sp>
        <p:nvSpPr>
          <p:cNvPr id="62" name="TextBox 61"/>
          <p:cNvSpPr txBox="1"/>
          <p:nvPr/>
        </p:nvSpPr>
        <p:spPr>
          <a:xfrm>
            <a:off x="10106359" y="6107248"/>
            <a:ext cx="1055097" cy="461665"/>
          </a:xfrm>
          <a:prstGeom prst="rect">
            <a:avLst/>
          </a:prstGeom>
          <a:noFill/>
        </p:spPr>
        <p:txBody>
          <a:bodyPr wrap="none" rtlCol="0">
            <a:spAutoFit/>
          </a:bodyPr>
          <a:lstStyle/>
          <a:p>
            <a:r>
              <a:rPr lang="de-DE" sz="2400"/>
              <a:t>kleines</a:t>
            </a:r>
            <a:endParaRPr lang="en-IN" sz="2400"/>
          </a:p>
        </p:txBody>
      </p:sp>
      <p:sp>
        <p:nvSpPr>
          <p:cNvPr id="63" name="TextBox 62"/>
          <p:cNvSpPr txBox="1"/>
          <p:nvPr/>
        </p:nvSpPr>
        <p:spPr>
          <a:xfrm>
            <a:off x="11161456" y="6109566"/>
            <a:ext cx="893193" cy="461665"/>
          </a:xfrm>
          <a:prstGeom prst="rect">
            <a:avLst/>
          </a:prstGeom>
          <a:noFill/>
        </p:spPr>
        <p:txBody>
          <a:bodyPr wrap="none" rtlCol="0">
            <a:spAutoFit/>
          </a:bodyPr>
          <a:lstStyle/>
          <a:p>
            <a:r>
              <a:rPr lang="de-DE" sz="2400"/>
              <a:t>lamm</a:t>
            </a:r>
            <a:endParaRPr lang="en-IN" sz="2400"/>
          </a:p>
        </p:txBody>
      </p:sp>
      <p:cxnSp>
        <p:nvCxnSpPr>
          <p:cNvPr id="67" name="Straight Arrow Connector 66"/>
          <p:cNvCxnSpPr>
            <a:stCxn id="58" idx="0"/>
            <a:endCxn id="11" idx="2"/>
          </p:cNvCxnSpPr>
          <p:nvPr/>
        </p:nvCxnSpPr>
        <p:spPr>
          <a:xfrm flipH="1" flipV="1">
            <a:off x="7679738" y="5462463"/>
            <a:ext cx="11913" cy="6875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8" name="Straight Arrow Connector 67"/>
          <p:cNvCxnSpPr>
            <a:stCxn id="59" idx="0"/>
            <a:endCxn id="12" idx="2"/>
          </p:cNvCxnSpPr>
          <p:nvPr/>
        </p:nvCxnSpPr>
        <p:spPr>
          <a:xfrm flipV="1">
            <a:off x="8648812" y="5462463"/>
            <a:ext cx="14471" cy="67022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0" name="Straight Arrow Connector 69"/>
          <p:cNvCxnSpPr>
            <a:stCxn id="60" idx="0"/>
            <a:endCxn id="15" idx="2"/>
          </p:cNvCxnSpPr>
          <p:nvPr/>
        </p:nvCxnSpPr>
        <p:spPr>
          <a:xfrm flipH="1" flipV="1">
            <a:off x="9646828" y="5462463"/>
            <a:ext cx="19452" cy="64478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3" name="Straight Arrow Connector 72"/>
          <p:cNvCxnSpPr>
            <a:stCxn id="62" idx="0"/>
            <a:endCxn id="13" idx="2"/>
          </p:cNvCxnSpPr>
          <p:nvPr/>
        </p:nvCxnSpPr>
        <p:spPr>
          <a:xfrm flipH="1" flipV="1">
            <a:off x="10630373" y="5462463"/>
            <a:ext cx="3535" cy="64478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7" name="Straight Arrow Connector 76"/>
          <p:cNvCxnSpPr>
            <a:stCxn id="63" idx="0"/>
            <a:endCxn id="14" idx="2"/>
          </p:cNvCxnSpPr>
          <p:nvPr/>
        </p:nvCxnSpPr>
        <p:spPr>
          <a:xfrm flipV="1">
            <a:off x="11608053" y="5462463"/>
            <a:ext cx="5863" cy="64710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3" name="Straight Connector 42"/>
          <p:cNvCxnSpPr>
            <a:stCxn id="82" idx="2"/>
            <a:endCxn id="58" idx="0"/>
          </p:cNvCxnSpPr>
          <p:nvPr/>
        </p:nvCxnSpPr>
        <p:spPr>
          <a:xfrm>
            <a:off x="6691075" y="4677748"/>
            <a:ext cx="1000576" cy="1472281"/>
          </a:xfrm>
          <a:prstGeom prst="line">
            <a:avLst/>
          </a:prstGeom>
          <a:ln>
            <a:prstDash val="lgDash"/>
          </a:ln>
        </p:spPr>
        <p:style>
          <a:lnRef idx="1">
            <a:schemeClr val="accent2"/>
          </a:lnRef>
          <a:fillRef idx="0">
            <a:schemeClr val="accent2"/>
          </a:fillRef>
          <a:effectRef idx="0">
            <a:schemeClr val="accent2"/>
          </a:effectRef>
          <a:fontRef idx="minor">
            <a:schemeClr val="tx1"/>
          </a:fontRef>
        </p:style>
      </p:cxnSp>
      <p:cxnSp>
        <p:nvCxnSpPr>
          <p:cNvPr id="81" name="Straight Connector 80"/>
          <p:cNvCxnSpPr>
            <a:stCxn id="83" idx="2"/>
            <a:endCxn id="59" idx="0"/>
          </p:cNvCxnSpPr>
          <p:nvPr/>
        </p:nvCxnSpPr>
        <p:spPr>
          <a:xfrm>
            <a:off x="7671024" y="4677748"/>
            <a:ext cx="977788" cy="1454941"/>
          </a:xfrm>
          <a:prstGeom prst="line">
            <a:avLst/>
          </a:prstGeom>
          <a:ln>
            <a:prstDash val="lgDash"/>
          </a:ln>
        </p:spPr>
        <p:style>
          <a:lnRef idx="1">
            <a:schemeClr val="accent2"/>
          </a:lnRef>
          <a:fillRef idx="0">
            <a:schemeClr val="accent2"/>
          </a:fillRef>
          <a:effectRef idx="0">
            <a:schemeClr val="accent2"/>
          </a:effectRef>
          <a:fontRef idx="minor">
            <a:schemeClr val="tx1"/>
          </a:fontRef>
        </p:style>
      </p:cxnSp>
      <p:cxnSp>
        <p:nvCxnSpPr>
          <p:cNvPr id="89" name="Straight Connector 88"/>
          <p:cNvCxnSpPr>
            <a:stCxn id="84" idx="2"/>
            <a:endCxn id="60" idx="0"/>
          </p:cNvCxnSpPr>
          <p:nvPr/>
        </p:nvCxnSpPr>
        <p:spPr>
          <a:xfrm>
            <a:off x="8648812" y="4677748"/>
            <a:ext cx="1017468" cy="1429500"/>
          </a:xfrm>
          <a:prstGeom prst="line">
            <a:avLst/>
          </a:prstGeom>
          <a:ln>
            <a:prstDash val="lgDash"/>
          </a:ln>
        </p:spPr>
        <p:style>
          <a:lnRef idx="1">
            <a:schemeClr val="accent2"/>
          </a:lnRef>
          <a:fillRef idx="0">
            <a:schemeClr val="accent2"/>
          </a:fillRef>
          <a:effectRef idx="0">
            <a:schemeClr val="accent2"/>
          </a:effectRef>
          <a:fontRef idx="minor">
            <a:schemeClr val="tx1"/>
          </a:fontRef>
        </p:style>
      </p:cxnSp>
      <p:cxnSp>
        <p:nvCxnSpPr>
          <p:cNvPr id="90" name="Straight Connector 89"/>
          <p:cNvCxnSpPr>
            <a:stCxn id="85" idx="2"/>
            <a:endCxn id="62" idx="0"/>
          </p:cNvCxnSpPr>
          <p:nvPr/>
        </p:nvCxnSpPr>
        <p:spPr>
          <a:xfrm>
            <a:off x="9611052" y="4677748"/>
            <a:ext cx="1022856" cy="1429500"/>
          </a:xfrm>
          <a:prstGeom prst="line">
            <a:avLst/>
          </a:prstGeom>
          <a:ln>
            <a:prstDash val="lgDash"/>
          </a:ln>
        </p:spPr>
        <p:style>
          <a:lnRef idx="1">
            <a:schemeClr val="accent2"/>
          </a:lnRef>
          <a:fillRef idx="0">
            <a:schemeClr val="accent2"/>
          </a:fillRef>
          <a:effectRef idx="0">
            <a:schemeClr val="accent2"/>
          </a:effectRef>
          <a:fontRef idx="minor">
            <a:schemeClr val="tx1"/>
          </a:fontRef>
        </p:style>
      </p:cxnSp>
      <p:cxnSp>
        <p:nvCxnSpPr>
          <p:cNvPr id="92" name="Straight Connector 91"/>
          <p:cNvCxnSpPr>
            <a:stCxn id="86" idx="2"/>
            <a:endCxn id="63" idx="0"/>
          </p:cNvCxnSpPr>
          <p:nvPr/>
        </p:nvCxnSpPr>
        <p:spPr>
          <a:xfrm>
            <a:off x="10626002" y="4677748"/>
            <a:ext cx="982051" cy="1431818"/>
          </a:xfrm>
          <a:prstGeom prst="line">
            <a:avLst/>
          </a:prstGeom>
          <a:ln>
            <a:prstDash val="lgDash"/>
          </a:ln>
        </p:spPr>
        <p:style>
          <a:lnRef idx="1">
            <a:schemeClr val="accent2"/>
          </a:lnRef>
          <a:fillRef idx="0">
            <a:schemeClr val="accent2"/>
          </a:fillRef>
          <a:effectRef idx="0">
            <a:schemeClr val="accent2"/>
          </a:effectRef>
          <a:fontRef idx="minor">
            <a:schemeClr val="tx1"/>
          </a:fontRef>
        </p:style>
      </p:cxnSp>
      <p:cxnSp>
        <p:nvCxnSpPr>
          <p:cNvPr id="99" name="Straight Arrow Connector 98"/>
          <p:cNvCxnSpPr>
            <a:stCxn id="107" idx="0"/>
            <a:endCxn id="10" idx="2"/>
          </p:cNvCxnSpPr>
          <p:nvPr/>
        </p:nvCxnSpPr>
        <p:spPr>
          <a:xfrm flipV="1">
            <a:off x="6690233" y="5462463"/>
            <a:ext cx="5960" cy="64710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7" name="TextBox 106"/>
          <p:cNvSpPr txBox="1"/>
          <p:nvPr/>
        </p:nvSpPr>
        <p:spPr>
          <a:xfrm>
            <a:off x="6304550" y="6109565"/>
            <a:ext cx="771365" cy="461665"/>
          </a:xfrm>
          <a:prstGeom prst="rect">
            <a:avLst/>
          </a:prstGeom>
          <a:noFill/>
        </p:spPr>
        <p:txBody>
          <a:bodyPr wrap="none" rtlCol="0">
            <a:spAutoFit/>
          </a:bodyPr>
          <a:lstStyle/>
          <a:p>
            <a:r>
              <a:rPr lang="en-US" sz="2400"/>
              <a:t>[</a:t>
            </a:r>
            <a:r>
              <a:rPr lang="en-US" sz="2400">
                <a:effectLst>
                  <a:glow rad="228600">
                    <a:schemeClr val="accent6">
                      <a:satMod val="175000"/>
                      <a:alpha val="40000"/>
                    </a:schemeClr>
                  </a:glow>
                </a:effectLst>
              </a:rPr>
              <a:t>GO</a:t>
            </a:r>
            <a:r>
              <a:rPr lang="en-US" sz="2400"/>
              <a:t>]</a:t>
            </a:r>
            <a:endParaRPr lang="en-IN" sz="2400"/>
          </a:p>
        </p:txBody>
      </p:sp>
      <p:sp>
        <p:nvSpPr>
          <p:cNvPr id="74" name="TextBox 73"/>
          <p:cNvSpPr txBox="1"/>
          <p:nvPr/>
        </p:nvSpPr>
        <p:spPr>
          <a:xfrm>
            <a:off x="6350386" y="3662917"/>
            <a:ext cx="603050" cy="461665"/>
          </a:xfrm>
          <a:prstGeom prst="rect">
            <a:avLst/>
          </a:prstGeom>
          <a:noFill/>
        </p:spPr>
        <p:txBody>
          <a:bodyPr wrap="none" rtlCol="0">
            <a:spAutoFit/>
          </a:bodyPr>
          <a:lstStyle/>
          <a:p>
            <a:r>
              <a:rPr lang="en-US" sz="2400">
                <a:effectLst>
                  <a:glow rad="139700">
                    <a:schemeClr val="accent4">
                      <a:satMod val="175000"/>
                      <a:alpha val="40000"/>
                    </a:schemeClr>
                  </a:glow>
                </a:effectLst>
              </a:rPr>
              <a:t>Die</a:t>
            </a:r>
            <a:endParaRPr lang="en-IN" sz="2400">
              <a:effectLst>
                <a:glow rad="139700">
                  <a:schemeClr val="accent4">
                    <a:satMod val="175000"/>
                    <a:alpha val="40000"/>
                  </a:schemeClr>
                </a:glow>
              </a:effectLst>
            </a:endParaRPr>
          </a:p>
        </p:txBody>
      </p:sp>
      <p:sp>
        <p:nvSpPr>
          <p:cNvPr id="75" name="TextBox 74"/>
          <p:cNvSpPr txBox="1"/>
          <p:nvPr/>
        </p:nvSpPr>
        <p:spPr>
          <a:xfrm>
            <a:off x="7268239" y="3662917"/>
            <a:ext cx="855812" cy="461665"/>
          </a:xfrm>
          <a:prstGeom prst="rect">
            <a:avLst/>
          </a:prstGeom>
          <a:noFill/>
        </p:spPr>
        <p:txBody>
          <a:bodyPr wrap="none" rtlCol="0">
            <a:spAutoFit/>
          </a:bodyPr>
          <a:lstStyle/>
          <a:p>
            <a:r>
              <a:rPr lang="en-US" sz="2400" err="1">
                <a:effectLst>
                  <a:glow rad="139700">
                    <a:schemeClr val="accent4">
                      <a:satMod val="175000"/>
                      <a:alpha val="40000"/>
                    </a:schemeClr>
                  </a:glow>
                </a:effectLst>
              </a:rPr>
              <a:t>Katze</a:t>
            </a:r>
            <a:endParaRPr lang="en-IN" sz="2400">
              <a:effectLst>
                <a:glow rad="139700">
                  <a:schemeClr val="accent4">
                    <a:satMod val="175000"/>
                    <a:alpha val="40000"/>
                  </a:schemeClr>
                </a:glow>
              </a:effectLst>
            </a:endParaRPr>
          </a:p>
        </p:txBody>
      </p:sp>
      <p:sp>
        <p:nvSpPr>
          <p:cNvPr id="78" name="TextBox 77"/>
          <p:cNvSpPr txBox="1"/>
          <p:nvPr/>
        </p:nvSpPr>
        <p:spPr>
          <a:xfrm>
            <a:off x="8352908" y="3662917"/>
            <a:ext cx="614271" cy="461665"/>
          </a:xfrm>
          <a:prstGeom prst="rect">
            <a:avLst/>
          </a:prstGeom>
          <a:noFill/>
        </p:spPr>
        <p:txBody>
          <a:bodyPr wrap="none" rtlCol="0">
            <a:spAutoFit/>
          </a:bodyPr>
          <a:lstStyle/>
          <a:p>
            <a:r>
              <a:rPr lang="en-US" sz="2400" err="1">
                <a:effectLst>
                  <a:glow rad="139700">
                    <a:schemeClr val="accent4">
                      <a:satMod val="175000"/>
                      <a:alpha val="40000"/>
                    </a:schemeClr>
                  </a:glow>
                </a:effectLst>
              </a:rPr>
              <a:t>saß</a:t>
            </a:r>
            <a:endParaRPr lang="en-IN" sz="2400">
              <a:effectLst>
                <a:glow rad="139700">
                  <a:schemeClr val="accent4">
                    <a:satMod val="175000"/>
                    <a:alpha val="40000"/>
                  </a:schemeClr>
                </a:glow>
              </a:effectLst>
            </a:endParaRPr>
          </a:p>
        </p:txBody>
      </p:sp>
      <p:sp>
        <p:nvSpPr>
          <p:cNvPr id="80" name="TextBox 79"/>
          <p:cNvSpPr txBox="1"/>
          <p:nvPr/>
        </p:nvSpPr>
        <p:spPr>
          <a:xfrm>
            <a:off x="9340934" y="3662917"/>
            <a:ext cx="588623" cy="461665"/>
          </a:xfrm>
          <a:prstGeom prst="rect">
            <a:avLst/>
          </a:prstGeom>
          <a:noFill/>
        </p:spPr>
        <p:txBody>
          <a:bodyPr wrap="none" rtlCol="0">
            <a:spAutoFit/>
          </a:bodyPr>
          <a:lstStyle/>
          <a:p>
            <a:r>
              <a:rPr lang="en-US" sz="2400">
                <a:effectLst>
                  <a:glow rad="139700">
                    <a:schemeClr val="accent4">
                      <a:satMod val="175000"/>
                      <a:alpha val="40000"/>
                    </a:schemeClr>
                  </a:glow>
                </a:effectLst>
              </a:rPr>
              <a:t>auf</a:t>
            </a:r>
            <a:endParaRPr lang="en-IN" sz="2400">
              <a:effectLst>
                <a:glow rad="139700">
                  <a:schemeClr val="accent4">
                    <a:satMod val="175000"/>
                    <a:alpha val="40000"/>
                  </a:schemeClr>
                </a:glow>
              </a:effectLst>
            </a:endParaRPr>
          </a:p>
        </p:txBody>
      </p:sp>
      <p:sp>
        <p:nvSpPr>
          <p:cNvPr id="93" name="TextBox 92"/>
          <p:cNvSpPr txBox="1"/>
          <p:nvPr/>
        </p:nvSpPr>
        <p:spPr>
          <a:xfrm>
            <a:off x="10324476" y="3662917"/>
            <a:ext cx="603050" cy="461665"/>
          </a:xfrm>
          <a:prstGeom prst="rect">
            <a:avLst/>
          </a:prstGeom>
          <a:noFill/>
        </p:spPr>
        <p:txBody>
          <a:bodyPr wrap="none" rtlCol="0">
            <a:spAutoFit/>
          </a:bodyPr>
          <a:lstStyle/>
          <a:p>
            <a:r>
              <a:rPr lang="en-US" sz="2400">
                <a:effectLst>
                  <a:glow rad="139700">
                    <a:schemeClr val="accent4">
                      <a:satMod val="175000"/>
                      <a:alpha val="40000"/>
                    </a:schemeClr>
                  </a:glow>
                </a:effectLst>
              </a:rPr>
              <a:t>der</a:t>
            </a:r>
            <a:endParaRPr lang="en-IN" sz="2400">
              <a:effectLst>
                <a:glow rad="139700">
                  <a:schemeClr val="accent4">
                    <a:satMod val="175000"/>
                    <a:alpha val="40000"/>
                  </a:schemeClr>
                </a:glow>
              </a:effectLst>
            </a:endParaRPr>
          </a:p>
        </p:txBody>
      </p:sp>
      <p:sp>
        <p:nvSpPr>
          <p:cNvPr id="94" name="TextBox 93"/>
          <p:cNvSpPr txBox="1"/>
          <p:nvPr/>
        </p:nvSpPr>
        <p:spPr>
          <a:xfrm>
            <a:off x="11170003" y="3662917"/>
            <a:ext cx="943528" cy="461665"/>
          </a:xfrm>
          <a:prstGeom prst="rect">
            <a:avLst/>
          </a:prstGeom>
          <a:noFill/>
        </p:spPr>
        <p:txBody>
          <a:bodyPr wrap="none" rtlCol="0">
            <a:spAutoFit/>
          </a:bodyPr>
          <a:lstStyle/>
          <a:p>
            <a:r>
              <a:rPr lang="en-US" sz="2400">
                <a:effectLst>
                  <a:glow rad="139700">
                    <a:schemeClr val="accent4">
                      <a:satMod val="175000"/>
                      <a:alpha val="40000"/>
                    </a:schemeClr>
                  </a:glow>
                </a:effectLst>
              </a:rPr>
              <a:t>Matte</a:t>
            </a:r>
            <a:endParaRPr lang="en-IN" sz="2400">
              <a:effectLst>
                <a:glow rad="139700">
                  <a:schemeClr val="accent4">
                    <a:satMod val="175000"/>
                    <a:alpha val="40000"/>
                  </a:schemeClr>
                </a:glow>
              </a:effectLst>
            </a:endParaRPr>
          </a:p>
        </p:txBody>
      </p:sp>
      <mc:AlternateContent xmlns:mc="http://schemas.openxmlformats.org/markup-compatibility/2006" xmlns:p14="http://schemas.microsoft.com/office/powerpoint/2010/main">
        <mc:Choice Requires="p14">
          <p:contentPart p14:bwMode="auto" r:id="rId7">
            <p14:nvContentPartPr>
              <p14:cNvPr id="16" name="Ink 15"/>
              <p14:cNvContentPartPr/>
              <p14:nvPr/>
            </p14:nvContentPartPr>
            <p14:xfrm>
              <a:off x="7136640" y="5051160"/>
              <a:ext cx="1872720" cy="1101960"/>
            </p14:xfrm>
          </p:contentPart>
        </mc:Choice>
        <mc:Fallback xmlns="">
          <p:pic>
            <p:nvPicPr>
              <p:cNvPr id="16" name="Ink 15"/>
            </p:nvPicPr>
            <p:blipFill>
              <a:blip r:embed="rId8"/>
            </p:blipFill>
            <p:spPr>
              <a:xfrm>
                <a:off x="7136640" y="5051160"/>
                <a:ext cx="1872720" cy="1101960"/>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8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9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0"/>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8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9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5"/>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90"/>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73"/>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2"/>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101"/>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8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92"/>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77"/>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63"/>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05"/>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p:bldP spid="83" grpId="0"/>
      <p:bldP spid="84" grpId="0"/>
      <p:bldP spid="85" grpId="0"/>
      <p:bldP spid="86" grpId="0"/>
      <p:bldP spid="87" grpId="0"/>
      <p:bldP spid="58" grpId="0"/>
      <p:bldP spid="59" grpId="0"/>
      <p:bldP spid="60" grpId="0"/>
      <p:bldP spid="62" grpId="0"/>
      <p:bldP spid="63" grpId="0"/>
      <p:bldP spid="107"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p:cNvPicPr>
            <a:picLocks noGrp="1" noChangeAspect="1"/>
          </p:cNvPicPr>
          <p:nvPr>
            <p:ph sz="half" idx="4294967295"/>
          </p:nvPr>
        </p:nvPicPr>
        <p:blipFill>
          <a:blip r:embed="rId2">
            <a:extLst>
              <a:ext uri="{28A0092B-C50C-407E-A947-70E740481C1C}">
                <a14:useLocalDpi xmlns:a14="http://schemas.microsoft.com/office/drawing/2010/main" val="0"/>
              </a:ext>
            </a:extLst>
          </a:blip>
          <a:stretch>
            <a:fillRect/>
          </a:stretch>
        </p:blipFill>
        <p:spPr>
          <a:xfrm>
            <a:off x="0" y="904240"/>
            <a:ext cx="10375900" cy="2524760"/>
          </a:xfrm>
        </p:spPr>
      </p:pic>
      <p:sp>
        <p:nvSpPr>
          <p:cNvPr id="11" name="Content Placeholder 10"/>
          <p:cNvSpPr>
            <a:spLocks noGrp="1"/>
          </p:cNvSpPr>
          <p:nvPr>
            <p:ph sz="half" idx="4294967295"/>
          </p:nvPr>
        </p:nvSpPr>
        <p:spPr>
          <a:xfrm>
            <a:off x="318135" y="3439160"/>
            <a:ext cx="11873865" cy="3229610"/>
          </a:xfrm>
          <a:effectLst>
            <a:glow rad="139700">
              <a:schemeClr val="accent6">
                <a:satMod val="175000"/>
                <a:alpha val="40000"/>
              </a:schemeClr>
            </a:glow>
          </a:effectLst>
        </p:spPr>
        <p:txBody>
          <a:bodyPr>
            <a:normAutofit fontScale="90000" lnSpcReduction="20000"/>
          </a:bodyPr>
          <a:lstStyle/>
          <a:p>
            <a:r>
              <a:rPr lang="en-US" sz="2800"/>
              <a:t>We might sample a less likely next word, which then “changes the course of history”</a:t>
            </a:r>
          </a:p>
          <a:p>
            <a:r>
              <a:rPr lang="en-US" sz="2800">
                <a:effectLst>
                  <a:glow rad="139700">
                    <a:schemeClr val="accent6">
                      <a:satMod val="175000"/>
                      <a:alpha val="40000"/>
                    </a:schemeClr>
                  </a:glow>
                </a:effectLst>
              </a:rPr>
              <a:t>I enjoy walking with my cute dog</a:t>
            </a:r>
            <a:r>
              <a:rPr lang="en-US" sz="2800"/>
              <a:t> for the rest of the day, but this had me staying in an unusual room and not going on nights out with friends (which will always be wondered for a mere minute or so at this point).</a:t>
            </a:r>
          </a:p>
          <a:p>
            <a:r>
              <a:rPr lang="en-US" sz="2800">
                <a:effectLst>
                  <a:glow rad="139700">
                    <a:schemeClr val="accent4">
                      <a:satMod val="175000"/>
                      <a:alpha val="40000"/>
                    </a:schemeClr>
                  </a:glow>
                </a:effectLst>
              </a:rPr>
              <a:t>Temperature</a:t>
            </a:r>
            <a:r>
              <a:rPr lang="en-US" sz="2800"/>
              <a:t> going from logits to multinomial via </a:t>
            </a:r>
            <a:r>
              <a:rPr lang="en-US" sz="2800" err="1"/>
              <a:t>softmax</a:t>
            </a:r>
            <a:endParaRPr lang="en-US" sz="2800"/>
          </a:p>
          <a:p>
            <a:r>
              <a:rPr lang="en-US" sz="2800">
                <a:effectLst>
                  <a:glow rad="139700">
                    <a:schemeClr val="accent6">
                      <a:satMod val="175000"/>
                      <a:alpha val="40000"/>
                    </a:schemeClr>
                  </a:glow>
                </a:effectLst>
              </a:rPr>
              <a:t>I enjoy walking with my cute dog</a:t>
            </a:r>
            <a:r>
              <a:rPr lang="en-US" sz="2800"/>
              <a:t>, but I don't like to chew on it. I like to eat it and not chew on it. I like to be able to walk with my dog.“ So how did you decide</a:t>
            </a:r>
          </a:p>
          <a:p>
            <a:r>
              <a:rPr lang="en-US" sz="2800"/>
              <a:t>Still pretty weird </a:t>
            </a:r>
          </a:p>
          <a:p>
            <a:endParaRPr lang="en-IN" sz="2800"/>
          </a:p>
        </p:txBody>
      </p:sp>
      <p:sp>
        <p:nvSpPr>
          <p:cNvPr id="7" name="Title 6"/>
          <p:cNvSpPr>
            <a:spLocks noGrp="1"/>
          </p:cNvSpPr>
          <p:nvPr>
            <p:ph type="title"/>
          </p:nvPr>
        </p:nvSpPr>
        <p:spPr/>
        <p:txBody>
          <a:bodyPr/>
          <a:lstStyle/>
          <a:p>
            <a:r>
              <a:rPr lang="en-US"/>
              <a:t>Sampling</a:t>
            </a:r>
            <a:endParaRPr lang="en-IN"/>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Content Placeholder 5"/>
              <p:cNvSpPr>
                <a:spLocks noGrp="1"/>
              </p:cNvSpPr>
              <p:nvPr>
                <p:ph sz="half" idx="4294967295"/>
              </p:nvPr>
            </p:nvSpPr>
            <p:spPr>
              <a:xfrm>
                <a:off x="318135" y="4039235"/>
                <a:ext cx="11873865" cy="2629535"/>
              </a:xfrm>
            </p:spPr>
            <p:txBody>
              <a:bodyPr>
                <a:noAutofit/>
              </a:bodyPr>
              <a:lstStyle/>
              <a:p>
                <a:pPr>
                  <a:lnSpc>
                    <a:spcPct val="100000"/>
                  </a:lnSpc>
                </a:pPr>
                <a:r>
                  <a:rPr lang="en-US" sz="2400"/>
                  <a:t>Retain only those words for the next position with probability among the highest </a:t>
                </a:r>
                <a14:m>
                  <m:oMath xmlns:m="http://schemas.openxmlformats.org/officeDocument/2006/math">
                    <m:r>
                      <a:rPr lang="en-US" sz="2400" b="0" i="1" smtClean="0">
                        <a:latin typeface="Cambria Math" panose="02040503050406030204" pitchFamily="18" charset="0"/>
                      </a:rPr>
                      <m:t>𝐾</m:t>
                    </m:r>
                  </m:oMath>
                </a14:m>
                <a:endParaRPr lang="en-IN" sz="2400"/>
              </a:p>
              <a:p>
                <a:pPr>
                  <a:lnSpc>
                    <a:spcPct val="100000"/>
                  </a:lnSpc>
                </a:pPr>
                <a:r>
                  <a:rPr lang="en-IN" sz="2400"/>
                  <a:t>(Scale probabilities to make valid multinomial distribution)</a:t>
                </a:r>
              </a:p>
              <a:p>
                <a:pPr>
                  <a:lnSpc>
                    <a:spcPct val="100000"/>
                  </a:lnSpc>
                </a:pPr>
                <a:r>
                  <a:rPr lang="en-IN" sz="2400"/>
                  <a:t>Sample from only these candidates</a:t>
                </a:r>
              </a:p>
              <a:p>
                <a:pPr>
                  <a:lnSpc>
                    <a:spcPct val="100000"/>
                  </a:lnSpc>
                </a:pPr>
                <a:r>
                  <a:rPr lang="en-US" sz="2400">
                    <a:effectLst>
                      <a:glow rad="139700">
                        <a:schemeClr val="accent6">
                          <a:satMod val="175000"/>
                          <a:alpha val="40000"/>
                        </a:schemeClr>
                      </a:glow>
                    </a:effectLst>
                  </a:rPr>
                  <a:t>I enjoy walking with my cute dog</a:t>
                </a:r>
                <a:r>
                  <a:rPr lang="en-US" sz="2400"/>
                  <a:t> for the rest of the day, but this time it was hard for me to figure out what to do with it. (One reason I asked this for a few months back is that I had a</a:t>
                </a:r>
              </a:p>
            </p:txBody>
          </p:sp>
        </mc:Choice>
        <mc:Fallback xmlns="">
          <p:sp>
            <p:nvSpPr>
              <p:cNvPr id="6" name="Content Placeholder 5"/>
              <p:cNvSpPr>
                <a:spLocks noRot="1" noChangeAspect="1" noMove="1" noResize="1" noEditPoints="1" noAdjustHandles="1" noChangeArrowheads="1" noChangeShapeType="1" noTextEdit="1"/>
              </p:cNvSpPr>
              <p:nvPr>
                <p:ph sz="half" idx="4294967295"/>
              </p:nvPr>
            </p:nvSpPr>
            <p:spPr>
              <a:xfrm>
                <a:off x="318135" y="4039235"/>
                <a:ext cx="11873865" cy="2629535"/>
              </a:xfrm>
              <a:blipFill rotWithShape="1">
                <a:blip r:embed="rId2"/>
                <a:stretch>
                  <a:fillRect/>
                </a:stretch>
              </a:blipFill>
            </p:spPr>
            <p:txBody>
              <a:bodyPr/>
              <a:lstStyle/>
              <a:p>
                <a:r>
                  <a:rPr lang="en-US" altLang="en-US">
                    <a:noFill/>
                  </a:rPr>
                  <a:t> </a:t>
                </a:r>
              </a:p>
            </p:txBody>
          </p:sp>
        </mc:Fallback>
      </mc:AlternateContent>
      <p:pic>
        <p:nvPicPr>
          <p:cNvPr id="7" name="Content Placeholder 6"/>
          <p:cNvPicPr>
            <a:picLocks noGrp="1" noChangeAspect="1"/>
          </p:cNvPicPr>
          <p:nvPr>
            <p:ph sz="half" idx="4294967295"/>
          </p:nvPr>
        </p:nvPicPr>
        <p:blipFill>
          <a:blip r:embed="rId3">
            <a:extLst>
              <a:ext uri="{28A0092B-C50C-407E-A947-70E740481C1C}">
                <a14:useLocalDpi xmlns:a14="http://schemas.microsoft.com/office/drawing/2010/main" val="0"/>
              </a:ext>
            </a:extLst>
          </a:blip>
          <a:stretch>
            <a:fillRect/>
          </a:stretch>
        </p:blipFill>
        <p:spPr>
          <a:xfrm>
            <a:off x="0" y="975360"/>
            <a:ext cx="7381240" cy="2981960"/>
          </a:xfrm>
        </p:spPr>
      </p:pic>
      <mc:AlternateContent xmlns:mc="http://schemas.openxmlformats.org/markup-compatibility/2006" xmlns:a14="http://schemas.microsoft.com/office/drawing/2010/main">
        <mc:Choice Requires="a14">
          <p:sp>
            <p:nvSpPr>
              <p:cNvPr id="5" name="Title 4"/>
              <p:cNvSpPr>
                <a:spLocks noGrp="1"/>
              </p:cNvSpPr>
              <p:nvPr>
                <p:ph type="title"/>
              </p:nvPr>
            </p:nvSpPr>
            <p:spPr/>
            <p:txBody>
              <a:bodyPr/>
              <a:lstStyle/>
              <a:p>
                <a:r>
                  <a:rPr lang="en-US"/>
                  <a:t>Top-</a:t>
                </a:r>
                <a14:m>
                  <m:oMath xmlns:m="http://schemas.openxmlformats.org/officeDocument/2006/math">
                    <m:r>
                      <a:rPr lang="en-US" b="0" i="1" smtClean="0">
                        <a:latin typeface="Cambria Math" panose="02040503050406030204" pitchFamily="18" charset="0"/>
                      </a:rPr>
                      <m:t>𝐾</m:t>
                    </m:r>
                  </m:oMath>
                </a14:m>
                <a:r>
                  <a:rPr lang="en-US"/>
                  <a:t> sampling (GPT2)</a:t>
                </a:r>
                <a:endParaRPr lang="en-IN"/>
              </a:p>
            </p:txBody>
          </p:sp>
        </mc:Choice>
        <mc:Fallback xmlns="">
          <p:sp>
            <p:nvSpPr>
              <p:cNvPr id="5" name="Title 4"/>
              <p:cNvSpPr>
                <a:spLocks noRot="1" noChangeAspect="1" noMove="1" noResize="1" noEditPoints="1" noAdjustHandles="1" noChangeArrowheads="1" noChangeShapeType="1" noTextEdit="1"/>
              </p:cNvSpPr>
              <p:nvPr>
                <p:ph type="title"/>
              </p:nvPr>
            </p:nvSpPr>
            <p:spPr>
              <a:blipFill rotWithShape="1">
                <a:blip r:embed="rId4"/>
                <a:stretch>
                  <a:fillRect/>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8" name="Rectangle: Rounded Corners 7"/>
              <p:cNvSpPr/>
              <p:nvPr/>
            </p:nvSpPr>
            <p:spPr>
              <a:xfrm>
                <a:off x="7867650" y="1604010"/>
                <a:ext cx="4058285" cy="2184400"/>
              </a:xfrm>
              <a:prstGeom prst="roundRect">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a:solidFill>
                      <a:schemeClr val="tx1"/>
                    </a:solidFill>
                  </a:rPr>
                  <a:t>Can use temperature here too, to change level of skew:</a:t>
                </a:r>
              </a:p>
              <a:p>
                <a:endParaRPr lang="en-US" sz="2400">
                  <a:solidFill>
                    <a:schemeClr val="tx1"/>
                  </a:solidFill>
                </a:endParaRPr>
              </a:p>
              <a:p>
                <a:pPr/>
                <a14:m>
                  <m:oMathPara xmlns:m="http://schemas.openxmlformats.org/officeDocument/2006/math">
                    <m:oMathParaPr>
                      <m:jc m:val="centerGroup"/>
                    </m:oMathParaPr>
                    <m:oMath xmlns:m="http://schemas.openxmlformats.org/officeDocument/2006/math">
                      <m:func>
                        <m:funcPr>
                          <m:ctrlPr>
                            <a:rPr lang="en-US" sz="2400" b="0" i="1" smtClean="0">
                              <a:solidFill>
                                <a:schemeClr val="tx1"/>
                              </a:solidFill>
                              <a:latin typeface="Cambria Math" panose="02040503050406030204" pitchFamily="18" charset="0"/>
                            </a:rPr>
                          </m:ctrlPr>
                        </m:funcPr>
                        <m:fName>
                          <m:r>
                            <m:rPr>
                              <m:sty m:val="p"/>
                            </m:rPr>
                            <a:rPr lang="en-US" sz="2400" b="0" i="0" smtClean="0">
                              <a:solidFill>
                                <a:schemeClr val="tx1"/>
                              </a:solidFill>
                              <a:latin typeface="Cambria Math" panose="02040503050406030204" pitchFamily="18" charset="0"/>
                            </a:rPr>
                            <m:t>Pr</m:t>
                          </m:r>
                        </m:fName>
                        <m:e>
                          <m:d>
                            <m:dPr>
                              <m:ctrlPr>
                                <a:rPr lang="en-US" sz="2400" b="0" i="1" smtClean="0">
                                  <a:solidFill>
                                    <a:schemeClr val="tx1"/>
                                  </a:solidFill>
                                  <a:latin typeface="Cambria Math" panose="02040503050406030204" pitchFamily="18" charset="0"/>
                                </a:rPr>
                              </m:ctrlPr>
                            </m:dPr>
                            <m:e>
                              <m:sSub>
                                <m:sSubPr>
                                  <m:ctrlPr>
                                    <a:rPr lang="en-US" sz="2400" b="0" i="1" smtClean="0">
                                      <a:solidFill>
                                        <a:schemeClr val="tx1"/>
                                      </a:solidFill>
                                      <a:latin typeface="Cambria Math" panose="02040503050406030204" pitchFamily="18" charset="0"/>
                                    </a:rPr>
                                  </m:ctrlPr>
                                </m:sSubPr>
                                <m:e>
                                  <m:r>
                                    <a:rPr lang="en-US" sz="2400" b="0" i="1" smtClean="0">
                                      <a:solidFill>
                                        <a:schemeClr val="tx1"/>
                                      </a:solidFill>
                                      <a:latin typeface="Cambria Math" panose="02040503050406030204" pitchFamily="18" charset="0"/>
                                    </a:rPr>
                                    <m:t>𝑤</m:t>
                                  </m:r>
                                </m:e>
                                <m:sub>
                                  <m:r>
                                    <a:rPr lang="en-US" sz="2400" b="0" i="1" smtClean="0">
                                      <a:solidFill>
                                        <a:schemeClr val="tx1"/>
                                      </a:solidFill>
                                      <a:latin typeface="Cambria Math" panose="02040503050406030204" pitchFamily="18" charset="0"/>
                                    </a:rPr>
                                    <m:t>𝑡</m:t>
                                  </m:r>
                                </m:sub>
                              </m:sSub>
                            </m:e>
                            <m:e>
                              <m:sSub>
                                <m:sSubPr>
                                  <m:ctrlPr>
                                    <a:rPr lang="en-US" sz="2400" b="0" i="1" smtClean="0">
                                      <a:solidFill>
                                        <a:schemeClr val="tx1"/>
                                      </a:solidFill>
                                      <a:latin typeface="Cambria Math" panose="02040503050406030204" pitchFamily="18" charset="0"/>
                                    </a:rPr>
                                  </m:ctrlPr>
                                </m:sSubPr>
                                <m:e>
                                  <m:r>
                                    <a:rPr lang="en-US" sz="2400" b="0" i="1" smtClean="0">
                                      <a:solidFill>
                                        <a:schemeClr val="tx1"/>
                                      </a:solidFill>
                                      <a:latin typeface="Cambria Math" panose="02040503050406030204" pitchFamily="18" charset="0"/>
                                    </a:rPr>
                                    <m:t>𝑤</m:t>
                                  </m:r>
                                </m:e>
                                <m:sub>
                                  <m:r>
                                    <a:rPr lang="en-US" sz="2400" b="0" i="1" smtClean="0">
                                      <a:solidFill>
                                        <a:schemeClr val="tx1"/>
                                      </a:solidFill>
                                      <a:latin typeface="Cambria Math" panose="02040503050406030204" pitchFamily="18" charset="0"/>
                                    </a:rPr>
                                    <m:t>&lt;</m:t>
                                  </m:r>
                                  <m:r>
                                    <a:rPr lang="en-US" sz="2400" b="0" i="1" smtClean="0">
                                      <a:solidFill>
                                        <a:schemeClr val="tx1"/>
                                      </a:solidFill>
                                      <a:latin typeface="Cambria Math" panose="02040503050406030204" pitchFamily="18" charset="0"/>
                                    </a:rPr>
                                    <m:t>𝑡</m:t>
                                  </m:r>
                                </m:sub>
                              </m:sSub>
                            </m:e>
                          </m:d>
                        </m:e>
                      </m:func>
                      <m:r>
                        <a:rPr lang="en-US" sz="2400" b="0" i="1" smtClean="0">
                          <a:solidFill>
                            <a:schemeClr val="tx1"/>
                          </a:solidFill>
                          <a:latin typeface="Cambria Math" panose="02040503050406030204" pitchFamily="18" charset="0"/>
                        </a:rPr>
                        <m:t>∝</m:t>
                      </m:r>
                      <m:r>
                        <m:rPr>
                          <m:sty m:val="p"/>
                        </m:rPr>
                        <a:rPr lang="en-US" sz="2400" b="0" i="0" smtClean="0">
                          <a:solidFill>
                            <a:schemeClr val="tx1"/>
                          </a:solidFill>
                          <a:latin typeface="Cambria Math" panose="02040503050406030204" pitchFamily="18" charset="0"/>
                        </a:rPr>
                        <m:t>exp</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𝜏</m:t>
                      </m:r>
                      <m:r>
                        <a:rPr lang="en-US" sz="2400" b="0" i="1" smtClean="0">
                          <a:solidFill>
                            <a:schemeClr val="tx1"/>
                          </a:solidFill>
                          <a:latin typeface="Cambria Math" panose="02040503050406030204" pitchFamily="18" charset="0"/>
                        </a:rPr>
                        <m:t>⋅ </m:t>
                      </m:r>
                      <m:r>
                        <m:rPr>
                          <m:sty m:val="p"/>
                        </m:rPr>
                        <a:rPr lang="en-US" sz="2400" b="0" i="0" smtClean="0">
                          <a:solidFill>
                            <a:schemeClr val="tx1"/>
                          </a:solidFill>
                          <a:latin typeface="Cambria Math" panose="02040503050406030204" pitchFamily="18" charset="0"/>
                        </a:rPr>
                        <m:t>logit</m:t>
                      </m:r>
                      <m:r>
                        <a:rPr lang="en-US" sz="2400" b="0" i="1" smtClean="0">
                          <a:solidFill>
                            <a:schemeClr val="tx1"/>
                          </a:solidFill>
                          <a:latin typeface="Cambria Math" panose="02040503050406030204" pitchFamily="18" charset="0"/>
                        </a:rPr>
                        <m:t>)</m:t>
                      </m:r>
                    </m:oMath>
                  </m:oMathPara>
                </a14:m>
                <a:endParaRPr lang="en-IN" sz="2400">
                  <a:solidFill>
                    <a:schemeClr val="tx1"/>
                  </a:solidFill>
                </a:endParaRPr>
              </a:p>
            </p:txBody>
          </p:sp>
        </mc:Choice>
        <mc:Fallback xmlns="">
          <p:sp>
            <p:nvSpPr>
              <p:cNvPr id="8" name="Rectangle: Rounded Corners 7"/>
              <p:cNvSpPr>
                <a:spLocks noRot="1" noChangeAspect="1" noMove="1" noResize="1" noEditPoints="1" noAdjustHandles="1" noChangeArrowheads="1" noChangeShapeType="1" noTextEdit="1"/>
              </p:cNvSpPr>
              <p:nvPr/>
            </p:nvSpPr>
            <p:spPr>
              <a:xfrm>
                <a:off x="7867650" y="1604010"/>
                <a:ext cx="4058285" cy="2184400"/>
              </a:xfrm>
              <a:prstGeom prst="roundRect">
                <a:avLst/>
              </a:prstGeom>
              <a:blipFill rotWithShape="1">
                <a:blip r:embed="rId5"/>
                <a:stretch>
                  <a:fillRect l="-156" t="-349" r="-156" b="-349"/>
                </a:stretch>
              </a:blip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4294967295"/>
          </p:nvPr>
        </p:nvSpPr>
        <p:spPr>
          <a:xfrm>
            <a:off x="318135" y="3902075"/>
            <a:ext cx="11873865" cy="2766695"/>
          </a:xfrm>
        </p:spPr>
        <p:txBody>
          <a:bodyPr>
            <a:normAutofit fontScale="90000"/>
          </a:bodyPr>
          <a:lstStyle/>
          <a:p>
            <a:r>
              <a:rPr lang="en-US">
                <a:effectLst>
                  <a:glow rad="139700">
                    <a:schemeClr val="accent6">
                      <a:satMod val="175000"/>
                      <a:alpha val="40000"/>
                    </a:schemeClr>
                  </a:glow>
                </a:effectLst>
              </a:rPr>
              <a:t>I enjoy walking with my cute dog</a:t>
            </a:r>
            <a:r>
              <a:rPr lang="en-US"/>
              <a:t> for the rest of the day, but this had me staying in an unusual room and not going on nights out with friends (which will always be my yearning for such a spacious screen on my desk</a:t>
            </a:r>
          </a:p>
          <a:p>
            <a:r>
              <a:rPr lang="en-IN"/>
              <a:t>Better, but still weird</a:t>
            </a:r>
            <a:r>
              <a:rPr lang="en-US" altLang="en-IN"/>
              <a:t> </a:t>
            </a:r>
          </a:p>
        </p:txBody>
      </p:sp>
      <p:pic>
        <p:nvPicPr>
          <p:cNvPr id="6" name="Content Placeholder 5"/>
          <p:cNvPicPr>
            <a:picLocks noGrp="1" noChangeAspect="1"/>
          </p:cNvPicPr>
          <p:nvPr>
            <p:ph sz="half" idx="4294967295"/>
          </p:nvPr>
        </p:nvPicPr>
        <p:blipFill>
          <a:blip r:embed="rId2">
            <a:extLst>
              <a:ext uri="{28A0092B-C50C-407E-A947-70E740481C1C}">
                <a14:useLocalDpi xmlns:a14="http://schemas.microsoft.com/office/drawing/2010/main" val="0"/>
              </a:ext>
            </a:extLst>
          </a:blip>
          <a:stretch>
            <a:fillRect/>
          </a:stretch>
        </p:blipFill>
        <p:spPr>
          <a:xfrm>
            <a:off x="0" y="942975"/>
            <a:ext cx="6789420" cy="2766695"/>
          </a:xfrm>
        </p:spPr>
      </p:pic>
      <mc:AlternateContent xmlns:mc="http://schemas.openxmlformats.org/markup-compatibility/2006" xmlns:a14="http://schemas.microsoft.com/office/drawing/2010/main">
        <mc:Choice Requires="a14">
          <p:sp>
            <p:nvSpPr>
              <p:cNvPr id="4" name="Title 3"/>
              <p:cNvSpPr>
                <a:spLocks noGrp="1"/>
              </p:cNvSpPr>
              <p:nvPr>
                <p:ph type="title"/>
              </p:nvPr>
            </p:nvSpPr>
            <p:spPr/>
            <p:txBody>
              <a:bodyPr/>
              <a:lstStyle/>
              <a:p>
                <a:r>
                  <a:rPr lang="en-US"/>
                  <a:t>Arbitrary </a:t>
                </a:r>
                <a14:m>
                  <m:oMath xmlns:m="http://schemas.openxmlformats.org/officeDocument/2006/math">
                    <m:r>
                      <a:rPr lang="en-US" b="0" i="1" dirty="0" smtClean="0">
                        <a:latin typeface="Cambria Math" panose="02040503050406030204" pitchFamily="18" charset="0"/>
                      </a:rPr>
                      <m:t>𝐾</m:t>
                    </m:r>
                  </m:oMath>
                </a14:m>
                <a:r>
                  <a:rPr lang="en-US"/>
                  <a:t> to </a:t>
                </a:r>
                <a:r>
                  <a:rPr lang="en-US">
                    <a:hlinkClick r:id="rId3"/>
                  </a:rPr>
                  <a:t>nucleus sampling</a:t>
                </a:r>
                <a:endParaRPr lang="en-IN"/>
              </a:p>
            </p:txBody>
          </p:sp>
        </mc:Choice>
        <mc:Fallback xmlns="">
          <p:sp>
            <p:nvSpPr>
              <p:cNvPr id="4" name="Title 3"/>
              <p:cNvSpPr>
                <a:spLocks noRot="1" noChangeAspect="1" noMove="1" noResize="1" noEditPoints="1" noAdjustHandles="1" noChangeArrowheads="1" noChangeShapeType="1" noTextEdit="1"/>
              </p:cNvSpPr>
              <p:nvPr>
                <p:ph type="title"/>
              </p:nvPr>
            </p:nvSpPr>
            <p:spPr>
              <a:blipFill rotWithShape="1">
                <a:blip r:embed="rId4"/>
                <a:stretch>
                  <a:fillRect/>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7" name="Rectangle: Rounded Corners 6"/>
              <p:cNvSpPr/>
              <p:nvPr/>
            </p:nvSpPr>
            <p:spPr>
              <a:xfrm>
                <a:off x="7525463" y="1232241"/>
                <a:ext cx="4058566" cy="1995053"/>
              </a:xfrm>
              <a:prstGeom prst="roundRect">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a:solidFill>
                      <a:schemeClr val="tx1"/>
                    </a:solidFill>
                  </a:rPr>
                  <a:t>Adapt </a:t>
                </a:r>
                <a14:m>
                  <m:oMath xmlns:m="http://schemas.openxmlformats.org/officeDocument/2006/math">
                    <m:r>
                      <a:rPr lang="en-US" sz="2800" i="1" dirty="0" smtClean="0">
                        <a:solidFill>
                          <a:schemeClr val="tx1"/>
                        </a:solidFill>
                        <a:latin typeface="Cambria Math" panose="02040503050406030204" pitchFamily="18" charset="0"/>
                      </a:rPr>
                      <m:t>𝐾</m:t>
                    </m:r>
                  </m:oMath>
                </a14:m>
                <a:r>
                  <a:rPr lang="en-US" sz="2800">
                    <a:solidFill>
                      <a:schemeClr val="tx1"/>
                    </a:solidFill>
                  </a:rPr>
                  <a:t> to the level of skew in the output distribution</a:t>
                </a:r>
                <a:endParaRPr lang="en-IN" sz="2800">
                  <a:solidFill>
                    <a:schemeClr val="tx1"/>
                  </a:solidFill>
                </a:endParaRPr>
              </a:p>
            </p:txBody>
          </p:sp>
        </mc:Choice>
        <mc:Fallback xmlns="">
          <p:sp>
            <p:nvSpPr>
              <p:cNvPr id="7" name="Rectangle: Rounded Corners 6"/>
              <p:cNvSpPr>
                <a:spLocks noRot="1" noChangeAspect="1" noMove="1" noResize="1" noEditPoints="1" noAdjustHandles="1" noChangeArrowheads="1" noChangeShapeType="1" noTextEdit="1"/>
              </p:cNvSpPr>
              <p:nvPr/>
            </p:nvSpPr>
            <p:spPr>
              <a:xfrm>
                <a:off x="7525463" y="1232241"/>
                <a:ext cx="4058566" cy="1995053"/>
              </a:xfrm>
              <a:prstGeom prst="roundRect">
                <a:avLst/>
              </a:prstGeom>
              <a:blipFill rotWithShape="1">
                <a:blip r:embed="rId5"/>
                <a:stretch>
                  <a:fillRect l="-158" t="-335" r="-148" b="-307"/>
                </a:stretch>
              </a:blip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1021976" y="2131970"/>
                <a:ext cx="1477007" cy="369332"/>
              </a:xfrm>
              <a:prstGeom prst="rect">
                <a:avLst/>
              </a:prstGeom>
              <a:noFill/>
            </p:spPr>
            <p:txBody>
              <a:bodyPr wrap="none" rtlCol="0">
                <a:spAutoFit/>
              </a:bodyPr>
              <a:lstStyle/>
              <a:p>
                <a:r>
                  <a:rPr lang="en-US"/>
                  <a:t>Need large </a:t>
                </a:r>
                <a14:m>
                  <m:oMath xmlns:m="http://schemas.openxmlformats.org/officeDocument/2006/math">
                    <m:r>
                      <a:rPr lang="en-US" b="0" i="1" dirty="0" smtClean="0">
                        <a:latin typeface="Cambria Math" panose="02040503050406030204" pitchFamily="18" charset="0"/>
                      </a:rPr>
                      <m:t>𝐾</m:t>
                    </m:r>
                  </m:oMath>
                </a14:m>
                <a:r>
                  <a:rPr lang="en-US"/>
                  <a:t> </a:t>
                </a:r>
                <a:endParaRPr lang="en-IN"/>
              </a:p>
            </p:txBody>
          </p:sp>
        </mc:Choice>
        <mc:Fallback xmlns="">
          <p:sp>
            <p:nvSpPr>
              <p:cNvPr id="9" name="TextBox 8"/>
              <p:cNvSpPr txBox="1">
                <a:spLocks noRot="1" noChangeAspect="1" noMove="1" noResize="1" noEditPoints="1" noAdjustHandles="1" noChangeArrowheads="1" noChangeShapeType="1" noTextEdit="1"/>
              </p:cNvSpPr>
              <p:nvPr/>
            </p:nvSpPr>
            <p:spPr>
              <a:xfrm>
                <a:off x="1021976" y="2131970"/>
                <a:ext cx="1477007" cy="369332"/>
              </a:xfrm>
              <a:prstGeom prst="rect">
                <a:avLst/>
              </a:prstGeom>
              <a:blipFill rotWithShape="1">
                <a:blip r:embed="rId6"/>
                <a:stretch>
                  <a:fillRect l="-18" t="-74" r="-13224" b="10"/>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5024305" y="2131970"/>
                <a:ext cx="1504514" cy="369332"/>
              </a:xfrm>
              <a:prstGeom prst="rect">
                <a:avLst/>
              </a:prstGeom>
              <a:noFill/>
            </p:spPr>
            <p:txBody>
              <a:bodyPr wrap="none" rtlCol="0">
                <a:spAutoFit/>
              </a:bodyPr>
              <a:lstStyle/>
              <a:p>
                <a:r>
                  <a:rPr lang="en-US"/>
                  <a:t>Need small </a:t>
                </a:r>
                <a14:m>
                  <m:oMath xmlns:m="http://schemas.openxmlformats.org/officeDocument/2006/math">
                    <m:r>
                      <a:rPr lang="en-US" b="0" i="1" dirty="0" smtClean="0">
                        <a:latin typeface="Cambria Math" panose="02040503050406030204" pitchFamily="18" charset="0"/>
                      </a:rPr>
                      <m:t>𝐾</m:t>
                    </m:r>
                  </m:oMath>
                </a14:m>
                <a:r>
                  <a:rPr lang="en-US"/>
                  <a:t> </a:t>
                </a:r>
                <a:endParaRPr lang="en-IN"/>
              </a:p>
            </p:txBody>
          </p:sp>
        </mc:Choice>
        <mc:Fallback xmlns="">
          <p:sp>
            <p:nvSpPr>
              <p:cNvPr id="10" name="TextBox 9"/>
              <p:cNvSpPr txBox="1">
                <a:spLocks noRot="1" noChangeAspect="1" noMove="1" noResize="1" noEditPoints="1" noAdjustHandles="1" noChangeArrowheads="1" noChangeShapeType="1" noTextEdit="1"/>
              </p:cNvSpPr>
              <p:nvPr/>
            </p:nvSpPr>
            <p:spPr>
              <a:xfrm>
                <a:off x="5024305" y="2131970"/>
                <a:ext cx="1504514" cy="369332"/>
              </a:xfrm>
              <a:prstGeom prst="rect">
                <a:avLst/>
              </a:prstGeom>
              <a:blipFill rotWithShape="1">
                <a:blip r:embed="rId7"/>
                <a:stretch>
                  <a:fillRect l="-12" t="-74" r="-12847" b="10"/>
                </a:stretch>
              </a:blipFill>
            </p:spPr>
            <p:txBody>
              <a:bodyPr/>
              <a:lstStyle/>
              <a:p>
                <a:r>
                  <a:rPr lang="en-US" altLang="en-US">
                    <a:noFill/>
                  </a:rPr>
                  <a:t> </a:t>
                </a:r>
              </a:p>
            </p:txBody>
          </p:sp>
        </mc:Fallback>
      </mc:AlternateContent>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RNN (and transformer) network topologies</a:t>
            </a:r>
          </a:p>
        </p:txBody>
      </p:sp>
      <p:sp>
        <p:nvSpPr>
          <p:cNvPr id="3" name="Text Placeholder 2"/>
          <p:cNvSpPr>
            <a:spLocks noGrp="1"/>
          </p:cNvSpPr>
          <p:nvPr>
            <p:ph type="body" idx="1"/>
          </p:nvPr>
        </p:nvSpPr>
        <p:spPr/>
        <p:txBody>
          <a:bodyPr/>
          <a:lstStyle/>
          <a:p>
            <a:r>
              <a:rPr lang="en-US"/>
              <a:t>Next, we will discuss how to generalize RNNs into bidirectional RNNs in (typically encoding) situations where right context can be exploited</a:t>
            </a:r>
          </a:p>
          <a:p>
            <a:r>
              <a:rPr lang="en-US"/>
              <a:t>Finally, we will lay out a nomenclature for various network topologies around RNNs (and for later use, transformers)</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Multi-layer and bidirectional RNNs</a:t>
            </a:r>
          </a:p>
        </p:txBody>
      </p:sp>
      <p:sp>
        <p:nvSpPr>
          <p:cNvPr id="2" name="Text Placeholder 1"/>
          <p:cNvSpPr>
            <a:spLocks noGrp="1"/>
          </p:cNvSpPr>
          <p:nvPr>
            <p:ph type="body" idx="1"/>
          </p:nvPr>
        </p:nvSpPr>
        <p:spPr>
          <a:xfrm>
            <a:off x="74930" y="5323840"/>
            <a:ext cx="12055475" cy="1449070"/>
          </a:xfrm>
        </p:spPr>
        <p:txBody>
          <a:bodyPr/>
          <a:lstStyle/>
          <a:p>
            <a:r>
              <a:rPr lang="en-US"/>
              <a:t>Bidirectional can be used in encoder-only mode</a:t>
            </a:r>
          </a:p>
          <a:p>
            <a:r>
              <a:rPr lang="en-US"/>
              <a:t>Collects both left and right context at each token</a:t>
            </a:r>
          </a:p>
        </p:txBody>
      </p:sp>
      <p:pic>
        <p:nvPicPr>
          <p:cNvPr id="6" name="Picture 5"/>
          <p:cNvPicPr>
            <a:picLocks noChangeAspect="1"/>
          </p:cNvPicPr>
          <p:nvPr/>
        </p:nvPicPr>
        <p:blipFill>
          <a:blip r:embed="rId2"/>
          <a:stretch>
            <a:fillRect/>
          </a:stretch>
        </p:blipFill>
        <p:spPr>
          <a:xfrm>
            <a:off x="491490" y="912495"/>
            <a:ext cx="9290685" cy="4367530"/>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a:t>Sentence pair tasks</a:t>
            </a:r>
          </a:p>
        </p:txBody>
      </p:sp>
      <p:sp>
        <p:nvSpPr>
          <p:cNvPr id="5" name="Content Placeholder 4"/>
          <p:cNvSpPr>
            <a:spLocks noGrp="1"/>
          </p:cNvSpPr>
          <p:nvPr>
            <p:ph idx="1"/>
          </p:nvPr>
        </p:nvSpPr>
        <p:spPr>
          <a:xfrm>
            <a:off x="310515" y="843915"/>
            <a:ext cx="11570970" cy="2572385"/>
          </a:xfrm>
        </p:spPr>
        <p:txBody>
          <a:bodyPr>
            <a:normAutofit fontScale="95000"/>
          </a:bodyPr>
          <a:lstStyle/>
          <a:p>
            <a:r>
              <a:rPr lang="en-US"/>
              <a:t>Pair classification (e.g. implication, next sentence)</a:t>
            </a:r>
          </a:p>
          <a:p>
            <a:r>
              <a:rPr lang="en-US"/>
              <a:t>Translation (primed generation)</a:t>
            </a:r>
          </a:p>
          <a:p>
            <a:r>
              <a:rPr lang="en-US"/>
              <a:t>Question answering (can be regarded as either classification or generation)</a:t>
            </a:r>
          </a:p>
        </p:txBody>
      </p:sp>
      <p:pic>
        <p:nvPicPr>
          <p:cNvPr id="6" name="Picture 5"/>
          <p:cNvPicPr>
            <a:picLocks noChangeAspect="1"/>
          </p:cNvPicPr>
          <p:nvPr/>
        </p:nvPicPr>
        <p:blipFill>
          <a:blip r:embed="rId2"/>
          <a:stretch>
            <a:fillRect/>
          </a:stretch>
        </p:blipFill>
        <p:spPr>
          <a:xfrm>
            <a:off x="0" y="3765550"/>
            <a:ext cx="4080510" cy="2334895"/>
          </a:xfrm>
          <a:prstGeom prst="rect">
            <a:avLst/>
          </a:prstGeom>
        </p:spPr>
      </p:pic>
      <p:pic>
        <p:nvPicPr>
          <p:cNvPr id="7" name="Picture 6"/>
          <p:cNvPicPr>
            <a:picLocks noChangeAspect="1"/>
          </p:cNvPicPr>
          <p:nvPr/>
        </p:nvPicPr>
        <p:blipFill>
          <a:blip r:embed="rId3"/>
          <a:stretch>
            <a:fillRect/>
          </a:stretch>
        </p:blipFill>
        <p:spPr>
          <a:xfrm>
            <a:off x="8660765" y="3416300"/>
            <a:ext cx="3475355" cy="2943225"/>
          </a:xfrm>
          <a:prstGeom prst="rect">
            <a:avLst/>
          </a:prstGeom>
        </p:spPr>
      </p:pic>
      <p:pic>
        <p:nvPicPr>
          <p:cNvPr id="8" name="Picture 7"/>
          <p:cNvPicPr>
            <a:picLocks noChangeAspect="1"/>
          </p:cNvPicPr>
          <p:nvPr/>
        </p:nvPicPr>
        <p:blipFill>
          <a:blip r:embed="rId4"/>
          <a:stretch>
            <a:fillRect/>
          </a:stretch>
        </p:blipFill>
        <p:spPr>
          <a:xfrm>
            <a:off x="4335780" y="3977005"/>
            <a:ext cx="4069715" cy="1708785"/>
          </a:xfrm>
          <a:prstGeom prst="rect">
            <a:avLst/>
          </a:prstGeom>
        </p:spPr>
      </p:pic>
      <mc:AlternateContent xmlns:mc="http://schemas.openxmlformats.org/markup-compatibility/2006" xmlns:p14="http://schemas.microsoft.com/office/powerpoint/2010/main">
        <mc:Choice Requires="p14">
          <p:contentPart p14:bwMode="auto" r:id="rId5">
            <p14:nvContentPartPr>
              <p14:cNvPr id="2" name="Ink 1"/>
              <p14:cNvContentPartPr/>
              <p14:nvPr/>
            </p14:nvContentPartPr>
            <p14:xfrm>
              <a:off x="527040" y="3501000"/>
              <a:ext cx="10851120" cy="3505320"/>
            </p14:xfrm>
          </p:contentPart>
        </mc:Choice>
        <mc:Fallback xmlns="">
          <p:pic>
            <p:nvPicPr>
              <p:cNvPr id="2" name="Ink 1"/>
            </p:nvPicPr>
            <p:blipFill>
              <a:blip r:embed="rId6"/>
            </p:blipFill>
            <p:spPr>
              <a:xfrm>
                <a:off x="527040" y="3501000"/>
                <a:ext cx="10851120" cy="3505320"/>
              </a:xfrm>
              <a:prstGeom prst="rect"/>
            </p:spPr>
          </p:pic>
        </mc:Fallback>
      </mc:AlternateContent>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Sequence network nomenclature</a:t>
            </a:r>
          </a:p>
        </p:txBody>
      </p:sp>
      <p:sp>
        <p:nvSpPr>
          <p:cNvPr id="4" name="Content Placeholder 3"/>
          <p:cNvSpPr>
            <a:spLocks noGrp="1"/>
          </p:cNvSpPr>
          <p:nvPr>
            <p:ph idx="1"/>
          </p:nvPr>
        </p:nvSpPr>
        <p:spPr>
          <a:xfrm>
            <a:off x="310515" y="4846955"/>
            <a:ext cx="11570970" cy="1645285"/>
          </a:xfrm>
        </p:spPr>
        <p:txBody>
          <a:bodyPr/>
          <a:lstStyle/>
          <a:p>
            <a:r>
              <a:rPr lang="en-US" sz="4000"/>
              <a:t>Classification/tagging, generation, translation</a:t>
            </a:r>
          </a:p>
          <a:p>
            <a:r>
              <a:rPr lang="en-US" sz="4000"/>
              <a:t>Encoder can look ahead, decoder cannot</a:t>
            </a:r>
          </a:p>
        </p:txBody>
      </p:sp>
      <p:pic>
        <p:nvPicPr>
          <p:cNvPr id="3" name="Picture 2"/>
          <p:cNvPicPr>
            <a:picLocks noChangeAspect="1"/>
          </p:cNvPicPr>
          <p:nvPr/>
        </p:nvPicPr>
        <p:blipFill>
          <a:blip r:embed="rId2"/>
          <a:stretch>
            <a:fillRect/>
          </a:stretch>
        </p:blipFill>
        <p:spPr>
          <a:xfrm>
            <a:off x="140970" y="999490"/>
            <a:ext cx="11929110" cy="3634740"/>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p14:cNvContentPartPr/>
              <p14:nvPr/>
            </p14:nvContentPartPr>
            <p14:xfrm>
              <a:off x="6853320" y="1193040"/>
              <a:ext cx="4708080" cy="2822040"/>
            </p14:xfrm>
          </p:contentPart>
        </mc:Choice>
        <mc:Fallback xmlns="">
          <p:pic>
            <p:nvPicPr>
              <p:cNvPr id="5" name="Ink 4"/>
            </p:nvPicPr>
            <p:blipFill>
              <a:blip r:embed="rId4"/>
            </p:blipFill>
            <p:spPr>
              <a:xfrm>
                <a:off x="6853320" y="1193040"/>
                <a:ext cx="4708080" cy="2822040"/>
              </a:xfrm>
              <a:prstGeom prst="rect"/>
            </p:spPr>
          </p:pic>
        </mc:Fallback>
      </mc:AlternateContent>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Summary and outlook</a:t>
            </a:r>
          </a:p>
        </p:txBody>
      </p:sp>
      <p:sp>
        <p:nvSpPr>
          <p:cNvPr id="3" name="Text Placeholder 2"/>
          <p:cNvSpPr>
            <a:spLocks noGrp="1"/>
          </p:cNvSpPr>
          <p:nvPr>
            <p:ph type="body" idx="1"/>
          </p:nvPr>
        </p:nvSpPr>
        <p:spPr/>
        <p:txBody>
          <a:bodyPr>
            <a:normAutofit fontScale="70000"/>
          </a:bodyPr>
          <a:lstStyle/>
          <a:p>
            <a:r>
              <a:rPr lang="en-US"/>
              <a:t>A passage can be encoded by looking up context-independent word2vec or GloVE vectors of each token</a:t>
            </a:r>
          </a:p>
          <a:p>
            <a:r>
              <a:rPr lang="en-US"/>
              <a:t>Lack of contextualization is a serious limitation, particularly for ambiguous words</a:t>
            </a:r>
          </a:p>
          <a:p>
            <a:r>
              <a:rPr lang="en-US"/>
              <a:t>Contextualization entails some form of aggregation</a:t>
            </a:r>
          </a:p>
          <a:p>
            <a:r>
              <a:rPr lang="en-US"/>
              <a:t>Order-independent aggregation is weak</a:t>
            </a:r>
          </a:p>
          <a:p>
            <a:r>
              <a:rPr lang="en-US"/>
              <a:t>We looked at two mechanisms: CNN and RNN</a:t>
            </a:r>
          </a:p>
          <a:p>
            <a:r>
              <a:rPr lang="en-US"/>
              <a:t>Single, fixed-length encoding of passage may not be good enough</a:t>
            </a:r>
          </a:p>
          <a:p>
            <a:r>
              <a:rPr lang="en-US"/>
              <a:t>RNNs can be used also as decoders</a:t>
            </a:r>
          </a:p>
          <a:p>
            <a:r>
              <a:rPr lang="en-US"/>
              <a:t>But this can complicate training</a:t>
            </a:r>
          </a:p>
          <a:p>
            <a:r>
              <a:rPr lang="en-US"/>
              <a:t>Chaining encoder to decoder places heavy burden on fixed-length state</a:t>
            </a:r>
          </a:p>
          <a:p>
            <a:r>
              <a:rPr lang="en-US"/>
              <a:t>Can make use of all encoder states in decoder </a:t>
            </a:r>
            <a:r>
              <a:rPr lang="en-US">
                <a:latin typeface="Arial" panose="020B0604020202020204" pitchFamily="34" charset="0"/>
                <a:cs typeface="Arial" panose="020B0604020202020204" pitchFamily="34" charset="0"/>
              </a:rPr>
              <a:t>… attention (next)</a:t>
            </a:r>
          </a:p>
        </p:txBody>
      </p:sp>
    </p:spTree>
  </p:cSld>
  <p:clrMapOvr>
    <a:masterClrMapping/>
  </p:clrMapOvr>
</p:sld>
</file>

<file path=ppt/theme/theme1.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Clear Sans"/>
        <a:ea typeface=""/>
        <a:cs typeface=""/>
        <a:font script="Jpan" typeface="ＭＳ ゴシック"/>
        <a:font script="Hang" typeface="굴림"/>
        <a:font script="Hans" typeface="宋体"/>
        <a:font script="Hant" typeface="新細明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30168</Words>
  <Application>Microsoft Office PowerPoint</Application>
  <PresentationFormat>Widescreen</PresentationFormat>
  <Paragraphs>1630</Paragraphs>
  <Slides>80</Slides>
  <Notes>6</Notes>
  <HiddenSlides>2</HiddenSlides>
  <MMClips>0</MMClips>
  <ScaleCrop>false</ScaleCrop>
  <HeadingPairs>
    <vt:vector size="4" baseType="variant">
      <vt:variant>
        <vt:lpstr>Theme</vt:lpstr>
      </vt:variant>
      <vt:variant>
        <vt:i4>1</vt:i4>
      </vt:variant>
      <vt:variant>
        <vt:lpstr>Slide Titles</vt:lpstr>
      </vt:variant>
      <vt:variant>
        <vt:i4>80</vt:i4>
      </vt:variant>
    </vt:vector>
  </HeadingPairs>
  <TitlesOfParts>
    <vt:vector size="81" baseType="lpstr">
      <vt:lpstr>2_Office Theme</vt:lpstr>
      <vt:lpstr>Word and Passage Embeddings</vt:lpstr>
      <vt:lpstr>The company words keep</vt:lpstr>
      <vt:lpstr>Distributional word bags</vt:lpstr>
      <vt:lpstr>Distributional vectors (DVs)</vt:lpstr>
      <vt:lpstr>Clustering and rank</vt:lpstr>
      <vt:lpstr>Low-rank structure of DVs</vt:lpstr>
      <vt:lpstr>Orthogonal highest variance subspace</vt:lpstr>
      <vt:lpstr>Equivalent decomposition of X</vt:lpstr>
      <vt:lpstr>Passage window</vt:lpstr>
      <vt:lpstr>word2vec (2013)</vt:lpstr>
      <vt:lpstr>Probability model</vt:lpstr>
      <vt:lpstr>Why two embeddings u_w, v_w  per word?</vt:lpstr>
      <vt:lpstr>Further comments on u_w, v_w</vt:lpstr>
      <vt:lpstr>word2vec bulk training</vt:lpstr>
      <vt:lpstr>Stochastic gradient ascent</vt:lpstr>
      <vt:lpstr>Solution</vt:lpstr>
      <vt:lpstr>Pointwise mutual information (PMI)</vt:lpstr>
      <vt:lpstr>Solution, continued</vt:lpstr>
      <vt:lpstr>Relation ≈ linear translation</vt:lpstr>
      <vt:lpstr>GloVe (Global Vectors)</vt:lpstr>
      <vt:lpstr>GloVe model design</vt:lpstr>
      <vt:lpstr>GloVe: finishing up</vt:lpstr>
      <vt:lpstr>Word vector evaluation (two forms)</vt:lpstr>
      <vt:lpstr>Fixed-size passage vector</vt:lpstr>
      <vt:lpstr>1d convnet for text</vt:lpstr>
      <vt:lpstr>1d convnet for text</vt:lpstr>
      <vt:lpstr>1d convnet for text</vt:lpstr>
      <vt:lpstr>1d convnet for text</vt:lpstr>
      <vt:lpstr>1d convnet for text</vt:lpstr>
      <vt:lpstr>1d convnet for text</vt:lpstr>
      <vt:lpstr>1d convnet, multiple channels/‘heads’</vt:lpstr>
      <vt:lpstr>1d convnet, multiple stencils</vt:lpstr>
      <vt:lpstr>Applications of passage representation</vt:lpstr>
      <vt:lpstr>Contextual word embeddings</vt:lpstr>
      <vt:lpstr>Contextualization</vt:lpstr>
      <vt:lpstr>Contextual word embeddings</vt:lpstr>
      <vt:lpstr>Encoding and decoding sequences</vt:lpstr>
      <vt:lpstr>Encoding granularity</vt:lpstr>
      <vt:lpstr>Recurrent network template</vt:lpstr>
      <vt:lpstr>Typical Elman RNN cell design</vt:lpstr>
      <vt:lpstr>Typical Jordan RNN cell</vt:lpstr>
      <vt:lpstr>Vanishing gradient intuition</vt:lpstr>
      <vt:lpstr>Vanishing gradient intuition</vt:lpstr>
      <vt:lpstr>Vanishing gradient intuition</vt:lpstr>
      <vt:lpstr>Vanishing gradient intuition</vt:lpstr>
      <vt:lpstr>Vanishing gradient intuition</vt:lpstr>
      <vt:lpstr>Vanishing gradient proof sketch (linear case)</vt:lpstr>
      <vt:lpstr>Vanishing gradient proof sketch (linear case)</vt:lpstr>
      <vt:lpstr>Remedy: Extending RNN with gating</vt:lpstr>
      <vt:lpstr>Encoder chained to decoder for seq2seq</vt:lpstr>
      <vt:lpstr>Decoder cannot handle the workload</vt:lpstr>
      <vt:lpstr>A better chaining of RNN decoder</vt:lpstr>
      <vt:lpstr>Hard decisions in soft networks</vt:lpstr>
      <vt:lpstr>PowerPoint Presentation</vt:lpstr>
      <vt:lpstr>Improving backprop in the face of sampling</vt:lpstr>
      <vt:lpstr>Back to challenges of large output vocabulary</vt:lpstr>
      <vt:lpstr>Greedy decoding</vt:lpstr>
      <vt:lpstr>Beam search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importance of exploration (sampling)</vt:lpstr>
      <vt:lpstr>Sampling</vt:lpstr>
      <vt:lpstr>Top-K sampling (GPT2)</vt:lpstr>
      <vt:lpstr>Arbitrary K to nucleus sampling</vt:lpstr>
      <vt:lpstr>RNN (and transformer) network topologies</vt:lpstr>
      <vt:lpstr>Multi-layer and bidirectional RNNs</vt:lpstr>
      <vt:lpstr>Sentence pair tasks</vt:lpstr>
      <vt:lpstr>Sequence network nomenclature</vt:lpstr>
      <vt:lpstr>Summary and outlook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Organizing Web Information (CS728, Spring 2021)</dc:title>
  <dc:creator>Soumen Chakrabarti</dc:creator>
  <cp:lastModifiedBy>Soumen Chakrabarti</cp:lastModifiedBy>
  <cp:revision>79</cp:revision>
  <dcterms:created xsi:type="dcterms:W3CDTF">2026-02-10T08:42:57Z</dcterms:created>
  <dcterms:modified xsi:type="dcterms:W3CDTF">2026-02-10T09:17:21Z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1033-11.1.0.11723</vt:lpwstr>
  </property>
</Properties>
</file>