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386" r:id="rId3"/>
    <p:sldId id="555" r:id="rId4"/>
    <p:sldId id="629" r:id="rId5"/>
    <p:sldId id="680" r:id="rId6"/>
    <p:sldId id="678" r:id="rId7"/>
    <p:sldId id="670" r:id="rId8"/>
    <p:sldId id="671" r:id="rId9"/>
    <p:sldId id="673" r:id="rId10"/>
    <p:sldId id="674" r:id="rId11"/>
    <p:sldId id="630" r:id="rId12"/>
    <p:sldId id="631" r:id="rId13"/>
    <p:sldId id="632" r:id="rId14"/>
    <p:sldId id="633" r:id="rId15"/>
    <p:sldId id="634" r:id="rId16"/>
    <p:sldId id="635" r:id="rId17"/>
    <p:sldId id="636" r:id="rId18"/>
    <p:sldId id="637" r:id="rId19"/>
    <p:sldId id="679" r:id="rId20"/>
    <p:sldId id="638" r:id="rId21"/>
    <p:sldId id="659" r:id="rId22"/>
    <p:sldId id="639" r:id="rId23"/>
    <p:sldId id="640" r:id="rId24"/>
    <p:sldId id="642" r:id="rId25"/>
    <p:sldId id="641" r:id="rId26"/>
    <p:sldId id="643" r:id="rId27"/>
    <p:sldId id="644" r:id="rId28"/>
    <p:sldId id="647" r:id="rId29"/>
    <p:sldId id="646" r:id="rId30"/>
    <p:sldId id="648" r:id="rId31"/>
    <p:sldId id="676" r:id="rId32"/>
    <p:sldId id="662" r:id="rId33"/>
    <p:sldId id="663" r:id="rId34"/>
    <p:sldId id="664" r:id="rId35"/>
    <p:sldId id="667" r:id="rId36"/>
    <p:sldId id="668" r:id="rId37"/>
    <p:sldId id="665" r:id="rId38"/>
    <p:sldId id="666" r:id="rId39"/>
    <p:sldId id="669" r:id="rId40"/>
    <p:sldId id="649" r:id="rId41"/>
    <p:sldId id="677" r:id="rId42"/>
    <p:sldId id="650" r:id="rId43"/>
    <p:sldId id="651" r:id="rId44"/>
    <p:sldId id="652" r:id="rId45"/>
    <p:sldId id="653" r:id="rId46"/>
    <p:sldId id="656" r:id="rId47"/>
    <p:sldId id="65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63CAA5-CFC1-4896-9A38-25641500CDCF}">
          <p14:sldIdLst>
            <p14:sldId id="386"/>
            <p14:sldId id="555"/>
            <p14:sldId id="629"/>
            <p14:sldId id="680"/>
            <p14:sldId id="678"/>
            <p14:sldId id="670"/>
            <p14:sldId id="671"/>
            <p14:sldId id="673"/>
            <p14:sldId id="674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79"/>
            <p14:sldId id="638"/>
            <p14:sldId id="639"/>
            <p14:sldId id="640"/>
            <p14:sldId id="641"/>
            <p14:sldId id="644"/>
            <p14:sldId id="647"/>
            <p14:sldId id="646"/>
            <p14:sldId id="676"/>
            <p14:sldId id="662"/>
            <p14:sldId id="663"/>
            <p14:sldId id="667"/>
            <p14:sldId id="649"/>
            <p14:sldId id="677"/>
            <p14:sldId id="652"/>
            <p14:sldId id="656"/>
            <p14:sldId id="655"/>
            <p14:sldId id="659"/>
            <p14:sldId id="642"/>
            <p14:sldId id="643"/>
            <p14:sldId id="651"/>
            <p14:sldId id="648"/>
            <p14:sldId id="669"/>
            <p14:sldId id="664"/>
            <p14:sldId id="668"/>
            <p14:sldId id="665"/>
            <p14:sldId id="666"/>
            <p14:sldId id="650"/>
            <p14:sldId id="65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22" autoAdjust="0"/>
    <p:restoredTop sz="94658"/>
  </p:normalViewPr>
  <p:slideViewPr>
    <p:cSldViewPr snapToGrid="0" showGuides="1">
      <p:cViewPr varScale="1">
        <p:scale>
          <a:sx n="87" d="100"/>
          <a:sy n="87" d="100"/>
        </p:scale>
        <p:origin x="224" y="904"/>
      </p:cViewPr>
      <p:guideLst>
        <p:guide orient="horz" pos="2520"/>
        <p:guide pos="628"/>
        <p:guide pos="6766"/>
        <p:guide orient="horz" pos="3404"/>
        <p:guide pos="11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CA84F-6EEE-42B7-A60F-67EF5EF4C540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A09B6F9-24C3-4B5D-8455-88F262EAEEDF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Alignment Objective</a:t>
          </a:r>
        </a:p>
      </dgm:t>
    </dgm:pt>
    <dgm:pt modelId="{CEDF6B38-B5C3-4ECE-ADEE-63DD92ECBD99}" cxnId="{72D47DEB-1BC4-4C07-AECB-17D7AB2FA41C}" type="parTrans">
      <dgm:prSet/>
      <dgm:spPr/>
      <dgm:t>
        <a:bodyPr/>
        <a:lstStyle/>
        <a:p>
          <a:endParaRPr lang="en-US"/>
        </a:p>
      </dgm:t>
    </dgm:pt>
    <dgm:pt modelId="{DC23E264-9727-417C-BEDD-171AC562780B}" cxnId="{72D47DEB-1BC4-4C07-AECB-17D7AB2FA41C}" type="sibTrans">
      <dgm:prSet/>
      <dgm:spPr/>
      <dgm:t>
        <a:bodyPr/>
        <a:lstStyle/>
        <a:p>
          <a:endParaRPr lang="en-US"/>
        </a:p>
      </dgm:t>
    </dgm:pt>
    <dgm:pt modelId="{8E905611-712F-4910-9B6A-F20F3AF80C77}">
      <dgm:prSet/>
      <dgm:spPr/>
      <dgm:t>
        <a:bodyPr/>
        <a:lstStyle/>
        <a:p>
          <a:r>
            <a:rPr lang="en-US" dirty="0"/>
            <a:t>Reward Maximization – Policy Gradient, PPO (also referred to as PPO-RLHF), GRPO</a:t>
          </a:r>
        </a:p>
      </dgm:t>
    </dgm:pt>
    <dgm:pt modelId="{2EC6CB98-43AF-4AA6-A0BE-251E61F42868}" cxnId="{3AE46182-BF47-4A97-80F8-422D74516408}" type="parTrans">
      <dgm:prSet/>
      <dgm:spPr/>
      <dgm:t>
        <a:bodyPr/>
        <a:lstStyle/>
        <a:p>
          <a:endParaRPr lang="en-US"/>
        </a:p>
      </dgm:t>
    </dgm:pt>
    <dgm:pt modelId="{14B60BB1-D69B-4258-B45B-C361A9783A72}" cxnId="{3AE46182-BF47-4A97-80F8-422D74516408}" type="sibTrans">
      <dgm:prSet/>
      <dgm:spPr/>
      <dgm:t>
        <a:bodyPr/>
        <a:lstStyle/>
        <a:p>
          <a:endParaRPr lang="en-US"/>
        </a:p>
      </dgm:t>
    </dgm:pt>
    <dgm:pt modelId="{A8D4B071-3250-4E44-90DC-D7F2F7FF1CA2}">
      <dgm:prSet/>
      <dgm:spPr/>
      <dgm:t>
        <a:bodyPr/>
        <a:lstStyle/>
        <a:p>
          <a:r>
            <a:rPr lang="en-US" dirty="0"/>
            <a:t>Contrastive Learning – DPO &amp; its variants</a:t>
          </a:r>
        </a:p>
      </dgm:t>
    </dgm:pt>
    <dgm:pt modelId="{F0F608F1-86FF-46BE-8EF9-023EA00B1D3D}" cxnId="{1A4D3582-663A-4A1B-865D-DCD62C44B6FD}" type="parTrans">
      <dgm:prSet/>
      <dgm:spPr/>
      <dgm:t>
        <a:bodyPr/>
        <a:lstStyle/>
        <a:p>
          <a:endParaRPr lang="en-US"/>
        </a:p>
      </dgm:t>
    </dgm:pt>
    <dgm:pt modelId="{A3032E18-FF8A-4793-BEA4-ABB5F8491E5C}" cxnId="{1A4D3582-663A-4A1B-865D-DCD62C44B6FD}" type="sibTrans">
      <dgm:prSet/>
      <dgm:spPr/>
      <dgm:t>
        <a:bodyPr/>
        <a:lstStyle/>
        <a:p>
          <a:endParaRPr lang="en-US"/>
        </a:p>
      </dgm:t>
    </dgm:pt>
    <dgm:pt modelId="{E46A896C-57A5-4198-AE70-355FD22AC010}">
      <dgm:prSet/>
      <dgm:spPr/>
      <dgm:t>
        <a:bodyPr/>
        <a:lstStyle/>
        <a:p>
          <a:r>
            <a:rPr lang="en-US"/>
            <a:t>Distribution Matching – DPG, BRAIn</a:t>
          </a:r>
        </a:p>
      </dgm:t>
    </dgm:pt>
    <dgm:pt modelId="{F2841F1E-D26A-4D8B-97A4-AD2A5DBC6A5F}" cxnId="{4CF6E9F3-DB09-469B-92F1-02C82092B6E9}" type="parTrans">
      <dgm:prSet/>
      <dgm:spPr/>
      <dgm:t>
        <a:bodyPr/>
        <a:lstStyle/>
        <a:p>
          <a:endParaRPr lang="en-US"/>
        </a:p>
      </dgm:t>
    </dgm:pt>
    <dgm:pt modelId="{A4632242-F302-4266-9BAB-826F9AFCEA48}" cxnId="{4CF6E9F3-DB09-469B-92F1-02C82092B6E9}" type="sibTrans">
      <dgm:prSet/>
      <dgm:spPr/>
      <dgm:t>
        <a:bodyPr/>
        <a:lstStyle/>
        <a:p>
          <a:endParaRPr lang="en-US"/>
        </a:p>
      </dgm:t>
    </dgm:pt>
    <dgm:pt modelId="{3A846780-6BE6-4AC1-9192-FE518FE018A3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Online/Offline</a:t>
          </a:r>
        </a:p>
      </dgm:t>
    </dgm:pt>
    <dgm:pt modelId="{33A1E684-017C-47FE-9488-4B8677769C84}" cxnId="{75A9F2EE-260A-4C93-98C4-DE6AA1D112C4}" type="parTrans">
      <dgm:prSet/>
      <dgm:spPr/>
      <dgm:t>
        <a:bodyPr/>
        <a:lstStyle/>
        <a:p>
          <a:endParaRPr lang="en-US"/>
        </a:p>
      </dgm:t>
    </dgm:pt>
    <dgm:pt modelId="{69783980-E850-4226-993C-498950031B36}" cxnId="{75A9F2EE-260A-4C93-98C4-DE6AA1D112C4}" type="sibTrans">
      <dgm:prSet/>
      <dgm:spPr/>
      <dgm:t>
        <a:bodyPr/>
        <a:lstStyle/>
        <a:p>
          <a:endParaRPr lang="en-US"/>
        </a:p>
      </dgm:t>
    </dgm:pt>
    <dgm:pt modelId="{1FD99D6B-75FE-489F-9411-9BB2791C83F9}">
      <dgm:prSet/>
      <dgm:spPr/>
      <dgm:t>
        <a:bodyPr/>
        <a:lstStyle/>
        <a:p>
          <a:r>
            <a:rPr lang="en-US" dirty="0"/>
            <a:t>Online: Policy Gradient, PPO, GRPO</a:t>
          </a:r>
        </a:p>
      </dgm:t>
    </dgm:pt>
    <dgm:pt modelId="{828E4F53-95AA-4A84-95F0-70071139941C}" cxnId="{1C02BE43-FABB-465E-8601-7ACC6DE2C9E4}" type="parTrans">
      <dgm:prSet/>
      <dgm:spPr/>
      <dgm:t>
        <a:bodyPr/>
        <a:lstStyle/>
        <a:p>
          <a:endParaRPr lang="en-US"/>
        </a:p>
      </dgm:t>
    </dgm:pt>
    <dgm:pt modelId="{BFB727EF-DE2E-4B58-BA83-E49EFCA6F128}" cxnId="{1C02BE43-FABB-465E-8601-7ACC6DE2C9E4}" type="sibTrans">
      <dgm:prSet/>
      <dgm:spPr/>
      <dgm:t>
        <a:bodyPr/>
        <a:lstStyle/>
        <a:p>
          <a:endParaRPr lang="en-US"/>
        </a:p>
      </dgm:t>
    </dgm:pt>
    <dgm:pt modelId="{7B92ABB2-3815-42AD-AFEE-A9994F94A598}">
      <dgm:prSet/>
      <dgm:spPr/>
      <dgm:t>
        <a:bodyPr/>
        <a:lstStyle/>
        <a:p>
          <a:r>
            <a:rPr lang="en-US" dirty="0"/>
            <a:t>Offline: DPO, IPO, </a:t>
          </a:r>
          <a:r>
            <a:rPr lang="en-US" dirty="0" err="1"/>
            <a:t>SLiC</a:t>
          </a:r>
          <a:endParaRPr lang="en-US" dirty="0"/>
        </a:p>
      </dgm:t>
    </dgm:pt>
    <dgm:pt modelId="{BDEDCB39-F23F-4923-AAA6-18E64E483FF3}" cxnId="{ACC14109-4BCC-4FBE-AF9C-79769CEF864B}" type="parTrans">
      <dgm:prSet/>
      <dgm:spPr/>
      <dgm:t>
        <a:bodyPr/>
        <a:lstStyle/>
        <a:p>
          <a:endParaRPr lang="en-US"/>
        </a:p>
      </dgm:t>
    </dgm:pt>
    <dgm:pt modelId="{31F70E63-F24D-484F-B160-A9BF80DAB24D}" cxnId="{ACC14109-4BCC-4FBE-AF9C-79769CEF864B}" type="sibTrans">
      <dgm:prSet/>
      <dgm:spPr/>
      <dgm:t>
        <a:bodyPr/>
        <a:lstStyle/>
        <a:p>
          <a:endParaRPr lang="en-US"/>
        </a:p>
      </dgm:t>
    </dgm:pt>
    <dgm:pt modelId="{0FD46C6F-8CC7-4D55-8349-BE26BAA6537A}">
      <dgm:prSet/>
      <dgm:spPr/>
      <dgm:t>
        <a:bodyPr/>
        <a:lstStyle/>
        <a:p>
          <a:r>
            <a:rPr lang="en-US"/>
            <a:t>Mixed: Iterative DPO, BRAIn</a:t>
          </a:r>
        </a:p>
      </dgm:t>
    </dgm:pt>
    <dgm:pt modelId="{2BDEDDF0-5BC3-49F7-88A2-9427C003FADC}" cxnId="{6630DC8D-33B3-4C0D-A189-4B1C8E3B7AF3}" type="parTrans">
      <dgm:prSet/>
      <dgm:spPr/>
      <dgm:t>
        <a:bodyPr/>
        <a:lstStyle/>
        <a:p>
          <a:endParaRPr lang="en-US"/>
        </a:p>
      </dgm:t>
    </dgm:pt>
    <dgm:pt modelId="{8717A069-1C48-4372-AD87-E06E2C40ED91}" cxnId="{6630DC8D-33B3-4C0D-A189-4B1C8E3B7AF3}" type="sibTrans">
      <dgm:prSet/>
      <dgm:spPr/>
      <dgm:t>
        <a:bodyPr/>
        <a:lstStyle/>
        <a:p>
          <a:endParaRPr lang="en-US"/>
        </a:p>
      </dgm:t>
    </dgm:pt>
    <dgm:pt modelId="{1D90AC3F-D81B-8945-95F8-886FD61EBFD0}" type="pres">
      <dgm:prSet presAssocID="{8B1CA84F-6EEE-42B7-A60F-67EF5EF4C540}" presName="Name0" presStyleCnt="0">
        <dgm:presLayoutVars>
          <dgm:dir/>
          <dgm:animLvl val="lvl"/>
          <dgm:resizeHandles val="exact"/>
        </dgm:presLayoutVars>
      </dgm:prSet>
      <dgm:spPr/>
    </dgm:pt>
    <dgm:pt modelId="{51930A94-3A17-294D-A230-F519E8B0639A}" type="pres">
      <dgm:prSet presAssocID="{7A09B6F9-24C3-4B5D-8455-88F262EAEEDF}" presName="linNode" presStyleCnt="0"/>
      <dgm:spPr/>
    </dgm:pt>
    <dgm:pt modelId="{51151E48-78C3-454A-AB09-19B521E41CF8}" type="pres">
      <dgm:prSet presAssocID="{7A09B6F9-24C3-4B5D-8455-88F262EAEED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A010995-3D23-744B-BA79-F0F7330D7F61}" type="pres">
      <dgm:prSet presAssocID="{7A09B6F9-24C3-4B5D-8455-88F262EAEEDF}" presName="descendantText" presStyleLbl="alignAccFollowNode1" presStyleIdx="0" presStyleCnt="2">
        <dgm:presLayoutVars>
          <dgm:bulletEnabled val="1"/>
        </dgm:presLayoutVars>
      </dgm:prSet>
      <dgm:spPr/>
    </dgm:pt>
    <dgm:pt modelId="{4AD2835D-12AB-394A-9275-E07790371B27}" type="pres">
      <dgm:prSet presAssocID="{DC23E264-9727-417C-BEDD-171AC562780B}" presName="sp" presStyleCnt="0"/>
      <dgm:spPr/>
    </dgm:pt>
    <dgm:pt modelId="{3B8AE1EB-59F6-0046-83FA-2D0073E7ADEE}" type="pres">
      <dgm:prSet presAssocID="{3A846780-6BE6-4AC1-9192-FE518FE018A3}" presName="linNode" presStyleCnt="0"/>
      <dgm:spPr/>
    </dgm:pt>
    <dgm:pt modelId="{B46BDC6D-B574-9F47-9D47-C63965B69D4F}" type="pres">
      <dgm:prSet presAssocID="{3A846780-6BE6-4AC1-9192-FE518FE018A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F4BAA97-E520-4A41-A7A2-CC77E64F38AF}" type="pres">
      <dgm:prSet presAssocID="{3A846780-6BE6-4AC1-9192-FE518FE018A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CC14109-4BCC-4FBE-AF9C-79769CEF864B}" srcId="{3A846780-6BE6-4AC1-9192-FE518FE018A3}" destId="{7B92ABB2-3815-42AD-AFEE-A9994F94A598}" srcOrd="1" destOrd="0" parTransId="{BDEDCB39-F23F-4923-AAA6-18E64E483FF3}" sibTransId="{31F70E63-F24D-484F-B160-A9BF80DAB24D}"/>
    <dgm:cxn modelId="{69330212-4B25-7940-A669-745B2909089F}" type="presOf" srcId="{3A846780-6BE6-4AC1-9192-FE518FE018A3}" destId="{B46BDC6D-B574-9F47-9D47-C63965B69D4F}" srcOrd="0" destOrd="0" presId="urn:microsoft.com/office/officeart/2005/8/layout/vList5"/>
    <dgm:cxn modelId="{8EFDBC17-5EAD-9149-A003-DF0CE1FFD8D4}" type="presOf" srcId="{7B92ABB2-3815-42AD-AFEE-A9994F94A598}" destId="{FF4BAA97-E520-4A41-A7A2-CC77E64F38AF}" srcOrd="0" destOrd="1" presId="urn:microsoft.com/office/officeart/2005/8/layout/vList5"/>
    <dgm:cxn modelId="{1C02BE43-FABB-465E-8601-7ACC6DE2C9E4}" srcId="{3A846780-6BE6-4AC1-9192-FE518FE018A3}" destId="{1FD99D6B-75FE-489F-9411-9BB2791C83F9}" srcOrd="0" destOrd="0" parTransId="{828E4F53-95AA-4A84-95F0-70071139941C}" sibTransId="{BFB727EF-DE2E-4B58-BA83-E49EFCA6F128}"/>
    <dgm:cxn modelId="{29F48A60-A068-0E4D-AFC6-D275FA029316}" type="presOf" srcId="{0FD46C6F-8CC7-4D55-8349-BE26BAA6537A}" destId="{FF4BAA97-E520-4A41-A7A2-CC77E64F38AF}" srcOrd="0" destOrd="2" presId="urn:microsoft.com/office/officeart/2005/8/layout/vList5"/>
    <dgm:cxn modelId="{00F0956B-44CD-E04D-A732-A34DE3AACE1C}" type="presOf" srcId="{E46A896C-57A5-4198-AE70-355FD22AC010}" destId="{6A010995-3D23-744B-BA79-F0F7330D7F61}" srcOrd="0" destOrd="2" presId="urn:microsoft.com/office/officeart/2005/8/layout/vList5"/>
    <dgm:cxn modelId="{1A4D3582-663A-4A1B-865D-DCD62C44B6FD}" srcId="{7A09B6F9-24C3-4B5D-8455-88F262EAEEDF}" destId="{A8D4B071-3250-4E44-90DC-D7F2F7FF1CA2}" srcOrd="1" destOrd="0" parTransId="{F0F608F1-86FF-46BE-8EF9-023EA00B1D3D}" sibTransId="{A3032E18-FF8A-4793-BEA4-ABB5F8491E5C}"/>
    <dgm:cxn modelId="{3AE46182-BF47-4A97-80F8-422D74516408}" srcId="{7A09B6F9-24C3-4B5D-8455-88F262EAEEDF}" destId="{8E905611-712F-4910-9B6A-F20F3AF80C77}" srcOrd="0" destOrd="0" parTransId="{2EC6CB98-43AF-4AA6-A0BE-251E61F42868}" sibTransId="{14B60BB1-D69B-4258-B45B-C361A9783A72}"/>
    <dgm:cxn modelId="{6630DC8D-33B3-4C0D-A189-4B1C8E3B7AF3}" srcId="{3A846780-6BE6-4AC1-9192-FE518FE018A3}" destId="{0FD46C6F-8CC7-4D55-8349-BE26BAA6537A}" srcOrd="2" destOrd="0" parTransId="{2BDEDDF0-5BC3-49F7-88A2-9427C003FADC}" sibTransId="{8717A069-1C48-4372-AD87-E06E2C40ED91}"/>
    <dgm:cxn modelId="{DA078991-F92F-134B-BEAE-A4671809D354}" type="presOf" srcId="{A8D4B071-3250-4E44-90DC-D7F2F7FF1CA2}" destId="{6A010995-3D23-744B-BA79-F0F7330D7F61}" srcOrd="0" destOrd="1" presId="urn:microsoft.com/office/officeart/2005/8/layout/vList5"/>
    <dgm:cxn modelId="{80FCDE95-7896-4942-BEBA-ADA3FEE99BBB}" type="presOf" srcId="{1FD99D6B-75FE-489F-9411-9BB2791C83F9}" destId="{FF4BAA97-E520-4A41-A7A2-CC77E64F38AF}" srcOrd="0" destOrd="0" presId="urn:microsoft.com/office/officeart/2005/8/layout/vList5"/>
    <dgm:cxn modelId="{12A074A6-D491-0A4E-9684-9FC2C1DD5BB3}" type="presOf" srcId="{8E905611-712F-4910-9B6A-F20F3AF80C77}" destId="{6A010995-3D23-744B-BA79-F0F7330D7F61}" srcOrd="0" destOrd="0" presId="urn:microsoft.com/office/officeart/2005/8/layout/vList5"/>
    <dgm:cxn modelId="{9C4483CA-E5CF-954B-86C9-6565592F9A53}" type="presOf" srcId="{8B1CA84F-6EEE-42B7-A60F-67EF5EF4C540}" destId="{1D90AC3F-D81B-8945-95F8-886FD61EBFD0}" srcOrd="0" destOrd="0" presId="urn:microsoft.com/office/officeart/2005/8/layout/vList5"/>
    <dgm:cxn modelId="{7ABFAFCA-B431-0E48-B15E-31CC230887B0}" type="presOf" srcId="{7A09B6F9-24C3-4B5D-8455-88F262EAEEDF}" destId="{51151E48-78C3-454A-AB09-19B521E41CF8}" srcOrd="0" destOrd="0" presId="urn:microsoft.com/office/officeart/2005/8/layout/vList5"/>
    <dgm:cxn modelId="{72D47DEB-1BC4-4C07-AECB-17D7AB2FA41C}" srcId="{8B1CA84F-6EEE-42B7-A60F-67EF5EF4C540}" destId="{7A09B6F9-24C3-4B5D-8455-88F262EAEEDF}" srcOrd="0" destOrd="0" parTransId="{CEDF6B38-B5C3-4ECE-ADEE-63DD92ECBD99}" sibTransId="{DC23E264-9727-417C-BEDD-171AC562780B}"/>
    <dgm:cxn modelId="{75A9F2EE-260A-4C93-98C4-DE6AA1D112C4}" srcId="{8B1CA84F-6EEE-42B7-A60F-67EF5EF4C540}" destId="{3A846780-6BE6-4AC1-9192-FE518FE018A3}" srcOrd="1" destOrd="0" parTransId="{33A1E684-017C-47FE-9488-4B8677769C84}" sibTransId="{69783980-E850-4226-993C-498950031B36}"/>
    <dgm:cxn modelId="{4CF6E9F3-DB09-469B-92F1-02C82092B6E9}" srcId="{7A09B6F9-24C3-4B5D-8455-88F262EAEEDF}" destId="{E46A896C-57A5-4198-AE70-355FD22AC010}" srcOrd="2" destOrd="0" parTransId="{F2841F1E-D26A-4D8B-97A4-AD2A5DBC6A5F}" sibTransId="{A4632242-F302-4266-9BAB-826F9AFCEA48}"/>
    <dgm:cxn modelId="{35D61536-C9B1-5D47-926D-6FA44139E515}" type="presParOf" srcId="{1D90AC3F-D81B-8945-95F8-886FD61EBFD0}" destId="{51930A94-3A17-294D-A230-F519E8B0639A}" srcOrd="0" destOrd="0" presId="urn:microsoft.com/office/officeart/2005/8/layout/vList5"/>
    <dgm:cxn modelId="{813433ED-E24D-D246-8121-9397223563D4}" type="presParOf" srcId="{51930A94-3A17-294D-A230-F519E8B0639A}" destId="{51151E48-78C3-454A-AB09-19B521E41CF8}" srcOrd="0" destOrd="0" presId="urn:microsoft.com/office/officeart/2005/8/layout/vList5"/>
    <dgm:cxn modelId="{5E9B1025-2802-8A40-B1EC-F76B0B009ED7}" type="presParOf" srcId="{51930A94-3A17-294D-A230-F519E8B0639A}" destId="{6A010995-3D23-744B-BA79-F0F7330D7F61}" srcOrd="1" destOrd="0" presId="urn:microsoft.com/office/officeart/2005/8/layout/vList5"/>
    <dgm:cxn modelId="{646B593E-90E6-1247-8CB3-74C4EF1B68BA}" type="presParOf" srcId="{1D90AC3F-D81B-8945-95F8-886FD61EBFD0}" destId="{4AD2835D-12AB-394A-9275-E07790371B27}" srcOrd="1" destOrd="0" presId="urn:microsoft.com/office/officeart/2005/8/layout/vList5"/>
    <dgm:cxn modelId="{675FB233-EF7E-CC4E-813D-F6A85A4EA847}" type="presParOf" srcId="{1D90AC3F-D81B-8945-95F8-886FD61EBFD0}" destId="{3B8AE1EB-59F6-0046-83FA-2D0073E7ADEE}" srcOrd="2" destOrd="0" presId="urn:microsoft.com/office/officeart/2005/8/layout/vList5"/>
    <dgm:cxn modelId="{8642BB12-BDFE-F342-9512-607146039F11}" type="presParOf" srcId="{3B8AE1EB-59F6-0046-83FA-2D0073E7ADEE}" destId="{B46BDC6D-B574-9F47-9D47-C63965B69D4F}" srcOrd="0" destOrd="0" presId="urn:microsoft.com/office/officeart/2005/8/layout/vList5"/>
    <dgm:cxn modelId="{D368D081-8294-CA41-B43E-D687C0E52356}" type="presParOf" srcId="{3B8AE1EB-59F6-0046-83FA-2D0073E7ADEE}" destId="{FF4BAA97-E520-4A41-A7A2-CC77E64F38A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10995-3D23-744B-BA79-F0F7330D7F61}">
      <dsp:nvSpPr>
        <dsp:cNvPr id="0" name=""/>
        <dsp:cNvSpPr/>
      </dsp:nvSpPr>
      <dsp:spPr>
        <a:xfrm rot="5400000">
          <a:off x="6840258" y="-2557155"/>
          <a:ext cx="1698041" cy="723696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Reward Maximization – Policy Gradient, PPO (also referred to as PPO-RLHF), GRPO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Contrastive Learning – DPO &amp; its variants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Distribution Matching – DPG, BRAIn</a:t>
          </a:r>
        </a:p>
      </dsp:txBody>
      <dsp:txXfrm rot="-5400000">
        <a:off x="4070795" y="295200"/>
        <a:ext cx="7154076" cy="1532257"/>
      </dsp:txXfrm>
    </dsp:sp>
    <dsp:sp modelId="{51151E48-78C3-454A-AB09-19B521E41CF8}">
      <dsp:nvSpPr>
        <dsp:cNvPr id="0" name=""/>
        <dsp:cNvSpPr/>
      </dsp:nvSpPr>
      <dsp:spPr>
        <a:xfrm>
          <a:off x="0" y="53"/>
          <a:ext cx="4070794" cy="21225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>
              <a:solidFill>
                <a:schemeClr val="tx1"/>
              </a:solidFill>
            </a:rPr>
            <a:t>Alignment Objective</a:t>
          </a:r>
        </a:p>
      </dsp:txBody>
      <dsp:txXfrm>
        <a:off x="103614" y="103667"/>
        <a:ext cx="3863566" cy="1915323"/>
      </dsp:txXfrm>
    </dsp:sp>
    <dsp:sp modelId="{FF4BAA97-E520-4A41-A7A2-CC77E64F38AF}">
      <dsp:nvSpPr>
        <dsp:cNvPr id="0" name=""/>
        <dsp:cNvSpPr/>
      </dsp:nvSpPr>
      <dsp:spPr>
        <a:xfrm rot="5400000">
          <a:off x="6840258" y="-328476"/>
          <a:ext cx="1698041" cy="7236968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Online: Policy Gradient, PPO, GRPO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Offline: DPO, IPO, </a:t>
          </a:r>
          <a:r>
            <a:rPr lang="en-US" sz="2300" kern="1200" dirty="0" err="1"/>
            <a:t>SLiC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Mixed: Iterative DPO, BRAIn</a:t>
          </a:r>
        </a:p>
      </dsp:txBody>
      <dsp:txXfrm rot="-5400000">
        <a:off x="4070795" y="2523879"/>
        <a:ext cx="7154076" cy="1532257"/>
      </dsp:txXfrm>
    </dsp:sp>
    <dsp:sp modelId="{B46BDC6D-B574-9F47-9D47-C63965B69D4F}">
      <dsp:nvSpPr>
        <dsp:cNvPr id="0" name=""/>
        <dsp:cNvSpPr/>
      </dsp:nvSpPr>
      <dsp:spPr>
        <a:xfrm>
          <a:off x="0" y="2228732"/>
          <a:ext cx="4070794" cy="21225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85725" rIns="171450" bIns="8572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>
              <a:solidFill>
                <a:schemeClr val="tx1"/>
              </a:solidFill>
            </a:rPr>
            <a:t>Online/Offline</a:t>
          </a:r>
        </a:p>
      </dsp:txBody>
      <dsp:txXfrm>
        <a:off x="103614" y="2332346"/>
        <a:ext cx="3863566" cy="1915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02719-461B-4F82-93C5-57B4583A0AE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F11A3-5556-448D-B4AF-A186AE24052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Gaurav Pandey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CB0B6-7364-4DB4-A9F7-5CA3967E8B6A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DD956-8DD1-4712-B259-3593B02F3338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1C9E-3200-47A5-BB56-B709C2FCD541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98326-3654-475C-B366-15B4AF75F7C8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3C3BE-6B28-4F77-9BC1-36B585999499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502C4-42E8-49E5-82F8-7C913190E775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E5809-FE59-43E9-81AE-2BBC87D1BAF7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957E9-77A8-4507-8FE3-DCE89B0FBE2F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37BE7-9AB5-4154-9CBF-7369B0B62339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4C49C-9E72-4217-A6A5-3C8AF3F4E478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Tanmoy Chakraborty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5A166-174A-49B9-A1F4-DF4C701D773D}" type="slidenum">
              <a:rPr lang="en-IN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 dirty="0"/>
              <a:t>Gaurav Pandey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5F4845-0A4E-472D-939A-68F3AEF3EF26}" type="slidenum">
              <a:rPr lang="en-IN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59.png"/><Relationship Id="rId20" Type="http://schemas.openxmlformats.org/officeDocument/2006/relationships/image" Target="../media/image58.png"/><Relationship Id="rId2" Type="http://schemas.openxmlformats.org/officeDocument/2006/relationships/image" Target="../media/image40.png"/><Relationship Id="rId19" Type="http://schemas.openxmlformats.org/officeDocument/2006/relationships/image" Target="../media/image57.png"/><Relationship Id="rId18" Type="http://schemas.openxmlformats.org/officeDocument/2006/relationships/image" Target="../media/image56.png"/><Relationship Id="rId17" Type="http://schemas.openxmlformats.org/officeDocument/2006/relationships/image" Target="../media/image55.png"/><Relationship Id="rId16" Type="http://schemas.openxmlformats.org/officeDocument/2006/relationships/image" Target="../media/image54.png"/><Relationship Id="rId15" Type="http://schemas.openxmlformats.org/officeDocument/2006/relationships/image" Target="../media/image53.png"/><Relationship Id="rId14" Type="http://schemas.openxmlformats.org/officeDocument/2006/relationships/image" Target="../media/image52.png"/><Relationship Id="rId13" Type="http://schemas.openxmlformats.org/officeDocument/2006/relationships/image" Target="../media/image51.png"/><Relationship Id="rId12" Type="http://schemas.openxmlformats.org/officeDocument/2006/relationships/image" Target="../media/image50.png"/><Relationship Id="rId11" Type="http://schemas.openxmlformats.org/officeDocument/2006/relationships/image" Target="../media/image49.png"/><Relationship Id="rId10" Type="http://schemas.openxmlformats.org/officeDocument/2006/relationships/image" Target="../media/image48.png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77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80.png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2.png"/><Relationship Id="rId1" Type="http://schemas.openxmlformats.org/officeDocument/2006/relationships/image" Target="../media/image8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514" y="4136449"/>
            <a:ext cx="1022971" cy="1022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0" y="360924"/>
            <a:ext cx="12192000" cy="2243022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Alignment of Language Models –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4400" dirty="0">
                <a:solidFill>
                  <a:srgbClr val="000000"/>
                </a:solidFill>
                <a:latin typeface="Aptos Display"/>
              </a:rPr>
              <a:t>RL Basics and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Display"/>
                <a:ea typeface="+mj-ea"/>
                <a:cs typeface="+mj-cs"/>
              </a:rPr>
              <a:t>Reward Modelling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j-ea"/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314296" y="2824506"/>
            <a:ext cx="7563408" cy="1091382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Advances in Large Language Models</a:t>
            </a:r>
            <a:br>
              <a:rPr lang="en-US" sz="2400" dirty="0"/>
            </a:b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ELL8299 · AIL861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Box 6"/>
          <p:cNvSpPr txBox="1">
            <a:spLocks noChangeArrowheads="1"/>
          </p:cNvSpPr>
          <p:nvPr/>
        </p:nvSpPr>
        <p:spPr bwMode="auto">
          <a:xfrm>
            <a:off x="3890962" y="5379981"/>
            <a:ext cx="44100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 Display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Aptos Display"/>
              </a:rPr>
              <a:t>Gaurav Pandey</a:t>
            </a:r>
            <a:endParaRPr lang="en-US" altLang="en-US" sz="2000" dirty="0">
              <a:solidFill>
                <a:srgbClr val="0000FF"/>
              </a:solidFill>
              <a:latin typeface="Aptos Display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FF"/>
                </a:solidFill>
                <a:latin typeface="Aptos Display"/>
              </a:rPr>
              <a:t>Senior Research Scientist, IBM Research</a:t>
            </a:r>
            <a:endParaRPr lang="en-US" altLang="en-US" sz="2000" dirty="0">
              <a:solidFill>
                <a:srgbClr val="0000FF"/>
              </a:solidFill>
              <a:latin typeface="Aptos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 wrap="square" anchor="b">
            <a:normAutofit/>
          </a:bodyPr>
          <a:lstStyle/>
          <a:p>
            <a:r>
              <a:rPr lang="en-IN" b="1" dirty="0"/>
              <a:t>Why is Instruction Tuning not enough?</a:t>
            </a:r>
            <a:endParaRPr lang="en-I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490952" y="6028695"/>
            <a:ext cx="4301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Content Credit: Instruction Tuning for Large Language Models: A Survey</a:t>
            </a:r>
            <a:endParaRPr lang="en-US" sz="11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1325" y="1808480"/>
            <a:ext cx="11308080" cy="890905"/>
          </a:xfrm>
        </p:spPr>
        <p:txBody>
          <a:bodyPr/>
          <a:lstStyle/>
          <a:p>
            <a:r>
              <a:rPr lang="en-US" dirty="0"/>
              <a:t>(Next token too myopic)</a:t>
            </a:r>
            <a:endParaRPr lang="en-US" b="1" dirty="0"/>
          </a:p>
          <a:p>
            <a:r>
              <a:rPr lang="en-US" b="1" dirty="0"/>
              <a:t>Question</a:t>
            </a:r>
            <a:r>
              <a:rPr lang="en-US" dirty="0"/>
              <a:t>: </a:t>
            </a:r>
            <a:r>
              <a:rPr lang="en-IN" dirty="0"/>
              <a:t>What’s the best way to lose weight quickly?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1941" y="2756436"/>
          <a:ext cx="81280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to say?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not to say?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Reduce carb intake, increase fiber &amp; protein content, increase vigorous exercise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You should stop eating entirely for a few days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 rot="16200000">
            <a:off x="2656298" y="2380589"/>
            <a:ext cx="496503" cy="3805276"/>
          </a:xfrm>
          <a:prstGeom prst="leftBrace">
            <a:avLst>
              <a:gd name="adj1" fmla="val 8333"/>
              <a:gd name="adj2" fmla="val 50453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27380" y="4569460"/>
            <a:ext cx="4288790" cy="3683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Instruction tuning can make this happen</a:t>
            </a:r>
            <a:endParaRPr lang="en-US" dirty="0"/>
          </a:p>
        </p:txBody>
      </p:sp>
      <p:sp>
        <p:nvSpPr>
          <p:cNvPr id="11" name="Left Brace 10"/>
          <p:cNvSpPr/>
          <p:nvPr/>
        </p:nvSpPr>
        <p:spPr>
          <a:xfrm rot="16200000">
            <a:off x="6720298" y="2342721"/>
            <a:ext cx="496503" cy="3805276"/>
          </a:xfrm>
          <a:prstGeom prst="leftBrace">
            <a:avLst>
              <a:gd name="adj1" fmla="val 8333"/>
              <a:gd name="adj2" fmla="val 50453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230495" y="4569460"/>
            <a:ext cx="3951605" cy="36830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But can’t prevent this from happening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542197" y="5213445"/>
            <a:ext cx="6687403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Alignment can prevent certain outputs that the model assumes to be correct, but humans consider wrong.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325" y="258763"/>
            <a:ext cx="11307763" cy="1325562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Taxonomy of Alignment methods</a:t>
            </a:r>
            <a:endParaRPr lang="en-US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41325" y="1808163"/>
          <a:ext cx="11307763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48839" y="2639229"/>
            <a:ext cx="96743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Basics of reinforcement learning</a:t>
            </a:r>
            <a:endParaRPr lang="en-US" sz="5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– Example 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18341" y="2102162"/>
            <a:ext cx="1753496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with a 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8341" y="3674763"/>
            <a:ext cx="1753496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/>
          <p:cNvCxnSpPr>
            <a:stCxn id="4" idx="3"/>
            <a:endCxn id="5" idx="3"/>
          </p:cNvCxnSpPr>
          <p:nvPr/>
        </p:nvCxnSpPr>
        <p:spPr>
          <a:xfrm>
            <a:off x="4871837" y="2376482"/>
            <a:ext cx="12700" cy="1572601"/>
          </a:xfrm>
          <a:prstGeom prst="curvedConnector3">
            <a:avLst>
              <a:gd name="adj1" fmla="val 426076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9" t="-128" r="-390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4443031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836202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30" r="-4886" b="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" t="-152" r="-6747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endCxn id="5" idx="2"/>
          </p:cNvCxnSpPr>
          <p:nvPr/>
        </p:nvCxnSpPr>
        <p:spPr>
          <a:xfrm flipV="1">
            <a:off x="3995089" y="4223403"/>
            <a:ext cx="0" cy="422339"/>
          </a:xfrm>
          <a:prstGeom prst="straightConnector1">
            <a:avLst/>
          </a:prstGeom>
          <a:ln w="2222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45405" y="4741240"/>
            <a:ext cx="36728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entire world that the agent lives in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Updates state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Provides a reward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769510" y="1584325"/>
            <a:ext cx="0" cy="41527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193244" y="1584325"/>
            <a:ext cx="4555844" cy="457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– AI Chess player</a:t>
            </a:r>
            <a:endParaRPr lang="en-US" dirty="0"/>
          </a:p>
          <a:p>
            <a:r>
              <a:rPr lang="en-US" dirty="0"/>
              <a:t>Agent – AI program</a:t>
            </a:r>
            <a:endParaRPr lang="en-US" dirty="0"/>
          </a:p>
          <a:p>
            <a:r>
              <a:rPr lang="en-US" dirty="0"/>
              <a:t>Environment – chessboard, rules and opponent (another agent)</a:t>
            </a:r>
            <a:endParaRPr lang="en-US" dirty="0"/>
          </a:p>
          <a:p>
            <a:r>
              <a:rPr lang="en-US" dirty="0"/>
              <a:t>State - Arrangement of pieces (current + historical), rules</a:t>
            </a:r>
            <a:endParaRPr lang="en-US" dirty="0"/>
          </a:p>
          <a:p>
            <a:r>
              <a:rPr lang="en-US" dirty="0"/>
              <a:t>Action – Move a piece</a:t>
            </a:r>
            <a:endParaRPr lang="en-US" dirty="0"/>
          </a:p>
          <a:p>
            <a:r>
              <a:rPr lang="en-US" dirty="0"/>
              <a:t>Reward – Win (+1), Lose(-1) and Draw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1085578" y="5650078"/>
            <a:ext cx="82760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Policy is the agent’s distribution over next actions  - can be deterministic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– Example 2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18341" y="2102162"/>
            <a:ext cx="1753496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with a 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8341" y="3674763"/>
            <a:ext cx="1753496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/>
          <p:cNvCxnSpPr>
            <a:stCxn id="4" idx="3"/>
            <a:endCxn id="5" idx="3"/>
          </p:cNvCxnSpPr>
          <p:nvPr/>
        </p:nvCxnSpPr>
        <p:spPr>
          <a:xfrm>
            <a:off x="4871837" y="2376482"/>
            <a:ext cx="12700" cy="1572601"/>
          </a:xfrm>
          <a:prstGeom prst="curvedConnector3">
            <a:avLst>
              <a:gd name="adj1" fmla="val 426076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9" t="-128" r="-390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4443031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836202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30" r="-4886" b="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" t="-152" r="-6747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endCxn id="5" idx="2"/>
          </p:cNvCxnSpPr>
          <p:nvPr/>
        </p:nvCxnSpPr>
        <p:spPr>
          <a:xfrm flipV="1">
            <a:off x="3995089" y="4223403"/>
            <a:ext cx="0" cy="422339"/>
          </a:xfrm>
          <a:prstGeom prst="straightConnector1">
            <a:avLst/>
          </a:prstGeom>
          <a:ln w="2222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45405" y="4741240"/>
            <a:ext cx="3672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entire world that the agent lives in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769510" y="1584325"/>
            <a:ext cx="0" cy="41527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193244" y="1584325"/>
            <a:ext cx="4555844" cy="457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– Self-Driving Car</a:t>
            </a:r>
            <a:endParaRPr lang="en-US" dirty="0"/>
          </a:p>
          <a:p>
            <a:r>
              <a:rPr lang="en-US" dirty="0"/>
              <a:t>Agent – AI program</a:t>
            </a:r>
            <a:endParaRPr lang="en-US" dirty="0"/>
          </a:p>
          <a:p>
            <a:r>
              <a:rPr lang="en-US" dirty="0"/>
              <a:t>Environment – Road, traffic, pedestrian, signals</a:t>
            </a:r>
            <a:endParaRPr lang="en-US" dirty="0"/>
          </a:p>
          <a:p>
            <a:r>
              <a:rPr lang="en-US" dirty="0"/>
              <a:t>State – Sensor readings including historical</a:t>
            </a:r>
            <a:endParaRPr lang="en-US" dirty="0"/>
          </a:p>
          <a:p>
            <a:r>
              <a:rPr lang="en-US" dirty="0"/>
              <a:t>Action – Turn, accelerate, brake</a:t>
            </a:r>
            <a:endParaRPr lang="en-US" dirty="0"/>
          </a:p>
          <a:p>
            <a:r>
              <a:rPr lang="en-US" dirty="0"/>
              <a:t>Reward – Reach destination safely (+1), accident(-1)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85578" y="5650078"/>
            <a:ext cx="9017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Policy is the agent’s distribution over next actions  - can be deterministic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– Example 3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18341" y="2102162"/>
            <a:ext cx="1753496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with a 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8341" y="3674763"/>
            <a:ext cx="1753496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/>
          <p:cNvCxnSpPr>
            <a:stCxn id="4" idx="3"/>
            <a:endCxn id="5" idx="3"/>
          </p:cNvCxnSpPr>
          <p:nvPr/>
        </p:nvCxnSpPr>
        <p:spPr>
          <a:xfrm>
            <a:off x="4871837" y="2376482"/>
            <a:ext cx="12700" cy="1572601"/>
          </a:xfrm>
          <a:prstGeom prst="curvedConnector3">
            <a:avLst>
              <a:gd name="adj1" fmla="val 426076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9" t="-128" r="-390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4443031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836202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30" r="-4886" b="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" t="-152" r="-6747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endCxn id="5" idx="2"/>
          </p:cNvCxnSpPr>
          <p:nvPr/>
        </p:nvCxnSpPr>
        <p:spPr>
          <a:xfrm flipV="1">
            <a:off x="3995089" y="4223403"/>
            <a:ext cx="0" cy="422339"/>
          </a:xfrm>
          <a:prstGeom prst="straightConnector1">
            <a:avLst/>
          </a:prstGeom>
          <a:ln w="2222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38929" y="4688414"/>
            <a:ext cx="49305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system that takes the LLM’s actions (tokens), </a:t>
            </a:r>
            <a:endParaRPr lang="en-IN" dirty="0"/>
          </a:p>
          <a:p>
            <a:r>
              <a:rPr lang="en-IN" dirty="0"/>
              <a:t>updates the state (prompt + partial output), </a:t>
            </a:r>
            <a:endParaRPr lang="en-IN" dirty="0"/>
          </a:p>
          <a:p>
            <a:r>
              <a:rPr lang="en-IN" dirty="0"/>
              <a:t>and eventually provides a reward.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769510" y="1584325"/>
            <a:ext cx="0" cy="41527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193244" y="1584325"/>
            <a:ext cx="4555844" cy="457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– LLM generating a response token-by-token</a:t>
            </a:r>
            <a:endParaRPr lang="en-US" dirty="0"/>
          </a:p>
          <a:p>
            <a:r>
              <a:rPr lang="en-US" dirty="0"/>
              <a:t>Agent – the LLM</a:t>
            </a:r>
            <a:endParaRPr lang="en-US" dirty="0"/>
          </a:p>
          <a:p>
            <a:r>
              <a:rPr lang="en-US" dirty="0"/>
              <a:t>State – Prompt + all tokens generated so far</a:t>
            </a:r>
            <a:endParaRPr lang="en-US" dirty="0"/>
          </a:p>
          <a:p>
            <a:r>
              <a:rPr lang="en-US" dirty="0"/>
              <a:t>Action – Next token</a:t>
            </a:r>
            <a:endParaRPr lang="en-US" dirty="0"/>
          </a:p>
          <a:p>
            <a:r>
              <a:rPr lang="en-US" dirty="0"/>
              <a:t>Reward – Assigned at the end of response generation (+1 if correct)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– Example 4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5961" y="2413003"/>
            <a:ext cx="1753496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with a 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8341" y="3674763"/>
            <a:ext cx="1753496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/>
          <p:cNvCxnSpPr>
            <a:stCxn id="4" idx="3"/>
            <a:endCxn id="5" idx="1"/>
          </p:cNvCxnSpPr>
          <p:nvPr/>
        </p:nvCxnSpPr>
        <p:spPr>
          <a:xfrm>
            <a:off x="2389457" y="2687323"/>
            <a:ext cx="728884" cy="1261760"/>
          </a:xfrm>
          <a:prstGeom prst="curvedConnector3">
            <a:avLst>
              <a:gd name="adj1" fmla="val 50000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119505" y="3585210"/>
                <a:ext cx="1849120" cy="922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b="0" i="1" smtClean="0">
                    <a:latin typeface="Cambria Math" panose="02040503050406030204" pitchFamily="18" charset="0"/>
                  </a:rPr>
                </a:br>
                <a:r>
                  <a:rPr lang="en-US"/>
                  <a:t>(first output token)</a:t>
                </a:r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05" y="3585210"/>
                <a:ext cx="1849120" cy="92265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766348" y="2265129"/>
                <a:ext cx="2853473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- prompt + response</a:t>
                </a:r>
                <a:endParaRPr lang="en-US" dirty="0"/>
              </a:p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348" y="2265129"/>
                <a:ext cx="2853473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84" t="-799" r="-8703" b="-6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23612" y="3086031"/>
                <a:ext cx="1781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- prompt</a:t>
                </a:r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12" y="3086031"/>
                <a:ext cx="178132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" t="-153" r="-8439" b="8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endCxn id="5" idx="2"/>
          </p:cNvCxnSpPr>
          <p:nvPr/>
        </p:nvCxnSpPr>
        <p:spPr>
          <a:xfrm flipV="1">
            <a:off x="3995089" y="4223403"/>
            <a:ext cx="0" cy="422339"/>
          </a:xfrm>
          <a:prstGeom prst="straightConnector1">
            <a:avLst/>
          </a:prstGeom>
          <a:ln w="2222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838929" y="4688414"/>
            <a:ext cx="4631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system that takes the prompt and response </a:t>
            </a:r>
            <a:endParaRPr lang="en-IN" dirty="0"/>
          </a:p>
          <a:p>
            <a:r>
              <a:rPr lang="en-IN" dirty="0"/>
              <a:t>and provides a reward.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769510" y="1584325"/>
            <a:ext cx="0" cy="41527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193244" y="1584325"/>
            <a:ext cx="4555844" cy="457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– LLM generating a response</a:t>
            </a:r>
            <a:endParaRPr lang="en-US" dirty="0"/>
          </a:p>
          <a:p>
            <a:r>
              <a:rPr lang="en-US" dirty="0"/>
              <a:t>Agent – the LLM</a:t>
            </a:r>
            <a:endParaRPr lang="en-US" dirty="0"/>
          </a:p>
          <a:p>
            <a:r>
              <a:rPr lang="en-US" dirty="0"/>
              <a:t>State – Prompt or Prompt + response</a:t>
            </a:r>
            <a:endParaRPr lang="en-US" dirty="0"/>
          </a:p>
          <a:p>
            <a:r>
              <a:rPr lang="en-US" dirty="0"/>
              <a:t>Action – Entire response</a:t>
            </a:r>
            <a:endParaRPr lang="en-US" dirty="0"/>
          </a:p>
          <a:p>
            <a:r>
              <a:rPr lang="en-US" dirty="0"/>
              <a:t>Reward – +1 if correct, -1 if wrong</a:t>
            </a:r>
            <a:endParaRPr lang="en-US" dirty="0"/>
          </a:p>
        </p:txBody>
      </p:sp>
      <p:cxnSp>
        <p:nvCxnSpPr>
          <p:cNvPr id="10" name="Curved Connector 9"/>
          <p:cNvCxnSpPr>
            <a:stCxn id="5" idx="3"/>
            <a:endCxn id="22" idx="2"/>
          </p:cNvCxnSpPr>
          <p:nvPr/>
        </p:nvCxnSpPr>
        <p:spPr>
          <a:xfrm flipV="1">
            <a:off x="4871837" y="2911460"/>
            <a:ext cx="321248" cy="1037623"/>
          </a:xfrm>
          <a:prstGeom prst="curvedConnector2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– Example 5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18341" y="2102162"/>
            <a:ext cx="1753496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with a 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8341" y="3674763"/>
            <a:ext cx="1753496" cy="548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/>
          <p:cNvCxnSpPr>
            <a:stCxn id="4" idx="3"/>
            <a:endCxn id="5" idx="3"/>
          </p:cNvCxnSpPr>
          <p:nvPr/>
        </p:nvCxnSpPr>
        <p:spPr>
          <a:xfrm>
            <a:off x="4871837" y="2376482"/>
            <a:ext cx="12700" cy="1572601"/>
          </a:xfrm>
          <a:prstGeom prst="curvedConnector3">
            <a:avLst>
              <a:gd name="adj1" fmla="val 426076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0" y="3136739"/>
                <a:ext cx="10483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9" t="-128" r="-3907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4443031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1"/>
            <a:endCxn id="4" idx="1"/>
          </p:cNvCxnSpPr>
          <p:nvPr/>
        </p:nvCxnSpPr>
        <p:spPr>
          <a:xfrm rot="10800000">
            <a:off x="3118341" y="2376483"/>
            <a:ext cx="12700" cy="1572601"/>
          </a:xfrm>
          <a:prstGeom prst="curvedConnector3">
            <a:avLst>
              <a:gd name="adj1" fmla="val 8362024"/>
            </a:avLst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982" y="3019537"/>
                <a:ext cx="1116716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7" t="-30" r="-4886" b="1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Next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76" y="3018082"/>
                <a:ext cx="159159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" t="-152" r="-6747" b="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endCxn id="5" idx="2"/>
          </p:cNvCxnSpPr>
          <p:nvPr/>
        </p:nvCxnSpPr>
        <p:spPr>
          <a:xfrm flipV="1">
            <a:off x="3995089" y="4223403"/>
            <a:ext cx="0" cy="422339"/>
          </a:xfrm>
          <a:prstGeom prst="straightConnector1">
            <a:avLst/>
          </a:prstGeom>
          <a:ln w="22225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67927" y="4726492"/>
            <a:ext cx="5174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 The system that evaluates the code on unit tests</a:t>
            </a:r>
            <a:endParaRPr lang="en-IN" dirty="0"/>
          </a:p>
          <a:p>
            <a:r>
              <a:rPr lang="en-IN" dirty="0"/>
              <a:t>and reports the error if any.</a:t>
            </a:r>
            <a:endParaRPr lang="en-IN" dirty="0"/>
          </a:p>
          <a:p>
            <a:r>
              <a:rPr lang="en-IN" dirty="0"/>
              <a:t>- The next state is obtained by just appending the error</a:t>
            </a:r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6769510" y="1584325"/>
            <a:ext cx="0" cy="41527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193244" y="1584325"/>
            <a:ext cx="4555844" cy="45751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 – Code LLMs</a:t>
            </a:r>
            <a:endParaRPr lang="en-US" b="1" dirty="0"/>
          </a:p>
          <a:p>
            <a:r>
              <a:rPr lang="en-US" dirty="0"/>
              <a:t>Agent – the Code LLM</a:t>
            </a:r>
            <a:endParaRPr lang="en-US" dirty="0"/>
          </a:p>
          <a:p>
            <a:r>
              <a:rPr lang="en-US" dirty="0"/>
              <a:t>Environment – Parser, unit tests </a:t>
            </a:r>
            <a:endParaRPr lang="en-US" dirty="0"/>
          </a:p>
          <a:p>
            <a:r>
              <a:rPr lang="en-US" dirty="0"/>
              <a:t>State – The problem description + generated previous code + error reported by the parser or tests</a:t>
            </a:r>
            <a:endParaRPr lang="en-US" dirty="0"/>
          </a:p>
          <a:p>
            <a:r>
              <a:rPr lang="en-US" dirty="0"/>
              <a:t>Action – Generated code</a:t>
            </a:r>
            <a:endParaRPr lang="en-US" dirty="0"/>
          </a:p>
          <a:p>
            <a:r>
              <a:rPr lang="en-US" dirty="0"/>
              <a:t>Reward – +1 if correct,                          -1 if wrong, possibly partial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(tokens as actions)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blipFill rotWithShape="1">
                <a:blip r:embed="rId1"/>
                <a:stretch>
                  <a:fillRect l="-358" t="-647" r="-320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2292824" y="2228671"/>
                <a:ext cx="917578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is the distribution of the large language model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tokens of  the input prompt/instruction along with previously generated output tokens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any token in the LLM’s vocabulary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policy captures the distribution over the output tokens given the prompt/instruction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24" y="2228671"/>
                <a:ext cx="9175782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5" t="-31" r="-6832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ounded Rectangle 41"/>
          <p:cNvSpPr/>
          <p:nvPr/>
        </p:nvSpPr>
        <p:spPr>
          <a:xfrm>
            <a:off x="4162571" y="4482214"/>
            <a:ext cx="1897039" cy="9304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Prompt tokens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059609" y="4482214"/>
            <a:ext cx="1624083" cy="91704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Previously generated output tokens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Left Brace 43"/>
          <p:cNvSpPr/>
          <p:nvPr/>
        </p:nvSpPr>
        <p:spPr>
          <a:xfrm rot="5400000">
            <a:off x="5691770" y="2490700"/>
            <a:ext cx="303757" cy="3362155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5634103" y="3571288"/>
                <a:ext cx="419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03" y="3571288"/>
                <a:ext cx="41908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91" t="-13" r="89" b="12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2"/>
              <p:cNvSpPr txBox="1"/>
              <p:nvPr/>
            </p:nvSpPr>
            <p:spPr>
              <a:xfrm>
                <a:off x="224790" y="3926840"/>
                <a:ext cx="2351405" cy="147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/>
                  <a:t>Action = token from output vocabulary</a:t>
                </a:r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/>
                  <a:t> is a distribution over vocab, conditioned on state</a:t>
                </a:r>
                <a:endParaRPr lang="en-US"/>
              </a:p>
            </p:txBody>
          </p:sp>
        </mc:Choice>
        <mc:Fallback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" y="3926840"/>
                <a:ext cx="2351405" cy="1476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blipFill rotWithShape="1">
                <a:blip r:embed="rId1"/>
                <a:stretch>
                  <a:fillRect l="-358" t="-647" r="-320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Takes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" t="-128" r="-5332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</p:cNvCxnSpPr>
          <p:nvPr/>
        </p:nvCxnSpPr>
        <p:spPr>
          <a:xfrm rot="16200000" flipH="1">
            <a:off x="772982" y="3181166"/>
            <a:ext cx="1433415" cy="1005751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836354" y="1701382"/>
            <a:ext cx="5426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token generated by the LLM represents an action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299045" y="2828497"/>
                <a:ext cx="4967785" cy="10884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045" y="2828497"/>
                <a:ext cx="4967785" cy="1088409"/>
              </a:xfrm>
              <a:prstGeom prst="roundRect">
                <a:avLst/>
              </a:prstGeom>
              <a:blipFill rotWithShape="1">
                <a:blip r:embed="rId3"/>
                <a:stretch>
                  <a:fillRect l="-130" t="-602" r="-122" b="-563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612943" y="4197105"/>
            <a:ext cx="4472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User: Where is Taj Mahal? Assistant: Taj Mahal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474487" y="4129288"/>
            <a:ext cx="3577692" cy="50496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052179" y="4115639"/>
            <a:ext cx="1033270" cy="504967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/>
          <p:cNvSpPr/>
          <p:nvPr/>
        </p:nvSpPr>
        <p:spPr>
          <a:xfrm rot="5400000">
            <a:off x="6080076" y="3275673"/>
            <a:ext cx="504968" cy="3439236"/>
          </a:xfrm>
          <a:prstGeom prst="rightBrace">
            <a:avLst>
              <a:gd name="adj1" fmla="val 0"/>
              <a:gd name="adj2" fmla="val 5115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684241" y="5247775"/>
            <a:ext cx="154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 tokens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981958" y="5171661"/>
            <a:ext cx="2222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generated tokens</a:t>
            </a:r>
            <a:endParaRPr lang="en-US" dirty="0"/>
          </a:p>
        </p:txBody>
      </p:sp>
      <p:sp>
        <p:nvSpPr>
          <p:cNvPr id="15" name="Right Brace 14"/>
          <p:cNvSpPr/>
          <p:nvPr/>
        </p:nvSpPr>
        <p:spPr>
          <a:xfrm rot="5400000">
            <a:off x="8372058" y="4493649"/>
            <a:ext cx="504967" cy="921814"/>
          </a:xfrm>
          <a:prstGeom prst="rightBrace">
            <a:avLst>
              <a:gd name="adj1" fmla="val 0"/>
              <a:gd name="adj2" fmla="val 5115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8911988" y="2483893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45291" y="2087918"/>
            <a:ext cx="340158" cy="36933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is</a:t>
            </a:r>
            <a:endParaRPr lang="en-US" dirty="0"/>
          </a:p>
        </p:txBody>
      </p:sp>
      <p:sp>
        <p:nvSpPr>
          <p:cNvPr id="20" name="Right Brace 19"/>
          <p:cNvSpPr/>
          <p:nvPr/>
        </p:nvSpPr>
        <p:spPr>
          <a:xfrm rot="5400000">
            <a:off x="6709240" y="3520809"/>
            <a:ext cx="461292" cy="465388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016465" y="5893734"/>
                <a:ext cx="419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465" y="5893734"/>
                <a:ext cx="419089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4" t="-81" r="81" b="1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9093288" y="2087918"/>
                <a:ext cx="445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288" y="2087918"/>
                <a:ext cx="44557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0" t="-10" r="117" b="1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16351" y="5033161"/>
            <a:ext cx="35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generation of a token by an LLM </a:t>
            </a:r>
            <a:br>
              <a:rPr lang="en-US" dirty="0"/>
            </a:br>
            <a:r>
              <a:rPr lang="en-US" dirty="0"/>
              <a:t>is equivalent to taking an action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836354" y="1701382"/>
            <a:ext cx="0" cy="419235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992565" y="3890665"/>
            <a:ext cx="2347415" cy="10201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blipFill rotWithShape="1">
                <a:blip r:embed="rId1"/>
                <a:stretch>
                  <a:fillRect l="-358" t="-647" r="-320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Takes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" t="-128" r="-5332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89150" y="2621567"/>
                <a:ext cx="165769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State changes</a:t>
                </a:r>
                <a:br>
                  <a:rPr lang="en-US" dirty="0"/>
                </a:br>
                <a:r>
                  <a:rPr lang="en-US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9150" y="2621567"/>
                <a:ext cx="1657698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9" t="-31" r="-3839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  <a:endCxn id="4" idx="1"/>
          </p:cNvCxnSpPr>
          <p:nvPr/>
        </p:nvCxnSpPr>
        <p:spPr>
          <a:xfrm rot="16200000" flipH="1">
            <a:off x="772982" y="3181166"/>
            <a:ext cx="1433415" cy="1005751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4" idx="3"/>
          </p:cNvCxnSpPr>
          <p:nvPr/>
        </p:nvCxnSpPr>
        <p:spPr>
          <a:xfrm flipV="1">
            <a:off x="4339980" y="2967335"/>
            <a:ext cx="808234" cy="1433415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386705" y="1375410"/>
                <a:ext cx="6473825" cy="3237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traditional RL settings, the environment is explicit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instance, the game simulator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the case of LLMs interacting with user, environment is abstract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Text input, generated output &amp; feedback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Reward is the feedback from a human-user or a reward model.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𝑒𝑛𝑑𝑜𝑓𝑡𝑒𝑥𝑡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|&gt;</m:t>
                    </m:r>
                  </m:oMath>
                </a14:m>
                <a:r>
                  <a:rPr lang="en-US" dirty="0"/>
                  <a:t> has not been generated, you may not get any reward.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state change is simply the addition of the new output token (and remember all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ℎ</m:t>
                        </m:r>
                      </m:e>
                      <m:sub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𝑙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dirty="0"/>
                  <a:t> from transformer)</a:t>
                </a:r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705" y="1375410"/>
                <a:ext cx="6473825" cy="32372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5800586" y="5189057"/>
            <a:ext cx="1897039" cy="9304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Prompt tokens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97470" y="5189220"/>
            <a:ext cx="2230755" cy="9169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Previously generated output tokens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28225" y="5189220"/>
            <a:ext cx="1353820" cy="9029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New output token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Left Brace 9"/>
          <p:cNvSpPr/>
          <p:nvPr/>
        </p:nvSpPr>
        <p:spPr>
          <a:xfrm rot="5400000">
            <a:off x="7329785" y="3197543"/>
            <a:ext cx="303757" cy="3362155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233600" y="4323286"/>
                <a:ext cx="419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600" y="4323286"/>
                <a:ext cx="41908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75" t="-56" r="73" b="1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eft Brace 11"/>
          <p:cNvSpPr/>
          <p:nvPr/>
        </p:nvSpPr>
        <p:spPr>
          <a:xfrm rot="16200000">
            <a:off x="7936020" y="4119628"/>
            <a:ext cx="297682" cy="4329786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875316" y="6434558"/>
                <a:ext cx="638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316" y="6434558"/>
                <a:ext cx="63870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7" t="-28" r="-408" b="1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329753" y="1493038"/>
            <a:ext cx="0" cy="419235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1" grpId="0"/>
      <p:bldP spid="12" grpId="0" bldLvl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992565" y="3890665"/>
            <a:ext cx="2347415" cy="10201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6" y="1947165"/>
                <a:ext cx="1793155" cy="1020170"/>
              </a:xfrm>
              <a:prstGeom prst="roundRect">
                <a:avLst/>
              </a:prstGeom>
              <a:blipFill rotWithShape="1">
                <a:blip r:embed="rId1"/>
                <a:stretch>
                  <a:fillRect l="-358" t="-647" r="-320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Takes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357" y="3380579"/>
                <a:ext cx="159447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5" t="-128" r="-5332" b="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619655" y="3011457"/>
                <a:ext cx="165769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State changes</a:t>
                </a:r>
                <a:br>
                  <a:rPr lang="en-US" dirty="0"/>
                </a:br>
                <a:r>
                  <a:rPr lang="en-US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655" y="3011457"/>
                <a:ext cx="1657698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9" t="-31" r="-3839" b="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/>
              <p:cNvSpPr/>
              <p:nvPr/>
            </p:nvSpPr>
            <p:spPr>
              <a:xfrm>
                <a:off x="3974506" y="1947165"/>
                <a:ext cx="234741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506" y="1947165"/>
                <a:ext cx="2347415" cy="1020170"/>
              </a:xfrm>
              <a:prstGeom prst="roundRect">
                <a:avLst/>
              </a:prstGeom>
              <a:blipFill rotWithShape="1">
                <a:blip r:embed="rId4"/>
                <a:stretch>
                  <a:fillRect l="-272" t="-647" r="-249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  <a:endCxn id="4" idx="1"/>
          </p:cNvCxnSpPr>
          <p:nvPr/>
        </p:nvCxnSpPr>
        <p:spPr>
          <a:xfrm rot="16200000" flipH="1">
            <a:off x="772982" y="3181166"/>
            <a:ext cx="1433415" cy="1005751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4" idx="3"/>
            <a:endCxn id="16" idx="2"/>
          </p:cNvCxnSpPr>
          <p:nvPr/>
        </p:nvCxnSpPr>
        <p:spPr>
          <a:xfrm flipV="1">
            <a:off x="4339980" y="2967335"/>
            <a:ext cx="808234" cy="1433415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73989" y="3889591"/>
            <a:ext cx="2347415" cy="10201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Environment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Elbow Connector 33"/>
          <p:cNvCxnSpPr>
            <a:stCxn id="16" idx="3"/>
            <a:endCxn id="32" idx="0"/>
          </p:cNvCxnSpPr>
          <p:nvPr/>
        </p:nvCxnSpPr>
        <p:spPr>
          <a:xfrm>
            <a:off x="6321921" y="2457250"/>
            <a:ext cx="1725776" cy="1432341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ounded Rectangle 34"/>
              <p:cNvSpPr/>
              <p:nvPr/>
            </p:nvSpPr>
            <p:spPr>
              <a:xfrm>
                <a:off x="9667119" y="1947164"/>
                <a:ext cx="2347415" cy="102017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Rounded 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119" y="1947164"/>
                <a:ext cx="2347415" cy="1020170"/>
              </a:xfrm>
              <a:prstGeom prst="roundRect">
                <a:avLst/>
              </a:prstGeom>
              <a:blipFill rotWithShape="1">
                <a:blip r:embed="rId5"/>
                <a:stretch>
                  <a:fillRect l="-292" t="-647" r="-256" b="-56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/>
          <p:cNvCxnSpPr>
            <a:stCxn id="32" idx="3"/>
            <a:endCxn id="35" idx="2"/>
          </p:cNvCxnSpPr>
          <p:nvPr/>
        </p:nvCxnSpPr>
        <p:spPr>
          <a:xfrm flipV="1">
            <a:off x="9221404" y="2967334"/>
            <a:ext cx="1619423" cy="1432342"/>
          </a:xfrm>
          <a:prstGeom prst="bentConnector2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6233610" y="3165542"/>
                <a:ext cx="1814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Takes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610" y="3165542"/>
                <a:ext cx="1814086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5" t="-18" r="-6282" b="1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9092264" y="3064174"/>
                <a:ext cx="183608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State changes</a:t>
                </a:r>
                <a:br>
                  <a:rPr lang="en-US" dirty="0"/>
                </a:br>
                <a:r>
                  <a:rPr lang="en-US" dirty="0"/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264" y="3064174"/>
                <a:ext cx="1836080" cy="923330"/>
              </a:xfrm>
              <a:prstGeom prst="rect">
                <a:avLst/>
              </a:prstGeom>
              <a:blipFill rotWithShape="1">
                <a:blip r:embed="rId7"/>
                <a:stretch>
                  <a:fillRect l="-18" t="-32" r="-7298" b="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131" t="-587" r="-121" b="-57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2220595" y="3706495"/>
            <a:ext cx="3937000" cy="5048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User: Where is Taj mahal? Assistant:</a:t>
            </a:r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757082" y="2060817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5400000">
            <a:off x="3958226" y="2934588"/>
            <a:ext cx="461292" cy="343923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979327" y="4912567"/>
                <a:ext cx="4190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27" y="4912567"/>
                <a:ext cx="41908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00" t="-56" r="97" b="1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512590" y="1678916"/>
                <a:ext cx="9110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latin typeface="+mj-lt"/>
                  </a:rPr>
                  <a:t>Taj</a:t>
                </a:r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590" y="1678916"/>
                <a:ext cx="91101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7" t="-165" r="-3630" b="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605516" y="1691485"/>
                <a:ext cx="705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516" y="1691485"/>
                <a:ext cx="70583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5" t="-130" r="-17279" b="6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157595" y="3706495"/>
            <a:ext cx="741045" cy="5048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Taj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131" t="-587" r="-121" b="-57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6096001" y="2060817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5400000">
            <a:off x="4479290" y="2303145"/>
            <a:ext cx="388620" cy="4451350"/>
          </a:xfrm>
          <a:prstGeom prst="rightBrace">
            <a:avLst>
              <a:gd name="adj1" fmla="val 25163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188872" y="4723107"/>
                <a:ext cx="4190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872" y="4723107"/>
                <a:ext cx="41908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98" t="-166" r="96" b="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512590" y="1678916"/>
                <a:ext cx="12709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latin typeface="+mj-lt"/>
                  </a:rPr>
                  <a:t> Mahal</a:t>
                </a:r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590" y="1678916"/>
                <a:ext cx="127092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" t="-165" r="-3163" b="10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038861" y="1678079"/>
                <a:ext cx="700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861" y="1678079"/>
                <a:ext cx="70051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4" t="-111" r="-18130" b="4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2220595" y="3706495"/>
            <a:ext cx="3937000" cy="5048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User: Where is Taj mahal? Assistant: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584" y="2405421"/>
                <a:ext cx="4967785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131" t="-587" r="-121" b="-57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6600968" y="2060817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5400000">
            <a:off x="4723765" y="2018030"/>
            <a:ext cx="481965" cy="5034280"/>
          </a:xfrm>
          <a:prstGeom prst="rightBrace">
            <a:avLst>
              <a:gd name="adj1" fmla="val 22859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565190" y="4847609"/>
                <a:ext cx="4190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190" y="4847609"/>
                <a:ext cx="41908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2" t="-5" r="39" b="1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077800" y="1637905"/>
                <a:ext cx="8578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0" dirty="0">
                    <a:latin typeface="+mj-lt"/>
                  </a:rPr>
                  <a:t> is</a:t>
                </a:r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800" y="1637905"/>
                <a:ext cx="85786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5" t="-65" r="-2938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7065579" y="1624431"/>
                <a:ext cx="7058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0</a:t>
                </a:r>
                <a:endParaRPr lang="en-US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579" y="1624431"/>
                <a:ext cx="70583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81" t="-27" r="-17233" b="13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6157595" y="3706495"/>
            <a:ext cx="1407160" cy="5048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/>
              <a:t>Taj Mahal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2220595" y="3706495"/>
            <a:ext cx="3937000" cy="5048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User: Where is Taj mahal? Assistant: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24585" y="2405421"/>
                <a:ext cx="5868538" cy="10884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LLM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585" y="2405421"/>
                <a:ext cx="5868538" cy="1088409"/>
              </a:xfrm>
              <a:prstGeom prst="roundRect">
                <a:avLst/>
              </a:prstGeom>
              <a:blipFill rotWithShape="1">
                <a:blip r:embed="rId1"/>
                <a:stretch>
                  <a:fillRect l="-111" t="-587" r="-107" b="-57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7378892" y="2060817"/>
            <a:ext cx="0" cy="3446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 rot="5400000">
            <a:off x="5267325" y="1643380"/>
            <a:ext cx="457200" cy="5761990"/>
          </a:xfrm>
          <a:prstGeom prst="rightBrace">
            <a:avLst>
              <a:gd name="adj1" fmla="val 21944"/>
              <a:gd name="adj2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051186" y="4753310"/>
                <a:ext cx="4190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186" y="4753310"/>
                <a:ext cx="419089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94" t="-91" r="92" b="2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410773" y="1623667"/>
                <a:ext cx="2134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endoftext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0" i="0" dirty="0">
                    <a:latin typeface="+mj-lt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773" y="1623667"/>
                <a:ext cx="2134302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27" t="-164" r="-12793" b="10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752241" y="1624002"/>
                <a:ext cx="845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= +1</a:t>
                </a:r>
                <a:endParaRPr lang="en-US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241" y="1624002"/>
                <a:ext cx="84574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9" t="-83" r="-21163" b="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6157595" y="3706495"/>
            <a:ext cx="2219325" cy="5048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dirty="0"/>
              <a:t>Taj Mahal is in Agra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220595" y="3706495"/>
            <a:ext cx="3937000" cy="5048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/>
              <a:t>User: Where is Taj mahal? Assistant: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6981" y="2786712"/>
            <a:ext cx="54491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The reward model</a:t>
            </a:r>
            <a:endParaRPr lang="en-US" sz="5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Who/What is the reward model?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ask humans to give thumbs up/down to generated outputs and treat them as rewards.</a:t>
            </a:r>
            <a:endParaRPr lang="en-US" dirty="0"/>
          </a:p>
          <a:p>
            <a:r>
              <a:rPr lang="en-US" dirty="0"/>
              <a:t>Challenges:</a:t>
            </a:r>
            <a:endParaRPr lang="en-US" dirty="0"/>
          </a:p>
          <a:p>
            <a:pPr lvl="1"/>
            <a:r>
              <a:rPr lang="en-US" dirty="0"/>
              <a:t>Human feedback is costly &amp; slow.</a:t>
            </a:r>
            <a:endParaRPr lang="en-US" dirty="0"/>
          </a:p>
          <a:p>
            <a:pPr lvl="1"/>
            <a:r>
              <a:rPr lang="en-US" dirty="0"/>
              <a:t>Traditional RLHF (as we will see) requires constant feedback after every (few) updates to the model.</a:t>
            </a:r>
            <a:endParaRPr lang="en-US" dirty="0"/>
          </a:p>
          <a:p>
            <a:r>
              <a:rPr lang="en-US" dirty="0"/>
              <a:t>Solutions:</a:t>
            </a:r>
            <a:endParaRPr lang="en-US" dirty="0"/>
          </a:p>
          <a:p>
            <a:pPr lvl="1"/>
            <a:r>
              <a:rPr lang="en-US" dirty="0"/>
              <a:t>Lets </a:t>
            </a:r>
            <a:r>
              <a:rPr lang="en-US" b="1" dirty="0"/>
              <a:t>train another LLM to behave like the reward model</a:t>
            </a:r>
            <a:r>
              <a:rPr lang="en-US" dirty="0"/>
              <a:t>. </a:t>
            </a:r>
            <a:endParaRPr lang="en-US" dirty="0"/>
          </a:p>
          <a:p>
            <a:pPr lvl="1"/>
            <a:r>
              <a:rPr lang="en-US" dirty="0"/>
              <a:t>For some problems the answers can be verified exactly.</a:t>
            </a:r>
            <a:endParaRPr lang="en-US" dirty="0"/>
          </a:p>
          <a:p>
            <a:pPr lvl="2"/>
            <a:r>
              <a:rPr lang="en-US" dirty="0"/>
              <a:t>Use a </a:t>
            </a:r>
            <a:r>
              <a:rPr lang="en-US" b="1" dirty="0"/>
              <a:t>verifiable reward</a:t>
            </a:r>
            <a:r>
              <a:rPr lang="en-US" dirty="0"/>
              <a:t> – no training needed. 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Verifiable rewards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Rewards that can be computed objectively and reproducibly from a ground truth.</a:t>
            </a:r>
            <a:endParaRPr lang="en-IN" dirty="0"/>
          </a:p>
          <a:p>
            <a:r>
              <a:rPr lang="en-IN" dirty="0"/>
              <a:t>Examples of Verifiable Reward Functions</a:t>
            </a:r>
            <a:endParaRPr lang="en-IN" dirty="0"/>
          </a:p>
          <a:p>
            <a:pPr lvl="1"/>
            <a:r>
              <a:rPr lang="en-IN" b="1" dirty="0"/>
              <a:t>Math:</a:t>
            </a:r>
            <a:r>
              <a:rPr lang="en-IN" dirty="0"/>
              <a:t> Exact numerical answer match</a:t>
            </a:r>
            <a:endParaRPr lang="en-IN" dirty="0"/>
          </a:p>
          <a:p>
            <a:pPr lvl="1"/>
            <a:r>
              <a:rPr lang="en-IN" b="1" dirty="0"/>
              <a:t>Code:</a:t>
            </a:r>
            <a:r>
              <a:rPr lang="en-IN" dirty="0"/>
              <a:t> Passes all test cases</a:t>
            </a:r>
            <a:endParaRPr lang="en-IN" dirty="0"/>
          </a:p>
          <a:p>
            <a:pPr lvl="1"/>
            <a:r>
              <a:rPr lang="en-IN" b="1" dirty="0"/>
              <a:t>QA:</a:t>
            </a:r>
            <a:r>
              <a:rPr lang="en-IN" dirty="0"/>
              <a:t> String match or F1-score over entities</a:t>
            </a:r>
            <a:endParaRPr lang="en-IN" dirty="0"/>
          </a:p>
          <a:p>
            <a:pPr lvl="1"/>
            <a:r>
              <a:rPr lang="en-IN" b="1" dirty="0"/>
              <a:t>Formal logic tasks:</a:t>
            </a:r>
            <a:r>
              <a:rPr lang="en-IN" dirty="0"/>
              <a:t> Correct proof sequence</a:t>
            </a:r>
            <a:endParaRPr lang="en-IN" dirty="0"/>
          </a:p>
          <a:p>
            <a:pPr lvl="1"/>
            <a:r>
              <a:rPr lang="en-IN" b="1" dirty="0"/>
              <a:t>Chemistry: </a:t>
            </a:r>
            <a:r>
              <a:rPr lang="en-IN" dirty="0"/>
              <a:t>Exact Match in Reaction Prediction</a:t>
            </a:r>
            <a:endParaRPr lang="en-IN" dirty="0"/>
          </a:p>
          <a:p>
            <a:pPr lvl="1"/>
            <a:r>
              <a:rPr lang="en-IN" b="1" dirty="0"/>
              <a:t>Biology: </a:t>
            </a:r>
            <a:r>
              <a:rPr lang="en-IN" dirty="0"/>
              <a:t>RMSD for Protein structure prediction</a:t>
            </a:r>
            <a:endParaRPr lang="en-IN" dirty="0"/>
          </a:p>
          <a:p>
            <a:r>
              <a:rPr lang="en-IN" dirty="0"/>
              <a:t>Does not depend on noisy human or AI preferences.</a:t>
            </a:r>
            <a:endParaRPr lang="en-IN" dirty="0"/>
          </a:p>
          <a:p>
            <a:r>
              <a:rPr lang="en-IN" dirty="0"/>
              <a:t>Responsible for the latest revolution in reasoning in AI (Grok-4)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reward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484661"/>
          </a:xfrm>
        </p:spPr>
        <p:txBody>
          <a:bodyPr/>
          <a:lstStyle/>
          <a:p>
            <a:r>
              <a:rPr lang="en-US" dirty="0"/>
              <a:t>Goal: 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739487" y="2702257"/>
            <a:ext cx="2047164" cy="12828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Reward 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483995" y="2470150"/>
                <a:ext cx="1470660" cy="645160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Instruction/Task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995" y="2470150"/>
                <a:ext cx="1470660" cy="645160"/>
              </a:xfrm>
              <a:prstGeom prst="rect">
                <a:avLst/>
              </a:prstGeom>
              <a:blipFill rotWithShape="1">
                <a:blip r:embed="rId1"/>
                <a:stretch>
                  <a:fillRect l="-648" t="-1476" r="-648" b="-1476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483995" y="3556635"/>
            <a:ext cx="1470660" cy="368300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Output (y)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3"/>
            <a:endCxn id="4" idx="1"/>
          </p:cNvCxnSpPr>
          <p:nvPr/>
        </p:nvCxnSpPr>
        <p:spPr>
          <a:xfrm>
            <a:off x="2954738" y="2792778"/>
            <a:ext cx="784860" cy="55118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4" idx="1"/>
          </p:cNvCxnSpPr>
          <p:nvPr/>
        </p:nvCxnSpPr>
        <p:spPr>
          <a:xfrm flipV="1">
            <a:off x="2954738" y="3343913"/>
            <a:ext cx="784860" cy="396875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3"/>
          </p:cNvCxnSpPr>
          <p:nvPr/>
        </p:nvCxnSpPr>
        <p:spPr>
          <a:xfrm flipV="1">
            <a:off x="5786651" y="3343701"/>
            <a:ext cx="791570" cy="1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578221" y="3153013"/>
                <a:ext cx="907573" cy="369332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221" y="3153013"/>
                <a:ext cx="907573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1078" t="-2643" r="-1004" b="-2579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/>
              <p:cNvSpPr txBox="1"/>
              <p:nvPr/>
            </p:nvSpPr>
            <p:spPr bwMode="auto">
              <a:xfrm>
                <a:off x="528320" y="4512310"/>
                <a:ext cx="11308080" cy="17945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228600" indent="-228600" algn="l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Desirable: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is a better response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dirty="0"/>
                  <a:t>If “better” is decided by humans, this pipeline is referred to as RLHF</a:t>
                </a:r>
                <a:endParaRPr lang="en-US" sz="2000" dirty="0"/>
              </a:p>
              <a:p>
                <a:r>
                  <a:rPr lang="en-US" sz="2000" dirty="0"/>
                  <a:t>If “better” is decided by AI, it is called RLAIF</a:t>
                </a:r>
                <a:endParaRPr lang="en-US" sz="2000" dirty="0"/>
              </a:p>
              <a:p>
                <a:r>
                  <a:rPr lang="en-US" sz="2000" dirty="0"/>
                  <a:t>If better is decided by an exact verifier, it is called RLVF</a:t>
                </a:r>
                <a:endParaRPr lang="en-US" sz="2000" dirty="0"/>
              </a:p>
            </p:txBody>
          </p:sp>
        </mc:Choice>
        <mc:Fallback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320" y="4512310"/>
                <a:ext cx="11308080" cy="17945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the reward model</a:t>
            </a:r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2615817" y="4271330"/>
            <a:ext cx="6200637" cy="1119117"/>
          </a:xfrm>
          <a:prstGeom prst="roundRect">
            <a:avLst/>
          </a:prstGeom>
          <a:solidFill>
            <a:schemeClr val="accent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Transformer Encoder/Decoder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ounded Rectangle 73"/>
              <p:cNvSpPr/>
              <p:nvPr/>
            </p:nvSpPr>
            <p:spPr>
              <a:xfrm>
                <a:off x="2943366" y="5657464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Rounded 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366" y="5657464"/>
                <a:ext cx="423080" cy="341194"/>
              </a:xfrm>
              <a:prstGeom prst="roundRect">
                <a:avLst/>
              </a:prstGeom>
              <a:blipFill rotWithShape="1">
                <a:blip r:embed="rId1"/>
                <a:stretch>
                  <a:fillRect l="-1534" t="-1934" r="-1427" b="-1730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/>
          <p:cNvCxnSpPr>
            <a:stCxn id="74" idx="0"/>
          </p:cNvCxnSpPr>
          <p:nvPr/>
        </p:nvCxnSpPr>
        <p:spPr>
          <a:xfrm flipV="1">
            <a:off x="3154906" y="5390447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ounded Rectangle 71"/>
              <p:cNvSpPr/>
              <p:nvPr/>
            </p:nvSpPr>
            <p:spPr>
              <a:xfrm>
                <a:off x="3577986" y="5657464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Rounded 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986" y="5657464"/>
                <a:ext cx="423080" cy="341194"/>
              </a:xfrm>
              <a:prstGeom prst="roundRect">
                <a:avLst/>
              </a:prstGeom>
              <a:blipFill rotWithShape="1">
                <a:blip r:embed="rId2"/>
                <a:stretch>
                  <a:fillRect l="-1594" t="-1934" r="-1367" b="-1730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72" idx="0"/>
          </p:cNvCxnSpPr>
          <p:nvPr/>
        </p:nvCxnSpPr>
        <p:spPr>
          <a:xfrm flipV="1">
            <a:off x="3789526" y="5390447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ounded Rectangle 69"/>
              <p:cNvSpPr/>
              <p:nvPr/>
            </p:nvSpPr>
            <p:spPr>
              <a:xfrm>
                <a:off x="4226254" y="5657464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Rounded 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254" y="5657464"/>
                <a:ext cx="423080" cy="341194"/>
              </a:xfrm>
              <a:prstGeom prst="roundRect">
                <a:avLst/>
              </a:prstGeom>
              <a:blipFill rotWithShape="1">
                <a:blip r:embed="rId3"/>
                <a:stretch>
                  <a:fillRect l="-1579" t="-1934" r="-1383" b="-1730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/>
          <p:cNvCxnSpPr>
            <a:stCxn id="70" idx="0"/>
          </p:cNvCxnSpPr>
          <p:nvPr/>
        </p:nvCxnSpPr>
        <p:spPr>
          <a:xfrm flipV="1">
            <a:off x="4437794" y="5390447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ounded Rectangle 67"/>
              <p:cNvSpPr/>
              <p:nvPr/>
            </p:nvSpPr>
            <p:spPr>
              <a:xfrm>
                <a:off x="4860874" y="5684760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Rounded 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874" y="5684760"/>
                <a:ext cx="423080" cy="341194"/>
              </a:xfrm>
              <a:prstGeom prst="roundRect">
                <a:avLst/>
              </a:prstGeom>
              <a:blipFill rotWithShape="1">
                <a:blip r:embed="rId4"/>
                <a:stretch>
                  <a:fillRect l="-1639" t="-1931" r="-1473" b="-173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>
            <a:stCxn id="68" idx="0"/>
          </p:cNvCxnSpPr>
          <p:nvPr/>
        </p:nvCxnSpPr>
        <p:spPr>
          <a:xfrm flipV="1">
            <a:off x="5072414" y="5417743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Rounded Rectangle 65"/>
              <p:cNvSpPr/>
              <p:nvPr/>
            </p:nvSpPr>
            <p:spPr>
              <a:xfrm>
                <a:off x="5495494" y="5671112"/>
                <a:ext cx="423080" cy="3411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Rounded 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494" y="5671112"/>
                <a:ext cx="423080" cy="341194"/>
              </a:xfrm>
              <a:prstGeom prst="roundRect">
                <a:avLst/>
              </a:prstGeom>
              <a:blipFill rotWithShape="1">
                <a:blip r:embed="rId5"/>
                <a:stretch>
                  <a:fillRect l="-1549" t="-2026" r="-1412" b="-1824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/>
          <p:cNvCxnSpPr>
            <a:stCxn id="66" idx="0"/>
          </p:cNvCxnSpPr>
          <p:nvPr/>
        </p:nvCxnSpPr>
        <p:spPr>
          <a:xfrm flipV="1">
            <a:off x="5707034" y="5404095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ounded Rectangle 57"/>
              <p:cNvSpPr/>
              <p:nvPr/>
            </p:nvSpPr>
            <p:spPr>
              <a:xfrm>
                <a:off x="6123290" y="5657464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Rounded 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3290" y="5657464"/>
                <a:ext cx="423080" cy="341194"/>
              </a:xfrm>
              <a:prstGeom prst="roundRect">
                <a:avLst/>
              </a:prstGeom>
              <a:blipFill rotWithShape="1">
                <a:blip r:embed="rId6"/>
                <a:stretch>
                  <a:fillRect l="-1647" t="-1934" r="-1464" b="-1730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/>
          <p:cNvCxnSpPr>
            <a:stCxn id="58" idx="0"/>
          </p:cNvCxnSpPr>
          <p:nvPr/>
        </p:nvCxnSpPr>
        <p:spPr>
          <a:xfrm flipV="1">
            <a:off x="6334830" y="5390447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ounded Rectangle 59"/>
              <p:cNvSpPr/>
              <p:nvPr/>
            </p:nvSpPr>
            <p:spPr>
              <a:xfrm>
                <a:off x="6778382" y="5671112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Rounded 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382" y="5671112"/>
                <a:ext cx="423080" cy="341194"/>
              </a:xfrm>
              <a:prstGeom prst="roundRect">
                <a:avLst/>
              </a:prstGeom>
              <a:blipFill rotWithShape="1">
                <a:blip r:embed="rId7"/>
                <a:stretch>
                  <a:fillRect l="-1594" t="-2026" r="-1368" b="-1824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stCxn id="60" idx="0"/>
          </p:cNvCxnSpPr>
          <p:nvPr/>
        </p:nvCxnSpPr>
        <p:spPr>
          <a:xfrm flipV="1">
            <a:off x="6989922" y="5404095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ounded Rectangle 61"/>
              <p:cNvSpPr/>
              <p:nvPr/>
            </p:nvSpPr>
            <p:spPr>
              <a:xfrm>
                <a:off x="7406178" y="5657464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Rounded 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178" y="5657464"/>
                <a:ext cx="423080" cy="341194"/>
              </a:xfrm>
              <a:prstGeom prst="roundRect">
                <a:avLst/>
              </a:prstGeom>
              <a:blipFill rotWithShape="1">
                <a:blip r:embed="rId8"/>
                <a:stretch>
                  <a:fillRect l="-1542" t="-1934" r="-1420" b="-1730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>
            <a:stCxn id="62" idx="0"/>
          </p:cNvCxnSpPr>
          <p:nvPr/>
        </p:nvCxnSpPr>
        <p:spPr>
          <a:xfrm flipV="1">
            <a:off x="7617718" y="5390447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ounded Rectangle 63"/>
              <p:cNvSpPr/>
              <p:nvPr/>
            </p:nvSpPr>
            <p:spPr>
              <a:xfrm>
                <a:off x="8061270" y="5671112"/>
                <a:ext cx="423080" cy="34119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Rounded 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270" y="5671112"/>
                <a:ext cx="423080" cy="341194"/>
              </a:xfrm>
              <a:prstGeom prst="roundRect">
                <a:avLst/>
              </a:prstGeom>
              <a:blipFill rotWithShape="1">
                <a:blip r:embed="rId9"/>
                <a:stretch>
                  <a:fillRect l="-1638" t="-2026" r="-1474" b="-1824"/>
                </a:stretch>
              </a:blip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/>
          <p:cNvCxnSpPr>
            <a:stCxn id="64" idx="0"/>
          </p:cNvCxnSpPr>
          <p:nvPr/>
        </p:nvCxnSpPr>
        <p:spPr>
          <a:xfrm flipV="1">
            <a:off x="8272810" y="5404095"/>
            <a:ext cx="6824" cy="26701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ounded Rectangle 75"/>
              <p:cNvSpPr/>
              <p:nvPr/>
            </p:nvSpPr>
            <p:spPr>
              <a:xfrm>
                <a:off x="2943366" y="3622176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6" name="Rounded 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366" y="3622176"/>
                <a:ext cx="404882" cy="382137"/>
              </a:xfrm>
              <a:prstGeom prst="roundRect">
                <a:avLst/>
              </a:prstGeom>
              <a:blipFill rotWithShape="1">
                <a:blip r:embed="rId10"/>
                <a:stretch>
                  <a:fillRect l="-1603" t="-1697" r="-1438" b="-166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/>
          <p:cNvCxnSpPr/>
          <p:nvPr/>
        </p:nvCxnSpPr>
        <p:spPr>
          <a:xfrm flipV="1">
            <a:off x="3127608" y="4011137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Rounded Rectangle 77"/>
              <p:cNvSpPr/>
              <p:nvPr/>
            </p:nvSpPr>
            <p:spPr>
              <a:xfrm>
                <a:off x="3614382" y="3624448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8" name="Rounded 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382" y="3624448"/>
                <a:ext cx="404882" cy="382137"/>
              </a:xfrm>
              <a:prstGeom prst="roundRect">
                <a:avLst/>
              </a:prstGeom>
              <a:blipFill rotWithShape="1">
                <a:blip r:embed="rId11"/>
                <a:stretch>
                  <a:fillRect l="-1716" t="-1793" r="-1482" b="-1565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/>
          <p:cNvCxnSpPr/>
          <p:nvPr/>
        </p:nvCxnSpPr>
        <p:spPr>
          <a:xfrm flipV="1">
            <a:off x="3798624" y="4013409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Rounded Rectangle 79"/>
              <p:cNvSpPr/>
              <p:nvPr/>
            </p:nvSpPr>
            <p:spPr>
              <a:xfrm>
                <a:off x="4214888" y="3610800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Rounded 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888" y="3610800"/>
                <a:ext cx="404882" cy="382137"/>
              </a:xfrm>
              <a:prstGeom prst="roundRect">
                <a:avLst/>
              </a:prstGeom>
              <a:blipFill rotWithShape="1">
                <a:blip r:embed="rId12"/>
                <a:stretch>
                  <a:fillRect l="-1665" t="-1711" r="-1533" b="-1647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/>
          <p:nvPr/>
        </p:nvCxnSpPr>
        <p:spPr>
          <a:xfrm flipV="1">
            <a:off x="4399130" y="3999761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Rounded Rectangle 81"/>
              <p:cNvSpPr/>
              <p:nvPr/>
            </p:nvSpPr>
            <p:spPr>
              <a:xfrm>
                <a:off x="4885904" y="3613072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2" name="Rounded 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904" y="3613072"/>
                <a:ext cx="404882" cy="382137"/>
              </a:xfrm>
              <a:prstGeom prst="roundRect">
                <a:avLst/>
              </a:prstGeom>
              <a:blipFill rotWithShape="1">
                <a:blip r:embed="rId13"/>
                <a:stretch>
                  <a:fillRect l="-1621" t="-1807" r="-1420" b="-155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/>
          <p:cNvCxnSpPr/>
          <p:nvPr/>
        </p:nvCxnSpPr>
        <p:spPr>
          <a:xfrm flipV="1">
            <a:off x="5070146" y="4002033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Rounded Rectangle 91"/>
              <p:cNvSpPr/>
              <p:nvPr/>
            </p:nvSpPr>
            <p:spPr>
              <a:xfrm>
                <a:off x="5538723" y="3610800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2" name="Rounded 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723" y="3610800"/>
                <a:ext cx="404882" cy="382137"/>
              </a:xfrm>
              <a:prstGeom prst="roundRect">
                <a:avLst/>
              </a:prstGeom>
              <a:blipFill rotWithShape="1">
                <a:blip r:embed="rId14"/>
                <a:stretch>
                  <a:fillRect l="-1631" t="-1711" r="-1567" b="-1647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/>
          <p:cNvCxnSpPr/>
          <p:nvPr/>
        </p:nvCxnSpPr>
        <p:spPr>
          <a:xfrm flipV="1">
            <a:off x="5722965" y="3999761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Rounded Rectangle 93"/>
              <p:cNvSpPr/>
              <p:nvPr/>
            </p:nvSpPr>
            <p:spPr>
              <a:xfrm>
                <a:off x="6209739" y="3613072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4" name="Rounded 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739" y="3613072"/>
                <a:ext cx="404882" cy="382137"/>
              </a:xfrm>
              <a:prstGeom prst="roundRect">
                <a:avLst/>
              </a:prstGeom>
              <a:blipFill rotWithShape="1">
                <a:blip r:embed="rId15"/>
                <a:stretch>
                  <a:fillRect l="-1587" t="-1807" r="-1454" b="-155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/>
          <p:cNvCxnSpPr/>
          <p:nvPr/>
        </p:nvCxnSpPr>
        <p:spPr>
          <a:xfrm flipV="1">
            <a:off x="6393981" y="4002033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Rounded Rectangle 95"/>
              <p:cNvSpPr/>
              <p:nvPr/>
            </p:nvSpPr>
            <p:spPr>
              <a:xfrm>
                <a:off x="6810245" y="3599424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6" name="Rounded 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245" y="3599424"/>
                <a:ext cx="404882" cy="382137"/>
              </a:xfrm>
              <a:prstGeom prst="roundRect">
                <a:avLst/>
              </a:prstGeom>
              <a:blipFill rotWithShape="1">
                <a:blip r:embed="rId16"/>
                <a:stretch>
                  <a:fillRect l="-1693" t="-1726" r="-1505" b="-1633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/>
          <p:cNvCxnSpPr/>
          <p:nvPr/>
        </p:nvCxnSpPr>
        <p:spPr>
          <a:xfrm flipV="1">
            <a:off x="6994487" y="3988385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Rounded Rectangle 97"/>
              <p:cNvSpPr/>
              <p:nvPr/>
            </p:nvSpPr>
            <p:spPr>
              <a:xfrm>
                <a:off x="7481261" y="3601696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8" name="Rounded 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261" y="3601696"/>
                <a:ext cx="404882" cy="382137"/>
              </a:xfrm>
              <a:prstGeom prst="roundRect">
                <a:avLst/>
              </a:prstGeom>
              <a:blipFill rotWithShape="1">
                <a:blip r:embed="rId17"/>
                <a:stretch>
                  <a:fillRect l="-1649" t="-1822" r="-1549" b="-1537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/>
          <p:cNvCxnSpPr/>
          <p:nvPr/>
        </p:nvCxnSpPr>
        <p:spPr>
          <a:xfrm flipV="1">
            <a:off x="7665503" y="3990657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Rounded Rectangle 99"/>
              <p:cNvSpPr/>
              <p:nvPr/>
            </p:nvSpPr>
            <p:spPr>
              <a:xfrm>
                <a:off x="8097689" y="3631264"/>
                <a:ext cx="404882" cy="38213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0" name="Rounded 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89" y="3631264"/>
                <a:ext cx="404882" cy="382137"/>
              </a:xfrm>
              <a:prstGeom prst="roundRect">
                <a:avLst/>
              </a:prstGeom>
              <a:blipFill rotWithShape="1">
                <a:blip r:embed="rId18"/>
                <a:stretch>
                  <a:fillRect l="-1610" t="-1749" r="-1431" b="-1609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/>
          <p:cNvCxnSpPr/>
          <p:nvPr/>
        </p:nvCxnSpPr>
        <p:spPr>
          <a:xfrm flipV="1">
            <a:off x="8281931" y="4020225"/>
            <a:ext cx="6824" cy="2670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ight Brace 101"/>
          <p:cNvSpPr/>
          <p:nvPr/>
        </p:nvSpPr>
        <p:spPr>
          <a:xfrm rot="16200000">
            <a:off x="5455921" y="691781"/>
            <a:ext cx="488578" cy="5145199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Rounded Rectangle 102"/>
              <p:cNvSpPr/>
              <p:nvPr/>
            </p:nvSpPr>
            <p:spPr>
              <a:xfrm>
                <a:off x="4788535" y="2615565"/>
                <a:ext cx="1793875" cy="38227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3" name="Rounded 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535" y="2615565"/>
                <a:ext cx="1793875" cy="382270"/>
              </a:xfrm>
              <a:prstGeom prst="roundRect">
                <a:avLst/>
              </a:prstGeom>
              <a:blipFill rotWithShape="1">
                <a:blip r:embed="rId19"/>
                <a:stretch>
                  <a:fillRect l="-354" t="-1661" r="-354" b="-166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riangle 103"/>
          <p:cNvSpPr/>
          <p:nvPr/>
        </p:nvSpPr>
        <p:spPr>
          <a:xfrm>
            <a:off x="4781550" y="1823720"/>
            <a:ext cx="1793875" cy="762635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Linear layer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261836" y="1513518"/>
            <a:ext cx="833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reward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/>
              <p:cNvSpPr txBox="1"/>
              <p:nvPr/>
            </p:nvSpPr>
            <p:spPr>
              <a:xfrm>
                <a:off x="278765" y="1520190"/>
                <a:ext cx="2979420" cy="177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∈</m:t>
                    </m:r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ℝ</m:t>
                    </m:r>
                  </m:oMath>
                </a14:m>
                <a:r>
                  <a:rPr lang="en-US" dirty="0"/>
                  <a:t> with parameters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initialized from scratch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As an approximation to “unknowable” true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p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65" y="1520190"/>
                <a:ext cx="2979420" cy="1776730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64867" y="3650893"/>
            <a:ext cx="146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Pre-logit layer</a:t>
            </a:r>
            <a:endParaRPr lang="en-US" dirty="0"/>
          </a:p>
        </p:txBody>
      </p:sp>
      <p:cxnSp>
        <p:nvCxnSpPr>
          <p:cNvPr id="5" name="Straight Arrow Connector 4"/>
          <p:cNvCxnSpPr>
            <a:stCxn id="3" idx="3"/>
          </p:cNvCxnSpPr>
          <p:nvPr/>
        </p:nvCxnSpPr>
        <p:spPr>
          <a:xfrm flipV="1">
            <a:off x="1729050" y="3822332"/>
            <a:ext cx="1103196" cy="13227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ft Brace 3"/>
          <p:cNvSpPr/>
          <p:nvPr/>
        </p:nvSpPr>
        <p:spPr>
          <a:xfrm rot="16200000">
            <a:off x="4249420" y="4750435"/>
            <a:ext cx="335915" cy="3041650"/>
          </a:xfrm>
          <a:prstGeom prst="leftBrace">
            <a:avLst>
              <a:gd name="adj1" fmla="val 2734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 rot="16200000">
            <a:off x="7140575" y="5126355"/>
            <a:ext cx="335915" cy="2290445"/>
          </a:xfrm>
          <a:prstGeom prst="leftBrace">
            <a:avLst>
              <a:gd name="adj1" fmla="val 2734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Box 2"/>
          <p:cNvSpPr txBox="1"/>
          <p:nvPr/>
        </p:nvSpPr>
        <p:spPr>
          <a:xfrm>
            <a:off x="703652" y="6103898"/>
            <a:ext cx="21297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dirty="0"/>
              <a:t>One input sequence</a:t>
            </a:r>
            <a:endParaRPr lang="en-US" dirty="0"/>
          </a:p>
        </p:txBody>
      </p:sp>
      <p:sp>
        <p:nvSpPr>
          <p:cNvPr id="8" name="TextBox 2"/>
          <p:cNvSpPr txBox="1"/>
          <p:nvPr/>
        </p:nvSpPr>
        <p:spPr>
          <a:xfrm>
            <a:off x="8502722" y="6103898"/>
            <a:ext cx="22828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dirty="0"/>
              <a:t>One output sequence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105"/>
              <p:cNvSpPr txBox="1"/>
              <p:nvPr/>
            </p:nvSpPr>
            <p:spPr>
              <a:xfrm>
                <a:off x="8878570" y="1466850"/>
                <a:ext cx="2979420" cy="1231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dirty="0"/>
                  <a:t>Usually, given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en-US" dirty="0"/>
                  <a:t>, comparing two outputs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p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easier for humans than assign absolute reward</a:t>
                </a:r>
                <a:endParaRPr lang="en-US" dirty="0"/>
              </a:p>
            </p:txBody>
          </p:sp>
        </mc:Choice>
        <mc:Fallback>
          <p:sp>
            <p:nvSpPr>
              <p:cNvPr id="9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570" y="1466850"/>
                <a:ext cx="2979420" cy="123190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6981" y="2786712"/>
            <a:ext cx="7753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Training the reward model</a:t>
            </a:r>
            <a:endParaRPr lang="en-US" sz="54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Bradley-Terry (BT) preference 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Statistical model over the outcome of pairwise comparisons.</a:t>
                </a:r>
                <a:endParaRPr lang="en-US" dirty="0"/>
              </a:p>
              <a:p>
                <a:r>
                  <a:rPr lang="en-US" dirty="0"/>
                  <a:t>Suppose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entities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model assigns them scores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r>
                  <a:rPr lang="en-US" dirty="0"/>
                  <a:t>The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preferred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under the BT model is assumed to be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≻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trainable via some parameters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Bradley-Terry preference model for LLMs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condition on an input text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𝑥</m:t>
                    </m:r>
                  </m:oMath>
                </a14:m>
                <a:r>
                  <a:rPr lang="en-US" dirty="0"/>
                  <a:t>, write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effectLst>
                                    <a:glow rad="228600">
                                      <a:srgbClr val="92D050">
                                        <a:alpha val="40000"/>
                                      </a:srgb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effectLst>
                                    <a:glow rad="228600">
                                      <a:srgbClr val="92D050">
                                        <a:alpha val="40000"/>
                                      </a:srgb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effectLst>
                                    <a:glow rad="228600">
                                      <a:srgbClr val="92D050">
                                        <a:alpha val="40000"/>
                                      </a:srgb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≻</m:t>
                          </m:r>
                          <m:sSub>
                            <m:sSubPr>
                              <m:ctrlPr>
                                <a:rPr lang="en-US" i="1" dirty="0">
                                  <a:effectLst>
                                    <a:glow rad="228600">
                                      <a:schemeClr val="accent6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effectLst>
                                    <a:glow rad="228600">
                                      <a:schemeClr val="accent6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effectLst>
                                    <a:glow rad="228600">
                                      <a:schemeClr val="accent6">
                                        <a:satMod val="175000"/>
                                        <a:alpha val="40000"/>
                                      </a:schemeClr>
                                    </a:glow>
                                  </a:effectLst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i="1" dirty="0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i="1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chemeClr val="accent6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𝑥</m:t>
                                      </m:r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effectLst>
                                                <a:glow rad="228600">
                                                  <a:srgbClr val="92D050">
                                                    <a:alpha val="40000"/>
                                                  </a:srgbClr>
                                                </a:glow>
                                              </a:effectLst>
                                              <a:latin typeface="DejaVu Math TeX Gyre" panose="02000503000000000000" charset="0"/>
                                              <a:cs typeface="DejaVu Math TeX Gyre" panose="02000503000000000000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=</m:t>
                      </m:r>
                      <m:r>
                        <a:rPr lang="en-US" i="1"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DejaVu Math TeX Gyre" panose="02000503000000000000" charset="0"/>
                              <a:ea typeface="MS Mincho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effectLst>
                                        <a:glow rad="228600">
                                          <a:srgbClr val="92D050">
                                            <a:alpha val="40000"/>
                                          </a:srgb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effectLst>
                                        <a:glow rad="228600">
                                          <a:srgbClr val="92D050">
                                            <a:alpha val="40000"/>
                                          </a:srgb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effectLst>
                                        <a:glow rad="228600">
                                          <a:srgbClr val="92D050">
                                            <a:alpha val="40000"/>
                                          </a:srgb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𝜙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effectLst>
                                        <a:glow rad="228600">
                                          <a:schemeClr val="accent6">
                                            <a:satMod val="175000"/>
                                            <a:alpha val="40000"/>
                                          </a:scheme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effectLst>
                                        <a:glow rad="228600">
                                          <a:schemeClr val="accent6">
                                            <a:satMod val="175000"/>
                                            <a:alpha val="40000"/>
                                          </a:scheme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effectLst>
                                        <a:glow rad="228600">
                                          <a:schemeClr val="accent6">
                                            <a:satMod val="175000"/>
                                            <a:alpha val="40000"/>
                                          </a:schemeClr>
                                        </a:glow>
                                      </a:effectLst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 for BT models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training data of the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find the reward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𝜙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maximize the log-probability of the preferences</a:t>
                </a:r>
                <a:endParaRPr lang="en-US" dirty="0"/>
              </a:p>
              <a:p>
                <a:r>
                  <a:rPr lang="en-US" dirty="0"/>
                  <a:t>I.e., train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𝜙</m:t>
                    </m:r>
                  </m:oMath>
                </a14:m>
                <a:r>
                  <a:rPr lang="en-US" dirty="0"/>
                  <a:t> to arrive 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b="0" i="1" smtClean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(Note,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still gives only an approximation to ideal reward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p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because we can access only finite supervision)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 dirty="0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𝜙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b="0" i="1" smtClean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sym typeface="+mn-ea"/>
                  </a:rPr>
                  <a:t>Maximize the reward-difference between the preferred and unpreferred outputs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1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Publicly available preference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From Feedback by OpenAI</a:t>
            </a:r>
            <a:endParaRPr lang="en-US" dirty="0"/>
          </a:p>
          <a:p>
            <a:pPr lvl="1"/>
            <a:r>
              <a:rPr lang="en-US" dirty="0"/>
              <a:t>Prompts – Summarize the following document: &lt;Document&gt;</a:t>
            </a:r>
            <a:endParaRPr lang="en-US" dirty="0"/>
          </a:p>
          <a:p>
            <a:pPr lvl="1"/>
            <a:r>
              <a:rPr lang="en-US" dirty="0"/>
              <a:t>Outputs – Generated by </a:t>
            </a:r>
            <a:r>
              <a:rPr lang="en-US" dirty="0" err="1"/>
              <a:t>InstructGPT</a:t>
            </a:r>
            <a:r>
              <a:rPr lang="en-US" dirty="0"/>
              <a:t> models</a:t>
            </a:r>
            <a:endParaRPr lang="en-US" dirty="0"/>
          </a:p>
          <a:p>
            <a:pPr lvl="1"/>
            <a:r>
              <a:rPr lang="en-US" dirty="0"/>
              <a:t> Human-generated preferences</a:t>
            </a:r>
            <a:endParaRPr lang="en-US" dirty="0"/>
          </a:p>
          <a:p>
            <a:r>
              <a:rPr lang="en-US" dirty="0" err="1"/>
              <a:t>Ultrafeedback</a:t>
            </a:r>
            <a:endParaRPr lang="en-US" dirty="0"/>
          </a:p>
          <a:p>
            <a:pPr lvl="1"/>
            <a:r>
              <a:rPr lang="en-US" dirty="0"/>
              <a:t>Prompts – Diverse set of tasks</a:t>
            </a:r>
            <a:endParaRPr lang="en-US" dirty="0"/>
          </a:p>
          <a:p>
            <a:pPr lvl="1"/>
            <a:r>
              <a:rPr lang="en-US" dirty="0"/>
              <a:t>Outputs – Generated by GPT family, </a:t>
            </a:r>
            <a:r>
              <a:rPr lang="en-US" dirty="0" err="1"/>
              <a:t>LlaMa</a:t>
            </a:r>
            <a:r>
              <a:rPr lang="en-US" dirty="0"/>
              <a:t> family, BARD, </a:t>
            </a:r>
            <a:r>
              <a:rPr lang="en-US" dirty="0" err="1"/>
              <a:t>WizardLM</a:t>
            </a:r>
            <a:r>
              <a:rPr lang="en-US" dirty="0"/>
              <a:t>, Alpaca, etc.</a:t>
            </a:r>
            <a:endParaRPr lang="en-US" dirty="0"/>
          </a:p>
          <a:p>
            <a:pPr lvl="1"/>
            <a:r>
              <a:rPr lang="en-US" dirty="0"/>
              <a:t>GPT-4 generated preferences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the data come from?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Prompts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be sampled as a subset of instruction-tuning datasets.</a:t>
                </a:r>
                <a:endParaRPr lang="en-US" dirty="0"/>
              </a:p>
              <a:p>
                <a:pPr lvl="1"/>
                <a:r>
                  <a:rPr lang="en-US" dirty="0"/>
                  <a:t>ChatGPT used prompts submitted by humans for GPT-3 </a:t>
                </a:r>
                <a:endParaRPr lang="en-US" dirty="0"/>
              </a:p>
              <a:p>
                <a:r>
                  <a:rPr lang="en-US" dirty="0"/>
                  <a:t>Outputs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be generated from an instruction-tuned LLM that you wish to align.</a:t>
                </a:r>
                <a:endParaRPr lang="en-US" dirty="0"/>
              </a:p>
              <a:p>
                <a:pPr lvl="1"/>
                <a:r>
                  <a:rPr lang="en-US" dirty="0"/>
                  <a:t>Can also be sampled from other LLMs to increase diversity.</a:t>
                </a:r>
                <a:endParaRPr lang="en-US" dirty="0"/>
              </a:p>
              <a:p>
                <a:r>
                  <a:rPr lang="en-US" dirty="0"/>
                  <a:t>Preferences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directly collected from humans (RLHF).</a:t>
                </a:r>
                <a:endParaRPr lang="en-US" dirty="0"/>
              </a:p>
              <a:p>
                <a:pPr lvl="1"/>
                <a:r>
                  <a:rPr lang="en-US" dirty="0"/>
                  <a:t>Another LLM can be tuned to judge (RLAIF).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Constitutional AI for collecting harmlessness preferences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 the following input to a powerful </a:t>
            </a:r>
            <a:r>
              <a:rPr lang="en-US" b="1" dirty="0"/>
              <a:t>pretrained</a:t>
            </a:r>
            <a:r>
              <a:rPr lang="en-US" dirty="0"/>
              <a:t> LLM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16 different principles were used that looked like this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white background with black tex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491" y="2422909"/>
            <a:ext cx="7772400" cy="1530430"/>
          </a:xfrm>
          <a:prstGeom prst="rect">
            <a:avLst/>
          </a:prstGeom>
          <a:ln w="22225">
            <a:solidFill>
              <a:schemeClr val="accent1">
                <a:shade val="1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213" y="4790241"/>
            <a:ext cx="7772400" cy="532356"/>
          </a:xfrm>
          <a:prstGeom prst="rect">
            <a:avLst/>
          </a:prstGeom>
          <a:ln w="25400"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0969" y="5790167"/>
            <a:ext cx="3464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Credit: Constitutional AI: Harmlessness from AI Feedback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6981" y="2786712"/>
            <a:ext cx="6800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Non BT reward models</a:t>
            </a:r>
            <a:endParaRPr lang="en-US" sz="54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Multi-attribute helpfulness data - </a:t>
            </a:r>
            <a:r>
              <a:rPr lang="en-US" dirty="0" err="1"/>
              <a:t>Helpsteer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325" y="1808163"/>
            <a:ext cx="11307763" cy="1178105"/>
          </a:xfrm>
        </p:spPr>
        <p:txBody>
          <a:bodyPr/>
          <a:lstStyle/>
          <a:p>
            <a:r>
              <a:rPr lang="en-US" dirty="0"/>
              <a:t>Reward models trained on binary preferences capture the bias inherent in them.</a:t>
            </a:r>
            <a:endParaRPr lang="en-US" dirty="0"/>
          </a:p>
          <a:p>
            <a:r>
              <a:rPr lang="en-US" dirty="0"/>
              <a:t>Solution: Make the annotations more informative.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table of numbers and words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78" y="2770268"/>
            <a:ext cx="4059659" cy="2878178"/>
          </a:xfrm>
          <a:prstGeom prst="rect">
            <a:avLst/>
          </a:prstGeom>
        </p:spPr>
      </p:pic>
      <p:sp>
        <p:nvSpPr>
          <p:cNvPr id="6" name="Content Placeholder 2"/>
          <p:cNvSpPr txBox="1"/>
          <p:nvPr/>
        </p:nvSpPr>
        <p:spPr bwMode="auto">
          <a:xfrm>
            <a:off x="302429" y="2954437"/>
            <a:ext cx="5654675" cy="3121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Prompts were human/synthetically generated.</a:t>
            </a:r>
            <a:endParaRPr lang="en-US" dirty="0"/>
          </a:p>
          <a:p>
            <a:pPr lvl="1"/>
            <a:r>
              <a:rPr lang="en-US" dirty="0"/>
              <a:t>The responses were generated by an LLM.</a:t>
            </a:r>
            <a:endParaRPr lang="en-US" dirty="0"/>
          </a:p>
          <a:p>
            <a:pPr lvl="1"/>
            <a:r>
              <a:rPr lang="en-US" dirty="0"/>
              <a:t>Each response is annotated independently for 5 attributes - Helpfulness, Correctness, Coherence, Complexity, and Verbosity. </a:t>
            </a:r>
            <a:endParaRPr lang="en-US" dirty="0"/>
          </a:p>
          <a:p>
            <a:pPr lvl="1"/>
            <a:r>
              <a:rPr lang="en-US" dirty="0"/>
              <a:t>Scores from 1-5 were used for each attribute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Prediction 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Trains an autoregressive language model to predict the scores per attribute.</a:t>
                </a:r>
                <a:endParaRPr lang="en-US" dirty="0"/>
              </a:p>
              <a:p>
                <a:r>
                  <a:rPr lang="en-US" dirty="0"/>
                  <a:t>Given a (prompt, response) pair, the scores-per-attribute are converted to a string.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 err="1"/>
                  <a:t>sa</a:t>
                </a:r>
                <a:r>
                  <a:rPr lang="en-US" dirty="0"/>
                  <a:t> </a:t>
                </a:r>
                <a:r>
                  <a:rPr lang="en-US" i="1" dirty="0"/>
                  <a:t>= </a:t>
                </a:r>
                <a:r>
                  <a:rPr lang="en-US" i="1" dirty="0">
                    <a:solidFill>
                      <a:schemeClr val="accent1"/>
                    </a:solidFill>
                  </a:rPr>
                  <a:t>Helpfulness: 2, Correctness: 3, Coherence: 4, Complexity: 1, Verbosity: 2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The attribute prediction model maximizes the log-probability of the above string given the prompt and response.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𝑠𝑎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the dataset of triplets (prompt, response, score-string)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are the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tokens of the score-string.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judge (or reward model)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the LLM to act as a judge</a:t>
            </a:r>
            <a:endParaRPr lang="en-US" dirty="0"/>
          </a:p>
          <a:p>
            <a:pPr lvl="1"/>
            <a:r>
              <a:rPr lang="en-US" b="1" dirty="0"/>
              <a:t>Pairwise comparisons </a:t>
            </a:r>
            <a:r>
              <a:rPr lang="en-US" dirty="0"/>
              <a:t>- LLM judge is presented with a question and two answers, and tasked to determine which one is better or declare a tie.</a:t>
            </a:r>
            <a:endParaRPr lang="en-US" dirty="0"/>
          </a:p>
          <a:p>
            <a:pPr lvl="1"/>
            <a:r>
              <a:rPr lang="en-US" b="1" dirty="0"/>
              <a:t>Single answer grading </a:t>
            </a:r>
            <a:r>
              <a:rPr lang="en-US" dirty="0"/>
              <a:t>- LLM judge is asked to directly assign a score to a single answer.</a:t>
            </a:r>
            <a:endParaRPr lang="en-US" dirty="0"/>
          </a:p>
          <a:p>
            <a:pPr lvl="1"/>
            <a:r>
              <a:rPr lang="en-US" b="1" dirty="0"/>
              <a:t>Reference-guided grading </a:t>
            </a:r>
            <a:r>
              <a:rPr lang="en-US" dirty="0"/>
              <a:t>– LLM judge is also provided a reference solution.</a:t>
            </a:r>
            <a:endParaRPr lang="en-US" dirty="0"/>
          </a:p>
          <a:p>
            <a:r>
              <a:rPr lang="en-US" b="1" dirty="0"/>
              <a:t>Advantage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Can be used out-of-the-box without any preference data.</a:t>
            </a:r>
            <a:endParaRPr lang="en-US" dirty="0"/>
          </a:p>
          <a:p>
            <a:pPr lvl="1"/>
            <a:r>
              <a:rPr lang="en-US" dirty="0"/>
              <a:t>Can utilizes the reasoning capability of LLM to arrive at the final answer.</a:t>
            </a:r>
            <a:endParaRPr lang="en-US" dirty="0"/>
          </a:p>
          <a:p>
            <a:r>
              <a:rPr lang="en-US" b="1" dirty="0"/>
              <a:t>Disadvantage</a:t>
            </a:r>
            <a:r>
              <a:rPr lang="en-US" dirty="0"/>
              <a:t> </a:t>
            </a:r>
            <a:endParaRPr lang="en-US" dirty="0"/>
          </a:p>
          <a:p>
            <a:pPr lvl="1"/>
            <a:r>
              <a:rPr lang="en-US" dirty="0"/>
              <a:t>Not as accurate as reward models trained on preference data.</a:t>
            </a:r>
            <a:endParaRPr lang="en-US" dirty="0"/>
          </a:p>
          <a:p>
            <a:pPr lvl="1"/>
            <a:r>
              <a:rPr lang="en-US" dirty="0"/>
              <a:t>Often overconfident – the reasoning is also often hallucinated.</a:t>
            </a:r>
            <a:endParaRPr lang="en-US" dirty="0"/>
          </a:p>
          <a:p>
            <a:pPr lvl="1"/>
            <a:r>
              <a:rPr lang="en-US" dirty="0"/>
              <a:t>Verbosity bias – longer (but non-informative) responses are preferred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29251" y="3554362"/>
            <a:ext cx="2470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Can we do better?</a:t>
            </a:r>
            <a:endParaRPr lang="en-US" sz="32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for pairwise comparison</a:t>
            </a:r>
            <a:endParaRPr lang="en-US" dirty="0"/>
          </a:p>
        </p:txBody>
      </p:sp>
      <p:pic>
        <p:nvPicPr>
          <p:cNvPr id="5" name="Content Placeholder 4" descr="A screenshot of a computer erro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04" y="1808163"/>
            <a:ext cx="7533804" cy="4351337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for Single Answer Grading</a:t>
            </a:r>
            <a:endParaRPr lang="en-US" dirty="0"/>
          </a:p>
        </p:txBody>
      </p:sp>
      <p:pic>
        <p:nvPicPr>
          <p:cNvPr id="5" name="Content Placeholder 4" descr="A screenshot of a computer erro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656" y="1866414"/>
            <a:ext cx="9817100" cy="3644900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the judges – Generative Verifiers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prompt, response and the string </a:t>
                </a:r>
                <a:r>
                  <a:rPr lang="en-US" i="1" dirty="0">
                    <a:solidFill>
                      <a:schemeClr val="accent1"/>
                    </a:solidFill>
                  </a:rPr>
                  <a:t>Is this response correct?</a:t>
                </a:r>
                <a:r>
                  <a:rPr lang="en-US" dirty="0"/>
                  <a:t>, the judges can be trained to predict </a:t>
                </a:r>
                <a:r>
                  <a:rPr lang="en-US" i="1" dirty="0">
                    <a:solidFill>
                      <a:schemeClr val="accent1"/>
                    </a:solidFill>
                  </a:rPr>
                  <a:t>Yes/No.</a:t>
                </a:r>
                <a:endParaRPr lang="en-US" i="1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For correct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log-probability of predicting </a:t>
                </a:r>
                <a:r>
                  <a:rPr lang="en-US" i="1" dirty="0">
                    <a:solidFill>
                      <a:schemeClr val="accent1"/>
                    </a:solidFill>
                  </a:rPr>
                  <a:t>yes</a:t>
                </a:r>
                <a:r>
                  <a:rPr lang="en-US" i="1" dirty="0"/>
                  <a:t> </a:t>
                </a:r>
                <a:r>
                  <a:rPr lang="en-US" dirty="0"/>
                  <a:t>is maximized.</a:t>
                </a:r>
                <a:endParaRPr lang="en-US" dirty="0"/>
              </a:p>
              <a:p>
                <a:r>
                  <a:rPr lang="en-US" dirty="0"/>
                  <a:t>For wrong solutions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log-probability of predicting </a:t>
                </a:r>
                <a:r>
                  <a:rPr lang="en-US" i="1" dirty="0">
                    <a:solidFill>
                      <a:schemeClr val="accent1"/>
                    </a:solidFill>
                  </a:rPr>
                  <a:t>no</a:t>
                </a:r>
                <a:r>
                  <a:rPr lang="en-US" i="1" dirty="0"/>
                  <a:t> </a:t>
                </a:r>
                <a:r>
                  <a:rPr lang="en-US" dirty="0"/>
                  <a:t>is maximized.</a:t>
                </a:r>
                <a:endParaRPr lang="en-US" dirty="0"/>
              </a:p>
              <a:p>
                <a:r>
                  <a:rPr lang="en-US" dirty="0"/>
                  <a:t>At inference, the log-probability of the </a:t>
                </a:r>
                <a:r>
                  <a:rPr lang="en-US" i="1" dirty="0">
                    <a:solidFill>
                      <a:schemeClr val="accent1"/>
                    </a:solidFill>
                  </a:rPr>
                  <a:t>yes </a:t>
                </a:r>
                <a:r>
                  <a:rPr lang="en-US" dirty="0"/>
                  <a:t>token is used as the verifier’s score.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yes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Where I is the string </a:t>
                </a:r>
                <a:r>
                  <a:rPr lang="en-US" i="1" dirty="0">
                    <a:solidFill>
                      <a:schemeClr val="accent1"/>
                    </a:solidFill>
                  </a:rPr>
                  <a:t>Is this response correct?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Chain-of-Thought verifiers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LLM judges benefit if they are prompted to generate a chain-of-thought before generating the final score.</a:t>
                </a:r>
                <a:endParaRPr lang="en-US" dirty="0"/>
              </a:p>
              <a:p>
                <a:r>
                  <a:rPr lang="en-US" dirty="0"/>
                  <a:t>Can we include chain-of-thoughts while training the LLM judges?</a:t>
                </a:r>
                <a:endParaRPr lang="en-US" dirty="0"/>
              </a:p>
              <a:p>
                <a:r>
                  <a:rPr lang="en-US" dirty="0"/>
                  <a:t>The inputs to the LLM are:</a:t>
                </a:r>
                <a:endParaRPr lang="en-US" dirty="0"/>
              </a:p>
              <a:p>
                <a:pPr lvl="1"/>
                <a:r>
                  <a:rPr lang="en-US" dirty="0"/>
                  <a:t>The prompt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string “Lets verify step-by-step”</a:t>
                </a:r>
                <a:endParaRPr lang="en-US" dirty="0"/>
              </a:p>
              <a:p>
                <a:r>
                  <a:rPr lang="en-US" dirty="0"/>
                  <a:t>The LLM is trained to predict</a:t>
                </a:r>
                <a:endParaRPr lang="en-US" dirty="0"/>
              </a:p>
              <a:p>
                <a:pPr lvl="1"/>
                <a:r>
                  <a:rPr lang="en-US" dirty="0"/>
                  <a:t>A step-by-step verification - This can be human or LLM generated</a:t>
                </a:r>
                <a:endParaRPr lang="en-US" dirty="0"/>
              </a:p>
              <a:p>
                <a:pPr lvl="1"/>
                <a:r>
                  <a:rPr lang="en-US" dirty="0"/>
                  <a:t>The final Yes/No token after prompting “Is this response correct”</a:t>
                </a:r>
                <a:endParaRPr lang="en-US" dirty="0"/>
              </a:p>
              <a:p>
                <a:r>
                  <a:rPr lang="en-US" dirty="0"/>
                  <a:t>During inference, the step-by-step verification is generated first.</a:t>
                </a:r>
                <a:endParaRPr lang="en-US" dirty="0"/>
              </a:p>
              <a:p>
                <a:r>
                  <a:rPr lang="en-US" dirty="0"/>
                  <a:t>The final score is the log-probability of the </a:t>
                </a:r>
                <a:r>
                  <a:rPr lang="en-US" dirty="0">
                    <a:solidFill>
                      <a:schemeClr val="accent1"/>
                    </a:solidFill>
                  </a:rPr>
                  <a:t>Yes/No </a:t>
                </a:r>
                <a:r>
                  <a:rPr lang="en-US" dirty="0"/>
                  <a:t>tokens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876" b="-50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for Chain-of-Thought verifiers</a:t>
            </a:r>
            <a:endParaRPr lang="en-US" dirty="0"/>
          </a:p>
        </p:txBody>
      </p:sp>
      <p:pic>
        <p:nvPicPr>
          <p:cNvPr id="5" name="Content Placeholder 4" descr="A math equations on a white background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81" y="1690176"/>
            <a:ext cx="9191089" cy="4351337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33427" y="2279176"/>
            <a:ext cx="71251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/>
              <a:t>Using the reward model</a:t>
            </a:r>
            <a:endParaRPr lang="en-US" sz="54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Best-of-N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</a:t>
                </a:r>
                <a:endParaRPr lang="en-US" dirty="0"/>
              </a:p>
              <a:p>
                <a:r>
                  <a:rPr lang="en-US" dirty="0"/>
                  <a:t>Base policy or reference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Often, an instruction tuned LM that serves as the starting point of alignment</a:t>
                </a:r>
                <a:endParaRPr lang="en-US" dirty="0"/>
              </a:p>
              <a:p>
                <a:r>
                  <a:rPr lang="en-US" dirty="0"/>
                  <a:t>Reward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+mn-ea"/>
                  </a:rPr>
                  <a:t> (with suitably optimized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ym typeface="+mn-ea"/>
                  </a:rPr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Aim – To generate outputs with high reward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Solution</a:t>
                </a:r>
                <a:endParaRPr lang="en-US" b="1" dirty="0"/>
              </a:p>
              <a:p>
                <a:r>
                  <a:rPr lang="en-US" dirty="0"/>
                  <a:t>Sample multiple outputs from the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Score each output using the reward model</a:t>
                </a:r>
                <a:endParaRPr lang="en-US" dirty="0"/>
              </a:p>
              <a:p>
                <a:r>
                  <a:rPr lang="en-US" dirty="0"/>
                  <a:t>Return the output with the highest reward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Challenge</a:t>
                </a:r>
                <a:r>
                  <a:rPr lang="en-US" dirty="0"/>
                  <a:t> – Too expensive during inference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-14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reward-maximization objective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</a:t>
                </a:r>
                <a:endParaRPr lang="en-US" dirty="0"/>
              </a:p>
              <a:p>
                <a:r>
                  <a:rPr lang="en-US" dirty="0"/>
                  <a:t>Base policy or reference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Often, an instruction tuned LM that serves as the starting point of alignment</a:t>
                </a:r>
                <a:endParaRPr lang="en-US" dirty="0"/>
              </a:p>
              <a:p>
                <a:r>
                  <a:rPr lang="en-US" dirty="0"/>
                  <a:t>Reward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(with suitably optimized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en-US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Aim</a:t>
                </a:r>
                <a:endParaRPr lang="en-US" dirty="0"/>
              </a:p>
              <a:p>
                <a:r>
                  <a:rPr lang="en-US" dirty="0"/>
                  <a:t>To find a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That generated outputs with high reward.</a:t>
                </a:r>
                <a:endParaRPr lang="en-US" dirty="0"/>
              </a:p>
              <a:p>
                <a:pPr lvl="1"/>
                <a:r>
                  <a:rPr lang="en-US" dirty="0"/>
                  <a:t>That stay close to the reference policy.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still generally just “best-effort”, no guarantees.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care about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Reward Models are not perfect. </a:t>
                </a:r>
                <a:endParaRPr lang="en-US" dirty="0"/>
              </a:p>
              <a:p>
                <a:r>
                  <a:rPr lang="en-US" dirty="0"/>
                  <a:t>They have been trained to score only selected natural language outputs.</a:t>
                </a:r>
                <a:endParaRPr lang="en-US" dirty="0"/>
              </a:p>
              <a:p>
                <a:r>
                  <a:rPr lang="en-US" dirty="0"/>
                  <a:t>The policy can hack (overfit to) the reward model – generate outputs with high reward but meaningless</a:t>
                </a:r>
                <a:endParaRPr lang="en-US" dirty="0"/>
              </a:p>
              <a:p>
                <a:r>
                  <a:rPr lang="en-US" dirty="0"/>
                  <a:t>An input can have multiple correct outputs (Write a poem?)</a:t>
                </a:r>
                <a:endParaRPr lang="en-US" dirty="0"/>
              </a:p>
              <a:p>
                <a:pPr lvl="1"/>
                <a:r>
                  <a:rPr lang="en-US" dirty="0"/>
                  <a:t>Reward maximization can collapse the probability to 1 outputs</a:t>
                </a:r>
                <a:endParaRPr lang="en-US" dirty="0"/>
              </a:p>
              <a:p>
                <a:pPr lvl="1"/>
                <a:r>
                  <a:rPr lang="en-US" dirty="0"/>
                  <a:t>Staying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r>
                  <a:rPr lang="en-US" dirty="0"/>
                  <a:t> can preserve diversity (thanks to diversity during pretraining)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0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the objective – Reward Maximization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it mean for a policy to have high reward?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2251881" y="3234520"/>
                <a:ext cx="1433015" cy="103723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81" y="3234520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455" t="-657" r="-399" b="-602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2396" y="3491525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Prompt: </a:t>
            </a:r>
            <a:endParaRPr lang="en-US" sz="1400" dirty="0"/>
          </a:p>
          <a:p>
            <a:pPr algn="ctr"/>
            <a:r>
              <a:rPr lang="en-US" sz="1400" dirty="0"/>
              <a:t>Write a poem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5" idx="3"/>
            <a:endCxn id="4" idx="1"/>
          </p:cNvCxnSpPr>
          <p:nvPr/>
        </p:nvCxnSpPr>
        <p:spPr>
          <a:xfrm>
            <a:off x="1756558" y="3753135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23742" y="2538457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1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4323742" y="3131052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2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338993" y="4310390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n</a:t>
            </a:r>
            <a:endParaRPr lang="en-US" sz="14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702874" y="357912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ounded Rectangle 14"/>
              <p:cNvSpPr/>
              <p:nvPr/>
            </p:nvSpPr>
            <p:spPr>
              <a:xfrm>
                <a:off x="5641250" y="3273160"/>
                <a:ext cx="1433015" cy="103723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Reward</a:t>
                </a:r>
                <a:endParaRPr lang="en-US" dirty="0"/>
              </a:p>
              <a:p>
                <a:pPr algn="ctr"/>
                <a:r>
                  <a:rPr lang="en-US" dirty="0"/>
                  <a:t>Model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250" y="3273160"/>
                <a:ext cx="1433015" cy="1037230"/>
              </a:xfrm>
              <a:prstGeom prst="roundRect">
                <a:avLst/>
              </a:prstGeom>
              <a:blipFill rotWithShape="1">
                <a:blip r:embed="rId2"/>
                <a:stretch>
                  <a:fillRect l="-481" t="-648" r="-418" b="-611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8" idx="3"/>
          </p:cNvCxnSpPr>
          <p:nvPr/>
        </p:nvCxnSpPr>
        <p:spPr>
          <a:xfrm>
            <a:off x="5054712" y="2692346"/>
            <a:ext cx="567916" cy="84601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3"/>
            <a:endCxn id="15" idx="1"/>
          </p:cNvCxnSpPr>
          <p:nvPr/>
        </p:nvCxnSpPr>
        <p:spPr>
          <a:xfrm>
            <a:off x="5054712" y="3284941"/>
            <a:ext cx="586538" cy="506834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3"/>
          </p:cNvCxnSpPr>
          <p:nvPr/>
        </p:nvCxnSpPr>
        <p:spPr>
          <a:xfrm flipV="1">
            <a:off x="5066756" y="4056973"/>
            <a:ext cx="586538" cy="40730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694489" y="2538457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9" y="2538457"/>
                <a:ext cx="718979" cy="324384"/>
              </a:xfrm>
              <a:prstGeom prst="rect">
                <a:avLst/>
              </a:prstGeom>
              <a:blipFill rotWithShape="1">
                <a:blip r:embed="rId3"/>
                <a:stretch>
                  <a:fillRect l="-1352" t="-3048" r="-7900" b="-2856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694488" y="3131052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488" y="3131052"/>
                <a:ext cx="718979" cy="324384"/>
              </a:xfrm>
              <a:prstGeom prst="rect">
                <a:avLst/>
              </a:prstGeom>
              <a:blipFill rotWithShape="1">
                <a:blip r:embed="rId4"/>
                <a:stretch>
                  <a:fillRect l="-1352" t="-3091" r="-7900" b="-2813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707238" y="4310390"/>
                <a:ext cx="720775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238" y="4310390"/>
                <a:ext cx="720775" cy="324384"/>
              </a:xfrm>
              <a:prstGeom prst="rect">
                <a:avLst/>
              </a:prstGeom>
              <a:blipFill rotWithShape="1">
                <a:blip r:embed="rId5"/>
                <a:stretch>
                  <a:fillRect l="-1355" t="-2939" r="-8153" b="-2769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8067625" y="357912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2" idx="1"/>
          </p:cNvCxnSpPr>
          <p:nvPr/>
        </p:nvCxnSpPr>
        <p:spPr>
          <a:xfrm flipV="1">
            <a:off x="7074265" y="2700649"/>
            <a:ext cx="620224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5" idx="3"/>
            <a:endCxn id="23" idx="1"/>
          </p:cNvCxnSpPr>
          <p:nvPr/>
        </p:nvCxnSpPr>
        <p:spPr>
          <a:xfrm flipV="1">
            <a:off x="7074265" y="3293244"/>
            <a:ext cx="620223" cy="498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1"/>
          </p:cNvCxnSpPr>
          <p:nvPr/>
        </p:nvCxnSpPr>
        <p:spPr>
          <a:xfrm>
            <a:off x="7110484" y="4086552"/>
            <a:ext cx="596754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8" idx="1"/>
          </p:cNvCxnSpPr>
          <p:nvPr/>
        </p:nvCxnSpPr>
        <p:spPr>
          <a:xfrm flipV="1">
            <a:off x="3684896" y="2692346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4" idx="3"/>
            <a:endCxn id="9" idx="1"/>
          </p:cNvCxnSpPr>
          <p:nvPr/>
        </p:nvCxnSpPr>
        <p:spPr>
          <a:xfrm flipV="1">
            <a:off x="3684896" y="3284941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3692521" y="4021187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ight Brace 37"/>
          <p:cNvSpPr/>
          <p:nvPr/>
        </p:nvSpPr>
        <p:spPr>
          <a:xfrm>
            <a:off x="8543499" y="2538457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9277545" y="3194677"/>
            <a:ext cx="2115403" cy="9233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average of these numbers needs to be high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3133090" y="2374900"/>
            <a:ext cx="1043305" cy="306705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Samples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Formulating the objective –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1"/>
                <a:stretch>
                  <a:fillRect b="2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 we capture closeness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smtClean="0">
                            <a:latin typeface="Cambria Math" panose="02040503050406030204" pitchFamily="18" charset="0"/>
                          </a:rPr>
                          <m:t>ref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KL</m:t>
                    </m:r>
                    <m:d>
                      <m:dPr>
                        <m:ctrlPr>
                          <a:rPr lang="en-US" i="1" dirty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∥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smtClean="0">
                                <a:latin typeface="Cambria Math" panose="02040503050406030204" pitchFamily="18" charset="0"/>
                              </a:rPr>
                              <m:t>ref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should be low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5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99930" y="3698517"/>
            <a:ext cx="10790552" cy="2096317"/>
            <a:chOff x="220258" y="2456571"/>
            <a:chExt cx="10790552" cy="209631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ounded Rectangle 4"/>
                <p:cNvSpPr/>
                <p:nvPr/>
              </p:nvSpPr>
              <p:spPr>
                <a:xfrm>
                  <a:off x="1869743" y="3152634"/>
                  <a:ext cx="1433015" cy="103723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Policy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Rounded 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743" y="3152634"/>
                  <a:ext cx="1433015" cy="1037230"/>
                </a:xfrm>
                <a:prstGeom prst="roundRect">
                  <a:avLst/>
                </a:prstGeom>
                <a:blipFill rotWithShape="1">
                  <a:blip r:embed="rId3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/>
            <p:cNvSpPr txBox="1"/>
            <p:nvPr/>
          </p:nvSpPr>
          <p:spPr>
            <a:xfrm>
              <a:off x="220258" y="3409639"/>
              <a:ext cx="1154162" cy="523220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Prompt: </a:t>
              </a:r>
              <a:endParaRPr lang="en-US" sz="1400" dirty="0"/>
            </a:p>
            <a:p>
              <a:pPr algn="ctr"/>
              <a:r>
                <a:rPr lang="en-US" sz="1400" dirty="0"/>
                <a:t>Write a poem</a:t>
              </a:r>
              <a:endParaRPr lang="en-US" sz="1400" dirty="0"/>
            </a:p>
          </p:txBody>
        </p:sp>
        <p:cxnSp>
          <p:nvCxnSpPr>
            <p:cNvPr id="7" name="Straight Arrow Connector 6"/>
            <p:cNvCxnSpPr>
              <a:stCxn id="6" idx="3"/>
              <a:endCxn id="5" idx="1"/>
            </p:cNvCxnSpPr>
            <p:nvPr/>
          </p:nvCxnSpPr>
          <p:spPr>
            <a:xfrm>
              <a:off x="1374420" y="3671249"/>
              <a:ext cx="49532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941604" y="2456571"/>
              <a:ext cx="730970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Poem 1</a:t>
              </a:r>
              <a:endParaRPr lang="en-US" sz="14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41604" y="3049166"/>
              <a:ext cx="730970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Poem 2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56855" y="4228504"/>
              <a:ext cx="727763" cy="307777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Poem n</a:t>
              </a:r>
              <a:endParaRPr lang="en-US" sz="1400" dirty="0"/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4320736" y="3497240"/>
              <a:ext cx="0" cy="554831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5259112" y="3191274"/>
                  <a:ext cx="1433015" cy="103723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Reference</a:t>
                  </a:r>
                  <a:endParaRPr lang="en-US" dirty="0"/>
                </a:p>
                <a:p>
                  <a:pPr algn="ctr"/>
                  <a:r>
                    <a:rPr lang="en-US" dirty="0"/>
                    <a:t>Policy</a:t>
                  </a:r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9112" y="3191274"/>
                  <a:ext cx="1433015" cy="1037230"/>
                </a:xfrm>
                <a:prstGeom prst="roundRect">
                  <a:avLst/>
                </a:prstGeom>
                <a:blipFill rotWithShape="1">
                  <a:blip r:embed="rId4"/>
                </a:blip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>
              <a:stCxn id="8" idx="3"/>
            </p:cNvCxnSpPr>
            <p:nvPr/>
          </p:nvCxnSpPr>
          <p:spPr>
            <a:xfrm>
              <a:off x="4672574" y="2610460"/>
              <a:ext cx="567916" cy="846012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3"/>
              <a:endCxn id="12" idx="1"/>
            </p:cNvCxnSpPr>
            <p:nvPr/>
          </p:nvCxnSpPr>
          <p:spPr>
            <a:xfrm>
              <a:off x="4672574" y="3203055"/>
              <a:ext cx="586538" cy="506834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3"/>
            </p:cNvCxnSpPr>
            <p:nvPr/>
          </p:nvCxnSpPr>
          <p:spPr>
            <a:xfrm flipV="1">
              <a:off x="4684618" y="3975087"/>
              <a:ext cx="586538" cy="407306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234468" y="2456571"/>
                  <a:ext cx="974090" cy="313055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𝑘𝑙𝑟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𝑝𝑜𝑒𝑚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468" y="2456571"/>
                  <a:ext cx="974090" cy="313055"/>
                </a:xfrm>
                <a:prstGeom prst="rect">
                  <a:avLst/>
                </a:prstGeom>
                <a:blipFill rotWithShape="1">
                  <a:blip r:embed="rId5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234468" y="3049026"/>
                  <a:ext cx="974090" cy="313055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𝑘𝑙𝑟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𝑝𝑜𝑒𝑚</m:t>
                            </m:r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468" y="3049026"/>
                  <a:ext cx="974090" cy="313055"/>
                </a:xfrm>
                <a:prstGeom prst="rect">
                  <a:avLst/>
                </a:prstGeom>
                <a:blipFill rotWithShape="1">
                  <a:blip r:embed="rId6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7247168" y="4228221"/>
                  <a:ext cx="975995" cy="313055"/>
                </a:xfrm>
                <a:prstGeom prst="rect">
                  <a:avLst/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𝑘𝑙𝑟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𝑝𝑜𝑒𝑚𝑛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7168" y="4228221"/>
                  <a:ext cx="975995" cy="313055"/>
                </a:xfrm>
                <a:prstGeom prst="rect">
                  <a:avLst/>
                </a:prstGeom>
                <a:blipFill rotWithShape="1">
                  <a:blip r:embed="rId7"/>
                </a:blipFill>
                <a:ln w="19050">
                  <a:solidFill>
                    <a:schemeClr val="accent1">
                      <a:shade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Connector 18"/>
            <p:cNvCxnSpPr/>
            <p:nvPr/>
          </p:nvCxnSpPr>
          <p:spPr>
            <a:xfrm>
              <a:off x="7685487" y="3497240"/>
              <a:ext cx="0" cy="554831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6" idx="1"/>
            </p:cNvCxnSpPr>
            <p:nvPr/>
          </p:nvCxnSpPr>
          <p:spPr>
            <a:xfrm flipV="1">
              <a:off x="6692127" y="2613048"/>
              <a:ext cx="542479" cy="91697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" idx="3"/>
              <a:endCxn id="17" idx="1"/>
            </p:cNvCxnSpPr>
            <p:nvPr/>
          </p:nvCxnSpPr>
          <p:spPr>
            <a:xfrm flipV="1">
              <a:off x="6692127" y="3205699"/>
              <a:ext cx="542290" cy="50419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18" idx="1"/>
            </p:cNvCxnSpPr>
            <p:nvPr/>
          </p:nvCxnSpPr>
          <p:spPr>
            <a:xfrm>
              <a:off x="6727711" y="3998951"/>
              <a:ext cx="519009" cy="3860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endCxn id="8" idx="1"/>
            </p:cNvCxnSpPr>
            <p:nvPr/>
          </p:nvCxnSpPr>
          <p:spPr>
            <a:xfrm flipV="1">
              <a:off x="3302758" y="2610460"/>
              <a:ext cx="638846" cy="79917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5" idx="3"/>
              <a:endCxn id="9" idx="1"/>
            </p:cNvCxnSpPr>
            <p:nvPr/>
          </p:nvCxnSpPr>
          <p:spPr>
            <a:xfrm flipV="1">
              <a:off x="3302758" y="3203055"/>
              <a:ext cx="638846" cy="46819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endCxn id="10" idx="1"/>
            </p:cNvCxnSpPr>
            <p:nvPr/>
          </p:nvCxnSpPr>
          <p:spPr>
            <a:xfrm>
              <a:off x="3310383" y="3939301"/>
              <a:ext cx="646472" cy="4430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ight Brace 25"/>
            <p:cNvSpPr/>
            <p:nvPr/>
          </p:nvSpPr>
          <p:spPr>
            <a:xfrm>
              <a:off x="8161361" y="2456571"/>
              <a:ext cx="559558" cy="2096317"/>
            </a:xfrm>
            <a:prstGeom prst="rightBrac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95407" y="3112791"/>
              <a:ext cx="2115403" cy="92333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average of these numbers needs to be low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the objective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1940025" y="3317507"/>
                <a:ext cx="1433015" cy="1037230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25" y="3317507"/>
                <a:ext cx="1433015" cy="1037230"/>
              </a:xfrm>
              <a:prstGeom prst="roundRect">
                <a:avLst/>
              </a:prstGeom>
              <a:blipFill rotWithShape="1">
                <a:blip r:embed="rId1"/>
                <a:stretch>
                  <a:fillRect l="-361" t="-516" r="-316" b="-43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90540" y="3574512"/>
            <a:ext cx="1154162" cy="523220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Prompt: </a:t>
            </a:r>
            <a:endParaRPr lang="en-US" sz="1400" dirty="0"/>
          </a:p>
          <a:p>
            <a:pPr algn="ctr"/>
            <a:r>
              <a:rPr lang="en-US" sz="1400" dirty="0"/>
              <a:t>Write a poem</a:t>
            </a:r>
            <a:endParaRPr lang="en-US" sz="1400" dirty="0"/>
          </a:p>
        </p:txBody>
      </p:sp>
      <p:cxnSp>
        <p:nvCxnSpPr>
          <p:cNvPr id="7" name="Straight Arrow Connector 6"/>
          <p:cNvCxnSpPr>
            <a:stCxn id="6" idx="3"/>
            <a:endCxn id="5" idx="1"/>
          </p:cNvCxnSpPr>
          <p:nvPr/>
        </p:nvCxnSpPr>
        <p:spPr>
          <a:xfrm>
            <a:off x="1444702" y="3836122"/>
            <a:ext cx="49532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11886" y="2621444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1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4011886" y="3214039"/>
            <a:ext cx="730970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2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027137" y="4393377"/>
            <a:ext cx="727763" cy="307777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Poem n</a:t>
            </a:r>
            <a:endParaRPr lang="en-US" sz="14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391018" y="3662113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ounded Rectangle 11"/>
              <p:cNvSpPr/>
              <p:nvPr/>
            </p:nvSpPr>
            <p:spPr>
              <a:xfrm>
                <a:off x="5738784" y="4433220"/>
                <a:ext cx="1433015" cy="103723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Reference</a:t>
                </a:r>
                <a:endParaRPr lang="en-US" dirty="0"/>
              </a:p>
              <a:p>
                <a:pPr algn="ctr"/>
                <a:r>
                  <a:rPr lang="en-US" dirty="0"/>
                  <a:t>Policy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784" y="4433220"/>
                <a:ext cx="1433015" cy="1037230"/>
              </a:xfrm>
              <a:prstGeom prst="roundRect">
                <a:avLst/>
              </a:prstGeom>
              <a:blipFill rotWithShape="1">
                <a:blip r:embed="rId2"/>
                <a:stretch>
                  <a:fillRect l="-463" t="-640" r="-436" b="-55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8" idx="3"/>
          </p:cNvCxnSpPr>
          <p:nvPr/>
        </p:nvCxnSpPr>
        <p:spPr>
          <a:xfrm flipV="1">
            <a:off x="4742856" y="2287217"/>
            <a:ext cx="1032147" cy="48811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2" idx="1"/>
          </p:cNvCxnSpPr>
          <p:nvPr/>
        </p:nvCxnSpPr>
        <p:spPr>
          <a:xfrm>
            <a:off x="4742856" y="3367928"/>
            <a:ext cx="995928" cy="158390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 flipV="1">
            <a:off x="4754900" y="2830987"/>
            <a:ext cx="995928" cy="171627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713980" y="3698240"/>
                <a:ext cx="984250" cy="313055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𝑘𝑙𝑟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980" y="3698240"/>
                <a:ext cx="984250" cy="313055"/>
              </a:xfrm>
              <a:prstGeom prst="rect">
                <a:avLst/>
              </a:prstGeom>
              <a:blipFill rotWithShape="1">
                <a:blip r:embed="rId3"/>
                <a:stretch>
                  <a:fillRect l="-968" t="-3043" r="-968" b="-3043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713980" y="4291330"/>
                <a:ext cx="984250" cy="313055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𝑘𝑙𝑟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980" y="4291330"/>
                <a:ext cx="984250" cy="313055"/>
              </a:xfrm>
              <a:prstGeom prst="rect">
                <a:avLst/>
              </a:prstGeom>
              <a:blipFill rotWithShape="1">
                <a:blip r:embed="rId4"/>
                <a:stretch>
                  <a:fillRect l="-968" t="-3043" r="-968" b="-3043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7727315" y="5470525"/>
                <a:ext cx="986790" cy="313055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𝑘𝑙𝑟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315" y="5470525"/>
                <a:ext cx="986790" cy="313055"/>
              </a:xfrm>
              <a:prstGeom prst="rect">
                <a:avLst/>
              </a:prstGeom>
              <a:blipFill rotWithShape="1">
                <a:blip r:embed="rId5"/>
                <a:stretch>
                  <a:fillRect l="-965" t="-3043" r="-965" b="-3043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8165159" y="4739186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6" idx="1"/>
          </p:cNvCxnSpPr>
          <p:nvPr/>
        </p:nvCxnSpPr>
        <p:spPr>
          <a:xfrm flipV="1">
            <a:off x="7171799" y="3854994"/>
            <a:ext cx="542479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7" idx="1"/>
          </p:cNvCxnSpPr>
          <p:nvPr/>
        </p:nvCxnSpPr>
        <p:spPr>
          <a:xfrm flipV="1">
            <a:off x="7171799" y="4448280"/>
            <a:ext cx="542290" cy="5035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8" idx="1"/>
          </p:cNvCxnSpPr>
          <p:nvPr/>
        </p:nvCxnSpPr>
        <p:spPr>
          <a:xfrm>
            <a:off x="7208018" y="5241532"/>
            <a:ext cx="519009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8" idx="1"/>
          </p:cNvCxnSpPr>
          <p:nvPr/>
        </p:nvCxnSpPr>
        <p:spPr>
          <a:xfrm flipV="1">
            <a:off x="3373040" y="2775333"/>
            <a:ext cx="638846" cy="7991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5" idx="3"/>
            <a:endCxn id="9" idx="1"/>
          </p:cNvCxnSpPr>
          <p:nvPr/>
        </p:nvCxnSpPr>
        <p:spPr>
          <a:xfrm flipV="1">
            <a:off x="3373040" y="3367928"/>
            <a:ext cx="638846" cy="4681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0" idx="1"/>
          </p:cNvCxnSpPr>
          <p:nvPr/>
        </p:nvCxnSpPr>
        <p:spPr>
          <a:xfrm>
            <a:off x="3380665" y="4104174"/>
            <a:ext cx="646472" cy="443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Brace 25"/>
          <p:cNvSpPr/>
          <p:nvPr/>
        </p:nvSpPr>
        <p:spPr>
          <a:xfrm>
            <a:off x="8641033" y="3698517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9375080" y="4354737"/>
            <a:ext cx="1324766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Average KL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ounded Rectangle 37"/>
              <p:cNvSpPr/>
              <p:nvPr/>
            </p:nvSpPr>
            <p:spPr>
              <a:xfrm>
                <a:off x="5778075" y="2019274"/>
                <a:ext cx="1433015" cy="103723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Reward</a:t>
                </a:r>
                <a:endParaRPr lang="en-US" dirty="0"/>
              </a:p>
              <a:p>
                <a:pPr algn="ctr"/>
                <a:r>
                  <a:rPr lang="en-US" dirty="0"/>
                  <a:t>Model</a:t>
                </a:r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Rounded 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075" y="2019274"/>
                <a:ext cx="1433015" cy="1037230"/>
              </a:xfrm>
              <a:prstGeom prst="roundRect">
                <a:avLst/>
              </a:prstGeom>
              <a:blipFill rotWithShape="1">
                <a:blip r:embed="rId6"/>
                <a:stretch>
                  <a:fillRect l="-458" t="-671" r="-441" b="-588"/>
                </a:stretch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7831314" y="1284571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14" y="1284571"/>
                <a:ext cx="718979" cy="324384"/>
              </a:xfrm>
              <a:prstGeom prst="rect">
                <a:avLst/>
              </a:prstGeom>
              <a:blipFill rotWithShape="1">
                <a:blip r:embed="rId7"/>
                <a:stretch>
                  <a:fillRect l="-1394" t="-3122" r="-7858" b="-2782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7831313" y="1877166"/>
                <a:ext cx="718979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13" y="1877166"/>
                <a:ext cx="718979" cy="324384"/>
              </a:xfrm>
              <a:prstGeom prst="rect">
                <a:avLst/>
              </a:prstGeom>
              <a:blipFill rotWithShape="1">
                <a:blip r:embed="rId8"/>
                <a:stretch>
                  <a:fillRect l="-1393" t="-2969" r="-7858" b="-2935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7844063" y="3056504"/>
                <a:ext cx="720775" cy="324384"/>
              </a:xfrm>
              <a:prstGeom prst="rect">
                <a:avLst/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𝑝𝑜𝑒𝑚𝑛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063" y="3056504"/>
                <a:ext cx="720775" cy="324384"/>
              </a:xfrm>
              <a:prstGeom prst="rect">
                <a:avLst/>
              </a:prstGeom>
              <a:blipFill rotWithShape="1">
                <a:blip r:embed="rId9"/>
                <a:stretch>
                  <a:fillRect l="-1397" t="-3013" r="-8111" b="-2891"/>
                </a:stretch>
              </a:blipFill>
              <a:ln w="19050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/>
          <p:cNvCxnSpPr/>
          <p:nvPr/>
        </p:nvCxnSpPr>
        <p:spPr>
          <a:xfrm>
            <a:off x="8204450" y="2325240"/>
            <a:ext cx="0" cy="554831"/>
          </a:xfrm>
          <a:prstGeom prst="line">
            <a:avLst/>
          </a:prstGeom>
          <a:ln w="254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9" idx="1"/>
          </p:cNvCxnSpPr>
          <p:nvPr/>
        </p:nvCxnSpPr>
        <p:spPr>
          <a:xfrm flipV="1">
            <a:off x="7211090" y="1446763"/>
            <a:ext cx="620224" cy="9169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8" idx="3"/>
            <a:endCxn id="40" idx="1"/>
          </p:cNvCxnSpPr>
          <p:nvPr/>
        </p:nvCxnSpPr>
        <p:spPr>
          <a:xfrm flipV="1">
            <a:off x="7211090" y="2039358"/>
            <a:ext cx="620223" cy="498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1" idx="1"/>
          </p:cNvCxnSpPr>
          <p:nvPr/>
        </p:nvCxnSpPr>
        <p:spPr>
          <a:xfrm>
            <a:off x="7247309" y="2832666"/>
            <a:ext cx="596754" cy="3860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ight Brace 45"/>
          <p:cNvSpPr/>
          <p:nvPr/>
        </p:nvSpPr>
        <p:spPr>
          <a:xfrm>
            <a:off x="8680324" y="1284571"/>
            <a:ext cx="559558" cy="2096317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9264328" y="2133931"/>
            <a:ext cx="1324766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Average reward</a:t>
            </a:r>
            <a:endParaRPr lang="en-US" dirty="0"/>
          </a:p>
        </p:txBody>
      </p:sp>
      <p:cxnSp>
        <p:nvCxnSpPr>
          <p:cNvPr id="52" name="Straight Arrow Connector 51"/>
          <p:cNvCxnSpPr>
            <a:stCxn id="9" idx="3"/>
            <a:endCxn id="38" idx="1"/>
          </p:cNvCxnSpPr>
          <p:nvPr/>
        </p:nvCxnSpPr>
        <p:spPr>
          <a:xfrm flipV="1">
            <a:off x="4742856" y="2537889"/>
            <a:ext cx="1035219" cy="830039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8" idx="3"/>
          </p:cNvCxnSpPr>
          <p:nvPr/>
        </p:nvCxnSpPr>
        <p:spPr>
          <a:xfrm>
            <a:off x="4742856" y="2775333"/>
            <a:ext cx="993360" cy="198147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</p:cNvCxnSpPr>
          <p:nvPr/>
        </p:nvCxnSpPr>
        <p:spPr>
          <a:xfrm>
            <a:off x="4754900" y="4547266"/>
            <a:ext cx="989873" cy="699346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e 56"/>
          <p:cNvSpPr/>
          <p:nvPr/>
        </p:nvSpPr>
        <p:spPr>
          <a:xfrm>
            <a:off x="10699846" y="2537889"/>
            <a:ext cx="504966" cy="1915415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1172391" y="3329185"/>
            <a:ext cx="1153393" cy="369332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Difference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9300178" y="4795144"/>
                <a:ext cx="1382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0178" y="4795144"/>
                <a:ext cx="1382045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44" t="-70" r="-3703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&amp; what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Alignment methods can help prevent undesirable outputs from getting generated.</a:t>
            </a:r>
            <a:endParaRPr lang="en-US" dirty="0"/>
          </a:p>
          <a:p>
            <a:r>
              <a:rPr lang="en-US" dirty="0"/>
              <a:t>The RLHF/RLAIF alignment method uses</a:t>
            </a:r>
            <a:endParaRPr lang="en-US" dirty="0"/>
          </a:p>
          <a:p>
            <a:pPr lvl="1"/>
            <a:r>
              <a:rPr lang="en-US" dirty="0"/>
              <a:t>LLM as a policy</a:t>
            </a:r>
            <a:endParaRPr lang="en-US" dirty="0"/>
          </a:p>
          <a:p>
            <a:pPr lvl="1"/>
            <a:r>
              <a:rPr lang="en-US" dirty="0"/>
              <a:t>LLM as a reward model</a:t>
            </a:r>
            <a:endParaRPr lang="en-US" dirty="0"/>
          </a:p>
          <a:p>
            <a:pPr lvl="1"/>
            <a:r>
              <a:rPr lang="en-US" dirty="0"/>
              <a:t>Reward maximization as the objective</a:t>
            </a:r>
            <a:endParaRPr lang="en-US" dirty="0"/>
          </a:p>
          <a:p>
            <a:r>
              <a:rPr lang="en-US" dirty="0"/>
              <a:t>The reward model for alignment can be trained either using human of AI-generated preferences.</a:t>
            </a:r>
            <a:endParaRPr lang="en-US" dirty="0"/>
          </a:p>
          <a:p>
            <a:r>
              <a:rPr lang="en-US" dirty="0"/>
              <a:t>Staying close to the base/reference policy is desirable to prevent reward hacking.</a:t>
            </a:r>
            <a:endParaRPr lang="en-US" dirty="0"/>
          </a:p>
          <a:p>
            <a:r>
              <a:rPr lang="en-US" dirty="0"/>
              <a:t>Next: How to train the policy?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ii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21717"/>
      </a:accent1>
      <a:accent2>
        <a:srgbClr val="F1E3E3"/>
      </a:accent2>
      <a:accent3>
        <a:srgbClr val="A5A5A5"/>
      </a:accent3>
      <a:accent4>
        <a:srgbClr val="333333"/>
      </a:accent4>
      <a:accent5>
        <a:srgbClr val="5B9BD5"/>
      </a:accent5>
      <a:accent6>
        <a:srgbClr val="E08080"/>
      </a:accent6>
      <a:hlink>
        <a:srgbClr val="0563C1"/>
      </a:hlink>
      <a:folHlink>
        <a:srgbClr val="954F72"/>
      </a:folHlink>
    </a:clrScheme>
    <a:fontScheme name="Aptos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NPTEL_Template</Template>
  <TotalTime>0</TotalTime>
  <Words>14613</Words>
  <Application>WPS Presentation</Application>
  <PresentationFormat>Widescreen</PresentationFormat>
  <Paragraphs>675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2" baseType="lpstr">
      <vt:lpstr>Arial</vt:lpstr>
      <vt:lpstr>SimSun</vt:lpstr>
      <vt:lpstr>Wingdings</vt:lpstr>
      <vt:lpstr>Aptos Display</vt:lpstr>
      <vt:lpstr>Clear Sans Thin</vt:lpstr>
      <vt:lpstr>Aptos Display</vt:lpstr>
      <vt:lpstr>Comfortaa Light</vt:lpstr>
      <vt:lpstr>Cambria Math</vt:lpstr>
      <vt:lpstr>DejaVu Math TeX Gyre</vt:lpstr>
      <vt:lpstr>Microsoft YaHei</vt:lpstr>
      <vt:lpstr>Droid Sans Fallback</vt:lpstr>
      <vt:lpstr>Arial Unicode MS</vt:lpstr>
      <vt:lpstr>Calibri</vt:lpstr>
      <vt:lpstr>OpenSymbol</vt:lpstr>
      <vt:lpstr>MS Mincho</vt:lpstr>
      <vt:lpstr>1_Office Theme</vt:lpstr>
      <vt:lpstr>Advances in Large Language Models ELL8299 · AIL861</vt:lpstr>
      <vt:lpstr>Why is Instruction Tuning not enough?</vt:lpstr>
      <vt:lpstr>Taxonomy of Alignment methods</vt:lpstr>
      <vt:lpstr>PowerPoint 演示文稿</vt:lpstr>
      <vt:lpstr>Reinforcement Learning – Example 1</vt:lpstr>
      <vt:lpstr>Reinforcement Learning – Example 2</vt:lpstr>
      <vt:lpstr>Reinforcement Learning – Example 3</vt:lpstr>
      <vt:lpstr>Reinforcement Learning – Example 4</vt:lpstr>
      <vt:lpstr>Reinforcement Learning – Example 5</vt:lpstr>
      <vt:lpstr>Reinforcement Learning (tokens as actions)</vt:lpstr>
      <vt:lpstr>Reinforcement Learning</vt:lpstr>
      <vt:lpstr>Reinforcement Learning</vt:lpstr>
      <vt:lpstr>Reinforcement Learning</vt:lpstr>
      <vt:lpstr>LLM as a policy</vt:lpstr>
      <vt:lpstr>LLM as a policy</vt:lpstr>
      <vt:lpstr>LLM as a policy</vt:lpstr>
      <vt:lpstr>LLM as a policy</vt:lpstr>
      <vt:lpstr>PowerPoint 演示文稿</vt:lpstr>
      <vt:lpstr>Who/What is the reward model?</vt:lpstr>
      <vt:lpstr>Verifiable rewards</vt:lpstr>
      <vt:lpstr>LLM as a reward model</vt:lpstr>
      <vt:lpstr>Architecture of the reward model</vt:lpstr>
      <vt:lpstr>PowerPoint 演示文稿</vt:lpstr>
      <vt:lpstr>The Bradley-Terry (BT) preference model</vt:lpstr>
      <vt:lpstr>The Bradley-Terry preference model for LLMs</vt:lpstr>
      <vt:lpstr>Maximum Likelihood Estimation for BT models</vt:lpstr>
      <vt:lpstr>Publicly available preference data</vt:lpstr>
      <vt:lpstr>Where does the data come from?</vt:lpstr>
      <vt:lpstr>Constitutional AI for collecting harmlessness preferences</vt:lpstr>
      <vt:lpstr>PowerPoint 演示文稿</vt:lpstr>
      <vt:lpstr>Multi-attribute helpfulness data - Helpsteer</vt:lpstr>
      <vt:lpstr>Attribute Prediction model</vt:lpstr>
      <vt:lpstr>LLM as a judge (or reward model)</vt:lpstr>
      <vt:lpstr>Prompt for pairwise comparison</vt:lpstr>
      <vt:lpstr>Prompt for Single Answer Grading</vt:lpstr>
      <vt:lpstr>Training the judges – Generative Verifiers</vt:lpstr>
      <vt:lpstr>Chain-of-Thought verifiers</vt:lpstr>
      <vt:lpstr>Prompt for Chain-of-Thought verifiers</vt:lpstr>
      <vt:lpstr>PowerPoint 演示文稿</vt:lpstr>
      <vt:lpstr>Best-of-N policy</vt:lpstr>
      <vt:lpstr>The reward-maximization objective </vt:lpstr>
      <vt:lpstr>Why care about closeness to ?</vt:lpstr>
      <vt:lpstr>Formulating the objective – Reward Maximization</vt:lpstr>
      <vt:lpstr>Formulating the objective – closeness to </vt:lpstr>
      <vt:lpstr>Combining the objective</vt:lpstr>
      <vt:lpstr>Takeaways &amp; what next?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Anwoy Chatterjee</dc:creator>
  <cp:lastModifiedBy>soumen</cp:lastModifiedBy>
  <cp:revision>120</cp:revision>
  <dcterms:created xsi:type="dcterms:W3CDTF">2026-03-12T18:21:59Z</dcterms:created>
  <dcterms:modified xsi:type="dcterms:W3CDTF">2026-03-12T18:21:59Z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